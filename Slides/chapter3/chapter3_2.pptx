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comment1.xml" ContentType="application/vnd.openxmlformats-officedocument.presentationml.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s/comment2.xml" ContentType="application/vnd.openxmlformats-officedocument.presentationml.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comment3.xml" ContentType="application/vnd.openxmlformats-officedocument.presentationml.comment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3" r:id="rId1"/>
    <p:sldMasterId id="2147483648" r:id="rId2"/>
  </p:sldMasterIdLst>
  <p:notesMasterIdLst>
    <p:notesMasterId r:id="rId51"/>
  </p:notesMasterIdLst>
  <p:handoutMasterIdLst>
    <p:handoutMasterId r:id="rId52"/>
  </p:handoutMasterIdLst>
  <p:sldIdLst>
    <p:sldId id="455" r:id="rId3"/>
    <p:sldId id="456" r:id="rId4"/>
    <p:sldId id="461" r:id="rId5"/>
    <p:sldId id="462" r:id="rId6"/>
    <p:sldId id="506" r:id="rId7"/>
    <p:sldId id="507" r:id="rId8"/>
    <p:sldId id="466" r:id="rId9"/>
    <p:sldId id="467" r:id="rId10"/>
    <p:sldId id="468" r:id="rId11"/>
    <p:sldId id="509" r:id="rId12"/>
    <p:sldId id="500" r:id="rId13"/>
    <p:sldId id="470" r:id="rId14"/>
    <p:sldId id="474" r:id="rId15"/>
    <p:sldId id="475" r:id="rId16"/>
    <p:sldId id="476" r:id="rId17"/>
    <p:sldId id="477" r:id="rId18"/>
    <p:sldId id="478" r:id="rId19"/>
    <p:sldId id="480" r:id="rId20"/>
    <p:sldId id="479" r:id="rId21"/>
    <p:sldId id="510" r:id="rId22"/>
    <p:sldId id="502" r:id="rId23"/>
    <p:sldId id="482" r:id="rId24"/>
    <p:sldId id="483" r:id="rId25"/>
    <p:sldId id="484" r:id="rId26"/>
    <p:sldId id="485" r:id="rId27"/>
    <p:sldId id="486" r:id="rId28"/>
    <p:sldId id="503" r:id="rId29"/>
    <p:sldId id="504" r:id="rId30"/>
    <p:sldId id="505" r:id="rId31"/>
    <p:sldId id="501" r:id="rId32"/>
    <p:sldId id="489" r:id="rId33"/>
    <p:sldId id="490" r:id="rId34"/>
    <p:sldId id="471" r:id="rId35"/>
    <p:sldId id="488" r:id="rId36"/>
    <p:sldId id="472" r:id="rId37"/>
    <p:sldId id="491" r:id="rId38"/>
    <p:sldId id="473" r:id="rId39"/>
    <p:sldId id="492" r:id="rId40"/>
    <p:sldId id="493" r:id="rId41"/>
    <p:sldId id="511" r:id="rId42"/>
    <p:sldId id="495" r:id="rId43"/>
    <p:sldId id="496" r:id="rId44"/>
    <p:sldId id="497" r:id="rId45"/>
    <p:sldId id="498" r:id="rId46"/>
    <p:sldId id="512" r:id="rId47"/>
    <p:sldId id="499" r:id="rId48"/>
    <p:sldId id="459" r:id="rId49"/>
    <p:sldId id="460" r:id="rId50"/>
  </p:sldIdLst>
  <p:sldSz cx="9144000" cy="5143500" type="screen16x9"/>
  <p:notesSz cx="9925050" cy="6665913"/>
  <p:defaultTex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4" userDrawn="1">
          <p15:clr>
            <a:srgbClr val="A4A3A4"/>
          </p15:clr>
        </p15:guide>
        <p15:guide id="2" pos="2880">
          <p15:clr>
            <a:srgbClr val="A4A3A4"/>
          </p15:clr>
        </p15:guide>
        <p15:guide id="3" orient="horz" pos="3003" userDrawn="1">
          <p15:clr>
            <a:srgbClr val="A4A3A4"/>
          </p15:clr>
        </p15:guide>
      </p15:sldGuideLst>
    </p:ext>
    <p:ext uri="{2D200454-40CA-4A62-9FC3-DE9A4176ACB9}">
      <p15:notesGuideLst xmlns:p15="http://schemas.microsoft.com/office/powerpoint/2012/main">
        <p15:guide id="1" orient="horz" pos="2100">
          <p15:clr>
            <a:srgbClr val="A4A3A4"/>
          </p15:clr>
        </p15:guide>
        <p15:guide id="2" pos="3126">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efan Kollmannsberger" initials="SK" lastIdx="51" clrIdx="0">
    <p:extLst>
      <p:ext uri="{19B8F6BF-5375-455C-9EA6-DF929625EA0E}">
        <p15:presenceInfo xmlns:p15="http://schemas.microsoft.com/office/powerpoint/2012/main" userId="2fc774831f44730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293"/>
    <a:srgbClr val="98C6EA"/>
    <a:srgbClr val="99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C9ADEB-EDAB-49A2-9736-59F56FE588E2}" v="436" dt="2026-04-26T20:21:53.294"/>
  </p1510:revLst>
</p1510:revInfo>
</file>

<file path=ppt/tableStyles.xml><?xml version="1.0" encoding="utf-8"?>
<a:tblStyleLst xmlns:a="http://schemas.openxmlformats.org/drawingml/2006/main" def="{2D5ABB26-0587-4C30-8999-92F81FD0307C}">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269D01E-BC32-4049-B463-5C60D7B0CCD2}" styleName="Designformatvorlage 2 - Akz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D083AE6-46FA-4A59-8FB0-9F97EB10719F}" styleName="Helle Formatvorlage 3 - Akz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8EC20E35-A176-4012-BC5E-935CFFF8708E}" styleName="Mittlere Formatvorlag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C4B1156A-380E-4F78-BDF5-A606A8083BF9}" styleName="Mittlere Formatvorlage 4 - Akz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4C1A8A3-306A-4EB7-A6B1-4F7E0EB9C5D6}" styleName="Mittlere Formatvorlage 3 - Akz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08" autoAdjust="0"/>
    <p:restoredTop sz="91269" autoAdjust="0"/>
  </p:normalViewPr>
  <p:slideViewPr>
    <p:cSldViewPr snapToGrid="0">
      <p:cViewPr varScale="1">
        <p:scale>
          <a:sx n="215" d="100"/>
          <a:sy n="215" d="100"/>
        </p:scale>
        <p:origin x="3108" y="168"/>
      </p:cViewPr>
      <p:guideLst>
        <p:guide orient="horz" pos="2164"/>
        <p:guide pos="2880"/>
        <p:guide orient="horz" pos="3003"/>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131" d="100"/>
          <a:sy n="131" d="100"/>
        </p:scale>
        <p:origin x="-810" y="-96"/>
      </p:cViewPr>
      <p:guideLst>
        <p:guide orient="horz" pos="2100"/>
        <p:guide pos="3126"/>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commentAuthors" Target="commentAuthors.xml"/><Relationship Id="rId58"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notesMaster" Target="notesMasters/notesMaster1.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fan Kollmannsberger" userId="2fc774831f44730f" providerId="LiveId" clId="{8BA96237-2DDF-4C1D-835D-A20BC3D66A10}"/>
    <pc:docChg chg="undo custSel modSld">
      <pc:chgData name="Stefan Kollmannsberger" userId="2fc774831f44730f" providerId="LiveId" clId="{8BA96237-2DDF-4C1D-835D-A20BC3D66A10}" dt="2026-04-26T20:24:07.119" v="1644" actId="790"/>
      <pc:docMkLst>
        <pc:docMk/>
      </pc:docMkLst>
      <pc:sldChg chg="modSp modAnim modNotesTx">
        <pc:chgData name="Stefan Kollmannsberger" userId="2fc774831f44730f" providerId="LiveId" clId="{8BA96237-2DDF-4C1D-835D-A20BC3D66A10}" dt="2026-04-26T15:24:04.375" v="124" actId="20577"/>
        <pc:sldMkLst>
          <pc:docMk/>
          <pc:sldMk cId="4149466384" sldId="470"/>
        </pc:sldMkLst>
        <pc:spChg chg="mod">
          <ac:chgData name="Stefan Kollmannsberger" userId="2fc774831f44730f" providerId="LiveId" clId="{8BA96237-2DDF-4C1D-835D-A20BC3D66A10}" dt="2026-04-26T15:20:14.543" v="58" actId="20577"/>
          <ac:spMkLst>
            <pc:docMk/>
            <pc:sldMk cId="4149466384" sldId="470"/>
            <ac:spMk id="2" creationId="{E0259F08-A265-F124-0BF2-119EFD9E59D6}"/>
          </ac:spMkLst>
        </pc:spChg>
      </pc:sldChg>
      <pc:sldChg chg="modNotesTx">
        <pc:chgData name="Stefan Kollmannsberger" userId="2fc774831f44730f" providerId="LiveId" clId="{8BA96237-2DDF-4C1D-835D-A20BC3D66A10}" dt="2026-04-26T20:10:42.115" v="1629" actId="6549"/>
        <pc:sldMkLst>
          <pc:docMk/>
          <pc:sldMk cId="1259010643" sldId="471"/>
        </pc:sldMkLst>
      </pc:sldChg>
      <pc:sldChg chg="modSp mod">
        <pc:chgData name="Stefan Kollmannsberger" userId="2fc774831f44730f" providerId="LiveId" clId="{8BA96237-2DDF-4C1D-835D-A20BC3D66A10}" dt="2026-04-26T20:19:32.102" v="1634" actId="790"/>
        <pc:sldMkLst>
          <pc:docMk/>
          <pc:sldMk cId="1891452261" sldId="473"/>
        </pc:sldMkLst>
        <pc:spChg chg="mod">
          <ac:chgData name="Stefan Kollmannsberger" userId="2fc774831f44730f" providerId="LiveId" clId="{8BA96237-2DDF-4C1D-835D-A20BC3D66A10}" dt="2026-04-26T20:19:22.459" v="1633" actId="790"/>
          <ac:spMkLst>
            <pc:docMk/>
            <pc:sldMk cId="1891452261" sldId="473"/>
            <ac:spMk id="2" creationId="{B64DE920-C5BA-D981-5B9F-4B7D201EDB9E}"/>
          </ac:spMkLst>
        </pc:spChg>
        <pc:spChg chg="mod">
          <ac:chgData name="Stefan Kollmannsberger" userId="2fc774831f44730f" providerId="LiveId" clId="{8BA96237-2DDF-4C1D-835D-A20BC3D66A10}" dt="2026-04-26T20:19:32.102" v="1634" actId="790"/>
          <ac:spMkLst>
            <pc:docMk/>
            <pc:sldMk cId="1891452261" sldId="473"/>
            <ac:spMk id="3" creationId="{7FBF59A4-6D52-0062-13EA-F72104359C44}"/>
          </ac:spMkLst>
        </pc:spChg>
      </pc:sldChg>
      <pc:sldChg chg="addSp delSp modSp mod modAnim modCm">
        <pc:chgData name="Stefan Kollmannsberger" userId="2fc774831f44730f" providerId="LiveId" clId="{8BA96237-2DDF-4C1D-835D-A20BC3D66A10}" dt="2026-04-26T16:44:08.954" v="419"/>
        <pc:sldMkLst>
          <pc:docMk/>
          <pc:sldMk cId="3351007503" sldId="477"/>
        </pc:sldMkLst>
        <pc:spChg chg="mod">
          <ac:chgData name="Stefan Kollmannsberger" userId="2fc774831f44730f" providerId="LiveId" clId="{8BA96237-2DDF-4C1D-835D-A20BC3D66A10}" dt="2026-04-26T16:13:58.007" v="234" actId="20577"/>
          <ac:spMkLst>
            <pc:docMk/>
            <pc:sldMk cId="3351007503" sldId="477"/>
            <ac:spMk id="2" creationId="{FE1F2AF0-F8D0-B1D7-BC7B-4F3729E7FEF4}"/>
          </ac:spMkLst>
        </pc:spChg>
        <pc:spChg chg="add mod">
          <ac:chgData name="Stefan Kollmannsberger" userId="2fc774831f44730f" providerId="LiveId" clId="{8BA96237-2DDF-4C1D-835D-A20BC3D66A10}" dt="2026-04-26T16:07:27.094" v="195" actId="1038"/>
          <ac:spMkLst>
            <pc:docMk/>
            <pc:sldMk cId="3351007503" sldId="477"/>
            <ac:spMk id="8" creationId="{BAFFDAD3-2E55-9229-641C-C9AB353DC756}"/>
          </ac:spMkLst>
        </pc:spChg>
        <pc:spChg chg="add del mod">
          <ac:chgData name="Stefan Kollmannsberger" userId="2fc774831f44730f" providerId="LiveId" clId="{8BA96237-2DDF-4C1D-835D-A20BC3D66A10}" dt="2026-04-26T16:12:05.302" v="225" actId="478"/>
          <ac:spMkLst>
            <pc:docMk/>
            <pc:sldMk cId="3351007503" sldId="477"/>
            <ac:spMk id="9" creationId="{273E5C0A-A5A6-79AD-2112-A0176669CF58}"/>
          </ac:spMkLst>
        </pc:spChg>
        <pc:spChg chg="add mod">
          <ac:chgData name="Stefan Kollmannsberger" userId="2fc774831f44730f" providerId="LiveId" clId="{8BA96237-2DDF-4C1D-835D-A20BC3D66A10}" dt="2026-04-26T16:12:17.461" v="228" actId="14100"/>
          <ac:spMkLst>
            <pc:docMk/>
            <pc:sldMk cId="3351007503" sldId="477"/>
            <ac:spMk id="10" creationId="{8485B65F-9DBA-DD14-8E8A-7BFA3957A0B2}"/>
          </ac:spMkLst>
        </pc:spChg>
      </pc:sldChg>
      <pc:sldChg chg="addSp modSp mod modAnim modCm">
        <pc:chgData name="Stefan Kollmannsberger" userId="2fc774831f44730f" providerId="LiveId" clId="{8BA96237-2DDF-4C1D-835D-A20BC3D66A10}" dt="2026-04-26T16:33:49.886" v="346"/>
        <pc:sldMkLst>
          <pc:docMk/>
          <pc:sldMk cId="22359822" sldId="478"/>
        </pc:sldMkLst>
        <pc:spChg chg="mod">
          <ac:chgData name="Stefan Kollmannsberger" userId="2fc774831f44730f" providerId="LiveId" clId="{8BA96237-2DDF-4C1D-835D-A20BC3D66A10}" dt="2026-04-26T16:10:38.373" v="216" actId="1036"/>
          <ac:spMkLst>
            <pc:docMk/>
            <pc:sldMk cId="22359822" sldId="478"/>
            <ac:spMk id="2" creationId="{F8E41C53-DFCE-8C83-DBBB-76E1245FDE06}"/>
          </ac:spMkLst>
        </pc:spChg>
        <pc:spChg chg="add mod">
          <ac:chgData name="Stefan Kollmannsberger" userId="2fc774831f44730f" providerId="LiveId" clId="{8BA96237-2DDF-4C1D-835D-A20BC3D66A10}" dt="2026-04-26T16:07:50.475" v="196"/>
          <ac:spMkLst>
            <pc:docMk/>
            <pc:sldMk cId="22359822" sldId="478"/>
            <ac:spMk id="8" creationId="{0F0EED42-4035-F1F7-8EBF-7E52D448AB35}"/>
          </ac:spMkLst>
        </pc:spChg>
        <pc:spChg chg="add mod">
          <ac:chgData name="Stefan Kollmannsberger" userId="2fc774831f44730f" providerId="LiveId" clId="{8BA96237-2DDF-4C1D-835D-A20BC3D66A10}" dt="2026-04-26T16:11:57.758" v="224" actId="14100"/>
          <ac:spMkLst>
            <pc:docMk/>
            <pc:sldMk cId="22359822" sldId="478"/>
            <ac:spMk id="9" creationId="{C0B637CA-3362-0CDF-5752-D4837B00C635}"/>
          </ac:spMkLst>
        </pc:spChg>
      </pc:sldChg>
      <pc:sldChg chg="modCm modNotesTx">
        <pc:chgData name="Stefan Kollmannsberger" userId="2fc774831f44730f" providerId="LiveId" clId="{8BA96237-2DDF-4C1D-835D-A20BC3D66A10}" dt="2026-04-26T16:37:46.932" v="418"/>
        <pc:sldMkLst>
          <pc:docMk/>
          <pc:sldMk cId="3406612916" sldId="479"/>
        </pc:sldMkLst>
      </pc:sldChg>
      <pc:sldChg chg="modSp addAnim delAnim modCm modNotes modNotesTx">
        <pc:chgData name="Stefan Kollmannsberger" userId="2fc774831f44730f" providerId="LiveId" clId="{8BA96237-2DDF-4C1D-835D-A20BC3D66A10}" dt="2026-04-26T16:31:15.455" v="345"/>
        <pc:sldMkLst>
          <pc:docMk/>
          <pc:sldMk cId="1692562289" sldId="480"/>
        </pc:sldMkLst>
        <pc:spChg chg="mod">
          <ac:chgData name="Stefan Kollmannsberger" userId="2fc774831f44730f" providerId="LiveId" clId="{8BA96237-2DDF-4C1D-835D-A20BC3D66A10}" dt="2026-04-26T16:21:10.587" v="340" actId="20577"/>
          <ac:spMkLst>
            <pc:docMk/>
            <pc:sldMk cId="1692562289" sldId="480"/>
            <ac:spMk id="10" creationId="{FF840B4F-EF86-2CEC-779F-E6A06150A412}"/>
          </ac:spMkLst>
        </pc:spChg>
        <pc:spChg chg="mod">
          <ac:chgData name="Stefan Kollmannsberger" userId="2fc774831f44730f" providerId="LiveId" clId="{8BA96237-2DDF-4C1D-835D-A20BC3D66A10}" dt="2026-04-26T16:23:02.130" v="343" actId="6549"/>
          <ac:spMkLst>
            <pc:docMk/>
            <pc:sldMk cId="1692562289" sldId="480"/>
            <ac:spMk id="12" creationId="{4D8BBBBD-791D-14E2-BE51-FBD98E9E7DCE}"/>
          </ac:spMkLst>
        </pc:spChg>
      </pc:sldChg>
      <pc:sldChg chg="modCm">
        <pc:chgData name="Stefan Kollmannsberger" userId="2fc774831f44730f" providerId="LiveId" clId="{8BA96237-2DDF-4C1D-835D-A20BC3D66A10}" dt="2026-04-26T16:48:06.321" v="422"/>
        <pc:sldMkLst>
          <pc:docMk/>
          <pc:sldMk cId="3965524356" sldId="482"/>
        </pc:sldMkLst>
      </pc:sldChg>
      <pc:sldChg chg="modSp mod modAnim modCm">
        <pc:chgData name="Stefan Kollmannsberger" userId="2fc774831f44730f" providerId="LiveId" clId="{8BA96237-2DDF-4C1D-835D-A20BC3D66A10}" dt="2026-04-26T16:56:45.174" v="570"/>
        <pc:sldMkLst>
          <pc:docMk/>
          <pc:sldMk cId="3539410995" sldId="483"/>
        </pc:sldMkLst>
        <pc:spChg chg="mod">
          <ac:chgData name="Stefan Kollmannsberger" userId="2fc774831f44730f" providerId="LiveId" clId="{8BA96237-2DDF-4C1D-835D-A20BC3D66A10}" dt="2026-04-26T16:54:02.805" v="564" actId="20577"/>
          <ac:spMkLst>
            <pc:docMk/>
            <pc:sldMk cId="3539410995" sldId="483"/>
            <ac:spMk id="2" creationId="{06AF0E8B-C969-ECC7-D534-7D4D360D17D1}"/>
          </ac:spMkLst>
        </pc:spChg>
        <pc:picChg chg="ord">
          <ac:chgData name="Stefan Kollmannsberger" userId="2fc774831f44730f" providerId="LiveId" clId="{8BA96237-2DDF-4C1D-835D-A20BC3D66A10}" dt="2026-04-26T16:52:48.979" v="549" actId="166"/>
          <ac:picMkLst>
            <pc:docMk/>
            <pc:sldMk cId="3539410995" sldId="483"/>
            <ac:picMk id="11" creationId="{9767D720-D5AA-B74B-6E8E-FC9EBE201178}"/>
          </ac:picMkLst>
        </pc:picChg>
      </pc:sldChg>
      <pc:sldChg chg="modSp modNotesTx">
        <pc:chgData name="Stefan Kollmannsberger" userId="2fc774831f44730f" providerId="LiveId" clId="{8BA96237-2DDF-4C1D-835D-A20BC3D66A10}" dt="2026-04-26T17:02:49.325" v="693" actId="20577"/>
        <pc:sldMkLst>
          <pc:docMk/>
          <pc:sldMk cId="3970725466" sldId="484"/>
        </pc:sldMkLst>
        <pc:spChg chg="mod">
          <ac:chgData name="Stefan Kollmannsberger" userId="2fc774831f44730f" providerId="LiveId" clId="{8BA96237-2DDF-4C1D-835D-A20BC3D66A10}" dt="2026-04-26T17:01:53.490" v="597" actId="20577"/>
          <ac:spMkLst>
            <pc:docMk/>
            <pc:sldMk cId="3970725466" sldId="484"/>
            <ac:spMk id="2" creationId="{41162177-5F41-996F-326B-B4CA20D89D95}"/>
          </ac:spMkLst>
        </pc:spChg>
      </pc:sldChg>
      <pc:sldChg chg="modCm modNotesTx">
        <pc:chgData name="Stefan Kollmannsberger" userId="2fc774831f44730f" providerId="LiveId" clId="{8BA96237-2DDF-4C1D-835D-A20BC3D66A10}" dt="2026-04-26T17:11:03.786" v="712"/>
        <pc:sldMkLst>
          <pc:docMk/>
          <pc:sldMk cId="3430801097" sldId="485"/>
        </pc:sldMkLst>
      </pc:sldChg>
      <pc:sldChg chg="addSp modSp mod modNotesTx">
        <pc:chgData name="Stefan Kollmannsberger" userId="2fc774831f44730f" providerId="LiveId" clId="{8BA96237-2DDF-4C1D-835D-A20BC3D66A10}" dt="2026-04-26T17:20:50.841" v="1367" actId="20577"/>
        <pc:sldMkLst>
          <pc:docMk/>
          <pc:sldMk cId="4675497" sldId="486"/>
        </pc:sldMkLst>
        <pc:picChg chg="add mod">
          <ac:chgData name="Stefan Kollmannsberger" userId="2fc774831f44730f" providerId="LiveId" clId="{8BA96237-2DDF-4C1D-835D-A20BC3D66A10}" dt="2026-04-26T17:17:25.536" v="915" actId="1076"/>
          <ac:picMkLst>
            <pc:docMk/>
            <pc:sldMk cId="4675497" sldId="486"/>
            <ac:picMk id="7" creationId="{F038D1DE-FE09-654A-3DC1-EA4FFE1D42A7}"/>
          </ac:picMkLst>
        </pc:picChg>
      </pc:sldChg>
      <pc:sldChg chg="modCm">
        <pc:chgData name="Stefan Kollmannsberger" userId="2fc774831f44730f" providerId="LiveId" clId="{8BA96237-2DDF-4C1D-835D-A20BC3D66A10}" dt="2026-04-26T20:18:27.352" v="1631"/>
        <pc:sldMkLst>
          <pc:docMk/>
          <pc:sldMk cId="2662988892" sldId="488"/>
        </pc:sldMkLst>
      </pc:sldChg>
      <pc:sldChg chg="modSp mod modAnim modCm">
        <pc:chgData name="Stefan Kollmannsberger" userId="2fc774831f44730f" providerId="LiveId" clId="{8BA96237-2DDF-4C1D-835D-A20BC3D66A10}" dt="2026-04-26T17:35:20.627" v="1494" actId="20577"/>
        <pc:sldMkLst>
          <pc:docMk/>
          <pc:sldMk cId="1680953992" sldId="489"/>
        </pc:sldMkLst>
        <pc:spChg chg="mod">
          <ac:chgData name="Stefan Kollmannsberger" userId="2fc774831f44730f" providerId="LiveId" clId="{8BA96237-2DDF-4C1D-835D-A20BC3D66A10}" dt="2026-04-26T17:33:19.405" v="1472" actId="20577"/>
          <ac:spMkLst>
            <pc:docMk/>
            <pc:sldMk cId="1680953992" sldId="489"/>
            <ac:spMk id="2" creationId="{18ED09EF-0FAA-170A-A47A-C69C8DD8B336}"/>
          </ac:spMkLst>
        </pc:spChg>
        <pc:spChg chg="mod">
          <ac:chgData name="Stefan Kollmannsberger" userId="2fc774831f44730f" providerId="LiveId" clId="{8BA96237-2DDF-4C1D-835D-A20BC3D66A10}" dt="2026-04-26T17:35:20.627" v="1494" actId="20577"/>
          <ac:spMkLst>
            <pc:docMk/>
            <pc:sldMk cId="1680953992" sldId="489"/>
            <ac:spMk id="3" creationId="{E72B2E15-40B3-553E-3A01-7DA34EEAC965}"/>
          </ac:spMkLst>
        </pc:spChg>
      </pc:sldChg>
      <pc:sldChg chg="modSp mod">
        <pc:chgData name="Stefan Kollmannsberger" userId="2fc774831f44730f" providerId="LiveId" clId="{8BA96237-2DDF-4C1D-835D-A20BC3D66A10}" dt="2026-04-26T20:19:08.086" v="1632" actId="790"/>
        <pc:sldMkLst>
          <pc:docMk/>
          <pc:sldMk cId="1984168120" sldId="491"/>
        </pc:sldMkLst>
        <pc:spChg chg="mod">
          <ac:chgData name="Stefan Kollmannsberger" userId="2fc774831f44730f" providerId="LiveId" clId="{8BA96237-2DDF-4C1D-835D-A20BC3D66A10}" dt="2026-04-26T20:19:08.086" v="1632" actId="790"/>
          <ac:spMkLst>
            <pc:docMk/>
            <pc:sldMk cId="1984168120" sldId="491"/>
            <ac:spMk id="6" creationId="{206F32AB-D8B4-3BF7-A95E-8761819AE108}"/>
          </ac:spMkLst>
        </pc:spChg>
      </pc:sldChg>
      <pc:sldChg chg="modSp mod">
        <pc:chgData name="Stefan Kollmannsberger" userId="2fc774831f44730f" providerId="LiveId" clId="{8BA96237-2DDF-4C1D-835D-A20BC3D66A10}" dt="2026-04-26T20:20:59.104" v="1635" actId="790"/>
        <pc:sldMkLst>
          <pc:docMk/>
          <pc:sldMk cId="2492710392" sldId="492"/>
        </pc:sldMkLst>
        <pc:spChg chg="mod">
          <ac:chgData name="Stefan Kollmannsberger" userId="2fc774831f44730f" providerId="LiveId" clId="{8BA96237-2DDF-4C1D-835D-A20BC3D66A10}" dt="2026-04-26T20:20:59.104" v="1635" actId="790"/>
          <ac:spMkLst>
            <pc:docMk/>
            <pc:sldMk cId="2492710392" sldId="492"/>
            <ac:spMk id="2" creationId="{07AF0C84-B72E-FD02-1CF0-9A5CFF4A2F11}"/>
          </ac:spMkLst>
        </pc:spChg>
      </pc:sldChg>
      <pc:sldChg chg="modSp mod">
        <pc:chgData name="Stefan Kollmannsberger" userId="2fc774831f44730f" providerId="LiveId" clId="{8BA96237-2DDF-4C1D-835D-A20BC3D66A10}" dt="2026-04-26T20:21:53.294" v="1643" actId="20577"/>
        <pc:sldMkLst>
          <pc:docMk/>
          <pc:sldMk cId="9609440" sldId="493"/>
        </pc:sldMkLst>
        <pc:spChg chg="mod">
          <ac:chgData name="Stefan Kollmannsberger" userId="2fc774831f44730f" providerId="LiveId" clId="{8BA96237-2DDF-4C1D-835D-A20BC3D66A10}" dt="2026-04-26T20:21:53.294" v="1643" actId="20577"/>
          <ac:spMkLst>
            <pc:docMk/>
            <pc:sldMk cId="9609440" sldId="493"/>
            <ac:spMk id="2" creationId="{B9A840B5-A4A0-7AC1-1C8D-2963993DF6F8}"/>
          </ac:spMkLst>
        </pc:spChg>
      </pc:sldChg>
      <pc:sldChg chg="modSp mod">
        <pc:chgData name="Stefan Kollmannsberger" userId="2fc774831f44730f" providerId="LiveId" clId="{8BA96237-2DDF-4C1D-835D-A20BC3D66A10}" dt="2026-04-26T20:24:07.119" v="1644" actId="790"/>
        <pc:sldMkLst>
          <pc:docMk/>
          <pc:sldMk cId="1277611386" sldId="494"/>
        </pc:sldMkLst>
        <pc:spChg chg="mod">
          <ac:chgData name="Stefan Kollmannsberger" userId="2fc774831f44730f" providerId="LiveId" clId="{8BA96237-2DDF-4C1D-835D-A20BC3D66A10}" dt="2026-04-26T20:24:07.119" v="1644" actId="790"/>
          <ac:spMkLst>
            <pc:docMk/>
            <pc:sldMk cId="1277611386" sldId="494"/>
            <ac:spMk id="2" creationId="{23C82011-CC6A-815E-A8B3-2C760D5C8D09}"/>
          </ac:spMkLst>
        </pc:spChg>
      </pc:sldChg>
      <pc:sldChg chg="mod modShow">
        <pc:chgData name="Stefan Kollmannsberger" userId="2fc774831f44730f" providerId="LiveId" clId="{8BA96237-2DDF-4C1D-835D-A20BC3D66A10}" dt="2026-04-26T17:11:39.044" v="714" actId="729"/>
        <pc:sldMkLst>
          <pc:docMk/>
          <pc:sldMk cId="92616049" sldId="503"/>
        </pc:sldMkLst>
      </pc:sldChg>
      <pc:sldChg chg="mod modShow">
        <pc:chgData name="Stefan Kollmannsberger" userId="2fc774831f44730f" providerId="LiveId" clId="{8BA96237-2DDF-4C1D-835D-A20BC3D66A10}" dt="2026-04-26T17:11:39.044" v="714" actId="729"/>
        <pc:sldMkLst>
          <pc:docMk/>
          <pc:sldMk cId="3330569943" sldId="504"/>
        </pc:sldMkLst>
      </pc:sldChg>
      <pc:sldChg chg="mod modShow">
        <pc:chgData name="Stefan Kollmannsberger" userId="2fc774831f44730f" providerId="LiveId" clId="{8BA96237-2DDF-4C1D-835D-A20BC3D66A10}" dt="2026-04-26T17:11:39.044" v="714" actId="729"/>
        <pc:sldMkLst>
          <pc:docMk/>
          <pc:sldMk cId="3226261717" sldId="505"/>
        </pc:sldMkLst>
      </pc:sldChg>
      <pc:sldChg chg="modCm">
        <pc:chgData name="Stefan Kollmannsberger" userId="2fc774831f44730f" providerId="LiveId" clId="{8BA96237-2DDF-4C1D-835D-A20BC3D66A10}" dt="2026-04-26T16:46:00.450" v="421"/>
        <pc:sldMkLst>
          <pc:docMk/>
          <pc:sldMk cId="1961410479" sldId="510"/>
        </pc:sldMkLst>
      </pc:sldChg>
    </pc:docChg>
  </pc:docChgLst>
  <pc:docChgLst>
    <pc:chgData name="Stefan Kollmannsberger" userId="2fc774831f44730f" providerId="LiveId" clId="{2541097D-7144-4A57-A2FE-9A5ACBDD61FC}"/>
    <pc:docChg chg="undo custSel addSld delSld modSld sldOrd">
      <pc:chgData name="Stefan Kollmannsberger" userId="2fc774831f44730f" providerId="LiveId" clId="{2541097D-7144-4A57-A2FE-9A5ACBDD61FC}" dt="2026-04-27T16:09:07.546" v="2361"/>
      <pc:docMkLst>
        <pc:docMk/>
      </pc:docMkLst>
      <pc:sldChg chg="addCm delCm modCm">
        <pc:chgData name="Stefan Kollmannsberger" userId="2fc774831f44730f" providerId="LiveId" clId="{2541097D-7144-4A57-A2FE-9A5ACBDD61FC}" dt="2026-04-27T15:55:48.559" v="2234" actId="1592"/>
        <pc:sldMkLst>
          <pc:docMk/>
          <pc:sldMk cId="210311123" sldId="466"/>
        </pc:sldMkLst>
      </pc:sldChg>
      <pc:sldChg chg="modSp mod">
        <pc:chgData name="Stefan Kollmannsberger" userId="2fc774831f44730f" providerId="LiveId" clId="{2541097D-7144-4A57-A2FE-9A5ACBDD61FC}" dt="2026-04-22T12:14:19.599" v="164" actId="20577"/>
        <pc:sldMkLst>
          <pc:docMk/>
          <pc:sldMk cId="2636123320" sldId="467"/>
        </pc:sldMkLst>
        <pc:spChg chg="mod">
          <ac:chgData name="Stefan Kollmannsberger" userId="2fc774831f44730f" providerId="LiveId" clId="{2541097D-7144-4A57-A2FE-9A5ACBDD61FC}" dt="2026-04-22T12:14:19.599" v="164" actId="20577"/>
          <ac:spMkLst>
            <pc:docMk/>
            <pc:sldMk cId="2636123320" sldId="467"/>
            <ac:spMk id="8" creationId="{4AB2611F-6779-56BC-2630-7EA19CBE230D}"/>
          </ac:spMkLst>
        </pc:spChg>
        <pc:spChg chg="mod">
          <ac:chgData name="Stefan Kollmannsberger" userId="2fc774831f44730f" providerId="LiveId" clId="{2541097D-7144-4A57-A2FE-9A5ACBDD61FC}" dt="2026-04-22T12:14:13.952" v="162" actId="20577"/>
          <ac:spMkLst>
            <pc:docMk/>
            <pc:sldMk cId="2636123320" sldId="467"/>
            <ac:spMk id="9" creationId="{091EC39B-0D1A-945A-5DAC-0971E5B7D77A}"/>
          </ac:spMkLst>
        </pc:spChg>
      </pc:sldChg>
      <pc:sldChg chg="modSp mod modNotesTx">
        <pc:chgData name="Stefan Kollmannsberger" userId="2fc774831f44730f" providerId="LiveId" clId="{2541097D-7144-4A57-A2FE-9A5ACBDD61FC}" dt="2026-04-27T14:01:30.771" v="1758" actId="20577"/>
        <pc:sldMkLst>
          <pc:docMk/>
          <pc:sldMk cId="2692938036" sldId="468"/>
        </pc:sldMkLst>
        <pc:spChg chg="mod">
          <ac:chgData name="Stefan Kollmannsberger" userId="2fc774831f44730f" providerId="LiveId" clId="{2541097D-7144-4A57-A2FE-9A5ACBDD61FC}" dt="2026-04-22T12:14:46.801" v="202" actId="20577"/>
          <ac:spMkLst>
            <pc:docMk/>
            <pc:sldMk cId="2692938036" sldId="468"/>
            <ac:spMk id="10" creationId="{886CFC32-2AA9-397C-B394-D9A7B1D5E590}"/>
          </ac:spMkLst>
        </pc:spChg>
      </pc:sldChg>
      <pc:sldChg chg="ord addCm delCm modCm">
        <pc:chgData name="Stefan Kollmannsberger" userId="2fc774831f44730f" providerId="LiveId" clId="{2541097D-7144-4A57-A2FE-9A5ACBDD61FC}" dt="2026-04-27T15:49:33.729" v="1997"/>
        <pc:sldMkLst>
          <pc:docMk/>
          <pc:sldMk cId="1891452261" sldId="473"/>
        </pc:sldMkLst>
      </pc:sldChg>
      <pc:sldChg chg="modAnim addCm delCm modCm modNotesTx">
        <pc:chgData name="Stefan Kollmannsberger" userId="2fc774831f44730f" providerId="LiveId" clId="{2541097D-7144-4A57-A2FE-9A5ACBDD61FC}" dt="2026-04-27T16:02:58.658" v="2321"/>
        <pc:sldMkLst>
          <pc:docMk/>
          <pc:sldMk cId="3351007503" sldId="477"/>
        </pc:sldMkLst>
      </pc:sldChg>
      <pc:sldChg chg="addSp delSp modSp mod modAnim delCm">
        <pc:chgData name="Stefan Kollmannsberger" userId="2fc774831f44730f" providerId="LiveId" clId="{2541097D-7144-4A57-A2FE-9A5ACBDD61FC}" dt="2026-04-27T16:04:10.449" v="2329"/>
        <pc:sldMkLst>
          <pc:docMk/>
          <pc:sldMk cId="22359822" sldId="478"/>
        </pc:sldMkLst>
        <pc:spChg chg="ord">
          <ac:chgData name="Stefan Kollmannsberger" userId="2fc774831f44730f" providerId="LiveId" clId="{2541097D-7144-4A57-A2FE-9A5ACBDD61FC}" dt="2026-04-27T14:05:03.448" v="1767" actId="166"/>
          <ac:spMkLst>
            <pc:docMk/>
            <pc:sldMk cId="22359822" sldId="478"/>
            <ac:spMk id="9" creationId="{C0B637CA-3362-0CDF-5752-D4837B00C635}"/>
          </ac:spMkLst>
        </pc:spChg>
        <pc:spChg chg="add mod">
          <ac:chgData name="Stefan Kollmannsberger" userId="2fc774831f44730f" providerId="LiveId" clId="{2541097D-7144-4A57-A2FE-9A5ACBDD61FC}" dt="2026-04-27T14:04:48.788" v="1764"/>
          <ac:spMkLst>
            <pc:docMk/>
            <pc:sldMk cId="22359822" sldId="478"/>
            <ac:spMk id="11" creationId="{3909A23F-C7CB-4514-A834-5E5E67D136DF}"/>
          </ac:spMkLst>
        </pc:spChg>
        <pc:spChg chg="add del mod">
          <ac:chgData name="Stefan Kollmannsberger" userId="2fc774831f44730f" providerId="LiveId" clId="{2541097D-7144-4A57-A2FE-9A5ACBDD61FC}" dt="2026-04-27T14:04:54.182" v="1766" actId="478"/>
          <ac:spMkLst>
            <pc:docMk/>
            <pc:sldMk cId="22359822" sldId="478"/>
            <ac:spMk id="12" creationId="{2AF1E160-2F0C-4FC9-8875-60AE7DFD90E1}"/>
          </ac:spMkLst>
        </pc:spChg>
        <pc:picChg chg="add del mod">
          <ac:chgData name="Stefan Kollmannsberger" userId="2fc774831f44730f" providerId="LiveId" clId="{2541097D-7144-4A57-A2FE-9A5ACBDD61FC}" dt="2026-04-27T14:04:36.341" v="1763" actId="478"/>
          <ac:picMkLst>
            <pc:docMk/>
            <pc:sldMk cId="22359822" sldId="478"/>
            <ac:picMk id="6" creationId="{4C6FC2DF-7107-277B-9F6F-D57C2E79A8DF}"/>
          </ac:picMkLst>
        </pc:picChg>
        <pc:picChg chg="add mod">
          <ac:chgData name="Stefan Kollmannsberger" userId="2fc774831f44730f" providerId="LiveId" clId="{2541097D-7144-4A57-A2FE-9A5ACBDD61FC}" dt="2026-04-27T14:04:48.788" v="1764"/>
          <ac:picMkLst>
            <pc:docMk/>
            <pc:sldMk cId="22359822" sldId="478"/>
            <ac:picMk id="10" creationId="{35EB6454-D0C2-44EC-86CA-155506B2129C}"/>
          </ac:picMkLst>
        </pc:picChg>
      </pc:sldChg>
      <pc:sldChg chg="addSp delSp modSp mod modAnim delCm">
        <pc:chgData name="Stefan Kollmannsberger" userId="2fc774831f44730f" providerId="LiveId" clId="{2541097D-7144-4A57-A2FE-9A5ACBDD61FC}" dt="2026-04-27T16:09:07.546" v="2361"/>
        <pc:sldMkLst>
          <pc:docMk/>
          <pc:sldMk cId="3406612916" sldId="479"/>
        </pc:sldMkLst>
        <pc:spChg chg="mod">
          <ac:chgData name="Stefan Kollmannsberger" userId="2fc774831f44730f" providerId="LiveId" clId="{2541097D-7144-4A57-A2FE-9A5ACBDD61FC}" dt="2026-04-27T15:41:33.977" v="1952"/>
          <ac:spMkLst>
            <pc:docMk/>
            <pc:sldMk cId="3406612916" sldId="479"/>
            <ac:spMk id="2" creationId="{993281FC-9199-55E8-58D8-A7B5298399C3}"/>
          </ac:spMkLst>
        </pc:spChg>
        <pc:spChg chg="add del mod">
          <ac:chgData name="Stefan Kollmannsberger" userId="2fc774831f44730f" providerId="LiveId" clId="{2541097D-7144-4A57-A2FE-9A5ACBDD61FC}" dt="2026-04-27T15:42:53.560" v="1971" actId="478"/>
          <ac:spMkLst>
            <pc:docMk/>
            <pc:sldMk cId="3406612916" sldId="479"/>
            <ac:spMk id="9" creationId="{5A1D0661-90FE-41BA-A62D-AB8E2ACC81E2}"/>
          </ac:spMkLst>
        </pc:spChg>
        <pc:spChg chg="add mod">
          <ac:chgData name="Stefan Kollmannsberger" userId="2fc774831f44730f" providerId="LiveId" clId="{2541097D-7144-4A57-A2FE-9A5ACBDD61FC}" dt="2026-04-27T15:43:13.142" v="1976" actId="1076"/>
          <ac:spMkLst>
            <pc:docMk/>
            <pc:sldMk cId="3406612916" sldId="479"/>
            <ac:spMk id="11" creationId="{5159B1CB-6405-4C42-9948-4632FF811403}"/>
          </ac:spMkLst>
        </pc:spChg>
        <pc:spChg chg="add mod">
          <ac:chgData name="Stefan Kollmannsberger" userId="2fc774831f44730f" providerId="LiveId" clId="{2541097D-7144-4A57-A2FE-9A5ACBDD61FC}" dt="2026-04-27T15:46:54.394" v="1983" actId="20577"/>
          <ac:spMkLst>
            <pc:docMk/>
            <pc:sldMk cId="3406612916" sldId="479"/>
            <ac:spMk id="12" creationId="{C400850B-7113-450B-9B62-0AAFFB319D2E}"/>
          </ac:spMkLst>
        </pc:spChg>
        <pc:picChg chg="add mod modCrop">
          <ac:chgData name="Stefan Kollmannsberger" userId="2fc774831f44730f" providerId="LiveId" clId="{2541097D-7144-4A57-A2FE-9A5ACBDD61FC}" dt="2026-04-27T15:41:17.475" v="1950" actId="1076"/>
          <ac:picMkLst>
            <pc:docMk/>
            <pc:sldMk cId="3406612916" sldId="479"/>
            <ac:picMk id="7" creationId="{B54A0D76-7F76-4932-B40C-4B3D01CD0136}"/>
          </ac:picMkLst>
        </pc:picChg>
        <pc:picChg chg="add mod modCrop">
          <ac:chgData name="Stefan Kollmannsberger" userId="2fc774831f44730f" providerId="LiveId" clId="{2541097D-7144-4A57-A2FE-9A5ACBDD61FC}" dt="2026-04-27T15:41:18.738" v="1951" actId="1076"/>
          <ac:picMkLst>
            <pc:docMk/>
            <pc:sldMk cId="3406612916" sldId="479"/>
            <ac:picMk id="8" creationId="{D01D5F4D-D187-4A2C-B06C-CEC7061D57FF}"/>
          </ac:picMkLst>
        </pc:picChg>
      </pc:sldChg>
      <pc:sldChg chg="addSp modSp mod modAnim delCm">
        <pc:chgData name="Stefan Kollmannsberger" userId="2fc774831f44730f" providerId="LiveId" clId="{2541097D-7144-4A57-A2FE-9A5ACBDD61FC}" dt="2026-04-27T16:08:15.809" v="2359"/>
        <pc:sldMkLst>
          <pc:docMk/>
          <pc:sldMk cId="1692562289" sldId="480"/>
        </pc:sldMkLst>
        <pc:spChg chg="mod">
          <ac:chgData name="Stefan Kollmannsberger" userId="2fc774831f44730f" providerId="LiveId" clId="{2541097D-7144-4A57-A2FE-9A5ACBDD61FC}" dt="2026-04-27T16:06:41.276" v="2342" actId="21"/>
          <ac:spMkLst>
            <pc:docMk/>
            <pc:sldMk cId="1692562289" sldId="480"/>
            <ac:spMk id="2" creationId="{36B20597-E085-49C6-EF79-CECDE59FAA56}"/>
          </ac:spMkLst>
        </pc:spChg>
        <pc:spChg chg="add mod">
          <ac:chgData name="Stefan Kollmannsberger" userId="2fc774831f44730f" providerId="LiveId" clId="{2541097D-7144-4A57-A2FE-9A5ACBDD61FC}" dt="2026-04-27T16:06:32.072" v="2341" actId="14100"/>
          <ac:spMkLst>
            <pc:docMk/>
            <pc:sldMk cId="1692562289" sldId="480"/>
            <ac:spMk id="14" creationId="{7E30F6ED-31AC-4C2C-A31E-336718ADED45}"/>
          </ac:spMkLst>
        </pc:spChg>
        <pc:spChg chg="add mod">
          <ac:chgData name="Stefan Kollmannsberger" userId="2fc774831f44730f" providerId="LiveId" clId="{2541097D-7144-4A57-A2FE-9A5ACBDD61FC}" dt="2026-04-27T16:07:12.780" v="2347" actId="1076"/>
          <ac:spMkLst>
            <pc:docMk/>
            <pc:sldMk cId="1692562289" sldId="480"/>
            <ac:spMk id="16" creationId="{7FC22749-99BA-4416-BC43-CFF3DA25D9CF}"/>
          </ac:spMkLst>
        </pc:spChg>
      </pc:sldChg>
      <pc:sldChg chg="modSp mod delCm">
        <pc:chgData name="Stefan Kollmannsberger" userId="2fc774831f44730f" providerId="LiveId" clId="{2541097D-7144-4A57-A2FE-9A5ACBDD61FC}" dt="2026-04-27T14:24:47.909" v="1826" actId="1035"/>
        <pc:sldMkLst>
          <pc:docMk/>
          <pc:sldMk cId="3965524356" sldId="482"/>
        </pc:sldMkLst>
        <pc:picChg chg="mod">
          <ac:chgData name="Stefan Kollmannsberger" userId="2fc774831f44730f" providerId="LiveId" clId="{2541097D-7144-4A57-A2FE-9A5ACBDD61FC}" dt="2026-04-27T14:24:47.909" v="1826" actId="1035"/>
          <ac:picMkLst>
            <pc:docMk/>
            <pc:sldMk cId="3965524356" sldId="482"/>
            <ac:picMk id="7" creationId="{5EB2C225-D042-EAA0-5B2E-43855351F52B}"/>
          </ac:picMkLst>
        </pc:picChg>
      </pc:sldChg>
      <pc:sldChg chg="modSp mod delCm">
        <pc:chgData name="Stefan Kollmannsberger" userId="2fc774831f44730f" providerId="LiveId" clId="{2541097D-7144-4A57-A2FE-9A5ACBDD61FC}" dt="2026-04-27T14:30:09.148" v="1831" actId="1592"/>
        <pc:sldMkLst>
          <pc:docMk/>
          <pc:sldMk cId="3539410995" sldId="483"/>
        </pc:sldMkLst>
        <pc:spChg chg="mod">
          <ac:chgData name="Stefan Kollmannsberger" userId="2fc774831f44730f" providerId="LiveId" clId="{2541097D-7144-4A57-A2FE-9A5ACBDD61FC}" dt="2026-04-27T14:25:14.147" v="1829" actId="1076"/>
          <ac:spMkLst>
            <pc:docMk/>
            <pc:sldMk cId="3539410995" sldId="483"/>
            <ac:spMk id="7" creationId="{F2824DA9-5A10-86F0-708C-5DCAC7704E77}"/>
          </ac:spMkLst>
        </pc:spChg>
      </pc:sldChg>
      <pc:sldChg chg="modSp mod delCm">
        <pc:chgData name="Stefan Kollmannsberger" userId="2fc774831f44730f" providerId="LiveId" clId="{2541097D-7144-4A57-A2FE-9A5ACBDD61FC}" dt="2026-04-27T14:35:42.955" v="1834" actId="1592"/>
        <pc:sldMkLst>
          <pc:docMk/>
          <pc:sldMk cId="3430801097" sldId="485"/>
        </pc:sldMkLst>
        <pc:spChg chg="mod">
          <ac:chgData name="Stefan Kollmannsberger" userId="2fc774831f44730f" providerId="LiveId" clId="{2541097D-7144-4A57-A2FE-9A5ACBDD61FC}" dt="2026-04-27T14:32:54.014" v="1832" actId="20577"/>
          <ac:spMkLst>
            <pc:docMk/>
            <pc:sldMk cId="3430801097" sldId="485"/>
            <ac:spMk id="2" creationId="{F31B5501-02E7-0890-2497-8A1954C23BCE}"/>
          </ac:spMkLst>
        </pc:spChg>
      </pc:sldChg>
      <pc:sldChg chg="modSp mod modAnim delCm modNotesTx">
        <pc:chgData name="Stefan Kollmannsberger" userId="2fc774831f44730f" providerId="LiveId" clId="{2541097D-7144-4A57-A2FE-9A5ACBDD61FC}" dt="2026-04-27T15:49:07.706" v="1994" actId="20577"/>
        <pc:sldMkLst>
          <pc:docMk/>
          <pc:sldMk cId="2662988892" sldId="488"/>
        </pc:sldMkLst>
        <pc:spChg chg="mod">
          <ac:chgData name="Stefan Kollmannsberger" userId="2fc774831f44730f" providerId="LiveId" clId="{2541097D-7144-4A57-A2FE-9A5ACBDD61FC}" dt="2026-04-27T15:05:35.787" v="1931" actId="20577"/>
          <ac:spMkLst>
            <pc:docMk/>
            <pc:sldMk cId="2662988892" sldId="488"/>
            <ac:spMk id="2" creationId="{4381A406-60A8-9BC6-5D7E-FBD1384F9CED}"/>
          </ac:spMkLst>
        </pc:spChg>
      </pc:sldChg>
      <pc:sldChg chg="modSp modAnim">
        <pc:chgData name="Stefan Kollmannsberger" userId="2fc774831f44730f" providerId="LiveId" clId="{2541097D-7144-4A57-A2FE-9A5ACBDD61FC}" dt="2026-04-27T15:59:11.013" v="2320" actId="20577"/>
        <pc:sldMkLst>
          <pc:docMk/>
          <pc:sldMk cId="3529149286" sldId="490"/>
        </pc:sldMkLst>
        <pc:spChg chg="mod">
          <ac:chgData name="Stefan Kollmannsberger" userId="2fc774831f44730f" providerId="LiveId" clId="{2541097D-7144-4A57-A2FE-9A5ACBDD61FC}" dt="2026-04-27T15:59:11.013" v="2320" actId="20577"/>
          <ac:spMkLst>
            <pc:docMk/>
            <pc:sldMk cId="3529149286" sldId="490"/>
            <ac:spMk id="2" creationId="{9C27BA8D-DBF5-866C-4A3D-C39D92673B2D}"/>
          </ac:spMkLst>
        </pc:spChg>
      </pc:sldChg>
      <pc:sldChg chg="modSp del mod modAnim">
        <pc:chgData name="Stefan Kollmannsberger" userId="2fc774831f44730f" providerId="LiveId" clId="{2541097D-7144-4A57-A2FE-9A5ACBDD61FC}" dt="2026-04-27T06:40:06.444" v="354" actId="47"/>
        <pc:sldMkLst>
          <pc:docMk/>
          <pc:sldMk cId="1277611386" sldId="494"/>
        </pc:sldMkLst>
        <pc:spChg chg="mod">
          <ac:chgData name="Stefan Kollmannsberger" userId="2fc774831f44730f" providerId="LiveId" clId="{2541097D-7144-4A57-A2FE-9A5ACBDD61FC}" dt="2026-04-27T06:37:02.271" v="316" actId="21"/>
          <ac:spMkLst>
            <pc:docMk/>
            <pc:sldMk cId="1277611386" sldId="494"/>
            <ac:spMk id="2" creationId="{23C82011-CC6A-815E-A8B3-2C760D5C8D09}"/>
          </ac:spMkLst>
        </pc:spChg>
      </pc:sldChg>
      <pc:sldChg chg="modSp mod modNotesTx">
        <pc:chgData name="Stefan Kollmannsberger" userId="2fc774831f44730f" providerId="LiveId" clId="{2541097D-7144-4A57-A2FE-9A5ACBDD61FC}" dt="2026-04-27T07:13:12.362" v="520" actId="20577"/>
        <pc:sldMkLst>
          <pc:docMk/>
          <pc:sldMk cId="2730809469" sldId="495"/>
        </pc:sldMkLst>
        <pc:spChg chg="mod">
          <ac:chgData name="Stefan Kollmannsberger" userId="2fc774831f44730f" providerId="LiveId" clId="{2541097D-7144-4A57-A2FE-9A5ACBDD61FC}" dt="2026-04-27T07:10:27.516" v="503" actId="790"/>
          <ac:spMkLst>
            <pc:docMk/>
            <pc:sldMk cId="2730809469" sldId="495"/>
            <ac:spMk id="9" creationId="{C6C417D3-2A5A-76CF-0A25-F26F3E568CB3}"/>
          </ac:spMkLst>
        </pc:spChg>
        <pc:spChg chg="mod">
          <ac:chgData name="Stefan Kollmannsberger" userId="2fc774831f44730f" providerId="LiveId" clId="{2541097D-7144-4A57-A2FE-9A5ACBDD61FC}" dt="2026-04-27T07:10:46.390" v="504" actId="790"/>
          <ac:spMkLst>
            <pc:docMk/>
            <pc:sldMk cId="2730809469" sldId="495"/>
            <ac:spMk id="10" creationId="{19924016-8C87-6ED1-BA16-712B3AB558DC}"/>
          </ac:spMkLst>
        </pc:spChg>
        <pc:picChg chg="mod">
          <ac:chgData name="Stefan Kollmannsberger" userId="2fc774831f44730f" providerId="LiveId" clId="{2541097D-7144-4A57-A2FE-9A5ACBDD61FC}" dt="2026-04-27T07:00:56.164" v="415" actId="1076"/>
          <ac:picMkLst>
            <pc:docMk/>
            <pc:sldMk cId="2730809469" sldId="495"/>
            <ac:picMk id="7" creationId="{4AC56A16-CBF3-9D69-6823-9D4D9B3820B0}"/>
          </ac:picMkLst>
        </pc:picChg>
      </pc:sldChg>
      <pc:sldChg chg="addSp delSp modSp mod modAnim">
        <pc:chgData name="Stefan Kollmannsberger" userId="2fc774831f44730f" providerId="LiveId" clId="{2541097D-7144-4A57-A2FE-9A5ACBDD61FC}" dt="2026-04-27T15:21:04.076" v="1949" actId="20577"/>
        <pc:sldMkLst>
          <pc:docMk/>
          <pc:sldMk cId="3341843099" sldId="496"/>
        </pc:sldMkLst>
        <pc:spChg chg="mod">
          <ac:chgData name="Stefan Kollmannsberger" userId="2fc774831f44730f" providerId="LiveId" clId="{2541097D-7144-4A57-A2FE-9A5ACBDD61FC}" dt="2026-04-27T15:21:04.076" v="1949" actId="20577"/>
          <ac:spMkLst>
            <pc:docMk/>
            <pc:sldMk cId="3341843099" sldId="496"/>
            <ac:spMk id="2" creationId="{638E74BC-C4EF-1E2C-3677-F3DE29681426}"/>
          </ac:spMkLst>
        </pc:spChg>
        <pc:spChg chg="add del mod">
          <ac:chgData name="Stefan Kollmannsberger" userId="2fc774831f44730f" providerId="LiveId" clId="{2541097D-7144-4A57-A2FE-9A5ACBDD61FC}" dt="2026-04-27T08:03:38.503" v="1328" actId="478"/>
          <ac:spMkLst>
            <pc:docMk/>
            <pc:sldMk cId="3341843099" sldId="496"/>
            <ac:spMk id="8" creationId="{65EFFC32-644A-4CDE-8475-893B1C2231CF}"/>
          </ac:spMkLst>
        </pc:spChg>
      </pc:sldChg>
      <pc:sldChg chg="addSp modSp mod modAnim modNotesTx">
        <pc:chgData name="Stefan Kollmannsberger" userId="2fc774831f44730f" providerId="LiveId" clId="{2541097D-7144-4A57-A2FE-9A5ACBDD61FC}" dt="2026-04-27T08:02:58.719" v="1325" actId="20577"/>
        <pc:sldMkLst>
          <pc:docMk/>
          <pc:sldMk cId="1294699730" sldId="497"/>
        </pc:sldMkLst>
        <pc:spChg chg="mod">
          <ac:chgData name="Stefan Kollmannsberger" userId="2fc774831f44730f" providerId="LiveId" clId="{2541097D-7144-4A57-A2FE-9A5ACBDD61FC}" dt="2026-04-27T07:39:19.874" v="1280" actId="20577"/>
          <ac:spMkLst>
            <pc:docMk/>
            <pc:sldMk cId="1294699730" sldId="497"/>
            <ac:spMk id="2" creationId="{286EC8F5-1745-42E2-961E-41B7AFCCAD9C}"/>
          </ac:spMkLst>
        </pc:spChg>
        <pc:spChg chg="mod">
          <ac:chgData name="Stefan Kollmannsberger" userId="2fc774831f44730f" providerId="LiveId" clId="{2541097D-7144-4A57-A2FE-9A5ACBDD61FC}" dt="2026-04-27T07:33:47.250" v="1260" actId="1076"/>
          <ac:spMkLst>
            <pc:docMk/>
            <pc:sldMk cId="1294699730" sldId="497"/>
            <ac:spMk id="7" creationId="{E4BA578F-9AF2-C19F-7692-876D26EFFB95}"/>
          </ac:spMkLst>
        </pc:spChg>
        <pc:spChg chg="add mod">
          <ac:chgData name="Stefan Kollmannsberger" userId="2fc774831f44730f" providerId="LiveId" clId="{2541097D-7144-4A57-A2FE-9A5ACBDD61FC}" dt="2026-04-27T07:29:39.546" v="869" actId="1076"/>
          <ac:spMkLst>
            <pc:docMk/>
            <pc:sldMk cId="1294699730" sldId="497"/>
            <ac:spMk id="8" creationId="{6F4986EE-CB5C-482B-905A-057B53F74A92}"/>
          </ac:spMkLst>
        </pc:spChg>
      </pc:sldChg>
      <pc:sldChg chg="modSp mod">
        <pc:chgData name="Stefan Kollmannsberger" userId="2fc774831f44730f" providerId="LiveId" clId="{2541097D-7144-4A57-A2FE-9A5ACBDD61FC}" dt="2026-04-27T07:40:32.717" v="1314" actId="1076"/>
        <pc:sldMkLst>
          <pc:docMk/>
          <pc:sldMk cId="1772950815" sldId="498"/>
        </pc:sldMkLst>
        <pc:spChg chg="mod">
          <ac:chgData name="Stefan Kollmannsberger" userId="2fc774831f44730f" providerId="LiveId" clId="{2541097D-7144-4A57-A2FE-9A5ACBDD61FC}" dt="2026-04-27T07:40:32.717" v="1314" actId="1076"/>
          <ac:spMkLst>
            <pc:docMk/>
            <pc:sldMk cId="1772950815" sldId="498"/>
            <ac:spMk id="9" creationId="{7DE0475C-3A1A-0037-78A4-7358DE699487}"/>
          </ac:spMkLst>
        </pc:spChg>
        <pc:spChg chg="mod">
          <ac:chgData name="Stefan Kollmannsberger" userId="2fc774831f44730f" providerId="LiveId" clId="{2541097D-7144-4A57-A2FE-9A5ACBDD61FC}" dt="2026-04-27T07:40:09.628" v="1300" actId="1038"/>
          <ac:spMkLst>
            <pc:docMk/>
            <pc:sldMk cId="1772950815" sldId="498"/>
            <ac:spMk id="10" creationId="{65292092-F68A-9BFC-97CD-7069D269C0A6}"/>
          </ac:spMkLst>
        </pc:spChg>
        <pc:spChg chg="mod">
          <ac:chgData name="Stefan Kollmannsberger" userId="2fc774831f44730f" providerId="LiveId" clId="{2541097D-7144-4A57-A2FE-9A5ACBDD61FC}" dt="2026-04-27T07:40:32.717" v="1314" actId="1076"/>
          <ac:spMkLst>
            <pc:docMk/>
            <pc:sldMk cId="1772950815" sldId="498"/>
            <ac:spMk id="14" creationId="{82D331FA-5EB7-3B46-8D2B-11E42B67459E}"/>
          </ac:spMkLst>
        </pc:spChg>
        <pc:picChg chg="mod">
          <ac:chgData name="Stefan Kollmannsberger" userId="2fc774831f44730f" providerId="LiveId" clId="{2541097D-7144-4A57-A2FE-9A5ACBDD61FC}" dt="2026-04-27T07:40:00.134" v="1282" actId="1076"/>
          <ac:picMkLst>
            <pc:docMk/>
            <pc:sldMk cId="1772950815" sldId="498"/>
            <ac:picMk id="7" creationId="{971D82C2-F236-B91E-7A61-29DDEA384DA7}"/>
          </ac:picMkLst>
        </pc:picChg>
        <pc:picChg chg="mod">
          <ac:chgData name="Stefan Kollmannsberger" userId="2fc774831f44730f" providerId="LiveId" clId="{2541097D-7144-4A57-A2FE-9A5ACBDD61FC}" dt="2026-04-27T07:39:52.092" v="1281" actId="1076"/>
          <ac:picMkLst>
            <pc:docMk/>
            <pc:sldMk cId="1772950815" sldId="498"/>
            <ac:picMk id="11" creationId="{962A237C-164A-6EAE-2CD3-1A0AD6D50534}"/>
          </ac:picMkLst>
        </pc:picChg>
        <pc:picChg chg="mod">
          <ac:chgData name="Stefan Kollmannsberger" userId="2fc774831f44730f" providerId="LiveId" clId="{2541097D-7144-4A57-A2FE-9A5ACBDD61FC}" dt="2026-04-27T07:40:32.717" v="1314" actId="1076"/>
          <ac:picMkLst>
            <pc:docMk/>
            <pc:sldMk cId="1772950815" sldId="498"/>
            <ac:picMk id="13" creationId="{2AFC12E5-9641-85AA-B1C5-92AB48B1686D}"/>
          </ac:picMkLst>
        </pc:picChg>
      </pc:sldChg>
      <pc:sldChg chg="modSp mod">
        <pc:chgData name="Stefan Kollmannsberger" userId="2fc774831f44730f" providerId="LiveId" clId="{2541097D-7144-4A57-A2FE-9A5ACBDD61FC}" dt="2026-04-27T08:04:38.368" v="1384" actId="6549"/>
        <pc:sldMkLst>
          <pc:docMk/>
          <pc:sldMk cId="4167037997" sldId="499"/>
        </pc:sldMkLst>
        <pc:spChg chg="mod">
          <ac:chgData name="Stefan Kollmannsberger" userId="2fc774831f44730f" providerId="LiveId" clId="{2541097D-7144-4A57-A2FE-9A5ACBDD61FC}" dt="2026-04-27T08:04:38.368" v="1384" actId="6549"/>
          <ac:spMkLst>
            <pc:docMk/>
            <pc:sldMk cId="4167037997" sldId="499"/>
            <ac:spMk id="2" creationId="{5A0C9317-FFA2-A08B-E221-937E08781696}"/>
          </ac:spMkLst>
        </pc:spChg>
      </pc:sldChg>
      <pc:sldChg chg="modSp mod">
        <pc:chgData name="Stefan Kollmannsberger" userId="2fc774831f44730f" providerId="LiveId" clId="{2541097D-7144-4A57-A2FE-9A5ACBDD61FC}" dt="2026-04-27T15:48:00.832" v="1984" actId="790"/>
        <pc:sldMkLst>
          <pc:docMk/>
          <pc:sldMk cId="3513236943" sldId="502"/>
        </pc:sldMkLst>
        <pc:spChg chg="mod">
          <ac:chgData name="Stefan Kollmannsberger" userId="2fc774831f44730f" providerId="LiveId" clId="{2541097D-7144-4A57-A2FE-9A5ACBDD61FC}" dt="2026-04-27T15:48:00.832" v="1984" actId="790"/>
          <ac:spMkLst>
            <pc:docMk/>
            <pc:sldMk cId="3513236943" sldId="502"/>
            <ac:spMk id="2" creationId="{39197F36-551F-FEF6-2828-3844E4CFB361}"/>
          </ac:spMkLst>
        </pc:spChg>
      </pc:sldChg>
      <pc:sldChg chg="mod modShow">
        <pc:chgData name="Stefan Kollmannsberger" userId="2fc774831f44730f" providerId="LiveId" clId="{2541097D-7144-4A57-A2FE-9A5ACBDD61FC}" dt="2026-04-27T15:49:57.173" v="1998" actId="729"/>
        <pc:sldMkLst>
          <pc:docMk/>
          <pc:sldMk cId="92616049" sldId="503"/>
        </pc:sldMkLst>
      </pc:sldChg>
      <pc:sldChg chg="mod modShow">
        <pc:chgData name="Stefan Kollmannsberger" userId="2fc774831f44730f" providerId="LiveId" clId="{2541097D-7144-4A57-A2FE-9A5ACBDD61FC}" dt="2026-04-27T15:49:57.173" v="1998" actId="729"/>
        <pc:sldMkLst>
          <pc:docMk/>
          <pc:sldMk cId="3330569943" sldId="504"/>
        </pc:sldMkLst>
      </pc:sldChg>
      <pc:sldChg chg="mod modShow">
        <pc:chgData name="Stefan Kollmannsberger" userId="2fc774831f44730f" providerId="LiveId" clId="{2541097D-7144-4A57-A2FE-9A5ACBDD61FC}" dt="2026-04-27T15:49:57.173" v="1998" actId="729"/>
        <pc:sldMkLst>
          <pc:docMk/>
          <pc:sldMk cId="3226261717" sldId="505"/>
        </pc:sldMkLst>
      </pc:sldChg>
      <pc:sldChg chg="addCm delCm modCm modNotesTx">
        <pc:chgData name="Stefan Kollmannsberger" userId="2fc774831f44730f" providerId="LiveId" clId="{2541097D-7144-4A57-A2FE-9A5ACBDD61FC}" dt="2026-04-27T15:50:35.797" v="2001" actId="20577"/>
        <pc:sldMkLst>
          <pc:docMk/>
          <pc:sldMk cId="1462432282" sldId="506"/>
        </pc:sldMkLst>
      </pc:sldChg>
      <pc:sldChg chg="modSp mod addCm delCm modCm modNotesTx">
        <pc:chgData name="Stefan Kollmannsberger" userId="2fc774831f44730f" providerId="LiveId" clId="{2541097D-7144-4A57-A2FE-9A5ACBDD61FC}" dt="2026-04-27T15:55:34.198" v="2233" actId="20577"/>
        <pc:sldMkLst>
          <pc:docMk/>
          <pc:sldMk cId="3808885917" sldId="507"/>
        </pc:sldMkLst>
        <pc:spChg chg="mod">
          <ac:chgData name="Stefan Kollmannsberger" userId="2fc774831f44730f" providerId="LiveId" clId="{2541097D-7144-4A57-A2FE-9A5ACBDD61FC}" dt="2026-04-22T06:19:02.109" v="143" actId="20577"/>
          <ac:spMkLst>
            <pc:docMk/>
            <pc:sldMk cId="3808885917" sldId="507"/>
            <ac:spMk id="2" creationId="{947F19C2-2476-B555-C536-134AF9B2763C}"/>
          </ac:spMkLst>
        </pc:spChg>
      </pc:sldChg>
      <pc:sldChg chg="addCm delCm modCm">
        <pc:chgData name="Stefan Kollmannsberger" userId="2fc774831f44730f" providerId="LiveId" clId="{2541097D-7144-4A57-A2FE-9A5ACBDD61FC}" dt="2026-04-27T15:56:04.101" v="2235" actId="1592"/>
        <pc:sldMkLst>
          <pc:docMk/>
          <pc:sldMk cId="2704898551" sldId="509"/>
        </pc:sldMkLst>
      </pc:sldChg>
      <pc:sldChg chg="delCm">
        <pc:chgData name="Stefan Kollmannsberger" userId="2fc774831f44730f" providerId="LiveId" clId="{2541097D-7144-4A57-A2FE-9A5ACBDD61FC}" dt="2026-04-27T15:48:08.693" v="1985" actId="1592"/>
        <pc:sldMkLst>
          <pc:docMk/>
          <pc:sldMk cId="1961410479" sldId="510"/>
        </pc:sldMkLst>
      </pc:sldChg>
      <pc:sldChg chg="modSp add mod modAnim addCm delCm modCm modNotesTx">
        <pc:chgData name="Stefan Kollmannsberger" userId="2fc774831f44730f" providerId="LiveId" clId="{2541097D-7144-4A57-A2FE-9A5ACBDD61FC}" dt="2026-04-27T06:58:34.256" v="398" actId="1592"/>
        <pc:sldMkLst>
          <pc:docMk/>
          <pc:sldMk cId="4090172790" sldId="511"/>
        </pc:sldMkLst>
        <pc:spChg chg="mod">
          <ac:chgData name="Stefan Kollmannsberger" userId="2fc774831f44730f" providerId="LiveId" clId="{2541097D-7144-4A57-A2FE-9A5ACBDD61FC}" dt="2026-04-27T06:56:54.378" v="396" actId="20577"/>
          <ac:spMkLst>
            <pc:docMk/>
            <pc:sldMk cId="4090172790" sldId="511"/>
            <ac:spMk id="2" creationId="{23C82011-CC6A-815E-A8B3-2C760D5C8D09}"/>
          </ac:spMkLst>
        </pc:spChg>
        <pc:spChg chg="mod">
          <ac:chgData name="Stefan Kollmannsberger" userId="2fc774831f44730f" providerId="LiveId" clId="{2541097D-7144-4A57-A2FE-9A5ACBDD61FC}" dt="2026-04-27T06:57:10.485" v="397" actId="1076"/>
          <ac:spMkLst>
            <pc:docMk/>
            <pc:sldMk cId="4090172790" sldId="511"/>
            <ac:spMk id="7" creationId="{2EF0B7A4-B360-3E25-2EBA-F5D30AF7481D}"/>
          </ac:spMkLst>
        </pc:spChg>
        <pc:picChg chg="ord">
          <ac:chgData name="Stefan Kollmannsberger" userId="2fc774831f44730f" providerId="LiveId" clId="{2541097D-7144-4A57-A2FE-9A5ACBDD61FC}" dt="2026-04-27T06:37:42.647" v="321" actId="167"/>
          <ac:picMkLst>
            <pc:docMk/>
            <pc:sldMk cId="4090172790" sldId="511"/>
            <ac:picMk id="6" creationId="{4EDF1E3C-326E-3611-0A92-3FBD9F2173AC}"/>
          </ac:picMkLst>
        </pc:picChg>
      </pc:sldChg>
      <pc:sldChg chg="addSp delSp modSp new mod ord modNotes modNotesTx">
        <pc:chgData name="Stefan Kollmannsberger" userId="2fc774831f44730f" providerId="LiveId" clId="{2541097D-7144-4A57-A2FE-9A5ACBDD61FC}" dt="2026-04-27T14:04:49.396" v="1765" actId="27636"/>
        <pc:sldMkLst>
          <pc:docMk/>
          <pc:sldMk cId="610200940" sldId="512"/>
        </pc:sldMkLst>
        <pc:spChg chg="mod">
          <ac:chgData name="Stefan Kollmannsberger" userId="2fc774831f44730f" providerId="LiveId" clId="{2541097D-7144-4A57-A2FE-9A5ACBDD61FC}" dt="2026-04-27T08:18:58.765" v="1456" actId="20577"/>
          <ac:spMkLst>
            <pc:docMk/>
            <pc:sldMk cId="610200940" sldId="512"/>
            <ac:spMk id="3" creationId="{52527DCB-B09F-498E-BF6F-3D08354DA6B2}"/>
          </ac:spMkLst>
        </pc:spChg>
        <pc:picChg chg="add del mod">
          <ac:chgData name="Stefan Kollmannsberger" userId="2fc774831f44730f" providerId="LiveId" clId="{2541097D-7144-4A57-A2FE-9A5ACBDD61FC}" dt="2026-04-27T08:17:50.431" v="1406" actId="478"/>
          <ac:picMkLst>
            <pc:docMk/>
            <pc:sldMk cId="610200940" sldId="512"/>
            <ac:picMk id="7" creationId="{27ABCF6F-D938-483B-A0BB-4CC16C68B620}"/>
          </ac:picMkLst>
        </pc:picChg>
        <pc:picChg chg="add mod">
          <ac:chgData name="Stefan Kollmannsberger" userId="2fc774831f44730f" providerId="LiveId" clId="{2541097D-7144-4A57-A2FE-9A5ACBDD61FC}" dt="2026-04-27T08:18:28.182" v="1408" actId="1076"/>
          <ac:picMkLst>
            <pc:docMk/>
            <pc:sldMk cId="610200940" sldId="512"/>
            <ac:picMk id="9" creationId="{ABF2F82F-2F68-4C8C-AD84-A6D3194B2C03}"/>
          </ac:picMkLst>
        </pc:pic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6-04-26T18:06:22.131" idx="29">
    <p:pos x="2352" y="813"/>
    <p:text>im Buch leider ein Feld zu viel</p:text>
    <p:extLst>
      <p:ext uri="{C676402C-5697-4E1C-873F-D02D1690AC5C}">
        <p15:threadingInfo xmlns:p15="http://schemas.microsoft.com/office/powerpoint/2012/main" timeZoneBias="-12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6-04-26T19:27:42.736" idx="44">
    <p:pos x="1367" y="69"/>
    <p:text>Wieso wird das hier denn eingeführt? Es ist ja eine Technik und geöhrt in das Kapitel vorher.</p:text>
    <p:extLst>
      <p:ext uri="{C676402C-5697-4E1C-873F-D02D1690AC5C}">
        <p15:threadingInfo xmlns:p15="http://schemas.microsoft.com/office/powerpoint/2012/main" timeZoneBias="-12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6-04-27T09:41:58.078" idx="49">
    <p:pos x="374" y="20"/>
    <p:text>Mir fällt gerade auf, dass das hier noch vor den Physics informed NNs kommt.
Wir sollten hier einen Vorwärts-Verweis machen bzw.  üblerlegen, ob wir dans nach hinten schieben.
Grund: Er wird mit Ableitungen gearbeitet, die physics constraints werden dirkekt eingebaut, das ist bei PINNS ja nicht anders.</p:text>
    <p:extLst>
      <p:ext uri="{C676402C-5697-4E1C-873F-D02D1690AC5C}">
        <p15:threadingInfo xmlns:p15="http://schemas.microsoft.com/office/powerpoint/2012/main" timeZoneBias="-12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3" name="Datumsplatzhalter 2"/>
          <p:cNvSpPr>
            <a:spLocks noGrp="1"/>
          </p:cNvSpPr>
          <p:nvPr>
            <p:ph type="dt" sz="quarter"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Arial" pitchFamily="34" charset="0"/>
                <a:cs typeface="Arial" pitchFamily="34" charset="0"/>
              </a:defRPr>
            </a:lvl1pPr>
          </a:lstStyle>
          <a:p>
            <a:pPr>
              <a:defRPr/>
            </a:pPr>
            <a:fld id="{20751376-2EB8-4403-B858-305A8AAA6B01}" type="datetimeFigureOut">
              <a:rPr lang="en-GB"/>
              <a:pPr>
                <a:defRPr/>
              </a:pPr>
              <a:t>27/04/2026</a:t>
            </a:fld>
            <a:endParaRPr lang="en-GB"/>
          </a:p>
        </p:txBody>
      </p:sp>
      <p:sp>
        <p:nvSpPr>
          <p:cNvPr id="4" name="Fußzeilenplatzhalter 3"/>
          <p:cNvSpPr>
            <a:spLocks noGrp="1"/>
          </p:cNvSpPr>
          <p:nvPr>
            <p:ph type="ftr" sz="quarter" idx="2"/>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5" name="Foliennummernplatzhalter 4"/>
          <p:cNvSpPr>
            <a:spLocks noGrp="1"/>
          </p:cNvSpPr>
          <p:nvPr>
            <p:ph type="sldNum" sz="quarter" idx="3"/>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Arial" pitchFamily="34" charset="0"/>
                <a:cs typeface="Arial" pitchFamily="34" charset="0"/>
              </a:defRPr>
            </a:lvl1pPr>
          </a:lstStyle>
          <a:p>
            <a:pPr>
              <a:defRPr/>
            </a:pPr>
            <a:fld id="{62C15F7A-46C6-4AD2-BFEC-842DCCCC19C4}" type="slidenum">
              <a:rPr lang="en-GB"/>
              <a:pPr>
                <a:defRPr/>
              </a:pPr>
              <a:t>‹Nr.›</a:t>
            </a:fld>
            <a:endParaRPr lang="en-GB"/>
          </a:p>
        </p:txBody>
      </p:sp>
    </p:spTree>
    <p:extLst>
      <p:ext uri="{BB962C8B-B14F-4D97-AF65-F5344CB8AC3E}">
        <p14:creationId xmlns:p14="http://schemas.microsoft.com/office/powerpoint/2010/main" val="28290957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3" name="Datumsplatzhalter 2"/>
          <p:cNvSpPr>
            <a:spLocks noGrp="1"/>
          </p:cNvSpPr>
          <p:nvPr>
            <p:ph type="dt"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mn-lt"/>
                <a:cs typeface="+mn-cs"/>
              </a:defRPr>
            </a:lvl1pPr>
          </a:lstStyle>
          <a:p>
            <a:pPr>
              <a:defRPr/>
            </a:pPr>
            <a:fld id="{89C46BC9-2C9E-4670-A85A-6A588BA2D405}" type="datetimeFigureOut">
              <a:rPr lang="en-GB"/>
              <a:pPr>
                <a:defRPr/>
              </a:pPr>
              <a:t>27/04/2026</a:t>
            </a:fld>
            <a:endParaRPr lang="en-GB"/>
          </a:p>
        </p:txBody>
      </p:sp>
      <p:sp>
        <p:nvSpPr>
          <p:cNvPr id="4" name="Folienbildplatzhalter 3"/>
          <p:cNvSpPr>
            <a:spLocks noGrp="1" noRot="1" noChangeAspect="1"/>
          </p:cNvSpPr>
          <p:nvPr>
            <p:ph type="sldImg" idx="2"/>
          </p:nvPr>
        </p:nvSpPr>
        <p:spPr>
          <a:xfrm>
            <a:off x="2740025" y="500063"/>
            <a:ext cx="4445000" cy="2500312"/>
          </a:xfrm>
          <a:prstGeom prst="rect">
            <a:avLst/>
          </a:prstGeom>
          <a:noFill/>
          <a:ln w="12700">
            <a:solidFill>
              <a:prstClr val="black"/>
            </a:solidFill>
          </a:ln>
        </p:spPr>
        <p:txBody>
          <a:bodyPr vert="horz" lIns="90708" tIns="45354" rIns="90708" bIns="45354" rtlCol="0" anchor="ctr"/>
          <a:lstStyle/>
          <a:p>
            <a:pPr lvl="0"/>
            <a:endParaRPr lang="en-GB" noProof="0"/>
          </a:p>
        </p:txBody>
      </p:sp>
      <p:sp>
        <p:nvSpPr>
          <p:cNvPr id="5" name="Notizenplatzhalter 4"/>
          <p:cNvSpPr>
            <a:spLocks noGrp="1"/>
          </p:cNvSpPr>
          <p:nvPr>
            <p:ph type="body" sz="quarter" idx="3"/>
          </p:nvPr>
        </p:nvSpPr>
        <p:spPr>
          <a:xfrm>
            <a:off x="992506" y="3166309"/>
            <a:ext cx="7940040" cy="2999661"/>
          </a:xfrm>
          <a:prstGeom prst="rect">
            <a:avLst/>
          </a:prstGeom>
        </p:spPr>
        <p:txBody>
          <a:bodyPr vert="horz" wrap="square" lIns="90708" tIns="45354" rIns="90708" bIns="45354" numCol="1" anchor="t" anchorCtr="0" compatLnSpc="1">
            <a:prstTxWarp prst="textNoShape">
              <a:avLst/>
            </a:prstTxWarp>
            <a:normAutofit/>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endParaRPr lang="en-GB" dirty="0"/>
          </a:p>
        </p:txBody>
      </p:sp>
      <p:sp>
        <p:nvSpPr>
          <p:cNvPr id="6" name="Fußzeilenplatzhalter 5"/>
          <p:cNvSpPr>
            <a:spLocks noGrp="1"/>
          </p:cNvSpPr>
          <p:nvPr>
            <p:ph type="ftr" sz="quarter" idx="4"/>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7" name="Foliennummernplatzhalter 6"/>
          <p:cNvSpPr>
            <a:spLocks noGrp="1"/>
          </p:cNvSpPr>
          <p:nvPr>
            <p:ph type="sldNum" sz="quarter" idx="5"/>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mn-lt"/>
                <a:cs typeface="+mn-cs"/>
              </a:defRPr>
            </a:lvl1pPr>
          </a:lstStyle>
          <a:p>
            <a:pPr>
              <a:defRPr/>
            </a:pPr>
            <a:fld id="{00AFC6D0-44D5-4EB7-828F-6F464F83D79A}" type="slidenum">
              <a:rPr lang="en-GB"/>
              <a:pPr>
                <a:defRPr/>
              </a:pPr>
              <a:t>‹Nr.›</a:t>
            </a:fld>
            <a:endParaRPr lang="en-GB"/>
          </a:p>
        </p:txBody>
      </p:sp>
    </p:spTree>
    <p:extLst>
      <p:ext uri="{BB962C8B-B14F-4D97-AF65-F5344CB8AC3E}">
        <p14:creationId xmlns:p14="http://schemas.microsoft.com/office/powerpoint/2010/main" val="229799730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Arial" pitchFamily="34" charset="0"/>
      </a:defRPr>
    </a:lvl1pPr>
    <a:lvl2pPr marL="182563" indent="-182563" algn="l" rtl="0" fontAlgn="base">
      <a:spcBef>
        <a:spcPct val="30000"/>
      </a:spcBef>
      <a:spcAft>
        <a:spcPct val="0"/>
      </a:spcAft>
      <a:buFont typeface="Arial" charset="0"/>
      <a:buChar char="•"/>
      <a:defRPr sz="1200" kern="1200">
        <a:solidFill>
          <a:schemeClr val="tx1"/>
        </a:solidFill>
        <a:latin typeface="+mn-lt"/>
        <a:ea typeface="+mn-ea"/>
        <a:cs typeface="Arial" charset="0"/>
      </a:defRPr>
    </a:lvl2pPr>
    <a:lvl3pPr marL="355600" indent="-173038" algn="l" rtl="0" fontAlgn="base">
      <a:spcBef>
        <a:spcPct val="30000"/>
      </a:spcBef>
      <a:spcAft>
        <a:spcPct val="0"/>
      </a:spcAft>
      <a:buFont typeface="Symbol" pitchFamily="18" charset="2"/>
      <a:buChar char="-"/>
      <a:defRPr sz="1200" kern="1200">
        <a:solidFill>
          <a:schemeClr val="tx1"/>
        </a:solidFill>
        <a:latin typeface="+mn-lt"/>
        <a:ea typeface="+mn-ea"/>
        <a:cs typeface="Arial" charset="0"/>
      </a:defRPr>
    </a:lvl3pPr>
    <a:lvl4pPr marL="538163" indent="-182563" algn="l" rtl="0" fontAlgn="base">
      <a:spcBef>
        <a:spcPct val="30000"/>
      </a:spcBef>
      <a:spcAft>
        <a:spcPct val="0"/>
      </a:spcAft>
      <a:buFont typeface="Courier New" pitchFamily="49" charset="0"/>
      <a:buChar char="o"/>
      <a:defRPr sz="1200" kern="1200">
        <a:solidFill>
          <a:schemeClr val="tx1"/>
        </a:solidFill>
        <a:latin typeface="+mn-lt"/>
        <a:ea typeface="+mn-ea"/>
        <a:cs typeface="Arial" charset="0"/>
      </a:defRPr>
    </a:lvl4pPr>
    <a:lvl5pPr marL="720725" indent="-182563" algn="l" rtl="0" fontAlgn="base">
      <a:spcBef>
        <a:spcPct val="30000"/>
      </a:spcBef>
      <a:spcAft>
        <a:spcPct val="0"/>
      </a:spcAft>
      <a:buFont typeface="Wingdings" pitchFamily="2" charset="2"/>
      <a:buChar char="§"/>
      <a:defRPr sz="12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err="1"/>
              <a:t>generated</a:t>
            </a:r>
            <a:r>
              <a:rPr lang="de-DE" dirty="0"/>
              <a:t> </a:t>
            </a:r>
            <a:r>
              <a:rPr lang="de-DE" dirty="0" err="1"/>
              <a:t>with</a:t>
            </a:r>
            <a:r>
              <a:rPr lang="de-DE" dirty="0"/>
              <a:t> https://www.the-qrcode-generator.com/</a:t>
            </a:r>
            <a:endParaRPr lang="en-US" dirty="0"/>
          </a:p>
        </p:txBody>
      </p:sp>
      <p:sp>
        <p:nvSpPr>
          <p:cNvPr id="4" name="Slide Number Placeholder 3"/>
          <p:cNvSpPr>
            <a:spLocks noGrp="1"/>
          </p:cNvSpPr>
          <p:nvPr>
            <p:ph type="sldNum" sz="quarter" idx="5"/>
          </p:nvPr>
        </p:nvSpPr>
        <p:spPr/>
        <p:txBody>
          <a:bodyPr/>
          <a:lstStyle/>
          <a:p>
            <a:pPr>
              <a:defRPr/>
            </a:pPr>
            <a:fld id="{00AFC6D0-44D5-4EB7-828F-6F464F83D79A}" type="slidenum">
              <a:rPr lang="en-GB" smtClean="0"/>
              <a:pPr>
                <a:defRPr/>
              </a:pPr>
              <a:t>1</a:t>
            </a:fld>
            <a:endParaRPr lang="en-GB"/>
          </a:p>
        </p:txBody>
      </p:sp>
    </p:spTree>
    <p:extLst>
      <p:ext uri="{BB962C8B-B14F-4D97-AF65-F5344CB8AC3E}">
        <p14:creationId xmlns:p14="http://schemas.microsoft.com/office/powerpoint/2010/main" val="22804081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sequential is a container that can execute </a:t>
            </a:r>
            <a:r>
              <a:rPr lang="en-US" dirty="0" err="1"/>
              <a:t>serveral</a:t>
            </a:r>
            <a:r>
              <a:rPr lang="en-US" dirty="0"/>
              <a:t> modules</a:t>
            </a:r>
          </a:p>
          <a:p>
            <a:endParaRPr lang="en-US" dirty="0"/>
          </a:p>
        </p:txBody>
      </p:sp>
      <p:sp>
        <p:nvSpPr>
          <p:cNvPr id="4" name="Foliennummernplatzhalter 3"/>
          <p:cNvSpPr>
            <a:spLocks noGrp="1"/>
          </p:cNvSpPr>
          <p:nvPr>
            <p:ph type="sldNum" sz="quarter" idx="5"/>
          </p:nvPr>
        </p:nvSpPr>
        <p:spPr/>
        <p:txBody>
          <a:bodyPr/>
          <a:lstStyle/>
          <a:p>
            <a:pPr>
              <a:defRPr/>
            </a:pPr>
            <a:fld id="{00AFC6D0-44D5-4EB7-828F-6F464F83D79A}" type="slidenum">
              <a:rPr lang="en-GB" smtClean="0"/>
              <a:pPr>
                <a:defRPr/>
              </a:pPr>
              <a:t>5</a:t>
            </a:fld>
            <a:endParaRPr lang="en-GB"/>
          </a:p>
        </p:txBody>
      </p:sp>
    </p:spTree>
    <p:extLst>
      <p:ext uri="{BB962C8B-B14F-4D97-AF65-F5344CB8AC3E}">
        <p14:creationId xmlns:p14="http://schemas.microsoft.com/office/powerpoint/2010/main" val="14890655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Model has parameters because </a:t>
            </a:r>
            <a:r>
              <a:rPr lang="en-US" dirty="0" err="1">
                <a:solidFill>
                  <a:srgbClr val="000000"/>
                </a:solidFill>
                <a:latin typeface="Consolas" panose="020B0609020204030204" pitchFamily="49" charset="0"/>
              </a:rPr>
              <a:t>torch.nn.Linear</a:t>
            </a:r>
            <a:r>
              <a:rPr lang="en-US" dirty="0">
                <a:solidFill>
                  <a:srgbClr val="000000"/>
                </a:solidFill>
                <a:latin typeface="Consolas" panose="020B0609020204030204" pitchFamily="49" charset="0"/>
              </a:rPr>
              <a:t>() created previously is a </a:t>
            </a:r>
            <a:r>
              <a:rPr lang="en-US" dirty="0" err="1">
                <a:solidFill>
                  <a:srgbClr val="000000"/>
                </a:solidFill>
                <a:latin typeface="Consolas" panose="020B0609020204030204" pitchFamily="49" charset="0"/>
              </a:rPr>
              <a:t>nn.module</a:t>
            </a:r>
            <a:r>
              <a:rPr lang="en-US" dirty="0">
                <a:solidFill>
                  <a:srgbClr val="000000"/>
                </a:solidFill>
                <a:latin typeface="Consolas" panose="020B0609020204030204" pitchFamily="49" charset="0"/>
              </a:rPr>
              <a:t>()</a:t>
            </a:r>
            <a:endParaRPr lang="en-US" dirty="0"/>
          </a:p>
          <a:p>
            <a:endParaRPr lang="en-US" dirty="0"/>
          </a:p>
          <a:p>
            <a:r>
              <a:rPr lang="en-US" dirty="0"/>
              <a:t>https://docs.pytorch.org/docs/stable/generated/torch.nn.Module.html</a:t>
            </a:r>
          </a:p>
          <a:p>
            <a:endParaRPr lang="en-US" dirty="0"/>
          </a:p>
          <a:p>
            <a:r>
              <a:rPr lang="en-US" dirty="0"/>
              <a:t>That has parameters (</a:t>
            </a:r>
          </a:p>
          <a:p>
            <a:endParaRPr lang="en-US" dirty="0"/>
          </a:p>
          <a:p>
            <a:r>
              <a:rPr lang="en-US" dirty="0"/>
              <a:t>any by the way also has a forward() function</a:t>
            </a:r>
          </a:p>
          <a:p>
            <a:endParaRPr lang="en-US" dirty="0"/>
          </a:p>
          <a:p>
            <a:endParaRPr lang="en-US" dirty="0"/>
          </a:p>
          <a:p>
            <a:endParaRPr lang="en-US" dirty="0"/>
          </a:p>
        </p:txBody>
      </p:sp>
      <p:sp>
        <p:nvSpPr>
          <p:cNvPr id="4" name="Foliennummernplatzhalter 3"/>
          <p:cNvSpPr>
            <a:spLocks noGrp="1"/>
          </p:cNvSpPr>
          <p:nvPr>
            <p:ph type="sldNum" sz="quarter" idx="5"/>
          </p:nvPr>
        </p:nvSpPr>
        <p:spPr/>
        <p:txBody>
          <a:bodyPr/>
          <a:lstStyle/>
          <a:p>
            <a:pPr>
              <a:defRPr/>
            </a:pPr>
            <a:fld id="{00AFC6D0-44D5-4EB7-828F-6F464F83D79A}" type="slidenum">
              <a:rPr lang="en-GB" smtClean="0"/>
              <a:pPr>
                <a:defRPr/>
              </a:pPr>
              <a:t>6</a:t>
            </a:fld>
            <a:endParaRPr lang="en-GB"/>
          </a:p>
        </p:txBody>
      </p:sp>
    </p:spTree>
    <p:extLst>
      <p:ext uri="{BB962C8B-B14F-4D97-AF65-F5344CB8AC3E}">
        <p14:creationId xmlns:p14="http://schemas.microsoft.com/office/powerpoint/2010/main" val="11387770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pPr>
              <a:defRPr/>
            </a:pPr>
            <a:fld id="{00AFC6D0-44D5-4EB7-828F-6F464F83D79A}" type="slidenum">
              <a:rPr lang="en-GB" smtClean="0"/>
              <a:pPr>
                <a:defRPr/>
              </a:pPr>
              <a:t>7</a:t>
            </a:fld>
            <a:endParaRPr lang="en-GB"/>
          </a:p>
        </p:txBody>
      </p:sp>
    </p:spTree>
    <p:extLst>
      <p:ext uri="{BB962C8B-B14F-4D97-AF65-F5344CB8AC3E}">
        <p14:creationId xmlns:p14="http://schemas.microsoft.com/office/powerpoint/2010/main" val="3818209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err="1"/>
              <a:t>Rechts</a:t>
            </a:r>
            <a:r>
              <a:rPr lang="en-US" dirty="0"/>
              <a:t>:  </a:t>
            </a:r>
            <a:r>
              <a:rPr lang="en-US" dirty="0" err="1"/>
              <a:t>nur</a:t>
            </a:r>
            <a:r>
              <a:rPr lang="en-US" dirty="0"/>
              <a:t> stochastic gradient decent: </a:t>
            </a:r>
            <a:r>
              <a:rPr lang="en-US" dirty="0" err="1"/>
              <a:t>Hauptpunkt</a:t>
            </a:r>
            <a:r>
              <a:rPr lang="en-US" dirty="0"/>
              <a:t>: Nur gradient </a:t>
            </a:r>
            <a:r>
              <a:rPr lang="en-US" dirty="0" err="1"/>
              <a:t>Decient</a:t>
            </a:r>
            <a:r>
              <a:rPr lang="en-US" dirty="0"/>
              <a:t> </a:t>
            </a:r>
            <a:r>
              <a:rPr lang="en-US" dirty="0" err="1"/>
              <a:t>ist</a:t>
            </a:r>
            <a:r>
              <a:rPr lang="en-US" dirty="0"/>
              <a:t> </a:t>
            </a:r>
            <a:r>
              <a:rPr lang="en-US" dirty="0" err="1"/>
              <a:t>zu</a:t>
            </a:r>
            <a:r>
              <a:rPr lang="en-US" dirty="0"/>
              <a:t> </a:t>
            </a:r>
            <a:r>
              <a:rPr lang="en-US" dirty="0" err="1"/>
              <a:t>einfach</a:t>
            </a:r>
            <a:r>
              <a:rPr lang="en-US" dirty="0"/>
              <a:t>. </a:t>
            </a:r>
          </a:p>
          <a:p>
            <a:r>
              <a:rPr lang="en-US" dirty="0" err="1"/>
              <a:t>Hauptpunkt</a:t>
            </a:r>
            <a:r>
              <a:rPr lang="en-US" dirty="0"/>
              <a:t> </a:t>
            </a:r>
            <a:r>
              <a:rPr lang="en-US" dirty="0" err="1"/>
              <a:t>ist</a:t>
            </a:r>
            <a:r>
              <a:rPr lang="en-US" dirty="0"/>
              <a:t> </a:t>
            </a:r>
            <a:r>
              <a:rPr lang="en-US" dirty="0" err="1"/>
              <a:t>auch</a:t>
            </a:r>
            <a:r>
              <a:rPr lang="en-US" dirty="0"/>
              <a:t>, </a:t>
            </a:r>
            <a:r>
              <a:rPr lang="en-US" dirty="0" err="1"/>
              <a:t>dass</a:t>
            </a:r>
            <a:r>
              <a:rPr lang="en-US" dirty="0"/>
              <a:t> die </a:t>
            </a:r>
            <a:r>
              <a:rPr lang="en-US" dirty="0" err="1"/>
              <a:t>Sensitivität</a:t>
            </a:r>
            <a:r>
              <a:rPr lang="en-US" dirty="0"/>
              <a:t> </a:t>
            </a:r>
            <a:r>
              <a:rPr lang="en-US" dirty="0" err="1"/>
              <a:t>gegenüber</a:t>
            </a:r>
            <a:r>
              <a:rPr lang="en-US" dirty="0"/>
              <a:t> </a:t>
            </a:r>
            <a:r>
              <a:rPr lang="en-US" dirty="0" err="1"/>
              <a:t>Hyperparmetern</a:t>
            </a:r>
            <a:r>
              <a:rPr lang="en-US" dirty="0"/>
              <a:t> </a:t>
            </a:r>
            <a:r>
              <a:rPr lang="en-US" dirty="0" err="1"/>
              <a:t>groß</a:t>
            </a:r>
            <a:r>
              <a:rPr lang="en-US" dirty="0"/>
              <a:t> </a:t>
            </a:r>
            <a:r>
              <a:rPr lang="en-US" dirty="0" err="1"/>
              <a:t>ist</a:t>
            </a:r>
            <a:r>
              <a:rPr lang="en-US" dirty="0"/>
              <a:t>, </a:t>
            </a:r>
          </a:p>
          <a:p>
            <a:endParaRPr lang="en-US" dirty="0"/>
          </a:p>
          <a:p>
            <a:r>
              <a:rPr lang="en-US" dirty="0"/>
              <a:t>Daher muss </a:t>
            </a:r>
            <a:r>
              <a:rPr lang="en-US" dirty="0" err="1"/>
              <a:t>viel</a:t>
            </a:r>
            <a:r>
              <a:rPr lang="en-US" dirty="0"/>
              <a:t> </a:t>
            </a:r>
            <a:r>
              <a:rPr lang="en-US" dirty="0" err="1"/>
              <a:t>getuende</a:t>
            </a:r>
            <a:r>
              <a:rPr lang="en-US" dirty="0"/>
              <a:t> </a:t>
            </a:r>
            <a:r>
              <a:rPr lang="en-US" dirty="0" err="1"/>
              <a:t>werden</a:t>
            </a:r>
            <a:r>
              <a:rPr lang="en-US" dirty="0"/>
              <a:t>. </a:t>
            </a:r>
          </a:p>
          <a:p>
            <a:endParaRPr lang="en-US" dirty="0"/>
          </a:p>
          <a:p>
            <a:endParaRPr lang="en-US" dirty="0"/>
          </a:p>
        </p:txBody>
      </p:sp>
      <p:sp>
        <p:nvSpPr>
          <p:cNvPr id="4" name="Foliennummernplatzhalter 3"/>
          <p:cNvSpPr>
            <a:spLocks noGrp="1"/>
          </p:cNvSpPr>
          <p:nvPr>
            <p:ph type="sldNum" sz="quarter" idx="5"/>
          </p:nvPr>
        </p:nvSpPr>
        <p:spPr/>
        <p:txBody>
          <a:bodyPr/>
          <a:lstStyle/>
          <a:p>
            <a:pPr>
              <a:defRPr/>
            </a:pPr>
            <a:fld id="{00AFC6D0-44D5-4EB7-828F-6F464F83D79A}" type="slidenum">
              <a:rPr lang="en-GB" smtClean="0"/>
              <a:pPr>
                <a:defRPr/>
              </a:pPr>
              <a:t>9</a:t>
            </a:fld>
            <a:endParaRPr lang="en-GB"/>
          </a:p>
        </p:txBody>
      </p:sp>
    </p:spTree>
    <p:extLst>
      <p:ext uri="{BB962C8B-B14F-4D97-AF65-F5344CB8AC3E}">
        <p14:creationId xmlns:p14="http://schemas.microsoft.com/office/powerpoint/2010/main" val="1547954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u="none" strike="noStrike" kern="1200" baseline="0" dirty="0" err="1">
                <a:solidFill>
                  <a:schemeClr val="tx1"/>
                </a:solidFill>
                <a:latin typeface="Arial" pitchFamily="34" charset="0"/>
                <a:ea typeface="+mn-ea"/>
                <a:cs typeface="Arial" pitchFamily="34" charset="0"/>
              </a:rPr>
              <a:t>locality</a:t>
            </a:r>
            <a:r>
              <a:rPr lang="de-DE" sz="1200" b="0" i="0" u="none" strike="noStrike" kern="1200" baseline="0" dirty="0">
                <a:solidFill>
                  <a:schemeClr val="tx1"/>
                </a:solidFill>
                <a:latin typeface="Arial" pitchFamily="34" charset="0"/>
                <a:ea typeface="+mn-ea"/>
                <a:cs typeface="Arial" pitchFamily="34" charset="0"/>
              </a:rPr>
              <a:t> and translational </a:t>
            </a:r>
            <a:r>
              <a:rPr lang="de-DE" sz="1200" b="0" i="0" u="none" strike="noStrike" kern="1200" baseline="0" dirty="0" err="1">
                <a:solidFill>
                  <a:schemeClr val="tx1"/>
                </a:solidFill>
                <a:latin typeface="Arial" pitchFamily="34" charset="0"/>
                <a:ea typeface="+mn-ea"/>
                <a:cs typeface="Arial" pitchFamily="34" charset="0"/>
              </a:rPr>
              <a:t>invariance</a:t>
            </a:r>
            <a:r>
              <a:rPr lang="de-DE" sz="1200" b="0" i="0" u="none" strike="noStrike" kern="1200" baseline="0" dirty="0">
                <a:solidFill>
                  <a:schemeClr val="tx1"/>
                </a:solidFill>
                <a:latin typeface="Arial" pitchFamily="34" charset="0"/>
                <a:ea typeface="+mn-ea"/>
                <a:cs typeface="Arial" pitchFamily="34" charset="0"/>
              </a:rPr>
              <a:t> </a:t>
            </a:r>
            <a:r>
              <a:rPr lang="de-DE" sz="1200" b="0" i="0" u="none" strike="noStrike" kern="1200" baseline="0" dirty="0" err="1">
                <a:solidFill>
                  <a:schemeClr val="tx1"/>
                </a:solidFill>
                <a:latin typeface="Arial" pitchFamily="34" charset="0"/>
                <a:ea typeface="+mn-ea"/>
                <a:cs typeface="Arial" pitchFamily="34" charset="0"/>
              </a:rPr>
              <a:t>are</a:t>
            </a:r>
            <a:r>
              <a:rPr lang="de-DE" sz="1200" b="0" i="0" u="none" strike="noStrike" kern="1200" baseline="0" dirty="0">
                <a:solidFill>
                  <a:schemeClr val="tx1"/>
                </a:solidFill>
                <a:latin typeface="Arial" pitchFamily="34" charset="0"/>
                <a:ea typeface="+mn-ea"/>
                <a:cs typeface="Arial" pitchFamily="34" charset="0"/>
              </a:rPr>
              <a:t> </a:t>
            </a:r>
            <a:r>
              <a:rPr lang="de-DE" sz="1200" b="0" i="0" u="none" strike="noStrike" kern="1200" baseline="0" dirty="0" err="1">
                <a:solidFill>
                  <a:schemeClr val="tx1"/>
                </a:solidFill>
                <a:latin typeface="Arial" pitchFamily="34" charset="0"/>
                <a:ea typeface="+mn-ea"/>
                <a:cs typeface="Arial" pitchFamily="34" charset="0"/>
              </a:rPr>
              <a:t>exploited</a:t>
            </a:r>
            <a:endParaRPr lang="de-DE" sz="1200" b="0" i="0" u="none" strike="noStrike" kern="1200" baseline="0" dirty="0">
              <a:solidFill>
                <a:schemeClr val="tx1"/>
              </a:solidFill>
              <a:latin typeface="Arial" pitchFamily="34" charset="0"/>
              <a:ea typeface="+mn-ea"/>
              <a:cs typeface="Arial" pitchFamily="34" charset="0"/>
            </a:endParaRPr>
          </a:p>
          <a:p>
            <a:endParaRPr lang="de-DE" sz="1200" b="0" i="0" u="none" strike="noStrike" kern="1200" baseline="0" dirty="0">
              <a:solidFill>
                <a:schemeClr val="tx1"/>
              </a:solidFill>
              <a:latin typeface="Arial" pitchFamily="34" charset="0"/>
              <a:ea typeface="+mn-ea"/>
              <a:cs typeface="Arial" pitchFamily="34" charset="0"/>
            </a:endParaRPr>
          </a:p>
          <a:p>
            <a:r>
              <a:rPr lang="en-US" sz="1200" b="0" i="0" u="none" strike="noStrike" kern="1200" baseline="0" dirty="0">
                <a:solidFill>
                  <a:schemeClr val="tx1"/>
                </a:solidFill>
                <a:latin typeface="Arial" pitchFamily="34" charset="0"/>
                <a:ea typeface="+mn-ea"/>
                <a:cs typeface="Arial" pitchFamily="34" charset="0"/>
              </a:rPr>
              <a:t>Like an ordinary neural network, a convolutional neural network consists of neurons that have learnable weights and biases. What differs is the arrangement of the processed data and the mathematical operations employed in the hidden layers, which are separated into convolutional and pooling operations. </a:t>
            </a:r>
            <a:endParaRPr lang="de-DE" sz="1200" b="0" i="0" u="none" strike="noStrike" kern="1200" baseline="0" dirty="0">
              <a:solidFill>
                <a:schemeClr val="tx1"/>
              </a:solidFill>
              <a:latin typeface="Arial" pitchFamily="34" charset="0"/>
              <a:ea typeface="+mn-ea"/>
              <a:cs typeface="Arial" pitchFamily="34" charset="0"/>
            </a:endParaRPr>
          </a:p>
          <a:p>
            <a:endParaRPr lang="de-DE" sz="1200" b="0" i="0" u="none" strike="noStrike" kern="1200" baseline="0" dirty="0">
              <a:solidFill>
                <a:schemeClr val="tx1"/>
              </a:solidFill>
              <a:latin typeface="Arial" pitchFamily="34" charset="0"/>
              <a:ea typeface="+mn-ea"/>
              <a:cs typeface="Arial" pitchFamily="34" charset="0"/>
            </a:endParaRPr>
          </a:p>
          <a:p>
            <a:r>
              <a:rPr lang="en-US" sz="1200" b="0" i="0" u="none" strike="noStrike" kern="1200" baseline="0" dirty="0">
                <a:solidFill>
                  <a:schemeClr val="tx1"/>
                </a:solidFill>
                <a:latin typeface="Arial" pitchFamily="34" charset="0"/>
                <a:ea typeface="+mn-ea"/>
                <a:cs typeface="Arial" pitchFamily="34" charset="0"/>
              </a:rPr>
              <a:t>The input layer is no longer a vector but has the shape of a matrix to account for the grid-like structure of pixels in an image. For instance, a convolutional neural network is processing a square image of 7\times7pixels where each pixel corresponds to a gray-scale value 7 × 7 </a:t>
            </a:r>
          </a:p>
          <a:p>
            <a:endParaRPr lang="de-DE" dirty="0"/>
          </a:p>
        </p:txBody>
      </p:sp>
      <p:sp>
        <p:nvSpPr>
          <p:cNvPr id="4" name="Foliennummernplatzhalter 3"/>
          <p:cNvSpPr>
            <a:spLocks noGrp="1"/>
          </p:cNvSpPr>
          <p:nvPr>
            <p:ph type="sldNum" sz="quarter" idx="5"/>
          </p:nvPr>
        </p:nvSpPr>
        <p:spPr/>
        <p:txBody>
          <a:bodyPr/>
          <a:lstStyle/>
          <a:p>
            <a:pPr>
              <a:defRPr/>
            </a:pPr>
            <a:fld id="{00AFC6D0-44D5-4EB7-828F-6F464F83D79A}" type="slidenum">
              <a:rPr lang="en-GB" smtClean="0"/>
              <a:pPr>
                <a:defRPr/>
              </a:pPr>
              <a:t>12</a:t>
            </a:fld>
            <a:endParaRPr lang="en-GB"/>
          </a:p>
        </p:txBody>
      </p:sp>
    </p:spTree>
    <p:extLst>
      <p:ext uri="{BB962C8B-B14F-4D97-AF65-F5344CB8AC3E}">
        <p14:creationId xmlns:p14="http://schemas.microsoft.com/office/powerpoint/2010/main" val="4995887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Remark: This example is without a pooing layer. Its only convolutions!</a:t>
            </a:r>
          </a:p>
        </p:txBody>
      </p:sp>
      <p:sp>
        <p:nvSpPr>
          <p:cNvPr id="4" name="Foliennummernplatzhalter 3"/>
          <p:cNvSpPr>
            <a:spLocks noGrp="1"/>
          </p:cNvSpPr>
          <p:nvPr>
            <p:ph type="sldNum" sz="quarter" idx="5"/>
          </p:nvPr>
        </p:nvSpPr>
        <p:spPr/>
        <p:txBody>
          <a:bodyPr/>
          <a:lstStyle/>
          <a:p>
            <a:pPr>
              <a:defRPr/>
            </a:pPr>
            <a:fld id="{00AFC6D0-44D5-4EB7-828F-6F464F83D79A}" type="slidenum">
              <a:rPr lang="en-GB" smtClean="0"/>
              <a:pPr>
                <a:defRPr/>
              </a:pPr>
              <a:t>16</a:t>
            </a:fld>
            <a:endParaRPr lang="en-GB"/>
          </a:p>
        </p:txBody>
      </p:sp>
    </p:spTree>
    <p:extLst>
      <p:ext uri="{BB962C8B-B14F-4D97-AF65-F5344CB8AC3E}">
        <p14:creationId xmlns:p14="http://schemas.microsoft.com/office/powerpoint/2010/main" val="12981902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lnSpcReduction="10000"/>
          </a:bodyPr>
          <a:lstStyle/>
          <a:p>
            <a:r>
              <a:rPr lang="en-US" sz="1200" b="0" i="0" u="none" strike="noStrike" kern="1200" baseline="0" dirty="0">
                <a:solidFill>
                  <a:schemeClr val="tx1"/>
                </a:solidFill>
                <a:latin typeface="Arial" pitchFamily="34" charset="0"/>
                <a:ea typeface="+mn-ea"/>
                <a:cs typeface="Arial" pitchFamily="34" charset="0"/>
              </a:rPr>
              <a:t>A key difference between the fully connected neural network and convolutional neural networks is the data being processed:</a:t>
            </a:r>
          </a:p>
          <a:p>
            <a:r>
              <a:rPr lang="en-US" sz="1200" b="0" i="0" u="none" strike="noStrike" kern="1200" baseline="0" dirty="0">
                <a:solidFill>
                  <a:schemeClr val="tx1"/>
                </a:solidFill>
                <a:latin typeface="Arial" pitchFamily="34" charset="0"/>
                <a:ea typeface="+mn-ea"/>
                <a:cs typeface="Arial" pitchFamily="34" charset="0"/>
              </a:rPr>
              <a:t>matrices  in the case of convolutional networks &lt;-&gt;scalars for fully connected networks. </a:t>
            </a:r>
            <a:br>
              <a:rPr lang="en-US" sz="1200" b="0" i="0" u="none" strike="noStrike" kern="1200" baseline="0" dirty="0">
                <a:solidFill>
                  <a:schemeClr val="tx1"/>
                </a:solidFill>
                <a:latin typeface="Arial" pitchFamily="34" charset="0"/>
                <a:ea typeface="+mn-ea"/>
                <a:cs typeface="Arial" pitchFamily="34" charset="0"/>
              </a:rPr>
            </a:br>
            <a:br>
              <a:rPr lang="en-US" sz="1200" b="0" i="0" u="none" strike="noStrike" kern="1200" baseline="0" dirty="0">
                <a:solidFill>
                  <a:schemeClr val="tx1"/>
                </a:solidFill>
                <a:latin typeface="Arial" pitchFamily="34" charset="0"/>
                <a:ea typeface="+mn-ea"/>
                <a:cs typeface="Arial" pitchFamily="34" charset="0"/>
              </a:rPr>
            </a:br>
            <a:r>
              <a:rPr lang="en-US" sz="1200" b="0" i="0" u="none" strike="noStrike" kern="1200" baseline="0" dirty="0">
                <a:solidFill>
                  <a:schemeClr val="tx1"/>
                </a:solidFill>
                <a:latin typeface="Arial" pitchFamily="34" charset="0"/>
                <a:ea typeface="+mn-ea"/>
                <a:cs typeface="Arial" pitchFamily="34" charset="0"/>
              </a:rPr>
              <a:t>Consequently, there is a distinction in terminology</a:t>
            </a:r>
          </a:p>
          <a:p>
            <a:endParaRPr lang="en-US" sz="1200" b="0" i="0" u="none" strike="noStrike" kern="1200" baseline="0" dirty="0">
              <a:solidFill>
                <a:schemeClr val="tx1"/>
              </a:solidFill>
              <a:latin typeface="Arial" pitchFamily="34" charset="0"/>
              <a:ea typeface="+mn-ea"/>
              <a:cs typeface="Arial" pitchFamily="34" charset="0"/>
            </a:endParaRPr>
          </a:p>
          <a:p>
            <a:r>
              <a:rPr lang="en-US" sz="1200" b="0" i="0" u="none" strike="noStrike" kern="1200" baseline="0" dirty="0">
                <a:solidFill>
                  <a:schemeClr val="tx1"/>
                </a:solidFill>
                <a:latin typeface="Arial" pitchFamily="34" charset="0"/>
                <a:ea typeface="+mn-ea"/>
                <a:cs typeface="Arial" pitchFamily="34" charset="0"/>
              </a:rPr>
              <a:t>the layer depth is denoted in neurons for the fully connected network</a:t>
            </a:r>
          </a:p>
          <a:p>
            <a:r>
              <a:rPr lang="en-US" sz="1200" b="0" i="0" u="none" strike="noStrike" kern="1200" baseline="0" dirty="0">
                <a:solidFill>
                  <a:schemeClr val="tx1"/>
                </a:solidFill>
                <a:latin typeface="Arial" pitchFamily="34" charset="0"/>
                <a:ea typeface="+mn-ea"/>
                <a:cs typeface="Arial" pitchFamily="34" charset="0"/>
              </a:rPr>
              <a:t>in channels for the convolutional network. </a:t>
            </a:r>
          </a:p>
          <a:p>
            <a:endParaRPr lang="en-US" sz="1200" b="0" i="0" u="none" strike="noStrike" kern="1200" baseline="0" dirty="0">
              <a:solidFill>
                <a:schemeClr val="tx1"/>
              </a:solidFill>
              <a:latin typeface="Arial" pitchFamily="34" charset="0"/>
              <a:ea typeface="+mn-ea"/>
              <a:cs typeface="Arial" pitchFamily="34" charset="0"/>
            </a:endParaRPr>
          </a:p>
          <a:p>
            <a:r>
              <a:rPr lang="en-US" sz="1200" b="0" i="0" u="none" strike="noStrike" kern="1200" baseline="0" dirty="0">
                <a:solidFill>
                  <a:schemeClr val="tx1"/>
                </a:solidFill>
                <a:latin typeface="Arial" pitchFamily="34" charset="0"/>
                <a:ea typeface="+mn-ea"/>
                <a:cs typeface="Arial" pitchFamily="34" charset="0"/>
              </a:rPr>
              <a:t>The second key difference is the convolutional operation, which can be viewed as a method of weight sharing. </a:t>
            </a:r>
          </a:p>
          <a:p>
            <a:r>
              <a:rPr lang="en-US" sz="1200" b="0" i="0" u="none" strike="noStrike" kern="1200" baseline="0" dirty="0">
                <a:solidFill>
                  <a:schemeClr val="tx1"/>
                </a:solidFill>
                <a:latin typeface="Arial" pitchFamily="34" charset="0"/>
                <a:ea typeface="+mn-ea"/>
                <a:cs typeface="Arial" pitchFamily="34" charset="0"/>
              </a:rPr>
              <a:t>Sharing weights and biases in combination with the pooling operation reduces the amount of trainable parameters significantly. </a:t>
            </a:r>
          </a:p>
          <a:p>
            <a:r>
              <a:rPr lang="en-US" sz="1200" b="0" i="0" u="none" strike="noStrike" kern="1200" baseline="0" dirty="0">
                <a:solidFill>
                  <a:schemeClr val="tx1"/>
                </a:solidFill>
                <a:latin typeface="Arial" pitchFamily="34" charset="0"/>
                <a:ea typeface="+mn-ea"/>
                <a:cs typeface="Arial" pitchFamily="34" charset="0"/>
              </a:rPr>
              <a:t>Thus, convolutional networks learn much faster than fully connected neural networks with comparable expressive power.</a:t>
            </a:r>
            <a:endParaRPr lang="de-DE" dirty="0"/>
          </a:p>
        </p:txBody>
      </p:sp>
      <p:sp>
        <p:nvSpPr>
          <p:cNvPr id="4" name="Foliennummernplatzhalter 3"/>
          <p:cNvSpPr>
            <a:spLocks noGrp="1"/>
          </p:cNvSpPr>
          <p:nvPr>
            <p:ph type="sldNum" sz="quarter" idx="5"/>
          </p:nvPr>
        </p:nvSpPr>
        <p:spPr/>
        <p:txBody>
          <a:bodyPr/>
          <a:lstStyle/>
          <a:p>
            <a:pPr>
              <a:defRPr/>
            </a:pPr>
            <a:fld id="{00AFC6D0-44D5-4EB7-828F-6F464F83D79A}" type="slidenum">
              <a:rPr lang="en-GB" smtClean="0"/>
              <a:pPr>
                <a:defRPr/>
              </a:pPr>
              <a:t>18</a:t>
            </a:fld>
            <a:endParaRPr lang="en-GB"/>
          </a:p>
        </p:txBody>
      </p:sp>
    </p:spTree>
    <p:extLst>
      <p:ext uri="{BB962C8B-B14F-4D97-AF65-F5344CB8AC3E}">
        <p14:creationId xmlns:p14="http://schemas.microsoft.com/office/powerpoint/2010/main" val="31972262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a:defRPr/>
            </a:pPr>
            <a:fld id="{00AFC6D0-44D5-4EB7-828F-6F464F83D79A}" type="slidenum">
              <a:rPr lang="en-GB" smtClean="0"/>
              <a:pPr>
                <a:defRPr/>
              </a:pPr>
              <a:t>19</a:t>
            </a:fld>
            <a:endParaRPr lang="en-GB"/>
          </a:p>
        </p:txBody>
      </p:sp>
    </p:spTree>
    <p:extLst>
      <p:ext uri="{BB962C8B-B14F-4D97-AF65-F5344CB8AC3E}">
        <p14:creationId xmlns:p14="http://schemas.microsoft.com/office/powerpoint/2010/main" val="42105352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pPr>
              <a:defRPr/>
            </a:pPr>
            <a:fld id="{00AFC6D0-44D5-4EB7-828F-6F464F83D79A}" type="slidenum">
              <a:rPr lang="en-GB" smtClean="0"/>
              <a:pPr>
                <a:defRPr/>
              </a:pPr>
              <a:t>20</a:t>
            </a:fld>
            <a:endParaRPr lang="en-GB"/>
          </a:p>
        </p:txBody>
      </p:sp>
    </p:spTree>
    <p:extLst>
      <p:ext uri="{BB962C8B-B14F-4D97-AF65-F5344CB8AC3E}">
        <p14:creationId xmlns:p14="http://schemas.microsoft.com/office/powerpoint/2010/main" val="32899083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a:defRPr/>
            </a:pPr>
            <a:fld id="{00AFC6D0-44D5-4EB7-828F-6F464F83D79A}" type="slidenum">
              <a:rPr lang="en-GB" smtClean="0"/>
              <a:pPr>
                <a:defRPr/>
              </a:pPr>
              <a:t>23</a:t>
            </a:fld>
            <a:endParaRPr lang="en-GB"/>
          </a:p>
        </p:txBody>
      </p:sp>
    </p:spTree>
    <p:extLst>
      <p:ext uri="{BB962C8B-B14F-4D97-AF65-F5344CB8AC3E}">
        <p14:creationId xmlns:p14="http://schemas.microsoft.com/office/powerpoint/2010/main" val="37370084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Training on 1 </a:t>
            </a:r>
            <a:r>
              <a:rPr lang="de-DE" dirty="0" err="1"/>
              <a:t>data</a:t>
            </a:r>
            <a:r>
              <a:rPr lang="de-DE" dirty="0"/>
              <a:t> </a:t>
            </a:r>
            <a:r>
              <a:rPr lang="de-DE" dirty="0" err="1"/>
              <a:t>point</a:t>
            </a:r>
            <a:r>
              <a:rPr lang="de-DE" dirty="0"/>
              <a:t> (i.e. </a:t>
            </a:r>
            <a:r>
              <a:rPr lang="de-DE" dirty="0" err="1"/>
              <a:t>one</a:t>
            </a:r>
            <a:r>
              <a:rPr lang="de-DE" dirty="0"/>
              <a:t> </a:t>
            </a:r>
            <a:r>
              <a:rPr lang="de-DE" dirty="0" err="1"/>
              <a:t>specific</a:t>
            </a:r>
            <a:r>
              <a:rPr lang="de-DE" dirty="0"/>
              <a:t> </a:t>
            </a:r>
            <a:r>
              <a:rPr lang="de-DE" dirty="0" err="1"/>
              <a:t>map</a:t>
            </a:r>
            <a:r>
              <a:rPr lang="de-DE" dirty="0"/>
              <a:t> </a:t>
            </a:r>
            <a:r>
              <a:rPr lang="de-DE" dirty="0" err="1"/>
              <a:t>geometry</a:t>
            </a:r>
            <a:r>
              <a:rPr lang="de-DE" dirty="0"/>
              <a:t> </a:t>
            </a:r>
            <a:r>
              <a:rPr lang="de-DE" dirty="0" err="1"/>
              <a:t>to</a:t>
            </a:r>
            <a:r>
              <a:rPr lang="de-DE" dirty="0"/>
              <a:t> </a:t>
            </a:r>
            <a:r>
              <a:rPr lang="de-DE" dirty="0" err="1"/>
              <a:t>strain</a:t>
            </a:r>
            <a:r>
              <a:rPr lang="de-DE" dirty="0"/>
              <a:t>)</a:t>
            </a:r>
          </a:p>
        </p:txBody>
      </p:sp>
      <p:sp>
        <p:nvSpPr>
          <p:cNvPr id="4" name="Foliennummernplatzhalter 3"/>
          <p:cNvSpPr>
            <a:spLocks noGrp="1"/>
          </p:cNvSpPr>
          <p:nvPr>
            <p:ph type="sldNum" sz="quarter" idx="5"/>
          </p:nvPr>
        </p:nvSpPr>
        <p:spPr/>
        <p:txBody>
          <a:bodyPr/>
          <a:lstStyle/>
          <a:p>
            <a:pPr>
              <a:defRPr/>
            </a:pPr>
            <a:fld id="{00AFC6D0-44D5-4EB7-828F-6F464F83D79A}" type="slidenum">
              <a:rPr lang="en-GB" smtClean="0"/>
              <a:pPr>
                <a:defRPr/>
              </a:pPr>
              <a:t>24</a:t>
            </a:fld>
            <a:endParaRPr lang="en-GB"/>
          </a:p>
        </p:txBody>
      </p:sp>
    </p:spTree>
    <p:extLst>
      <p:ext uri="{BB962C8B-B14F-4D97-AF65-F5344CB8AC3E}">
        <p14:creationId xmlns:p14="http://schemas.microsoft.com/office/powerpoint/2010/main" val="38750571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b="0" i="0" u="none" strike="noStrike" kern="1200" baseline="0" dirty="0">
                <a:solidFill>
                  <a:schemeClr val="tx1"/>
                </a:solidFill>
                <a:latin typeface="Arial" pitchFamily="34" charset="0"/>
                <a:ea typeface="+mn-ea"/>
                <a:cs typeface="Arial" pitchFamily="34" charset="0"/>
              </a:rPr>
              <a:t>Next, the number of training samples is increased, and a validation set is employed to determine the generalization error. </a:t>
            </a:r>
          </a:p>
          <a:p>
            <a:endParaRPr lang="en-US" sz="1200" b="0" i="0" u="none" strike="noStrike" kern="1200" baseline="0" dirty="0">
              <a:solidFill>
                <a:schemeClr val="tx1"/>
              </a:solidFill>
              <a:latin typeface="Arial" pitchFamily="34" charset="0"/>
              <a:ea typeface="+mn-ea"/>
              <a:cs typeface="Arial" pitchFamily="34" charset="0"/>
            </a:endParaRPr>
          </a:p>
          <a:p>
            <a:r>
              <a:rPr lang="en-US" sz="1200" b="0" i="0" u="none" strike="noStrike" kern="1200" baseline="0" dirty="0">
                <a:solidFill>
                  <a:schemeClr val="tx1"/>
                </a:solidFill>
                <a:latin typeface="Arial" pitchFamily="34" charset="0"/>
                <a:ea typeface="+mn-ea"/>
                <a:cs typeface="Arial" pitchFamily="34" charset="0"/>
              </a:rPr>
              <a:t>A good practice is to slowly and iteratively increase the training set size </a:t>
            </a:r>
            <a:r>
              <a:rPr lang="en-US" sz="1200" b="0" i="0" u="none" strike="noStrike" kern="1200" baseline="0" dirty="0" err="1">
                <a:solidFill>
                  <a:schemeClr val="tx1"/>
                </a:solidFill>
                <a:latin typeface="Arial" pitchFamily="34" charset="0"/>
                <a:ea typeface="+mn-ea"/>
                <a:cs typeface="Arial" pitchFamily="34" charset="0"/>
              </a:rPr>
              <a:t>m_D</a:t>
            </a:r>
            <a:r>
              <a:rPr lang="en-US" sz="1200" b="0" i="0" u="none" strike="noStrike" kern="1200" baseline="0" dirty="0">
                <a:solidFill>
                  <a:schemeClr val="tx1"/>
                </a:solidFill>
                <a:latin typeface="Arial" pitchFamily="34" charset="0"/>
                <a:ea typeface="+mn-ea"/>
                <a:cs typeface="Arial" pitchFamily="34" charset="0"/>
              </a:rPr>
              <a:t>, e.g., in multiples of two, and adjust the network architecture and hyperparameters in case of convergence issues.</a:t>
            </a:r>
          </a:p>
          <a:p>
            <a:endParaRPr lang="en-US" sz="1200" b="0" i="0" u="none" strike="noStrike" kern="1200" baseline="0" dirty="0">
              <a:solidFill>
                <a:schemeClr val="tx1"/>
              </a:solidFill>
              <a:latin typeface="Arial" pitchFamily="34" charset="0"/>
              <a:ea typeface="+mn-ea"/>
              <a:cs typeface="Arial" pitchFamily="34" charset="0"/>
            </a:endParaRPr>
          </a:p>
          <a:p>
            <a:r>
              <a:rPr lang="en-US" sz="1200" b="0" i="0" u="none" strike="noStrike" kern="1200" baseline="0" dirty="0">
                <a:solidFill>
                  <a:schemeClr val="tx1"/>
                </a:solidFill>
                <a:latin typeface="Arial" pitchFamily="34" charset="0"/>
                <a:ea typeface="+mn-ea"/>
                <a:cs typeface="Arial" pitchFamily="34" charset="0"/>
              </a:rPr>
              <a:t>The training error increases for larger training sets, but more importantly, the validation error, i.e., the generalization error, decreases </a:t>
            </a:r>
            <a:endParaRPr lang="de-DE" dirty="0"/>
          </a:p>
        </p:txBody>
      </p:sp>
      <p:sp>
        <p:nvSpPr>
          <p:cNvPr id="4" name="Foliennummernplatzhalter 3"/>
          <p:cNvSpPr>
            <a:spLocks noGrp="1"/>
          </p:cNvSpPr>
          <p:nvPr>
            <p:ph type="sldNum" sz="quarter" idx="5"/>
          </p:nvPr>
        </p:nvSpPr>
        <p:spPr/>
        <p:txBody>
          <a:bodyPr/>
          <a:lstStyle/>
          <a:p>
            <a:pPr>
              <a:defRPr/>
            </a:pPr>
            <a:fld id="{00AFC6D0-44D5-4EB7-828F-6F464F83D79A}" type="slidenum">
              <a:rPr lang="en-GB" smtClean="0"/>
              <a:pPr>
                <a:defRPr/>
              </a:pPr>
              <a:t>25</a:t>
            </a:fld>
            <a:endParaRPr lang="en-GB"/>
          </a:p>
        </p:txBody>
      </p:sp>
    </p:spTree>
    <p:extLst>
      <p:ext uri="{BB962C8B-B14F-4D97-AF65-F5344CB8AC3E}">
        <p14:creationId xmlns:p14="http://schemas.microsoft.com/office/powerpoint/2010/main" val="42801516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t>
            </a:r>
            <a:r>
              <a:rPr lang="de-DE" dirty="0" err="1"/>
              <a:t>Quite</a:t>
            </a:r>
            <a:r>
              <a:rPr lang="de-DE" dirty="0"/>
              <a:t> a </a:t>
            </a:r>
            <a:r>
              <a:rPr lang="de-DE" dirty="0" err="1"/>
              <a:t>good</a:t>
            </a:r>
            <a:r>
              <a:rPr lang="de-DE" dirty="0"/>
              <a:t> </a:t>
            </a:r>
            <a:r>
              <a:rPr lang="de-DE" dirty="0" err="1"/>
              <a:t>prediction</a:t>
            </a:r>
            <a:r>
              <a:rPr lang="de-DE" dirty="0"/>
              <a:t> with </a:t>
            </a:r>
            <a:r>
              <a:rPr lang="de-DE" dirty="0" err="1"/>
              <a:t>only</a:t>
            </a:r>
            <a:r>
              <a:rPr lang="de-DE" dirty="0"/>
              <a:t> minor </a:t>
            </a:r>
            <a:r>
              <a:rPr lang="de-DE" dirty="0" err="1"/>
              <a:t>differences</a:t>
            </a:r>
            <a:endParaRPr lang="de-DE" dirty="0"/>
          </a:p>
          <a:p>
            <a:r>
              <a:rPr lang="de-DE" dirty="0"/>
              <a:t>-</a:t>
            </a:r>
            <a:r>
              <a:rPr lang="de-DE" dirty="0" err="1"/>
              <a:t>the</a:t>
            </a:r>
            <a:r>
              <a:rPr lang="de-DE" dirty="0"/>
              <a:t> </a:t>
            </a:r>
            <a:r>
              <a:rPr lang="de-DE" dirty="0" err="1"/>
              <a:t>prediction</a:t>
            </a:r>
            <a:r>
              <a:rPr lang="de-DE" dirty="0"/>
              <a:t> time </a:t>
            </a:r>
            <a:r>
              <a:rPr lang="de-DE" dirty="0" err="1"/>
              <a:t>for</a:t>
            </a:r>
            <a:r>
              <a:rPr lang="de-DE" dirty="0"/>
              <a:t> </a:t>
            </a:r>
            <a:r>
              <a:rPr lang="de-DE" dirty="0" err="1"/>
              <a:t>one</a:t>
            </a:r>
            <a:r>
              <a:rPr lang="de-DE" dirty="0"/>
              <a:t> sample </a:t>
            </a:r>
            <a:r>
              <a:rPr lang="de-DE" dirty="0" err="1"/>
              <a:t>is</a:t>
            </a:r>
            <a:r>
              <a:rPr lang="de-DE" dirty="0"/>
              <a:t> 37 </a:t>
            </a:r>
            <a:r>
              <a:rPr lang="de-DE" dirty="0" err="1"/>
              <a:t>times</a:t>
            </a:r>
            <a:r>
              <a:rPr lang="de-DE" dirty="0"/>
              <a:t> </a:t>
            </a:r>
            <a:r>
              <a:rPr lang="de-DE" dirty="0" err="1"/>
              <a:t>faster</a:t>
            </a:r>
            <a:r>
              <a:rPr lang="de-DE" dirty="0"/>
              <a:t> </a:t>
            </a:r>
            <a:r>
              <a:rPr lang="de-DE" dirty="0" err="1"/>
              <a:t>than</a:t>
            </a:r>
            <a:r>
              <a:rPr lang="de-DE" dirty="0"/>
              <a:t> </a:t>
            </a:r>
            <a:r>
              <a:rPr lang="de-DE" dirty="0" err="1"/>
              <a:t>computing</a:t>
            </a:r>
            <a:r>
              <a:rPr lang="de-DE" dirty="0"/>
              <a:t> </a:t>
            </a:r>
            <a:r>
              <a:rPr lang="de-DE" dirty="0" err="1"/>
              <a:t>the</a:t>
            </a:r>
            <a:r>
              <a:rPr lang="de-DE" dirty="0"/>
              <a:t> </a:t>
            </a:r>
            <a:r>
              <a:rPr lang="de-DE" dirty="0" err="1"/>
              <a:t>solution</a:t>
            </a:r>
            <a:r>
              <a:rPr lang="de-DE" dirty="0"/>
              <a:t> </a:t>
            </a:r>
            <a:r>
              <a:rPr lang="de-DE" dirty="0" err="1"/>
              <a:t>using</a:t>
            </a:r>
            <a:r>
              <a:rPr lang="de-DE" dirty="0"/>
              <a:t> FEM</a:t>
            </a:r>
          </a:p>
          <a:p>
            <a:endParaRPr lang="de-DE" dirty="0"/>
          </a:p>
          <a:p>
            <a:r>
              <a:rPr lang="en-US" sz="1200" b="0" i="0" u="none" strike="noStrike" kern="1200" baseline="0" dirty="0">
                <a:solidFill>
                  <a:schemeClr val="tx1"/>
                </a:solidFill>
                <a:latin typeface="Arial" pitchFamily="34" charset="0"/>
                <a:ea typeface="+mn-ea"/>
                <a:cs typeface="Arial" pitchFamily="34" charset="0"/>
              </a:rPr>
              <a:t>Furthermore, the prediction time stays constant for multiple parallel predictions until the limits of the GPU memory are reached, which is not easily possible for classical methods such as the finite element method. </a:t>
            </a:r>
          </a:p>
          <a:p>
            <a:endParaRPr lang="en-US" sz="1200" b="0" i="0" u="none" strike="noStrike" kern="1200" baseline="0" dirty="0">
              <a:solidFill>
                <a:schemeClr val="tx1"/>
              </a:solidFill>
              <a:latin typeface="Arial" pitchFamily="34" charset="0"/>
              <a:ea typeface="+mn-ea"/>
              <a:cs typeface="Arial" pitchFamily="34" charset="0"/>
            </a:endParaRPr>
          </a:p>
          <a:p>
            <a:r>
              <a:rPr lang="en-US" sz="1200" b="0" i="0" u="none" strike="noStrike" kern="1200" baseline="0" dirty="0">
                <a:solidFill>
                  <a:schemeClr val="tx1"/>
                </a:solidFill>
                <a:latin typeface="Arial" pitchFamily="34" charset="0"/>
                <a:ea typeface="+mn-ea"/>
                <a:cs typeface="Arial" pitchFamily="34" charset="0"/>
              </a:rPr>
              <a:t>However, during training about 128 training samples and 32 validation samples were needed. That took 120 seconds. </a:t>
            </a:r>
          </a:p>
          <a:p>
            <a:r>
              <a:rPr lang="en-US" sz="1200" b="0" i="0" u="none" strike="noStrike" kern="1200" baseline="0" dirty="0">
                <a:solidFill>
                  <a:schemeClr val="tx1"/>
                </a:solidFill>
                <a:latin typeface="Arial" pitchFamily="34" charset="0"/>
                <a:ea typeface="+mn-ea"/>
                <a:cs typeface="Arial" pitchFamily="34" charset="0"/>
              </a:rPr>
              <a:t>4000 training epochs were needed, which took 36 seconds </a:t>
            </a:r>
          </a:p>
          <a:p>
            <a:endParaRPr lang="en-US" sz="1200" b="0" i="0" u="none" strike="noStrike" kern="1200" baseline="0" dirty="0">
              <a:solidFill>
                <a:schemeClr val="tx1"/>
              </a:solidFill>
              <a:latin typeface="Arial" pitchFamily="34" charset="0"/>
              <a:ea typeface="+mn-ea"/>
              <a:cs typeface="Arial" pitchFamily="34" charset="0"/>
            </a:endParaRPr>
          </a:p>
          <a:p>
            <a:r>
              <a:rPr lang="en-US" sz="1200" b="0" i="0" u="none" strike="noStrike" kern="1200" baseline="0" dirty="0">
                <a:solidFill>
                  <a:schemeClr val="tx1"/>
                </a:solidFill>
                <a:latin typeface="Arial" pitchFamily="34" charset="0"/>
                <a:ea typeface="+mn-ea"/>
                <a:cs typeface="Arial" pitchFamily="34" charset="0"/>
              </a:rPr>
              <a:t>This results in a break even threshold of </a:t>
            </a:r>
            <a:r>
              <a:rPr lang="el-GR" sz="1200" b="0" i="0" u="none" strike="noStrike" kern="1200" baseline="0" dirty="0">
                <a:solidFill>
                  <a:schemeClr val="tx1"/>
                </a:solidFill>
                <a:latin typeface="Arial" pitchFamily="34" charset="0"/>
                <a:ea typeface="+mn-ea"/>
                <a:cs typeface="Arial" pitchFamily="34" charset="0"/>
              </a:rPr>
              <a:t>τ ≈ 3 300 </a:t>
            </a:r>
            <a:endParaRPr lang="de-DE" sz="1200" b="0" i="0" u="none" strike="noStrike" kern="1200" baseline="0" dirty="0">
              <a:solidFill>
                <a:schemeClr val="tx1"/>
              </a:solidFill>
              <a:latin typeface="Arial" pitchFamily="34" charset="0"/>
              <a:ea typeface="+mn-ea"/>
              <a:cs typeface="Arial" pitchFamily="34" charset="0"/>
            </a:endParaRPr>
          </a:p>
          <a:p>
            <a:r>
              <a:rPr lang="de-DE" sz="1200" b="0" i="0" u="none" strike="noStrike" kern="1200" baseline="0" dirty="0">
                <a:solidFill>
                  <a:schemeClr val="tx1"/>
                </a:solidFill>
                <a:latin typeface="Arial" pitchFamily="34" charset="0"/>
                <a:ea typeface="+mn-ea"/>
                <a:cs typeface="Arial" pitchFamily="34" charset="0"/>
              </a:rPr>
              <a:t>i.e. </a:t>
            </a:r>
            <a:r>
              <a:rPr lang="de-DE" sz="1200" b="0" i="0" u="none" strike="noStrike" kern="1200" baseline="0" dirty="0" err="1">
                <a:solidFill>
                  <a:schemeClr val="tx1"/>
                </a:solidFill>
                <a:latin typeface="Arial" pitchFamily="34" charset="0"/>
                <a:ea typeface="+mn-ea"/>
                <a:cs typeface="Arial" pitchFamily="34" charset="0"/>
              </a:rPr>
              <a:t>if</a:t>
            </a:r>
            <a:r>
              <a:rPr lang="de-DE" sz="1200" b="0" i="0" u="none" strike="noStrike" kern="1200" baseline="0" dirty="0">
                <a:solidFill>
                  <a:schemeClr val="tx1"/>
                </a:solidFill>
                <a:latin typeface="Arial" pitchFamily="34" charset="0"/>
                <a:ea typeface="+mn-ea"/>
                <a:cs typeface="Arial" pitchFamily="34" charset="0"/>
              </a:rPr>
              <a:t> </a:t>
            </a:r>
            <a:r>
              <a:rPr lang="de-DE" sz="1200" b="0" i="0" u="none" strike="noStrike" kern="1200" baseline="0" dirty="0" err="1">
                <a:solidFill>
                  <a:schemeClr val="tx1"/>
                </a:solidFill>
                <a:latin typeface="Arial" pitchFamily="34" charset="0"/>
                <a:ea typeface="+mn-ea"/>
                <a:cs typeface="Arial" pitchFamily="34" charset="0"/>
              </a:rPr>
              <a:t>less</a:t>
            </a:r>
            <a:r>
              <a:rPr lang="de-DE" sz="1200" b="0" i="0" u="none" strike="noStrike" kern="1200" baseline="0" dirty="0">
                <a:solidFill>
                  <a:schemeClr val="tx1"/>
                </a:solidFill>
                <a:latin typeface="Arial" pitchFamily="34" charset="0"/>
                <a:ea typeface="+mn-ea"/>
                <a:cs typeface="Arial" pitchFamily="34" charset="0"/>
              </a:rPr>
              <a:t> </a:t>
            </a:r>
            <a:r>
              <a:rPr lang="de-DE" sz="1200" b="0" i="0" u="none" strike="noStrike" kern="1200" baseline="0" dirty="0" err="1">
                <a:solidFill>
                  <a:schemeClr val="tx1"/>
                </a:solidFill>
                <a:latin typeface="Arial" pitchFamily="34" charset="0"/>
                <a:ea typeface="+mn-ea"/>
                <a:cs typeface="Arial" pitchFamily="34" charset="0"/>
              </a:rPr>
              <a:t>than</a:t>
            </a:r>
            <a:r>
              <a:rPr lang="de-DE" sz="1200" b="0" i="0" u="none" strike="noStrike" kern="1200" baseline="0" dirty="0">
                <a:solidFill>
                  <a:schemeClr val="tx1"/>
                </a:solidFill>
                <a:latin typeface="Arial" pitchFamily="34" charset="0"/>
                <a:ea typeface="+mn-ea"/>
                <a:cs typeface="Arial" pitchFamily="34" charset="0"/>
              </a:rPr>
              <a:t> 3300 </a:t>
            </a:r>
            <a:r>
              <a:rPr lang="de-DE" sz="1200" b="0" i="0" u="none" strike="noStrike" kern="1200" baseline="0" dirty="0" err="1">
                <a:solidFill>
                  <a:schemeClr val="tx1"/>
                </a:solidFill>
                <a:latin typeface="Arial" pitchFamily="34" charset="0"/>
                <a:ea typeface="+mn-ea"/>
                <a:cs typeface="Arial" pitchFamily="34" charset="0"/>
              </a:rPr>
              <a:t>predictions</a:t>
            </a:r>
            <a:r>
              <a:rPr lang="de-DE" sz="1200" b="0" i="0" u="none" strike="noStrike" kern="1200" baseline="0" dirty="0">
                <a:solidFill>
                  <a:schemeClr val="tx1"/>
                </a:solidFill>
                <a:latin typeface="Arial" pitchFamily="34" charset="0"/>
                <a:ea typeface="+mn-ea"/>
                <a:cs typeface="Arial" pitchFamily="34" charset="0"/>
              </a:rPr>
              <a:t> </a:t>
            </a:r>
            <a:r>
              <a:rPr lang="de-DE" sz="1200" b="0" i="0" u="none" strike="noStrike" kern="1200" baseline="0" dirty="0" err="1">
                <a:solidFill>
                  <a:schemeClr val="tx1"/>
                </a:solidFill>
                <a:latin typeface="Arial" pitchFamily="34" charset="0"/>
                <a:ea typeface="+mn-ea"/>
                <a:cs typeface="Arial" pitchFamily="34" charset="0"/>
              </a:rPr>
              <a:t>are</a:t>
            </a:r>
            <a:r>
              <a:rPr lang="de-DE" sz="1200" b="0" i="0" u="none" strike="noStrike" kern="1200" baseline="0" dirty="0">
                <a:solidFill>
                  <a:schemeClr val="tx1"/>
                </a:solidFill>
                <a:latin typeface="Arial" pitchFamily="34" charset="0"/>
                <a:ea typeface="+mn-ea"/>
                <a:cs typeface="Arial" pitchFamily="34" charset="0"/>
              </a:rPr>
              <a:t> </a:t>
            </a:r>
            <a:r>
              <a:rPr lang="de-DE" sz="1200" b="0" i="0" u="none" strike="noStrike" kern="1200" baseline="0" dirty="0" err="1">
                <a:solidFill>
                  <a:schemeClr val="tx1"/>
                </a:solidFill>
                <a:latin typeface="Arial" pitchFamily="34" charset="0"/>
                <a:ea typeface="+mn-ea"/>
                <a:cs typeface="Arial" pitchFamily="34" charset="0"/>
              </a:rPr>
              <a:t>needed</a:t>
            </a:r>
            <a:r>
              <a:rPr lang="de-DE" sz="1200" b="0" i="0" u="none" strike="noStrike" kern="1200" baseline="0" dirty="0">
                <a:solidFill>
                  <a:schemeClr val="tx1"/>
                </a:solidFill>
                <a:latin typeface="Arial" pitchFamily="34" charset="0"/>
                <a:ea typeface="+mn-ea"/>
                <a:cs typeface="Arial" pitchFamily="34" charset="0"/>
              </a:rPr>
              <a:t> ist not </a:t>
            </a:r>
            <a:r>
              <a:rPr lang="de-DE" sz="1200" b="0" i="0" u="none" strike="noStrike" kern="1200" baseline="0" dirty="0" err="1">
                <a:solidFill>
                  <a:schemeClr val="tx1"/>
                </a:solidFill>
                <a:latin typeface="Arial" pitchFamily="34" charset="0"/>
                <a:ea typeface="+mn-ea"/>
                <a:cs typeface="Arial" pitchFamily="34" charset="0"/>
              </a:rPr>
              <a:t>worth</a:t>
            </a:r>
            <a:r>
              <a:rPr lang="de-DE" sz="1200" b="0" i="0" u="none" strike="noStrike" kern="1200" baseline="0" dirty="0">
                <a:solidFill>
                  <a:schemeClr val="tx1"/>
                </a:solidFill>
                <a:latin typeface="Arial" pitchFamily="34" charset="0"/>
                <a:ea typeface="+mn-ea"/>
                <a:cs typeface="Arial" pitchFamily="34" charset="0"/>
              </a:rPr>
              <a:t> it. You </a:t>
            </a:r>
            <a:r>
              <a:rPr lang="de-DE" sz="1200" b="0" i="0" u="none" strike="noStrike" kern="1200" baseline="0" dirty="0" err="1">
                <a:solidFill>
                  <a:schemeClr val="tx1"/>
                </a:solidFill>
                <a:latin typeface="Arial" pitchFamily="34" charset="0"/>
                <a:ea typeface="+mn-ea"/>
                <a:cs typeface="Arial" pitchFamily="34" charset="0"/>
              </a:rPr>
              <a:t>might</a:t>
            </a:r>
            <a:r>
              <a:rPr lang="de-DE" sz="1200" b="0" i="0" u="none" strike="noStrike" kern="1200" baseline="0" dirty="0">
                <a:solidFill>
                  <a:schemeClr val="tx1"/>
                </a:solidFill>
                <a:latin typeface="Arial" pitchFamily="34" charset="0"/>
                <a:ea typeface="+mn-ea"/>
                <a:cs typeface="Arial" pitchFamily="34" charset="0"/>
              </a:rPr>
              <a:t> </a:t>
            </a:r>
            <a:r>
              <a:rPr lang="de-DE" sz="1200" b="0" i="0" u="none" strike="noStrike" kern="1200" baseline="0" dirty="0" err="1">
                <a:solidFill>
                  <a:schemeClr val="tx1"/>
                </a:solidFill>
                <a:latin typeface="Arial" pitchFamily="34" charset="0"/>
                <a:ea typeface="+mn-ea"/>
                <a:cs typeface="Arial" pitchFamily="34" charset="0"/>
              </a:rPr>
              <a:t>as</a:t>
            </a:r>
            <a:r>
              <a:rPr lang="de-DE" sz="1200" b="0" i="0" u="none" strike="noStrike" kern="1200" baseline="0" dirty="0">
                <a:solidFill>
                  <a:schemeClr val="tx1"/>
                </a:solidFill>
                <a:latin typeface="Arial" pitchFamily="34" charset="0"/>
                <a:ea typeface="+mn-ea"/>
                <a:cs typeface="Arial" pitchFamily="34" charset="0"/>
              </a:rPr>
              <a:t> </a:t>
            </a:r>
            <a:r>
              <a:rPr lang="de-DE" sz="1200" b="0" i="0" u="none" strike="noStrike" kern="1200" baseline="0" dirty="0" err="1">
                <a:solidFill>
                  <a:schemeClr val="tx1"/>
                </a:solidFill>
                <a:latin typeface="Arial" pitchFamily="34" charset="0"/>
                <a:ea typeface="+mn-ea"/>
                <a:cs typeface="Arial" pitchFamily="34" charset="0"/>
              </a:rPr>
              <a:t>well</a:t>
            </a:r>
            <a:r>
              <a:rPr lang="de-DE" sz="1200" b="0" i="0" u="none" strike="noStrike" kern="1200" baseline="0" dirty="0">
                <a:solidFill>
                  <a:schemeClr val="tx1"/>
                </a:solidFill>
                <a:latin typeface="Arial" pitchFamily="34" charset="0"/>
                <a:ea typeface="+mn-ea"/>
                <a:cs typeface="Arial" pitchFamily="34" charset="0"/>
              </a:rPr>
              <a:t> </a:t>
            </a:r>
            <a:r>
              <a:rPr lang="de-DE" sz="1200" b="0" i="0" u="none" strike="noStrike" kern="1200" baseline="0" dirty="0" err="1">
                <a:solidFill>
                  <a:schemeClr val="tx1"/>
                </a:solidFill>
                <a:latin typeface="Arial" pitchFamily="34" charset="0"/>
                <a:ea typeface="+mn-ea"/>
                <a:cs typeface="Arial" pitchFamily="34" charset="0"/>
              </a:rPr>
              <a:t>compute</a:t>
            </a:r>
            <a:r>
              <a:rPr lang="de-DE" sz="1200" b="0" i="0" u="none" strike="noStrike" kern="1200" baseline="0" dirty="0">
                <a:solidFill>
                  <a:schemeClr val="tx1"/>
                </a:solidFill>
                <a:latin typeface="Arial" pitchFamily="34" charset="0"/>
                <a:ea typeface="+mn-ea"/>
                <a:cs typeface="Arial" pitchFamily="34" charset="0"/>
              </a:rPr>
              <a:t> </a:t>
            </a:r>
            <a:r>
              <a:rPr lang="de-DE" sz="1200" b="0" i="0" u="none" strike="noStrike" kern="1200" baseline="0" dirty="0" err="1">
                <a:solidFill>
                  <a:schemeClr val="tx1"/>
                </a:solidFill>
                <a:latin typeface="Arial" pitchFamily="34" charset="0"/>
                <a:ea typeface="+mn-ea"/>
                <a:cs typeface="Arial" pitchFamily="34" charset="0"/>
              </a:rPr>
              <a:t>the</a:t>
            </a:r>
            <a:r>
              <a:rPr lang="de-DE" sz="1200" b="0" i="0" u="none" strike="noStrike" kern="1200" baseline="0" dirty="0">
                <a:solidFill>
                  <a:schemeClr val="tx1"/>
                </a:solidFill>
                <a:latin typeface="Arial" pitchFamily="34" charset="0"/>
                <a:ea typeface="+mn-ea"/>
                <a:cs typeface="Arial" pitchFamily="34" charset="0"/>
              </a:rPr>
              <a:t> </a:t>
            </a:r>
            <a:r>
              <a:rPr lang="de-DE" sz="1200" b="0" i="0" u="none" strike="noStrike" kern="1200" baseline="0" dirty="0" err="1">
                <a:solidFill>
                  <a:schemeClr val="tx1"/>
                </a:solidFill>
                <a:latin typeface="Arial" pitchFamily="34" charset="0"/>
                <a:ea typeface="+mn-ea"/>
                <a:cs typeface="Arial" pitchFamily="34" charset="0"/>
              </a:rPr>
              <a:t>result</a:t>
            </a:r>
            <a:r>
              <a:rPr lang="de-DE" sz="1200" b="0" i="0" u="none" strike="noStrike" kern="1200" baseline="0" dirty="0">
                <a:solidFill>
                  <a:schemeClr val="tx1"/>
                </a:solidFill>
                <a:latin typeface="Arial" pitchFamily="34" charset="0"/>
                <a:ea typeface="+mn-ea"/>
                <a:cs typeface="Arial" pitchFamily="34" charset="0"/>
              </a:rPr>
              <a:t> </a:t>
            </a:r>
            <a:r>
              <a:rPr lang="de-DE" sz="1200" b="0" i="0" u="none" strike="noStrike" kern="1200" baseline="0" dirty="0" err="1">
                <a:solidFill>
                  <a:schemeClr val="tx1"/>
                </a:solidFill>
                <a:latin typeface="Arial" pitchFamily="34" charset="0"/>
                <a:ea typeface="+mn-ea"/>
                <a:cs typeface="Arial" pitchFamily="34" charset="0"/>
              </a:rPr>
              <a:t>using</a:t>
            </a:r>
            <a:r>
              <a:rPr lang="de-DE" sz="1200" b="0" i="0" u="none" strike="noStrike" kern="1200" baseline="0" dirty="0">
                <a:solidFill>
                  <a:schemeClr val="tx1"/>
                </a:solidFill>
                <a:latin typeface="Arial" pitchFamily="34" charset="0"/>
                <a:ea typeface="+mn-ea"/>
                <a:cs typeface="Arial" pitchFamily="34" charset="0"/>
              </a:rPr>
              <a:t> FE (</a:t>
            </a:r>
            <a:r>
              <a:rPr lang="de-DE" sz="1200" b="0" i="0" u="none" strike="noStrike" kern="1200" baseline="0" dirty="0" err="1">
                <a:solidFill>
                  <a:schemeClr val="tx1"/>
                </a:solidFill>
                <a:latin typeface="Arial" pitchFamily="34" charset="0"/>
                <a:ea typeface="+mn-ea"/>
                <a:cs typeface="Arial" pitchFamily="34" charset="0"/>
              </a:rPr>
              <a:t>which</a:t>
            </a:r>
            <a:r>
              <a:rPr lang="de-DE" sz="1200" b="0" i="0" u="none" strike="noStrike" kern="1200" baseline="0" dirty="0">
                <a:solidFill>
                  <a:schemeClr val="tx1"/>
                </a:solidFill>
                <a:latin typeface="Arial" pitchFamily="34" charset="0"/>
                <a:ea typeface="+mn-ea"/>
                <a:cs typeface="Arial" pitchFamily="34" charset="0"/>
              </a:rPr>
              <a:t> </a:t>
            </a:r>
            <a:r>
              <a:rPr lang="de-DE" sz="1200" b="0" i="0" u="none" strike="noStrike" kern="1200" baseline="0" dirty="0" err="1">
                <a:solidFill>
                  <a:schemeClr val="tx1"/>
                </a:solidFill>
                <a:latin typeface="Arial" pitchFamily="34" charset="0"/>
                <a:ea typeface="+mn-ea"/>
                <a:cs typeface="Arial" pitchFamily="34" charset="0"/>
              </a:rPr>
              <a:t>is</a:t>
            </a:r>
            <a:r>
              <a:rPr lang="de-DE" sz="1200" b="0" i="0" u="none" strike="noStrike" kern="1200" baseline="0" dirty="0">
                <a:solidFill>
                  <a:schemeClr val="tx1"/>
                </a:solidFill>
                <a:latin typeface="Arial" pitchFamily="34" charset="0"/>
                <a:ea typeface="+mn-ea"/>
                <a:cs typeface="Arial" pitchFamily="34" charset="0"/>
              </a:rPr>
              <a:t> </a:t>
            </a:r>
            <a:r>
              <a:rPr lang="de-DE" sz="1200" b="0" i="0" u="none" strike="noStrike" kern="1200" baseline="0" dirty="0" err="1">
                <a:solidFill>
                  <a:schemeClr val="tx1"/>
                </a:solidFill>
                <a:latin typeface="Arial" pitchFamily="34" charset="0"/>
                <a:ea typeface="+mn-ea"/>
                <a:cs typeface="Arial" pitchFamily="34" charset="0"/>
              </a:rPr>
              <a:t>more</a:t>
            </a:r>
            <a:r>
              <a:rPr lang="de-DE" sz="1200" b="0" i="0" u="none" strike="noStrike" kern="1200" baseline="0" dirty="0">
                <a:solidFill>
                  <a:schemeClr val="tx1"/>
                </a:solidFill>
                <a:latin typeface="Arial" pitchFamily="34" charset="0"/>
                <a:ea typeface="+mn-ea"/>
                <a:cs typeface="Arial" pitchFamily="34" charset="0"/>
              </a:rPr>
              <a:t> reliable, </a:t>
            </a:r>
            <a:r>
              <a:rPr lang="de-DE" sz="1200" b="0" i="0" u="none" strike="noStrike" kern="1200" baseline="0" dirty="0" err="1">
                <a:solidFill>
                  <a:schemeClr val="tx1"/>
                </a:solidFill>
                <a:latin typeface="Arial" pitchFamily="34" charset="0"/>
                <a:ea typeface="+mn-ea"/>
                <a:cs typeface="Arial" pitchFamily="34" charset="0"/>
              </a:rPr>
              <a:t>too</a:t>
            </a:r>
            <a:r>
              <a:rPr lang="de-DE" sz="1200" b="0" i="0" u="none" strike="noStrike" kern="1200" baseline="0" dirty="0">
                <a:solidFill>
                  <a:schemeClr val="tx1"/>
                </a:solidFill>
                <a:latin typeface="Arial" pitchFamily="34" charset="0"/>
                <a:ea typeface="+mn-ea"/>
                <a:cs typeface="Arial" pitchFamily="34" charset="0"/>
              </a:rPr>
              <a:t>!)</a:t>
            </a:r>
          </a:p>
          <a:p>
            <a:endParaRPr lang="en-US" sz="1200" b="0" i="0" u="none" strike="noStrike" kern="1200" baseline="0" dirty="0">
              <a:solidFill>
                <a:schemeClr val="tx1"/>
              </a:solidFill>
              <a:latin typeface="Arial" pitchFamily="34" charset="0"/>
              <a:ea typeface="+mn-ea"/>
              <a:cs typeface="Arial" pitchFamily="34" charset="0"/>
            </a:endParaRPr>
          </a:p>
          <a:p>
            <a:endParaRPr lang="en-US" sz="1200" b="0" i="0" u="none" strike="noStrike" kern="1200" baseline="0" dirty="0">
              <a:solidFill>
                <a:schemeClr val="tx1"/>
              </a:solidFill>
              <a:latin typeface="Arial" pitchFamily="34" charset="0"/>
              <a:ea typeface="+mn-ea"/>
              <a:cs typeface="Arial" pitchFamily="34" charset="0"/>
            </a:endParaRPr>
          </a:p>
          <a:p>
            <a:endParaRPr lang="de-DE" dirty="0"/>
          </a:p>
          <a:p>
            <a:endParaRPr lang="de-DE" dirty="0"/>
          </a:p>
        </p:txBody>
      </p:sp>
      <p:sp>
        <p:nvSpPr>
          <p:cNvPr id="4" name="Foliennummernplatzhalter 3"/>
          <p:cNvSpPr>
            <a:spLocks noGrp="1"/>
          </p:cNvSpPr>
          <p:nvPr>
            <p:ph type="sldNum" sz="quarter" idx="5"/>
          </p:nvPr>
        </p:nvSpPr>
        <p:spPr/>
        <p:txBody>
          <a:bodyPr/>
          <a:lstStyle/>
          <a:p>
            <a:pPr>
              <a:defRPr/>
            </a:pPr>
            <a:fld id="{00AFC6D0-44D5-4EB7-828F-6F464F83D79A}" type="slidenum">
              <a:rPr lang="en-GB" smtClean="0"/>
              <a:pPr>
                <a:defRPr/>
              </a:pPr>
              <a:t>26</a:t>
            </a:fld>
            <a:endParaRPr lang="en-GB"/>
          </a:p>
        </p:txBody>
      </p:sp>
    </p:spTree>
    <p:extLst>
      <p:ext uri="{BB962C8B-B14F-4D97-AF65-F5344CB8AC3E}">
        <p14:creationId xmlns:p14="http://schemas.microsoft.com/office/powerpoint/2010/main" val="2529878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u="none" strike="noStrike" kern="1200" baseline="0" dirty="0">
                <a:solidFill>
                  <a:schemeClr val="tx1"/>
                </a:solidFill>
                <a:latin typeface="Arial" pitchFamily="34" charset="0"/>
                <a:ea typeface="+mn-ea"/>
                <a:cs typeface="Arial" pitchFamily="34" charset="0"/>
              </a:rPr>
              <a:t>An </a:t>
            </a:r>
            <a:r>
              <a:rPr lang="de-DE" sz="1200" b="0" i="0" u="none" strike="noStrike" kern="1200" baseline="0" dirty="0" err="1">
                <a:solidFill>
                  <a:schemeClr val="tx1"/>
                </a:solidFill>
                <a:latin typeface="Arial" pitchFamily="34" charset="0"/>
                <a:ea typeface="+mn-ea"/>
                <a:cs typeface="Arial" pitchFamily="34" charset="0"/>
              </a:rPr>
              <a:t>example</a:t>
            </a:r>
            <a:r>
              <a:rPr lang="de-DE" sz="1200" b="0" i="0" u="none" strike="noStrike" kern="1200" baseline="0" dirty="0">
                <a:solidFill>
                  <a:schemeClr val="tx1"/>
                </a:solidFill>
                <a:latin typeface="Arial" pitchFamily="34" charset="0"/>
                <a:ea typeface="+mn-ea"/>
                <a:cs typeface="Arial" pitchFamily="34" charset="0"/>
              </a:rPr>
              <a:t> in </a:t>
            </a:r>
            <a:r>
              <a:rPr lang="de-DE" sz="1200" b="0" i="0" u="none" strike="noStrike" kern="1200" baseline="0" dirty="0" err="1">
                <a:solidFill>
                  <a:schemeClr val="tx1"/>
                </a:solidFill>
                <a:latin typeface="Arial" pitchFamily="34" charset="0"/>
                <a:ea typeface="+mn-ea"/>
                <a:cs typeface="Arial" pitchFamily="34" charset="0"/>
              </a:rPr>
              <a:t>compuational</a:t>
            </a:r>
            <a:r>
              <a:rPr lang="de-DE" sz="1200" b="0" i="0" u="none" strike="noStrike" kern="1200" baseline="0" dirty="0">
                <a:solidFill>
                  <a:schemeClr val="tx1"/>
                </a:solidFill>
                <a:latin typeface="Arial" pitchFamily="34" charset="0"/>
                <a:ea typeface="+mn-ea"/>
                <a:cs typeface="Arial" pitchFamily="34" charset="0"/>
              </a:rPr>
              <a:t> </a:t>
            </a:r>
            <a:r>
              <a:rPr lang="de-DE" sz="1200" b="0" i="0" u="none" strike="noStrike" kern="1200" baseline="0" dirty="0" err="1">
                <a:solidFill>
                  <a:schemeClr val="tx1"/>
                </a:solidFill>
                <a:latin typeface="Arial" pitchFamily="34" charset="0"/>
                <a:ea typeface="+mn-ea"/>
                <a:cs typeface="Arial" pitchFamily="34" charset="0"/>
              </a:rPr>
              <a:t>mechanics</a:t>
            </a:r>
            <a:r>
              <a:rPr lang="de-DE" sz="1200" b="0" i="0" u="none" strike="noStrike" kern="1200" baseline="0" dirty="0">
                <a:solidFill>
                  <a:schemeClr val="tx1"/>
                </a:solidFill>
                <a:latin typeface="Arial" pitchFamily="34" charset="0"/>
                <a:ea typeface="+mn-ea"/>
                <a:cs typeface="Arial" pitchFamily="34" charset="0"/>
              </a:rPr>
              <a:t> </a:t>
            </a:r>
            <a:r>
              <a:rPr lang="de-DE" sz="1200" b="0" i="0" u="none" strike="noStrike" kern="1200" baseline="0" dirty="0" err="1">
                <a:solidFill>
                  <a:schemeClr val="tx1"/>
                </a:solidFill>
                <a:latin typeface="Arial" pitchFamily="34" charset="0"/>
                <a:ea typeface="+mn-ea"/>
                <a:cs typeface="Arial" pitchFamily="34" charset="0"/>
              </a:rPr>
              <a:t>is</a:t>
            </a:r>
            <a:r>
              <a:rPr lang="de-DE" sz="1200" b="0" i="0" u="none" strike="noStrike" kern="1200" baseline="0" dirty="0">
                <a:solidFill>
                  <a:schemeClr val="tx1"/>
                </a:solidFill>
                <a:latin typeface="Arial" pitchFamily="34" charset="0"/>
                <a:ea typeface="+mn-ea"/>
                <a:cs typeface="Arial" pitchFamily="34" charset="0"/>
              </a:rPr>
              <a:t>:</a:t>
            </a:r>
          </a:p>
          <a:p>
            <a:r>
              <a:rPr lang="de-DE" sz="1200" b="0" i="0" u="none" strike="noStrike" kern="1200" baseline="0" dirty="0">
                <a:solidFill>
                  <a:schemeClr val="tx1"/>
                </a:solidFill>
                <a:latin typeface="Arial" pitchFamily="34" charset="0"/>
                <a:ea typeface="+mn-ea"/>
                <a:cs typeface="Arial" pitchFamily="34" charset="0"/>
              </a:rPr>
              <a:t>https://sites.google.com/view/meshgraphnets</a:t>
            </a:r>
          </a:p>
          <a:p>
            <a:endParaRPr lang="de-DE" sz="1200" b="0" i="0" u="none" strike="noStrike" kern="1200" baseline="0" dirty="0">
              <a:solidFill>
                <a:schemeClr val="tx1"/>
              </a:solidFill>
              <a:latin typeface="Arial" pitchFamily="34" charset="0"/>
              <a:ea typeface="+mn-ea"/>
              <a:cs typeface="Arial" pitchFamily="34" charset="0"/>
            </a:endParaRPr>
          </a:p>
          <a:p>
            <a:endParaRPr lang="de-DE" sz="1200" b="0" i="0" u="none" strike="noStrike" kern="1200" baseline="0" dirty="0">
              <a:solidFill>
                <a:schemeClr val="tx1"/>
              </a:solidFill>
              <a:latin typeface="Arial" pitchFamily="34" charset="0"/>
              <a:ea typeface="+mn-ea"/>
              <a:cs typeface="Arial" pitchFamily="34" charset="0"/>
            </a:endParaRPr>
          </a:p>
          <a:p>
            <a:r>
              <a:rPr lang="de-DE" sz="1200" b="0" i="0" u="none" strike="noStrike" kern="1200" baseline="0" dirty="0">
                <a:solidFill>
                  <a:schemeClr val="tx1"/>
                </a:solidFill>
                <a:latin typeface="Arial" pitchFamily="34" charset="0"/>
                <a:ea typeface="+mn-ea"/>
                <a:cs typeface="Arial" pitchFamily="34" charset="0"/>
              </a:rPr>
              <a:t>-graph </a:t>
            </a:r>
            <a:r>
              <a:rPr lang="de-DE" sz="1200" b="0" i="0" u="none" strike="noStrike" kern="1200" baseline="0" dirty="0" err="1">
                <a:solidFill>
                  <a:schemeClr val="tx1"/>
                </a:solidFill>
                <a:latin typeface="Arial" pitchFamily="34" charset="0"/>
                <a:ea typeface="+mn-ea"/>
                <a:cs typeface="Arial" pitchFamily="34" charset="0"/>
              </a:rPr>
              <a:t>convolutional</a:t>
            </a:r>
            <a:r>
              <a:rPr lang="de-DE" sz="1200" b="0" i="0" u="none" strike="noStrike" kern="1200" baseline="0" dirty="0">
                <a:solidFill>
                  <a:schemeClr val="tx1"/>
                </a:solidFill>
                <a:latin typeface="Arial" pitchFamily="34" charset="0"/>
                <a:ea typeface="+mn-ea"/>
                <a:cs typeface="Arial" pitchFamily="34" charset="0"/>
              </a:rPr>
              <a:t> </a:t>
            </a:r>
            <a:r>
              <a:rPr lang="de-DE" sz="1200" b="0" i="0" u="none" strike="noStrike" kern="1200" baseline="0" dirty="0" err="1">
                <a:solidFill>
                  <a:schemeClr val="tx1"/>
                </a:solidFill>
                <a:latin typeface="Arial" pitchFamily="34" charset="0"/>
                <a:ea typeface="+mn-ea"/>
                <a:cs typeface="Arial" pitchFamily="34" charset="0"/>
              </a:rPr>
              <a:t>neural</a:t>
            </a:r>
            <a:r>
              <a:rPr lang="de-DE" sz="1200" b="0" i="0" u="none" strike="noStrike" kern="1200" baseline="0" dirty="0">
                <a:solidFill>
                  <a:schemeClr val="tx1"/>
                </a:solidFill>
                <a:latin typeface="Arial" pitchFamily="34" charset="0"/>
                <a:ea typeface="+mn-ea"/>
                <a:cs typeface="Arial" pitchFamily="34" charset="0"/>
              </a:rPr>
              <a:t> network  </a:t>
            </a:r>
            <a:r>
              <a:rPr lang="de-DE" sz="1200" b="0" i="0" u="none" strike="noStrike" kern="1200" baseline="0" dirty="0" err="1">
                <a:solidFill>
                  <a:schemeClr val="tx1"/>
                </a:solidFill>
                <a:latin typeface="Arial" pitchFamily="34" charset="0"/>
                <a:ea typeface="+mn-ea"/>
                <a:cs typeface="Arial" pitchFamily="34" charset="0"/>
              </a:rPr>
              <a:t>is</a:t>
            </a:r>
            <a:r>
              <a:rPr lang="de-DE" sz="1200" b="0" i="0" u="none" strike="noStrike" kern="1200" baseline="0" dirty="0">
                <a:solidFill>
                  <a:schemeClr val="tx1"/>
                </a:solidFill>
                <a:latin typeface="Arial" pitchFamily="34" charset="0"/>
                <a:ea typeface="+mn-ea"/>
                <a:cs typeface="Arial" pitchFamily="34" charset="0"/>
              </a:rPr>
              <a:t> a </a:t>
            </a:r>
            <a:r>
              <a:rPr lang="de-DE" sz="1200" b="0" i="0" u="none" strike="noStrike" kern="1200" baseline="0" dirty="0" err="1">
                <a:solidFill>
                  <a:schemeClr val="tx1"/>
                </a:solidFill>
                <a:latin typeface="Arial" pitchFamily="34" charset="0"/>
                <a:ea typeface="+mn-ea"/>
                <a:cs typeface="Arial" pitchFamily="34" charset="0"/>
              </a:rPr>
              <a:t>special</a:t>
            </a:r>
            <a:r>
              <a:rPr lang="de-DE" sz="1200" b="0" i="0" u="none" strike="noStrike" kern="1200" baseline="0" dirty="0">
                <a:solidFill>
                  <a:schemeClr val="tx1"/>
                </a:solidFill>
                <a:latin typeface="Arial" pitchFamily="34" charset="0"/>
                <a:ea typeface="+mn-ea"/>
                <a:cs typeface="Arial" pitchFamily="34" charset="0"/>
              </a:rPr>
              <a:t> </a:t>
            </a:r>
            <a:r>
              <a:rPr lang="de-DE" sz="1200" b="0" i="0" u="none" strike="noStrike" kern="1200" baseline="0" dirty="0" err="1">
                <a:solidFill>
                  <a:schemeClr val="tx1"/>
                </a:solidFill>
                <a:latin typeface="Arial" pitchFamily="34" charset="0"/>
                <a:ea typeface="+mn-ea"/>
                <a:cs typeface="Arial" pitchFamily="34" charset="0"/>
              </a:rPr>
              <a:t>case</a:t>
            </a:r>
            <a:r>
              <a:rPr lang="de-DE" sz="1200" b="0" i="0" u="none" strike="noStrike" kern="1200" baseline="0" dirty="0">
                <a:solidFill>
                  <a:schemeClr val="tx1"/>
                </a:solidFill>
                <a:latin typeface="Arial" pitchFamily="34" charset="0"/>
                <a:ea typeface="+mn-ea"/>
                <a:cs typeface="Arial" pitchFamily="34" charset="0"/>
              </a:rPr>
              <a:t> of a </a:t>
            </a:r>
            <a:r>
              <a:rPr lang="de-DE" sz="1200" b="0" i="0" u="none" strike="noStrike" kern="1200" baseline="0" dirty="0" err="1">
                <a:solidFill>
                  <a:schemeClr val="tx1"/>
                </a:solidFill>
                <a:latin typeface="Arial" pitchFamily="34" charset="0"/>
                <a:ea typeface="+mn-ea"/>
                <a:cs typeface="Arial" pitchFamily="34" charset="0"/>
              </a:rPr>
              <a:t>message</a:t>
            </a:r>
            <a:r>
              <a:rPr lang="de-DE" sz="1200" b="0" i="0" u="none" strike="noStrike" kern="1200" baseline="0" dirty="0">
                <a:solidFill>
                  <a:schemeClr val="tx1"/>
                </a:solidFill>
                <a:latin typeface="Arial" pitchFamily="34" charset="0"/>
                <a:ea typeface="+mn-ea"/>
                <a:cs typeface="Arial" pitchFamily="34" charset="0"/>
              </a:rPr>
              <a:t> </a:t>
            </a:r>
            <a:r>
              <a:rPr lang="de-DE" sz="1200" b="0" i="0" u="none" strike="noStrike" kern="1200" baseline="0" dirty="0" err="1">
                <a:solidFill>
                  <a:schemeClr val="tx1"/>
                </a:solidFill>
                <a:latin typeface="Arial" pitchFamily="34" charset="0"/>
                <a:ea typeface="+mn-ea"/>
                <a:cs typeface="Arial" pitchFamily="34" charset="0"/>
              </a:rPr>
              <a:t>passing</a:t>
            </a:r>
            <a:r>
              <a:rPr lang="de-DE" sz="1200" b="0" i="0" u="none" strike="noStrike" kern="1200" baseline="0" dirty="0">
                <a:solidFill>
                  <a:schemeClr val="tx1"/>
                </a:solidFill>
                <a:latin typeface="Arial" pitchFamily="34" charset="0"/>
                <a:ea typeface="+mn-ea"/>
                <a:cs typeface="Arial" pitchFamily="34" charset="0"/>
              </a:rPr>
              <a:t> network</a:t>
            </a:r>
          </a:p>
          <a:p>
            <a:endParaRPr lang="de-DE" sz="1200" b="0" i="0" u="none" strike="noStrike" kern="1200" baseline="0" dirty="0">
              <a:solidFill>
                <a:schemeClr val="tx1"/>
              </a:solidFill>
              <a:latin typeface="Arial" pitchFamily="34" charset="0"/>
              <a:ea typeface="+mn-ea"/>
              <a:cs typeface="Arial" pitchFamily="34" charset="0"/>
            </a:endParaRPr>
          </a:p>
          <a:p>
            <a:endParaRPr lang="de-DE" sz="1200" b="0" i="0" u="none" strike="noStrike" kern="1200" baseline="0" dirty="0">
              <a:solidFill>
                <a:schemeClr val="tx1"/>
              </a:solidFill>
              <a:latin typeface="Arial" pitchFamily="34" charset="0"/>
              <a:ea typeface="+mn-ea"/>
              <a:cs typeface="Arial" pitchFamily="34" charset="0"/>
            </a:endParaRPr>
          </a:p>
          <a:p>
            <a:endParaRPr lang="de-DE" dirty="0"/>
          </a:p>
        </p:txBody>
      </p:sp>
      <p:sp>
        <p:nvSpPr>
          <p:cNvPr id="4" name="Foliennummernplatzhalter 3"/>
          <p:cNvSpPr>
            <a:spLocks noGrp="1"/>
          </p:cNvSpPr>
          <p:nvPr>
            <p:ph type="sldNum" sz="quarter" idx="5"/>
          </p:nvPr>
        </p:nvSpPr>
        <p:spPr/>
        <p:txBody>
          <a:bodyPr/>
          <a:lstStyle/>
          <a:p>
            <a:pPr>
              <a:defRPr/>
            </a:pPr>
            <a:fld id="{00AFC6D0-44D5-4EB7-828F-6F464F83D79A}" type="slidenum">
              <a:rPr lang="en-GB" smtClean="0"/>
              <a:pPr>
                <a:defRPr/>
              </a:pPr>
              <a:t>33</a:t>
            </a:fld>
            <a:endParaRPr lang="en-GB"/>
          </a:p>
        </p:txBody>
      </p:sp>
    </p:spTree>
    <p:extLst>
      <p:ext uri="{BB962C8B-B14F-4D97-AF65-F5344CB8AC3E}">
        <p14:creationId xmlns:p14="http://schemas.microsoft.com/office/powerpoint/2010/main" val="29317214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Aggregation </a:t>
            </a:r>
            <a:r>
              <a:rPr lang="de-DE" dirty="0" err="1"/>
              <a:t>is</a:t>
            </a:r>
            <a:r>
              <a:rPr lang="de-DE" dirty="0"/>
              <a:t> like </a:t>
            </a:r>
            <a:r>
              <a:rPr lang="de-DE" dirty="0" err="1"/>
              <a:t>pooling</a:t>
            </a:r>
            <a:endParaRPr lang="de-DE" dirty="0"/>
          </a:p>
          <a:p>
            <a:endParaRPr lang="de-DE" dirty="0"/>
          </a:p>
          <a:p>
            <a:endParaRPr lang="de-DE" dirty="0"/>
          </a:p>
        </p:txBody>
      </p:sp>
      <p:sp>
        <p:nvSpPr>
          <p:cNvPr id="4" name="Foliennummernplatzhalter 3"/>
          <p:cNvSpPr>
            <a:spLocks noGrp="1"/>
          </p:cNvSpPr>
          <p:nvPr>
            <p:ph type="sldNum" sz="quarter" idx="5"/>
          </p:nvPr>
        </p:nvSpPr>
        <p:spPr/>
        <p:txBody>
          <a:bodyPr/>
          <a:lstStyle/>
          <a:p>
            <a:pPr>
              <a:defRPr/>
            </a:pPr>
            <a:fld id="{00AFC6D0-44D5-4EB7-828F-6F464F83D79A}" type="slidenum">
              <a:rPr lang="en-GB" smtClean="0"/>
              <a:pPr>
                <a:defRPr/>
              </a:pPr>
              <a:t>34</a:t>
            </a:fld>
            <a:endParaRPr lang="en-GB"/>
          </a:p>
        </p:txBody>
      </p:sp>
    </p:spTree>
    <p:extLst>
      <p:ext uri="{BB962C8B-B14F-4D97-AF65-F5344CB8AC3E}">
        <p14:creationId xmlns:p14="http://schemas.microsoft.com/office/powerpoint/2010/main" val="39856898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P(t)=</a:t>
            </a:r>
            <a:r>
              <a:rPr lang="en-US" dirty="0" err="1"/>
              <a:t>mdot</a:t>
            </a:r>
            <a:r>
              <a:rPr lang="en-US" dirty="0"/>
              <a:t> mal x</a:t>
            </a:r>
          </a:p>
          <a:p>
            <a:endParaRPr lang="en-US" dirty="0"/>
          </a:p>
        </p:txBody>
      </p:sp>
      <p:sp>
        <p:nvSpPr>
          <p:cNvPr id="4" name="Foliennummernplatzhalter 3"/>
          <p:cNvSpPr>
            <a:spLocks noGrp="1"/>
          </p:cNvSpPr>
          <p:nvPr>
            <p:ph type="sldNum" sz="quarter" idx="5"/>
          </p:nvPr>
        </p:nvSpPr>
        <p:spPr/>
        <p:txBody>
          <a:bodyPr/>
          <a:lstStyle/>
          <a:p>
            <a:pPr>
              <a:defRPr/>
            </a:pPr>
            <a:fld id="{00AFC6D0-44D5-4EB7-828F-6F464F83D79A}" type="slidenum">
              <a:rPr lang="en-GB" smtClean="0"/>
              <a:pPr>
                <a:defRPr/>
              </a:pPr>
              <a:t>40</a:t>
            </a:fld>
            <a:endParaRPr lang="en-GB"/>
          </a:p>
        </p:txBody>
      </p:sp>
    </p:spTree>
    <p:extLst>
      <p:ext uri="{BB962C8B-B14F-4D97-AF65-F5344CB8AC3E}">
        <p14:creationId xmlns:p14="http://schemas.microsoft.com/office/powerpoint/2010/main" val="16757788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800" b="0" i="0" u="none" strike="noStrike" baseline="0" dirty="0">
                <a:solidFill>
                  <a:srgbClr val="000000"/>
                </a:solidFill>
                <a:latin typeface="Times" panose="02020603050405020304" pitchFamily="18" charset="0"/>
              </a:rPr>
              <a:t>Approximation is superior using HNN. </a:t>
            </a:r>
          </a:p>
          <a:p>
            <a:r>
              <a:rPr lang="en-US" sz="1800" b="0" i="0" u="none" strike="noStrike" baseline="0" dirty="0">
                <a:solidFill>
                  <a:srgbClr val="000000"/>
                </a:solidFill>
                <a:latin typeface="Times" panose="02020603050405020304" pitchFamily="18" charset="0"/>
              </a:rPr>
              <a:t>But the HNN also does not conserve the total energy</a:t>
            </a:r>
          </a:p>
          <a:p>
            <a:r>
              <a:rPr lang="en-US" sz="1800" b="0" i="0" u="none" strike="noStrike" baseline="0" dirty="0">
                <a:solidFill>
                  <a:srgbClr val="000000"/>
                </a:solidFill>
                <a:latin typeface="Times" panose="02020603050405020304" pitchFamily="18" charset="0"/>
              </a:rPr>
              <a:t>This error stems from the forward Euler integration scheme and can be avoided with energy-conserving time-stepping schemes, such as the trapezoidal rule.</a:t>
            </a:r>
          </a:p>
          <a:p>
            <a:endParaRPr lang="en-US" dirty="0"/>
          </a:p>
          <a:p>
            <a:r>
              <a:rPr lang="en-US" sz="1800" b="0" i="0" u="none" strike="noStrike" baseline="0" dirty="0">
                <a:solidFill>
                  <a:srgbClr val="000000"/>
                </a:solidFill>
                <a:latin typeface="Times" panose="02020603050405020304" pitchFamily="18" charset="0"/>
              </a:rPr>
              <a:t>The Hamiltonian neural network generalizes better, because it learns to conserve a scalar quantity (related to the </a:t>
            </a:r>
            <a:r>
              <a:rPr lang="en-US" sz="1800" b="0" i="0" u="none" strike="noStrike" baseline="0" dirty="0" err="1">
                <a:solidFill>
                  <a:srgbClr val="000000"/>
                </a:solidFill>
                <a:latin typeface="Times" panose="02020603050405020304" pitchFamily="18" charset="0"/>
              </a:rPr>
              <a:t>enery</a:t>
            </a:r>
            <a:r>
              <a:rPr lang="en-US" sz="1800" b="0" i="0" u="none" strike="noStrike" baseline="0" dirty="0">
                <a:solidFill>
                  <a:srgbClr val="000000"/>
                </a:solidFill>
                <a:latin typeface="Times" panose="02020603050405020304" pitchFamily="18" charset="0"/>
              </a:rPr>
              <a:t>) from the observations.</a:t>
            </a:r>
            <a:endParaRPr lang="en-US" dirty="0"/>
          </a:p>
        </p:txBody>
      </p:sp>
      <p:sp>
        <p:nvSpPr>
          <p:cNvPr id="4" name="Foliennummernplatzhalter 3"/>
          <p:cNvSpPr>
            <a:spLocks noGrp="1"/>
          </p:cNvSpPr>
          <p:nvPr>
            <p:ph type="sldNum" sz="quarter" idx="5"/>
          </p:nvPr>
        </p:nvSpPr>
        <p:spPr/>
        <p:txBody>
          <a:bodyPr/>
          <a:lstStyle/>
          <a:p>
            <a:pPr>
              <a:defRPr/>
            </a:pPr>
            <a:fld id="{00AFC6D0-44D5-4EB7-828F-6F464F83D79A}" type="slidenum">
              <a:rPr lang="en-GB" smtClean="0"/>
              <a:pPr>
                <a:defRPr/>
              </a:pPr>
              <a:t>41</a:t>
            </a:fld>
            <a:endParaRPr lang="en-GB"/>
          </a:p>
        </p:txBody>
      </p:sp>
    </p:spTree>
    <p:extLst>
      <p:ext uri="{BB962C8B-B14F-4D97-AF65-F5344CB8AC3E}">
        <p14:creationId xmlns:p14="http://schemas.microsoft.com/office/powerpoint/2010/main" val="26768933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pPr>
              <a:defRPr/>
            </a:pPr>
            <a:fld id="{00AFC6D0-44D5-4EB7-828F-6F464F83D79A}" type="slidenum">
              <a:rPr lang="en-GB" smtClean="0"/>
              <a:pPr>
                <a:defRPr/>
              </a:pPr>
              <a:t>42</a:t>
            </a:fld>
            <a:endParaRPr lang="en-GB"/>
          </a:p>
        </p:txBody>
      </p:sp>
    </p:spTree>
    <p:extLst>
      <p:ext uri="{BB962C8B-B14F-4D97-AF65-F5344CB8AC3E}">
        <p14:creationId xmlns:p14="http://schemas.microsoft.com/office/powerpoint/2010/main" val="29731561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https://www.youtube.com/watch?v=HLUIx6FqAvg </a:t>
            </a:r>
          </a:p>
        </p:txBody>
      </p:sp>
      <p:sp>
        <p:nvSpPr>
          <p:cNvPr id="4" name="Foliennummernplatzhalter 3"/>
          <p:cNvSpPr>
            <a:spLocks noGrp="1"/>
          </p:cNvSpPr>
          <p:nvPr>
            <p:ph type="sldNum" sz="quarter" idx="5"/>
          </p:nvPr>
        </p:nvSpPr>
        <p:spPr/>
        <p:txBody>
          <a:bodyPr/>
          <a:lstStyle/>
          <a:p>
            <a:pPr>
              <a:defRPr/>
            </a:pPr>
            <a:fld id="{00AFC6D0-44D5-4EB7-828F-6F464F83D79A}" type="slidenum">
              <a:rPr lang="en-GB" smtClean="0"/>
              <a:pPr>
                <a:defRPr/>
              </a:pPr>
              <a:t>43</a:t>
            </a:fld>
            <a:endParaRPr lang="en-GB"/>
          </a:p>
        </p:txBody>
      </p:sp>
    </p:spTree>
    <p:extLst>
      <p:ext uri="{BB962C8B-B14F-4D97-AF65-F5344CB8AC3E}">
        <p14:creationId xmlns:p14="http://schemas.microsoft.com/office/powerpoint/2010/main" val="37504075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fontScale="70000" lnSpcReduction="20000"/>
          </a:bodyPr>
          <a:lstStyle/>
          <a:p>
            <a:r>
              <a:rPr lang="en-US" sz="1800" b="0" i="0" u="none" strike="noStrike" baseline="0" dirty="0">
                <a:solidFill>
                  <a:srgbClr val="000000"/>
                </a:solidFill>
                <a:latin typeface="Times" panose="02020603050405020304" pitchFamily="18" charset="0"/>
              </a:rPr>
              <a:t>both networks reliably learn the dynamics of the system  from only ten data points. </a:t>
            </a:r>
          </a:p>
          <a:p>
            <a:endParaRPr lang="en-US" sz="1800" b="0" i="0" u="none" strike="noStrike" baseline="0" dirty="0">
              <a:solidFill>
                <a:srgbClr val="000000"/>
              </a:solidFill>
              <a:latin typeface="Times" panose="02020603050405020304" pitchFamily="18" charset="0"/>
            </a:endParaRPr>
          </a:p>
          <a:p>
            <a:r>
              <a:rPr lang="en-US" sz="1800" b="0" i="0" u="none" strike="noStrike" baseline="0" dirty="0">
                <a:solidFill>
                  <a:srgbClr val="000000"/>
                </a:solidFill>
                <a:latin typeface="Times" panose="02020603050405020304" pitchFamily="18" charset="0"/>
              </a:rPr>
              <a:t>By contrast, the conventional neural network suffers from a severe energy accumulation despite the improved integration scheme. </a:t>
            </a:r>
          </a:p>
          <a:p>
            <a:endParaRPr lang="en-US" sz="1800" b="0" i="0" u="none" strike="noStrike" baseline="0" dirty="0">
              <a:solidFill>
                <a:srgbClr val="000000"/>
              </a:solidFill>
              <a:latin typeface="Times" panose="02020603050405020304" pitchFamily="18" charset="0"/>
            </a:endParaRPr>
          </a:p>
          <a:p>
            <a:r>
              <a:rPr lang="en-US" sz="1800" b="0" i="0" u="none" strike="noStrike" baseline="0" dirty="0">
                <a:solidFill>
                  <a:srgbClr val="000000"/>
                </a:solidFill>
                <a:latin typeface="Times" panose="02020603050405020304" pitchFamily="18" charset="0"/>
              </a:rPr>
              <a:t>In conclusion, much more accurate predictions for unseen data, i.e., the generalization gain, </a:t>
            </a:r>
          </a:p>
          <a:p>
            <a:r>
              <a:rPr lang="en-US" sz="1800" b="1" i="0" u="none" strike="noStrike" baseline="0" dirty="0">
                <a:solidFill>
                  <a:srgbClr val="000000"/>
                </a:solidFill>
                <a:latin typeface="Times" panose="02020603050405020304" pitchFamily="18" charset="0"/>
              </a:rPr>
              <a:t>comes from the implicit enforcement of Hamiltonian mechanics and the Lagrangian framework</a:t>
            </a:r>
            <a:r>
              <a:rPr lang="en-US" sz="1800" b="0" i="0" u="none" strike="noStrike" baseline="0" dirty="0">
                <a:solidFill>
                  <a:srgbClr val="000000"/>
                </a:solidFill>
                <a:latin typeface="Times" panose="02020603050405020304" pitchFamily="18" charset="0"/>
              </a:rPr>
              <a:t>.</a:t>
            </a:r>
          </a:p>
          <a:p>
            <a:endParaRPr lang="en-US" sz="1800" b="0" i="0" u="none" strike="noStrike" baseline="0" dirty="0">
              <a:solidFill>
                <a:srgbClr val="000000"/>
              </a:solidFill>
              <a:latin typeface="Times" panose="02020603050405020304" pitchFamily="18" charset="0"/>
            </a:endParaRPr>
          </a:p>
          <a:p>
            <a:endParaRPr lang="en-US" sz="1800" b="0" i="0" u="none" strike="noStrike" baseline="0" dirty="0">
              <a:solidFill>
                <a:srgbClr val="000000"/>
              </a:solidFill>
              <a:latin typeface="Times" panose="02020603050405020304" pitchFamily="18" charset="0"/>
            </a:endParaRPr>
          </a:p>
          <a:p>
            <a:r>
              <a:rPr lang="en-US" sz="1800" b="1" i="0" u="none" strike="noStrike" baseline="0" dirty="0">
                <a:solidFill>
                  <a:srgbClr val="000000"/>
                </a:solidFill>
                <a:latin typeface="Times" panose="02020603050405020304" pitchFamily="18" charset="0"/>
              </a:rPr>
              <a:t>A shortcoming of both approaches lies in their sole applicability to dynamical systems </a:t>
            </a:r>
            <a:r>
              <a:rPr lang="en-US" sz="1800" b="0" i="0" u="none" strike="noStrike" baseline="0" dirty="0">
                <a:solidFill>
                  <a:srgbClr val="000000"/>
                </a:solidFill>
                <a:latin typeface="Times" panose="02020603050405020304" pitchFamily="18" charset="0"/>
              </a:rPr>
              <a:t>through the Lagrangian and the Hamiltonian. A different and more general perspective, using differential equations, is achieved by physics-informed neural networks, which will be discussed in the upcoming Chaps. </a:t>
            </a:r>
            <a:r>
              <a:rPr lang="en-US" sz="1800" b="0" i="0" u="none" strike="noStrike" baseline="0" dirty="0">
                <a:solidFill>
                  <a:srgbClr val="0000FF"/>
                </a:solidFill>
                <a:latin typeface="Times" panose="02020603050405020304" pitchFamily="18" charset="0"/>
              </a:rPr>
              <a:t>4 </a:t>
            </a:r>
            <a:r>
              <a:rPr lang="en-US" sz="1800" b="0" i="0" u="none" strike="noStrike" baseline="0" dirty="0">
                <a:solidFill>
                  <a:srgbClr val="000000"/>
                </a:solidFill>
                <a:latin typeface="Times" panose="02020603050405020304" pitchFamily="18" charset="0"/>
              </a:rPr>
              <a:t>and </a:t>
            </a:r>
            <a:r>
              <a:rPr lang="en-US" sz="1800" b="0" i="0" u="none" strike="noStrike" baseline="0" dirty="0">
                <a:solidFill>
                  <a:srgbClr val="0000FF"/>
                </a:solidFill>
                <a:latin typeface="Times" panose="02020603050405020304" pitchFamily="18" charset="0"/>
              </a:rPr>
              <a:t>5</a:t>
            </a:r>
            <a:r>
              <a:rPr lang="en-US" sz="1800" b="0" i="0" u="none" strike="noStrike" baseline="0" dirty="0">
                <a:solidFill>
                  <a:srgbClr val="000000"/>
                </a:solidFill>
                <a:latin typeface="Times" panose="02020603050405020304" pitchFamily="18" charset="0"/>
              </a:rPr>
              <a:t>.</a:t>
            </a:r>
            <a:r>
              <a:rPr lang="en-US" sz="1800" b="0" i="0" u="none" strike="noStrike" baseline="0" dirty="0">
                <a:solidFill>
                  <a:srgbClr val="0000FF"/>
                </a:solidFill>
                <a:latin typeface="Times" panose="02020603050405020304" pitchFamily="18" charset="0"/>
              </a:rPr>
              <a:t>6 </a:t>
            </a:r>
            <a:endParaRPr lang="en-US" sz="1800" b="0" i="0" u="none" strike="noStrike" baseline="0" dirty="0">
              <a:solidFill>
                <a:srgbClr val="000000"/>
              </a:solidFill>
              <a:latin typeface="Times" panose="02020603050405020304" pitchFamily="18" charset="0"/>
            </a:endParaRPr>
          </a:p>
          <a:p>
            <a:endParaRPr lang="en-US" sz="1800" b="0" i="0" u="none" strike="noStrike" baseline="0" dirty="0">
              <a:solidFill>
                <a:srgbClr val="000000"/>
              </a:solidFill>
              <a:latin typeface="Times" panose="02020603050405020304" pitchFamily="18" charset="0"/>
            </a:endParaRPr>
          </a:p>
          <a:p>
            <a:r>
              <a:rPr lang="en-US" sz="1800" b="0" i="0" u="none" strike="noStrike" baseline="0" dirty="0">
                <a:solidFill>
                  <a:srgbClr val="000000"/>
                </a:solidFill>
                <a:latin typeface="Times" panose="02020603050405020304" pitchFamily="18" charset="0"/>
              </a:rPr>
              <a:t>Or more generally, by enforcing conversation laws. </a:t>
            </a:r>
            <a:endParaRPr lang="en-US" dirty="0"/>
          </a:p>
        </p:txBody>
      </p:sp>
      <p:sp>
        <p:nvSpPr>
          <p:cNvPr id="4" name="Foliennummernplatzhalter 3"/>
          <p:cNvSpPr>
            <a:spLocks noGrp="1"/>
          </p:cNvSpPr>
          <p:nvPr>
            <p:ph type="sldNum" sz="quarter" idx="5"/>
          </p:nvPr>
        </p:nvSpPr>
        <p:spPr/>
        <p:txBody>
          <a:bodyPr/>
          <a:lstStyle/>
          <a:p>
            <a:pPr>
              <a:defRPr/>
            </a:pPr>
            <a:fld id="{00AFC6D0-44D5-4EB7-828F-6F464F83D79A}" type="slidenum">
              <a:rPr lang="en-GB" smtClean="0"/>
              <a:pPr>
                <a:defRPr/>
              </a:pPr>
              <a:t>45</a:t>
            </a:fld>
            <a:endParaRPr lang="en-GB"/>
          </a:p>
        </p:txBody>
      </p:sp>
    </p:spTree>
    <p:extLst>
      <p:ext uri="{BB962C8B-B14F-4D97-AF65-F5344CB8AC3E}">
        <p14:creationId xmlns:p14="http://schemas.microsoft.com/office/powerpoint/2010/main" val="12529419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A7D32-E8DF-A171-2474-8C22B8D391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A4CBBB-366C-A4AC-DFE6-411D7D8E51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7C268B-E816-5D49-6658-8A1AFA7BD951}"/>
              </a:ext>
            </a:extLst>
          </p:cNvPr>
          <p:cNvSpPr>
            <a:spLocks noGrp="1"/>
          </p:cNvSpPr>
          <p:nvPr>
            <p:ph type="body" idx="1"/>
          </p:nvPr>
        </p:nvSpPr>
        <p:spPr/>
        <p:txBody>
          <a:bodyPr/>
          <a:lstStyle/>
          <a:p>
            <a:r>
              <a:rPr lang="de-DE" dirty="0" err="1"/>
              <a:t>generated</a:t>
            </a:r>
            <a:r>
              <a:rPr lang="de-DE" dirty="0"/>
              <a:t> </a:t>
            </a:r>
            <a:r>
              <a:rPr lang="de-DE" dirty="0" err="1"/>
              <a:t>with</a:t>
            </a:r>
            <a:r>
              <a:rPr lang="de-DE" dirty="0"/>
              <a:t> https://www.the-qrcode-generator.com/</a:t>
            </a:r>
            <a:endParaRPr lang="en-US" dirty="0"/>
          </a:p>
        </p:txBody>
      </p:sp>
      <p:sp>
        <p:nvSpPr>
          <p:cNvPr id="4" name="Slide Number Placeholder 3">
            <a:extLst>
              <a:ext uri="{FF2B5EF4-FFF2-40B4-BE49-F238E27FC236}">
                <a16:creationId xmlns:a16="http://schemas.microsoft.com/office/drawing/2014/main" id="{C6F7F037-8AC6-89C6-C365-3F1FFFADA4FB}"/>
              </a:ext>
            </a:extLst>
          </p:cNvPr>
          <p:cNvSpPr>
            <a:spLocks noGrp="1"/>
          </p:cNvSpPr>
          <p:nvPr>
            <p:ph type="sldNum" sz="quarter" idx="5"/>
          </p:nvPr>
        </p:nvSpPr>
        <p:spPr/>
        <p:txBody>
          <a:bodyPr/>
          <a:lstStyle/>
          <a:p>
            <a:pPr>
              <a:defRPr/>
            </a:pPr>
            <a:fld id="{00AFC6D0-44D5-4EB7-828F-6F464F83D79A}" type="slidenum">
              <a:rPr lang="en-GB" smtClean="0"/>
              <a:pPr>
                <a:defRPr/>
              </a:pPr>
              <a:t>48</a:t>
            </a:fld>
            <a:endParaRPr lang="en-GB"/>
          </a:p>
        </p:txBody>
      </p:sp>
    </p:spTree>
    <p:extLst>
      <p:ext uri="{BB962C8B-B14F-4D97-AF65-F5344CB8AC3E}">
        <p14:creationId xmlns:p14="http://schemas.microsoft.com/office/powerpoint/2010/main" val="368045979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6" name="Foliennummernplatzhalter 5"/>
          <p:cNvSpPr>
            <a:spLocks noGrp="1"/>
          </p:cNvSpPr>
          <p:nvPr>
            <p:ph type="sldNum" sz="quarter" idx="12"/>
          </p:nvPr>
        </p:nvSpPr>
        <p:spPr/>
        <p:txBody>
          <a:bodyPr/>
          <a:lstStyle/>
          <a:p>
            <a:fld id="{CE58CB1E-F828-4F11-99E0-327109AF9DA4}" type="slidenum">
              <a:rPr lang="de-DE" smtClean="0"/>
              <a:pPr/>
              <a:t>‹Nr.›</a:t>
            </a:fld>
            <a:endParaRPr lang="de-DE"/>
          </a:p>
        </p:txBody>
      </p:sp>
      <p:sp>
        <p:nvSpPr>
          <p:cNvPr id="2" name="Titel 1">
            <a:extLst>
              <a:ext uri="{FF2B5EF4-FFF2-40B4-BE49-F238E27FC236}">
                <a16:creationId xmlns:a16="http://schemas.microsoft.com/office/drawing/2014/main" id="{BD65140D-76E0-83F9-AB39-3CACFC15A393}"/>
              </a:ext>
            </a:extLst>
          </p:cNvPr>
          <p:cNvSpPr>
            <a:spLocks noGrp="1"/>
          </p:cNvSpPr>
          <p:nvPr>
            <p:ph type="title" hasCustomPrompt="1"/>
          </p:nvPr>
        </p:nvSpPr>
        <p:spPr>
          <a:xfrm>
            <a:off x="319090" y="897858"/>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3" name="Inhaltsplatzhalter 2">
            <a:extLst>
              <a:ext uri="{FF2B5EF4-FFF2-40B4-BE49-F238E27FC236}">
                <a16:creationId xmlns:a16="http://schemas.microsoft.com/office/drawing/2014/main" id="{34929B2B-2E5F-17DB-9EEC-221FFA57025F}"/>
              </a:ext>
            </a:extLst>
          </p:cNvPr>
          <p:cNvSpPr>
            <a:spLocks noGrp="1"/>
          </p:cNvSpPr>
          <p:nvPr>
            <p:ph idx="10" hasCustomPrompt="1"/>
          </p:nvPr>
        </p:nvSpPr>
        <p:spPr>
          <a:xfrm>
            <a:off x="319088" y="1409897"/>
            <a:ext cx="8508999" cy="16484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rgbClr val="000000"/>
                </a:solidFill>
              </a:defRPr>
            </a:lvl1pPr>
            <a:lvl2pPr>
              <a:defRPr lang="de-DE" noProof="0" dirty="0" smtClean="0"/>
            </a:lvl2pPr>
          </a:lstStyle>
          <a:p>
            <a:pPr lvl="0"/>
            <a:r>
              <a:rPr lang="de-DE" noProof="0" dirty="0"/>
              <a:t>Leon Herrmann</a:t>
            </a:r>
            <a:br>
              <a:rPr lang="de-DE" noProof="0" dirty="0"/>
            </a:br>
            <a:r>
              <a:rPr lang="de-DE" noProof="0" dirty="0"/>
              <a:t>Stefan Kollmannsberger</a:t>
            </a:r>
          </a:p>
          <a:p>
            <a:pPr lvl="0"/>
            <a:r>
              <a:rPr lang="de-DE" noProof="0" dirty="0"/>
              <a:t>Chair </a:t>
            </a:r>
            <a:r>
              <a:rPr lang="de-DE" noProof="0" dirty="0" err="1"/>
              <a:t>of</a:t>
            </a:r>
            <a:r>
              <a:rPr lang="de-DE" noProof="0" dirty="0"/>
              <a:t> Data Science in </a:t>
            </a:r>
            <a:r>
              <a:rPr lang="de-DE" noProof="0" dirty="0" err="1"/>
              <a:t>Civil</a:t>
            </a:r>
            <a:r>
              <a:rPr lang="de-DE" noProof="0" dirty="0"/>
              <a:t> Engineering</a:t>
            </a:r>
          </a:p>
          <a:p>
            <a:pPr lvl="0"/>
            <a:r>
              <a:rPr lang="de-DE" noProof="0" dirty="0"/>
              <a:t>Bauhaus-Universität Weimar</a:t>
            </a:r>
          </a:p>
          <a:p>
            <a:pPr lvl="0"/>
            <a:r>
              <a:rPr lang="de-DE" noProof="0" dirty="0"/>
              <a:t>Weimar, </a:t>
            </a:r>
            <a:r>
              <a:rPr lang="de-DE" noProof="0" dirty="0" err="1"/>
              <a:t>January</a:t>
            </a:r>
            <a:r>
              <a:rPr lang="de-DE" noProof="0" dirty="0"/>
              <a:t> 2025</a:t>
            </a:r>
          </a:p>
        </p:txBody>
      </p:sp>
      <p:pic>
        <p:nvPicPr>
          <p:cNvPr id="4" name="Grafik 8">
            <a:extLst>
              <a:ext uri="{FF2B5EF4-FFF2-40B4-BE49-F238E27FC236}">
                <a16:creationId xmlns:a16="http://schemas.microsoft.com/office/drawing/2014/main" id="{27B3F6EB-B24D-4BE3-A66A-8E1733F18D1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735669" y="1409897"/>
            <a:ext cx="3410935" cy="2281729"/>
          </a:xfrm>
          <a:prstGeom prst="rect">
            <a:avLst/>
          </a:prstGeom>
        </p:spPr>
      </p:pic>
      <p:sp>
        <p:nvSpPr>
          <p:cNvPr id="5" name="Fußzeilenplatzhalter 3">
            <a:extLst>
              <a:ext uri="{FF2B5EF4-FFF2-40B4-BE49-F238E27FC236}">
                <a16:creationId xmlns:a16="http://schemas.microsoft.com/office/drawing/2014/main" id="{91A0C4B9-8D9B-2593-A8B7-34D812F4CF8E}"/>
              </a:ext>
            </a:extLst>
          </p:cNvPr>
          <p:cNvSpPr>
            <a:spLocks noGrp="1"/>
          </p:cNvSpPr>
          <p:nvPr>
            <p:ph type="ftr" sz="quarter" idx="3"/>
          </p:nvPr>
        </p:nvSpPr>
        <p:spPr>
          <a:xfrm>
            <a:off x="317066" y="4853446"/>
            <a:ext cx="7829538" cy="288515"/>
          </a:xfrm>
          <a:prstGeom prst="rect">
            <a:avLst/>
          </a:prstGeom>
        </p:spPr>
        <p:txBody>
          <a:bodyPr vert="horz" lIns="0" tIns="45720" rIns="0" bIns="45720" rtlCol="0" anchor="ctr"/>
          <a:lstStyle>
            <a:lvl1pPr algn="l">
              <a:defRPr sz="1100" i="1">
                <a:solidFill>
                  <a:schemeClr val="accent3"/>
                </a:solidFill>
                <a:latin typeface="Calibri" panose="020F0502020204030204" pitchFamily="34" charset="0"/>
                <a:cs typeface="Calibri" panose="020F0502020204030204" pitchFamily="34" charset="0"/>
              </a:defRPr>
            </a:lvl1pPr>
          </a:lstStyle>
          <a:p>
            <a:r>
              <a:rPr lang="de-DE" dirty="0"/>
              <a:t>Leon Herrmann &amp; Stefan Kollmannsberger || Deep Learning in Computational </a:t>
            </a:r>
            <a:r>
              <a:rPr lang="de-DE" dirty="0" err="1"/>
              <a:t>Mechanics</a:t>
            </a:r>
            <a:r>
              <a:rPr lang="de-DE" dirty="0"/>
              <a:t> || Bauhaus-Universität Weimar</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6" name="Inhaltsplatzhalter 2"/>
          <p:cNvSpPr>
            <a:spLocks noGrp="1"/>
          </p:cNvSpPr>
          <p:nvPr>
            <p:ph idx="10" hasCustomPrompt="1"/>
          </p:nvPr>
        </p:nvSpPr>
        <p:spPr>
          <a:xfrm>
            <a:off x="319088" y="792064"/>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8" name="Foliennummernplatzhalter 7"/>
          <p:cNvSpPr>
            <a:spLocks noGrp="1"/>
          </p:cNvSpPr>
          <p:nvPr>
            <p:ph type="sldNum" sz="quarter" idx="12"/>
          </p:nvPr>
        </p:nvSpPr>
        <p:spPr/>
        <p:txBody>
          <a:bodyPr/>
          <a:lstStyle/>
          <a:p>
            <a:fld id="{CE58CB1E-F828-4F11-99E0-327109AF9DA4}" type="slidenum">
              <a:rPr lang="de-DE" smtClean="0"/>
              <a:pPr/>
              <a:t>‹Nr.›</a:t>
            </a:fld>
            <a:endParaRPr lang="de-DE"/>
          </a:p>
        </p:txBody>
      </p:sp>
      <p:sp>
        <p:nvSpPr>
          <p:cNvPr id="2" name="Titel 1">
            <a:extLst>
              <a:ext uri="{FF2B5EF4-FFF2-40B4-BE49-F238E27FC236}">
                <a16:creationId xmlns:a16="http://schemas.microsoft.com/office/drawing/2014/main" id="{1BF02862-4E3B-7284-1BAC-F7360C38EAAC}"/>
              </a:ext>
            </a:extLst>
          </p:cNvPr>
          <p:cNvSpPr>
            <a:spLocks noGrp="1"/>
          </p:cNvSpPr>
          <p:nvPr>
            <p:ph type="title" hasCustomPrompt="1"/>
          </p:nvPr>
        </p:nvSpPr>
        <p:spPr>
          <a:xfrm>
            <a:off x="311162" y="295691"/>
            <a:ext cx="6923719" cy="392415"/>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3" name="Fußzeilenplatzhalter 3">
            <a:extLst>
              <a:ext uri="{FF2B5EF4-FFF2-40B4-BE49-F238E27FC236}">
                <a16:creationId xmlns:a16="http://schemas.microsoft.com/office/drawing/2014/main" id="{F32AB3F5-5030-A6B8-73EC-ADD617F51C52}"/>
              </a:ext>
            </a:extLst>
          </p:cNvPr>
          <p:cNvSpPr>
            <a:spLocks noGrp="1"/>
          </p:cNvSpPr>
          <p:nvPr>
            <p:ph type="ftr" sz="quarter" idx="3"/>
          </p:nvPr>
        </p:nvSpPr>
        <p:spPr>
          <a:xfrm>
            <a:off x="317066" y="4853446"/>
            <a:ext cx="7829538" cy="288515"/>
          </a:xfrm>
          <a:prstGeom prst="rect">
            <a:avLst/>
          </a:prstGeom>
        </p:spPr>
        <p:txBody>
          <a:bodyPr vert="horz" lIns="0" tIns="45720" rIns="0" bIns="45720" rtlCol="0" anchor="ctr"/>
          <a:lstStyle>
            <a:lvl1pPr algn="l">
              <a:defRPr sz="1100" i="1">
                <a:solidFill>
                  <a:schemeClr val="accent2"/>
                </a:solidFill>
                <a:latin typeface="Calibri" panose="020F0502020204030204" pitchFamily="34" charset="0"/>
                <a:cs typeface="Calibri" panose="020F0502020204030204" pitchFamily="34" charset="0"/>
              </a:defRPr>
            </a:lvl1pPr>
          </a:lstStyle>
          <a:p>
            <a:r>
              <a:rPr lang="de-DE" dirty="0"/>
              <a:t>Leon Herrmann &amp; Stefan Kollmannsberger || Deep Learning in Computational </a:t>
            </a:r>
            <a:r>
              <a:rPr lang="de-DE" dirty="0" err="1"/>
              <a:t>Mechanics</a:t>
            </a:r>
            <a:r>
              <a:rPr lang="de-DE" dirty="0"/>
              <a:t> || Bauhaus-Universität Weimar</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319090" y="825690"/>
            <a:ext cx="8508999" cy="396702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0" name="Titel 1"/>
          <p:cNvSpPr>
            <a:spLocks noGrp="1"/>
          </p:cNvSpPr>
          <p:nvPr>
            <p:ph type="title" hasCustomPrompt="1"/>
          </p:nvPr>
        </p:nvSpPr>
        <p:spPr>
          <a:xfrm>
            <a:off x="311162" y="295691"/>
            <a:ext cx="6929897" cy="392415"/>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‹Nr.›</a:t>
            </a:fld>
            <a:endParaRPr lang="de-DE"/>
          </a:p>
        </p:txBody>
      </p:sp>
      <p:sp>
        <p:nvSpPr>
          <p:cNvPr id="7" name="Fußzeilenplatzhalter 6"/>
          <p:cNvSpPr>
            <a:spLocks noGrp="1"/>
          </p:cNvSpPr>
          <p:nvPr>
            <p:ph type="ftr" sz="quarter" idx="12"/>
          </p:nvPr>
        </p:nvSpPr>
        <p:spPr>
          <a:xfrm>
            <a:off x="311161" y="4854985"/>
            <a:ext cx="7677481" cy="273844"/>
          </a:xfrm>
          <a:prstGeom prst="rect">
            <a:avLst/>
          </a:prstGeom>
        </p:spPr>
        <p:txBody>
          <a:bodyPr/>
          <a:lstStyle/>
          <a:p>
            <a:r>
              <a:rPr lang="de-DE"/>
              <a:t>Leon Herrmann &amp; Stefan Kollmannsberger || Deep Learning in Computational Mechanics || Bauhaus-Universität Weimar</a:t>
            </a:r>
            <a:endParaRPr lang="en-US"/>
          </a:p>
        </p:txBody>
      </p:sp>
    </p:spTree>
    <p:extLst>
      <p:ext uri="{BB962C8B-B14F-4D97-AF65-F5344CB8AC3E}">
        <p14:creationId xmlns:p14="http://schemas.microsoft.com/office/powerpoint/2010/main" val="2183948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9091" y="830734"/>
            <a:ext cx="4180910" cy="394515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3" name="Inhaltsplatzhalter 2"/>
          <p:cNvSpPr>
            <a:spLocks noGrp="1"/>
          </p:cNvSpPr>
          <p:nvPr>
            <p:ph idx="15" hasCustomPrompt="1"/>
          </p:nvPr>
        </p:nvSpPr>
        <p:spPr>
          <a:xfrm>
            <a:off x="4646098" y="830733"/>
            <a:ext cx="4180910" cy="394515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6" name="Foliennummernplatzhalter 5"/>
          <p:cNvSpPr>
            <a:spLocks noGrp="1"/>
          </p:cNvSpPr>
          <p:nvPr>
            <p:ph type="sldNum" sz="quarter" idx="16"/>
          </p:nvPr>
        </p:nvSpPr>
        <p:spPr/>
        <p:txBody>
          <a:bodyPr/>
          <a:lstStyle/>
          <a:p>
            <a:fld id="{CE58CB1E-F828-4F11-99E0-327109AF9DA4}" type="slidenum">
              <a:rPr lang="de-DE" smtClean="0"/>
              <a:pPr/>
              <a:t>‹Nr.›</a:t>
            </a:fld>
            <a:endParaRPr lang="de-DE"/>
          </a:p>
        </p:txBody>
      </p:sp>
      <p:sp>
        <p:nvSpPr>
          <p:cNvPr id="8" name="Fußzeilenplatzhalter 7"/>
          <p:cNvSpPr>
            <a:spLocks noGrp="1"/>
          </p:cNvSpPr>
          <p:nvPr>
            <p:ph type="ftr" sz="quarter" idx="17"/>
          </p:nvPr>
        </p:nvSpPr>
        <p:spPr>
          <a:xfrm>
            <a:off x="311161" y="4854985"/>
            <a:ext cx="7677481" cy="273844"/>
          </a:xfrm>
          <a:prstGeom prst="rect">
            <a:avLst/>
          </a:prstGeom>
        </p:spPr>
        <p:txBody>
          <a:bodyPr/>
          <a:lstStyle/>
          <a:p>
            <a:r>
              <a:rPr lang="de-DE"/>
              <a:t>Leon Herrmann &amp; Stefan Kollmannsberger || Deep Learning in Computational Mechanics || Bauhaus-Universität Weimar</a:t>
            </a:r>
            <a:endParaRPr lang="en-US"/>
          </a:p>
        </p:txBody>
      </p:sp>
      <p:sp>
        <p:nvSpPr>
          <p:cNvPr id="3" name="Titel 1">
            <a:extLst>
              <a:ext uri="{FF2B5EF4-FFF2-40B4-BE49-F238E27FC236}">
                <a16:creationId xmlns:a16="http://schemas.microsoft.com/office/drawing/2014/main" id="{9934D9A1-2F56-E2BD-7FD5-91F02FEDA3EA}"/>
              </a:ext>
            </a:extLst>
          </p:cNvPr>
          <p:cNvSpPr>
            <a:spLocks noGrp="1"/>
          </p:cNvSpPr>
          <p:nvPr>
            <p:ph type="title" hasCustomPrompt="1"/>
          </p:nvPr>
        </p:nvSpPr>
        <p:spPr>
          <a:xfrm>
            <a:off x="311162" y="295691"/>
            <a:ext cx="6929897" cy="392415"/>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lvl1pPr>
          </a:lstStyle>
          <a:p>
            <a:pPr lvl="0"/>
            <a:r>
              <a:rPr lang="de-DE" noProof="0" dirty="0"/>
              <a:t>Titel durch Klicken bearbeiten</a:t>
            </a:r>
          </a:p>
        </p:txBody>
      </p:sp>
    </p:spTree>
    <p:extLst>
      <p:ext uri="{BB962C8B-B14F-4D97-AF65-F5344CB8AC3E}">
        <p14:creationId xmlns:p14="http://schemas.microsoft.com/office/powerpoint/2010/main" val="34629014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i="1" baseline="0">
                <a:solidFill>
                  <a:schemeClr val="bg1">
                    <a:lumMod val="50000"/>
                  </a:schemeClr>
                </a:solidFill>
                <a:latin typeface="Calibri" panose="020F0502020204030204" pitchFamily="34" charset="0"/>
              </a:defRPr>
            </a:lvl1pPr>
          </a:lstStyle>
          <a:p>
            <a:fld id="{CE58CB1E-F828-4F11-99E0-327109AF9DA4}" type="slidenum">
              <a:rPr lang="de-DE" smtClean="0"/>
              <a:pPr/>
              <a:t>‹Nr.›</a:t>
            </a:fld>
            <a:endParaRPr lang="de-DE"/>
          </a:p>
        </p:txBody>
      </p:sp>
      <p:pic>
        <p:nvPicPr>
          <p:cNvPr id="2" name="Picture 2">
            <a:extLst>
              <a:ext uri="{FF2B5EF4-FFF2-40B4-BE49-F238E27FC236}">
                <a16:creationId xmlns:a16="http://schemas.microsoft.com/office/drawing/2014/main" id="{C6F16DC1-48B9-61AF-6619-1AF748CAECEB}"/>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239000" y="0"/>
            <a:ext cx="1905000"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Fußzeilenplatzhalter 3">
            <a:extLst>
              <a:ext uri="{FF2B5EF4-FFF2-40B4-BE49-F238E27FC236}">
                <a16:creationId xmlns:a16="http://schemas.microsoft.com/office/drawing/2014/main" id="{7FA8FA2C-CE6E-FC7B-6B02-EFDDE09EB8A3}"/>
              </a:ext>
            </a:extLst>
          </p:cNvPr>
          <p:cNvSpPr>
            <a:spLocks noGrp="1"/>
          </p:cNvSpPr>
          <p:nvPr>
            <p:ph type="ftr" sz="quarter" idx="3"/>
          </p:nvPr>
        </p:nvSpPr>
        <p:spPr>
          <a:xfrm>
            <a:off x="317066" y="4853446"/>
            <a:ext cx="7829538" cy="288515"/>
          </a:xfrm>
          <a:prstGeom prst="rect">
            <a:avLst/>
          </a:prstGeom>
        </p:spPr>
        <p:txBody>
          <a:bodyPr vert="horz" lIns="0" tIns="45720" rIns="0" bIns="45720" rtlCol="0" anchor="ctr"/>
          <a:lstStyle>
            <a:lvl1pPr algn="l">
              <a:defRPr sz="1100" i="1">
                <a:solidFill>
                  <a:schemeClr val="accent3"/>
                </a:solidFill>
                <a:latin typeface="Calibri" panose="020F0502020204030204" pitchFamily="34" charset="0"/>
                <a:cs typeface="Calibri" panose="020F0502020204030204" pitchFamily="34" charset="0"/>
              </a:defRPr>
            </a:lvl1pPr>
          </a:lstStyle>
          <a:p>
            <a:r>
              <a:rPr lang="de-DE" dirty="0"/>
              <a:t>Leon Herrmann &amp; Stefan Kollmannsberger || Deep Learning in Computational </a:t>
            </a:r>
            <a:r>
              <a:rPr lang="de-DE" dirty="0" err="1"/>
              <a:t>Mechanics</a:t>
            </a:r>
            <a:r>
              <a:rPr lang="de-DE" dirty="0"/>
              <a:t> || Bauhaus-Universität Weimar</a:t>
            </a:r>
            <a:endParaRPr lang="en-US" dirty="0"/>
          </a:p>
        </p:txBody>
      </p:sp>
    </p:spTree>
  </p:cSld>
  <p:clrMap bg1="lt1" tx1="dk1" bg2="lt2" tx2="dk2" accent1="accent1" accent2="accent2" accent3="accent3" accent4="accent4" accent5="accent5" accent6="accent6" hlink="hlink" folHlink="folHlink"/>
  <p:sldLayoutIdLst>
    <p:sldLayoutId id="2147483664" r:id="rId1"/>
  </p:sldLayoutIdLst>
  <p:hf hdr="0" dt="0"/>
  <p:txStyles>
    <p:titleStyle>
      <a:lvl1pPr algn="l" rtl="0" eaLnBrk="1" fontAlgn="base" hangingPunct="1">
        <a:lnSpc>
          <a:spcPct val="125000"/>
        </a:lnSpc>
        <a:spcBef>
          <a:spcPct val="0"/>
        </a:spcBef>
        <a:spcAft>
          <a:spcPct val="0"/>
        </a:spcAft>
        <a:defRPr sz="2200" b="0" kern="1200">
          <a:solidFill>
            <a:schemeClr val="tx1"/>
          </a:solidFill>
          <a:latin typeface="+mj-lt"/>
          <a:ea typeface="+mj-ea"/>
          <a:cs typeface="+mj-cs"/>
        </a:defRPr>
      </a:lvl1pPr>
      <a:lvl2pPr algn="l" rtl="0" eaLnBrk="1" fontAlgn="base" hangingPunct="1">
        <a:spcBef>
          <a:spcPct val="0"/>
        </a:spcBef>
        <a:spcAft>
          <a:spcPct val="0"/>
        </a:spcAft>
        <a:defRPr sz="2000" b="1">
          <a:solidFill>
            <a:schemeClr val="tx2"/>
          </a:solidFill>
          <a:latin typeface="Arial" charset="0"/>
          <a:cs typeface="Arial" charset="0"/>
        </a:defRPr>
      </a:lvl2pPr>
      <a:lvl3pPr algn="l" rtl="0" eaLnBrk="1" fontAlgn="base" hangingPunct="1">
        <a:spcBef>
          <a:spcPct val="0"/>
        </a:spcBef>
        <a:spcAft>
          <a:spcPct val="0"/>
        </a:spcAft>
        <a:defRPr sz="2000" b="1">
          <a:solidFill>
            <a:schemeClr val="tx2"/>
          </a:solidFill>
          <a:latin typeface="Arial" charset="0"/>
          <a:cs typeface="Arial" charset="0"/>
        </a:defRPr>
      </a:lvl3pPr>
      <a:lvl4pPr algn="l" rtl="0" eaLnBrk="1" fontAlgn="base" hangingPunct="1">
        <a:spcBef>
          <a:spcPct val="0"/>
        </a:spcBef>
        <a:spcAft>
          <a:spcPct val="0"/>
        </a:spcAft>
        <a:defRPr sz="2000" b="1">
          <a:solidFill>
            <a:schemeClr val="tx2"/>
          </a:solidFill>
          <a:latin typeface="Arial" charset="0"/>
          <a:cs typeface="Arial" charset="0"/>
        </a:defRPr>
      </a:lvl4pPr>
      <a:lvl5pPr algn="l" rtl="0" eaLnBrk="1" fontAlgn="base" hangingPunct="1">
        <a:spcBef>
          <a:spcPct val="0"/>
        </a:spcBef>
        <a:spcAft>
          <a:spcPct val="0"/>
        </a:spcAft>
        <a:defRPr sz="2000" b="1">
          <a:solidFill>
            <a:schemeClr val="tx2"/>
          </a:solidFill>
          <a:latin typeface="Arial" charset="0"/>
          <a:cs typeface="Arial" charset="0"/>
        </a:defRPr>
      </a:lvl5pPr>
      <a:lvl6pPr marL="457200" algn="l" rtl="0" eaLnBrk="1" fontAlgn="base" hangingPunct="1">
        <a:spcBef>
          <a:spcPct val="0"/>
        </a:spcBef>
        <a:spcAft>
          <a:spcPct val="0"/>
        </a:spcAft>
        <a:defRPr sz="2000" b="1">
          <a:solidFill>
            <a:schemeClr val="tx2"/>
          </a:solidFill>
          <a:latin typeface="Arial" charset="0"/>
          <a:cs typeface="Arial" charset="0"/>
        </a:defRPr>
      </a:lvl6pPr>
      <a:lvl7pPr marL="914400" algn="l" rtl="0" eaLnBrk="1" fontAlgn="base" hangingPunct="1">
        <a:spcBef>
          <a:spcPct val="0"/>
        </a:spcBef>
        <a:spcAft>
          <a:spcPct val="0"/>
        </a:spcAft>
        <a:defRPr sz="2000" b="1">
          <a:solidFill>
            <a:schemeClr val="tx2"/>
          </a:solidFill>
          <a:latin typeface="Arial" charset="0"/>
          <a:cs typeface="Arial" charset="0"/>
        </a:defRPr>
      </a:lvl7pPr>
      <a:lvl8pPr marL="1371600" algn="l" rtl="0" eaLnBrk="1" fontAlgn="base" hangingPunct="1">
        <a:spcBef>
          <a:spcPct val="0"/>
        </a:spcBef>
        <a:spcAft>
          <a:spcPct val="0"/>
        </a:spcAft>
        <a:defRPr sz="2000" b="1">
          <a:solidFill>
            <a:schemeClr val="tx2"/>
          </a:solidFill>
          <a:latin typeface="Arial" charset="0"/>
          <a:cs typeface="Arial" charset="0"/>
        </a:defRPr>
      </a:lvl8pPr>
      <a:lvl9pPr marL="1828800" algn="l" rtl="0" eaLnBrk="1" fontAlgn="base" hangingPunct="1">
        <a:spcBef>
          <a:spcPct val="0"/>
        </a:spcBef>
        <a:spcAft>
          <a:spcPct val="0"/>
        </a:spcAft>
        <a:defRPr sz="2000" b="1">
          <a:solidFill>
            <a:schemeClr val="tx2"/>
          </a:solidFill>
          <a:latin typeface="Arial" charset="0"/>
          <a:cs typeface="Arial" charset="0"/>
        </a:defRPr>
      </a:lvl9pPr>
    </p:titleStyle>
    <p:bodyStyle>
      <a:lvl1pPr algn="l" rtl="0" eaLnBrk="1" fontAlgn="base" hangingPunct="1">
        <a:lnSpc>
          <a:spcPct val="100000"/>
        </a:lnSpc>
        <a:spcBef>
          <a:spcPct val="0"/>
        </a:spcBef>
        <a:spcAft>
          <a:spcPct val="0"/>
        </a:spcAft>
        <a:defRPr sz="1600" kern="120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liennummernplatzhalter 4"/>
          <p:cNvSpPr>
            <a:spLocks noGrp="1"/>
          </p:cNvSpPr>
          <p:nvPr>
            <p:ph type="sldNum" sz="quarter" idx="4"/>
          </p:nvPr>
        </p:nvSpPr>
        <p:spPr>
          <a:xfrm>
            <a:off x="6774934" y="4854985"/>
            <a:ext cx="2052074" cy="273844"/>
          </a:xfrm>
          <a:prstGeom prst="rect">
            <a:avLst/>
          </a:prstGeom>
        </p:spPr>
        <p:txBody>
          <a:bodyPr vert="horz" lIns="0" tIns="45720" rIns="0" bIns="45720" rtlCol="0" anchor="ctr"/>
          <a:lstStyle>
            <a:lvl1pPr algn="r">
              <a:defRPr sz="1100" i="1">
                <a:solidFill>
                  <a:schemeClr val="bg1">
                    <a:lumMod val="50000"/>
                  </a:schemeClr>
                </a:solidFill>
                <a:latin typeface="+mn-lt"/>
              </a:defRPr>
            </a:lvl1pPr>
          </a:lstStyle>
          <a:p>
            <a:fld id="{CE58CB1E-F828-4F11-99E0-327109AF9DA4}" type="slidenum">
              <a:rPr lang="de-DE" smtClean="0"/>
              <a:pPr/>
              <a:t>‹Nr.›</a:t>
            </a:fld>
            <a:endParaRPr lang="de-DE"/>
          </a:p>
        </p:txBody>
      </p:sp>
      <p:sp>
        <p:nvSpPr>
          <p:cNvPr id="2" name="Fußzeilenplatzhalter 3">
            <a:extLst>
              <a:ext uri="{FF2B5EF4-FFF2-40B4-BE49-F238E27FC236}">
                <a16:creationId xmlns:a16="http://schemas.microsoft.com/office/drawing/2014/main" id="{09DE0D4D-F232-F9D5-92BE-5085A4786FE7}"/>
              </a:ext>
            </a:extLst>
          </p:cNvPr>
          <p:cNvSpPr>
            <a:spLocks noGrp="1"/>
          </p:cNvSpPr>
          <p:nvPr>
            <p:ph type="ftr" sz="quarter" idx="3"/>
          </p:nvPr>
        </p:nvSpPr>
        <p:spPr>
          <a:xfrm>
            <a:off x="317066" y="4853446"/>
            <a:ext cx="7829538" cy="288515"/>
          </a:xfrm>
          <a:prstGeom prst="rect">
            <a:avLst/>
          </a:prstGeom>
        </p:spPr>
        <p:txBody>
          <a:bodyPr vert="horz" lIns="0" tIns="45720" rIns="0" bIns="45720" rtlCol="0" anchor="ctr"/>
          <a:lstStyle>
            <a:lvl1pPr algn="l">
              <a:defRPr sz="1100" i="1">
                <a:solidFill>
                  <a:schemeClr val="accent2"/>
                </a:solidFill>
                <a:latin typeface="Calibri" panose="020F0502020204030204" pitchFamily="34" charset="0"/>
                <a:cs typeface="Calibri" panose="020F0502020204030204" pitchFamily="34" charset="0"/>
              </a:defRPr>
            </a:lvl1pPr>
          </a:lstStyle>
          <a:p>
            <a:r>
              <a:rPr lang="de-DE" dirty="0"/>
              <a:t>Leon Herrmann &amp; Stefan Kollmannsberger || Deep Learning in Computational </a:t>
            </a:r>
            <a:r>
              <a:rPr lang="de-DE" dirty="0" err="1"/>
              <a:t>Mechanics</a:t>
            </a:r>
            <a:r>
              <a:rPr lang="de-DE" dirty="0"/>
              <a:t> || Bauhaus-Universität Weimar</a:t>
            </a:r>
            <a:endParaRPr lang="en-US" dirty="0"/>
          </a:p>
        </p:txBody>
      </p:sp>
      <p:pic>
        <p:nvPicPr>
          <p:cNvPr id="4" name="Picture 2">
            <a:extLst>
              <a:ext uri="{FF2B5EF4-FFF2-40B4-BE49-F238E27FC236}">
                <a16:creationId xmlns:a16="http://schemas.microsoft.com/office/drawing/2014/main" id="{F0D34451-0B3E-B783-28FD-DB81814312CC}"/>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7239000" y="0"/>
            <a:ext cx="1905000"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 bg1="lt1" tx1="dk1" bg2="lt2" tx2="dk2" accent1="accent1" accent2="accent2" accent3="accent3" accent4="accent4" accent5="accent5" accent6="accent6" hlink="hlink" folHlink="folHlink"/>
  <p:sldLayoutIdLst>
    <p:sldLayoutId id="2147483662" r:id="rId1"/>
    <p:sldLayoutId id="2147483654" r:id="rId2"/>
    <p:sldLayoutId id="2147483657" r:id="rId3"/>
  </p:sldLayoutIdLst>
  <p:hf hdr="0" dt="0"/>
  <p:txStyles>
    <p:titleStyle>
      <a:lvl1pPr algn="l" rtl="0" eaLnBrk="0" fontAlgn="base" hangingPunct="0">
        <a:lnSpc>
          <a:spcPct val="125000"/>
        </a:lnSpc>
        <a:spcBef>
          <a:spcPct val="0"/>
        </a:spcBef>
        <a:spcAft>
          <a:spcPct val="0"/>
        </a:spcAft>
        <a:defRPr sz="25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3.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comments" Target="../comments/comment1.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32.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10.png"/><Relationship Id="rId7"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34.png"/><Relationship Id="rId5" Type="http://schemas.openxmlformats.org/officeDocument/2006/relationships/image" Target="../media/image28.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38.png"/><Relationship Id="rId5" Type="http://schemas.openxmlformats.org/officeDocument/2006/relationships/image" Target="../media/image39.png"/><Relationship Id="rId4" Type="http://schemas.openxmlformats.org/officeDocument/2006/relationships/image" Target="../media/image340.png"/></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60.png"/><Relationship Id="rId1" Type="http://schemas.openxmlformats.org/officeDocument/2006/relationships/slideLayout" Target="../slideLayouts/slideLayout3.xml"/><Relationship Id="rId4" Type="http://schemas.openxmlformats.org/officeDocument/2006/relationships/comments" Target="../comments/comment2.xml"/></Relationships>
</file>

<file path=ppt/slides/_rels/slide3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52.png"/><Relationship Id="rId4" Type="http://schemas.openxmlformats.org/officeDocument/2006/relationships/image" Target="../media/image51.png"/></Relationships>
</file>

<file path=ppt/slides/_rels/slide3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54.png"/></Relationships>
</file>

<file path=ppt/slides/_rels/slide3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570.png"/><Relationship Id="rId2" Type="http://schemas.openxmlformats.org/officeDocument/2006/relationships/image" Target="../media/image57.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60.png"/><Relationship Id="rId4" Type="http://schemas.openxmlformats.org/officeDocument/2006/relationships/image" Target="../media/image59.png"/></Relationships>
</file>

<file path=ppt/slides/_rels/slide4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62.png"/></Relationships>
</file>

<file path=ppt/slides/_rels/slide4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63.png"/></Relationships>
</file>

<file path=ppt/slides/_rels/slide4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0.xml"/><Relationship Id="rId1" Type="http://schemas.openxmlformats.org/officeDocument/2006/relationships/slideLayout" Target="../slideLayouts/slideLayout3.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57.png"/></Relationships>
</file>

<file path=ppt/slides/_rels/slide4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7.png"/><Relationship Id="rId1" Type="http://schemas.openxmlformats.org/officeDocument/2006/relationships/slideLayout" Target="../slideLayouts/slideLayout3.xml"/><Relationship Id="rId5" Type="http://schemas.openxmlformats.org/officeDocument/2006/relationships/image" Target="../media/image69.png"/><Relationship Id="rId4" Type="http://schemas.openxmlformats.org/officeDocument/2006/relationships/image" Target="../media/image68.png"/></Relationships>
</file>

<file path=ppt/slides/_rels/slide4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0A65D-0E61-B622-79FD-60F6350D0F18}"/>
              </a:ext>
            </a:extLst>
          </p:cNvPr>
          <p:cNvSpPr>
            <a:spLocks noGrp="1"/>
          </p:cNvSpPr>
          <p:nvPr>
            <p:ph type="title"/>
          </p:nvPr>
        </p:nvSpPr>
        <p:spPr/>
        <p:txBody>
          <a:bodyPr/>
          <a:lstStyle/>
          <a:p>
            <a:r>
              <a:rPr lang="de-DE" dirty="0"/>
              <a:t>3 </a:t>
            </a:r>
            <a:r>
              <a:rPr lang="de-DE" dirty="0" err="1"/>
              <a:t>Neural</a:t>
            </a:r>
            <a:r>
              <a:rPr lang="de-DE" dirty="0"/>
              <a:t> Networks: </a:t>
            </a:r>
            <a:r>
              <a:rPr lang="de-DE" dirty="0" err="1"/>
              <a:t>Advanced</a:t>
            </a:r>
            <a:r>
              <a:rPr lang="de-DE" dirty="0"/>
              <a:t> </a:t>
            </a:r>
            <a:r>
              <a:rPr lang="de-DE" dirty="0" err="1"/>
              <a:t>Architectures</a:t>
            </a:r>
            <a:endParaRPr lang="en-DE" dirty="0"/>
          </a:p>
        </p:txBody>
      </p:sp>
      <p:sp>
        <p:nvSpPr>
          <p:cNvPr id="3" name="Content Placeholder 2">
            <a:extLst>
              <a:ext uri="{FF2B5EF4-FFF2-40B4-BE49-F238E27FC236}">
                <a16:creationId xmlns:a16="http://schemas.microsoft.com/office/drawing/2014/main" id="{16CB5194-6178-9C62-BE48-3D27B018A807}"/>
              </a:ext>
            </a:extLst>
          </p:cNvPr>
          <p:cNvSpPr>
            <a:spLocks noGrp="1"/>
          </p:cNvSpPr>
          <p:nvPr>
            <p:ph idx="10"/>
          </p:nvPr>
        </p:nvSpPr>
        <p:spPr>
          <a:xfrm>
            <a:off x="319088" y="1409896"/>
            <a:ext cx="8508999" cy="1611909"/>
          </a:xfrm>
        </p:spPr>
        <p:txBody>
          <a:bodyPr/>
          <a:lstStyle/>
          <a:p>
            <a:r>
              <a:rPr lang="de-DE" dirty="0"/>
              <a:t>Leon Herrmann</a:t>
            </a:r>
          </a:p>
          <a:p>
            <a:r>
              <a:rPr lang="de-DE" dirty="0"/>
              <a:t>Stefan Kollmannsberger </a:t>
            </a:r>
          </a:p>
          <a:p>
            <a:r>
              <a:rPr lang="de-DE" dirty="0"/>
              <a:t>Chair </a:t>
            </a:r>
            <a:r>
              <a:rPr lang="de-DE" dirty="0" err="1"/>
              <a:t>of</a:t>
            </a:r>
            <a:r>
              <a:rPr lang="de-DE" dirty="0"/>
              <a:t> Data Engineering in Construction</a:t>
            </a:r>
          </a:p>
          <a:p>
            <a:r>
              <a:rPr lang="de-DE" dirty="0"/>
              <a:t>Bauhaus-Universität Weimar</a:t>
            </a:r>
          </a:p>
        </p:txBody>
      </p:sp>
      <p:sp>
        <p:nvSpPr>
          <p:cNvPr id="4" name="Footer Placeholder 3">
            <a:extLst>
              <a:ext uri="{FF2B5EF4-FFF2-40B4-BE49-F238E27FC236}">
                <a16:creationId xmlns:a16="http://schemas.microsoft.com/office/drawing/2014/main" id="{6943C629-2187-E133-A069-37D522DC08D5}"/>
              </a:ext>
            </a:extLst>
          </p:cNvPr>
          <p:cNvSpPr>
            <a:spLocks noGrp="1"/>
          </p:cNvSpPr>
          <p:nvPr>
            <p:ph type="ftr" sz="quarter" idx="3"/>
          </p:nvPr>
        </p:nvSpPr>
        <p:spPr/>
        <p:txBody>
          <a:bodyPr/>
          <a:lstStyle/>
          <a:p>
            <a:r>
              <a:rPr lang="de-DE"/>
              <a:t>Leon Herrmann &amp; Stefan Kollmannsberger || Deep Learning in Computational Mechanics || Bauhaus-Universität Weimar</a:t>
            </a:r>
            <a:endParaRPr lang="en-US"/>
          </a:p>
        </p:txBody>
      </p:sp>
      <p:sp>
        <p:nvSpPr>
          <p:cNvPr id="5" name="Slide Number Placeholder 4">
            <a:extLst>
              <a:ext uri="{FF2B5EF4-FFF2-40B4-BE49-F238E27FC236}">
                <a16:creationId xmlns:a16="http://schemas.microsoft.com/office/drawing/2014/main" id="{A5E36A21-D526-1C8E-0295-E4EA34098067}"/>
              </a:ext>
            </a:extLst>
          </p:cNvPr>
          <p:cNvSpPr>
            <a:spLocks noGrp="1"/>
          </p:cNvSpPr>
          <p:nvPr>
            <p:ph type="sldNum" sz="quarter" idx="12"/>
          </p:nvPr>
        </p:nvSpPr>
        <p:spPr/>
        <p:txBody>
          <a:bodyPr/>
          <a:lstStyle/>
          <a:p>
            <a:fld id="{CE58CB1E-F828-4F11-99E0-327109AF9DA4}" type="slidenum">
              <a:rPr lang="de-DE" smtClean="0"/>
              <a:pPr/>
              <a:t>1</a:t>
            </a:fld>
            <a:endParaRPr lang="de-DE"/>
          </a:p>
        </p:txBody>
      </p:sp>
      <p:sp>
        <p:nvSpPr>
          <p:cNvPr id="6" name="TextBox 5">
            <a:extLst>
              <a:ext uri="{FF2B5EF4-FFF2-40B4-BE49-F238E27FC236}">
                <a16:creationId xmlns:a16="http://schemas.microsoft.com/office/drawing/2014/main" id="{6D9CD49C-E1E2-8FC7-4C14-E3A35F0C6DD8}"/>
              </a:ext>
            </a:extLst>
          </p:cNvPr>
          <p:cNvSpPr txBox="1"/>
          <p:nvPr/>
        </p:nvSpPr>
        <p:spPr>
          <a:xfrm>
            <a:off x="317066" y="3260414"/>
            <a:ext cx="4323812" cy="409086"/>
          </a:xfrm>
          <a:prstGeom prst="rect">
            <a:avLst/>
          </a:prstGeom>
          <a:noFill/>
        </p:spPr>
        <p:txBody>
          <a:bodyPr wrap="none" lIns="0" tIns="0" rIns="0" bIns="0" rtlCol="0">
            <a:spAutoFit/>
          </a:bodyPr>
          <a:lstStyle/>
          <a:p>
            <a:pPr>
              <a:lnSpc>
                <a:spcPct val="114000"/>
              </a:lnSpc>
            </a:pPr>
            <a:r>
              <a:rPr lang="da-DK" sz="1200" i="1" dirty="0">
                <a:solidFill>
                  <a:schemeClr val="accent3"/>
                </a:solidFill>
                <a:latin typeface="+mn-lt"/>
              </a:rPr>
              <a:t>Deep Learning in </a:t>
            </a:r>
            <a:r>
              <a:rPr lang="da-DK" sz="1200" i="1" dirty="0" err="1">
                <a:solidFill>
                  <a:schemeClr val="accent3"/>
                </a:solidFill>
                <a:latin typeface="+mn-lt"/>
              </a:rPr>
              <a:t>Computational</a:t>
            </a:r>
            <a:r>
              <a:rPr lang="da-DK" sz="1200" i="1" dirty="0">
                <a:solidFill>
                  <a:schemeClr val="accent3"/>
                </a:solidFill>
                <a:latin typeface="+mn-lt"/>
              </a:rPr>
              <a:t> </a:t>
            </a:r>
            <a:r>
              <a:rPr lang="da-DK" sz="1200" i="1" dirty="0" err="1">
                <a:solidFill>
                  <a:schemeClr val="accent3"/>
                </a:solidFill>
                <a:latin typeface="+mn-lt"/>
              </a:rPr>
              <a:t>Mechanics</a:t>
            </a:r>
            <a:r>
              <a:rPr lang="da-DK" sz="1200" i="1" dirty="0">
                <a:solidFill>
                  <a:schemeClr val="accent3"/>
                </a:solidFill>
                <a:latin typeface="+mn-lt"/>
              </a:rPr>
              <a:t> – an </a:t>
            </a:r>
            <a:r>
              <a:rPr lang="da-DK" sz="1200" i="1" dirty="0" err="1">
                <a:solidFill>
                  <a:schemeClr val="accent3"/>
                </a:solidFill>
                <a:latin typeface="+mn-lt"/>
              </a:rPr>
              <a:t>introductory</a:t>
            </a:r>
            <a:r>
              <a:rPr lang="da-DK" sz="1200" i="1" dirty="0">
                <a:solidFill>
                  <a:schemeClr val="accent3"/>
                </a:solidFill>
                <a:latin typeface="+mn-lt"/>
              </a:rPr>
              <a:t> </a:t>
            </a:r>
            <a:r>
              <a:rPr lang="da-DK" sz="1200" i="1" dirty="0" err="1">
                <a:solidFill>
                  <a:schemeClr val="accent3"/>
                </a:solidFill>
                <a:latin typeface="+mn-lt"/>
              </a:rPr>
              <a:t>course</a:t>
            </a:r>
            <a:r>
              <a:rPr lang="da-DK" sz="1200" i="1" dirty="0">
                <a:solidFill>
                  <a:schemeClr val="accent3"/>
                </a:solidFill>
                <a:latin typeface="+mn-lt"/>
              </a:rPr>
              <a:t>, </a:t>
            </a:r>
            <a:br>
              <a:rPr lang="da-DK" sz="1200" i="1" dirty="0">
                <a:solidFill>
                  <a:schemeClr val="accent3"/>
                </a:solidFill>
                <a:latin typeface="+mn-lt"/>
              </a:rPr>
            </a:br>
            <a:r>
              <a:rPr lang="da-DK" sz="1200" i="1" dirty="0">
                <a:solidFill>
                  <a:schemeClr val="accent3"/>
                </a:solidFill>
                <a:latin typeface="+mn-lt"/>
              </a:rPr>
              <a:t>Herrmann et al. 2025</a:t>
            </a:r>
            <a:endParaRPr lang="en-DE" sz="1200" i="1" dirty="0">
              <a:solidFill>
                <a:schemeClr val="accent3"/>
              </a:solidFill>
              <a:latin typeface="+mn-lt"/>
            </a:endParaRPr>
          </a:p>
        </p:txBody>
      </p:sp>
      <p:sp>
        <p:nvSpPr>
          <p:cNvPr id="9" name="TextBox 8">
            <a:extLst>
              <a:ext uri="{FF2B5EF4-FFF2-40B4-BE49-F238E27FC236}">
                <a16:creationId xmlns:a16="http://schemas.microsoft.com/office/drawing/2014/main" id="{9ABA9749-D655-BA07-D64E-5C6DC1F97426}"/>
              </a:ext>
            </a:extLst>
          </p:cNvPr>
          <p:cNvSpPr txBox="1"/>
          <p:nvPr/>
        </p:nvSpPr>
        <p:spPr>
          <a:xfrm>
            <a:off x="2083540" y="4677893"/>
            <a:ext cx="571054" cy="231602"/>
          </a:xfrm>
          <a:prstGeom prst="rect">
            <a:avLst/>
          </a:prstGeom>
          <a:noFill/>
        </p:spPr>
        <p:txBody>
          <a:bodyPr wrap="none" lIns="0" tIns="0" rIns="0" bIns="0" rtlCol="0">
            <a:spAutoFit/>
          </a:bodyPr>
          <a:lstStyle/>
          <a:p>
            <a:pPr>
              <a:lnSpc>
                <a:spcPct val="114000"/>
              </a:lnSpc>
            </a:pPr>
            <a:r>
              <a:rPr lang="de-DE" sz="1400" dirty="0" err="1">
                <a:latin typeface="+mn-lt"/>
              </a:rPr>
              <a:t>website</a:t>
            </a:r>
            <a:endParaRPr lang="en-US" sz="1400" dirty="0" err="1">
              <a:latin typeface="+mn-lt"/>
            </a:endParaRPr>
          </a:p>
        </p:txBody>
      </p:sp>
      <p:sp>
        <p:nvSpPr>
          <p:cNvPr id="11" name="TextBox 10">
            <a:extLst>
              <a:ext uri="{FF2B5EF4-FFF2-40B4-BE49-F238E27FC236}">
                <a16:creationId xmlns:a16="http://schemas.microsoft.com/office/drawing/2014/main" id="{595983F8-74AB-3ACD-5C64-B100368FD6E5}"/>
              </a:ext>
            </a:extLst>
          </p:cNvPr>
          <p:cNvSpPr txBox="1"/>
          <p:nvPr/>
        </p:nvSpPr>
        <p:spPr>
          <a:xfrm>
            <a:off x="3721316" y="4677893"/>
            <a:ext cx="365485" cy="231602"/>
          </a:xfrm>
          <a:prstGeom prst="rect">
            <a:avLst/>
          </a:prstGeom>
          <a:noFill/>
        </p:spPr>
        <p:txBody>
          <a:bodyPr wrap="none" lIns="0" tIns="0" rIns="0" bIns="0" rtlCol="0">
            <a:spAutoFit/>
          </a:bodyPr>
          <a:lstStyle/>
          <a:p>
            <a:pPr>
              <a:lnSpc>
                <a:spcPct val="114000"/>
              </a:lnSpc>
            </a:pPr>
            <a:r>
              <a:rPr lang="de-DE" sz="1400" dirty="0" err="1">
                <a:latin typeface="+mn-lt"/>
              </a:rPr>
              <a:t>book</a:t>
            </a:r>
            <a:endParaRPr lang="en-US" sz="1400" dirty="0" err="1">
              <a:latin typeface="+mn-lt"/>
            </a:endParaRPr>
          </a:p>
        </p:txBody>
      </p:sp>
      <p:pic>
        <p:nvPicPr>
          <p:cNvPr id="7" name="Picture 6">
            <a:extLst>
              <a:ext uri="{FF2B5EF4-FFF2-40B4-BE49-F238E27FC236}">
                <a16:creationId xmlns:a16="http://schemas.microsoft.com/office/drawing/2014/main" id="{899D0E4F-FC12-E7EF-9112-E42D94704A85}"/>
              </a:ext>
            </a:extLst>
          </p:cNvPr>
          <p:cNvPicPr>
            <a:picLocks noChangeAspect="1"/>
          </p:cNvPicPr>
          <p:nvPr/>
        </p:nvPicPr>
        <p:blipFill>
          <a:blip r:embed="rId3"/>
          <a:srcRect/>
          <a:stretch/>
        </p:blipFill>
        <p:spPr>
          <a:xfrm>
            <a:off x="1739067" y="3472101"/>
            <a:ext cx="1260000" cy="1260000"/>
          </a:xfrm>
          <a:prstGeom prst="rect">
            <a:avLst/>
          </a:prstGeom>
        </p:spPr>
      </p:pic>
      <p:pic>
        <p:nvPicPr>
          <p:cNvPr id="12" name="Picture 11">
            <a:extLst>
              <a:ext uri="{FF2B5EF4-FFF2-40B4-BE49-F238E27FC236}">
                <a16:creationId xmlns:a16="http://schemas.microsoft.com/office/drawing/2014/main" id="{8F5DD999-7359-F470-1D70-B34431C09258}"/>
              </a:ext>
            </a:extLst>
          </p:cNvPr>
          <p:cNvPicPr>
            <a:picLocks noChangeAspect="1"/>
          </p:cNvPicPr>
          <p:nvPr/>
        </p:nvPicPr>
        <p:blipFill>
          <a:blip r:embed="rId4"/>
          <a:srcRect/>
          <a:stretch/>
        </p:blipFill>
        <p:spPr>
          <a:xfrm>
            <a:off x="3274058" y="3472101"/>
            <a:ext cx="1260000" cy="1260000"/>
          </a:xfrm>
          <a:prstGeom prst="rect">
            <a:avLst/>
          </a:prstGeom>
        </p:spPr>
      </p:pic>
    </p:spTree>
    <p:extLst>
      <p:ext uri="{BB962C8B-B14F-4D97-AF65-F5344CB8AC3E}">
        <p14:creationId xmlns:p14="http://schemas.microsoft.com/office/powerpoint/2010/main" val="1289040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B8D2E3-62FA-3ED3-4505-52F53D009CF8}"/>
              </a:ext>
            </a:extLst>
          </p:cNvPr>
          <p:cNvSpPr>
            <a:spLocks noGrp="1"/>
          </p:cNvSpPr>
          <p:nvPr>
            <p:ph idx="1"/>
          </p:nvPr>
        </p:nvSpPr>
        <p:spPr/>
        <p:txBody>
          <a:bodyPr/>
          <a:lstStyle/>
          <a:p>
            <a:pPr marL="285750" indent="-285750">
              <a:buFont typeface="Arial" panose="020B0604020202020204" pitchFamily="34" charset="0"/>
              <a:buChar char="•"/>
            </a:pPr>
            <a:r>
              <a:rPr lang="da-DK" dirty="0">
                <a:solidFill>
                  <a:schemeClr val="bg2"/>
                </a:solidFill>
              </a:rPr>
              <a:t>3.1 </a:t>
            </a:r>
            <a:r>
              <a:rPr lang="da-DK" dirty="0" err="1">
                <a:solidFill>
                  <a:schemeClr val="bg2"/>
                </a:solidFill>
              </a:rPr>
              <a:t>Fully</a:t>
            </a:r>
            <a:r>
              <a:rPr lang="da-DK" dirty="0">
                <a:solidFill>
                  <a:schemeClr val="bg2"/>
                </a:solidFill>
              </a:rPr>
              <a:t> </a:t>
            </a:r>
            <a:r>
              <a:rPr lang="da-DK" dirty="0" err="1">
                <a:solidFill>
                  <a:schemeClr val="bg2"/>
                </a:solidFill>
              </a:rPr>
              <a:t>Connected</a:t>
            </a:r>
            <a:r>
              <a:rPr lang="da-DK" dirty="0">
                <a:solidFill>
                  <a:schemeClr val="bg2"/>
                </a:solidFill>
              </a:rPr>
              <a:t> Neural Network</a:t>
            </a:r>
          </a:p>
          <a:p>
            <a:pPr marL="285750" indent="-285750">
              <a:buFont typeface="Arial" panose="020B0604020202020204" pitchFamily="34" charset="0"/>
              <a:buChar char="•"/>
            </a:pPr>
            <a:r>
              <a:rPr lang="da-DK" dirty="0">
                <a:solidFill>
                  <a:schemeClr val="bg2"/>
                </a:solidFill>
              </a:rPr>
              <a:t>3.2 Forward </a:t>
            </a:r>
            <a:r>
              <a:rPr lang="da-DK" dirty="0" err="1">
                <a:solidFill>
                  <a:schemeClr val="bg2"/>
                </a:solidFill>
              </a:rPr>
              <a:t>Propagation</a:t>
            </a:r>
            <a:endParaRPr lang="da-DK" dirty="0">
              <a:solidFill>
                <a:schemeClr val="bg2"/>
              </a:solidFill>
            </a:endParaRPr>
          </a:p>
          <a:p>
            <a:pPr marL="285750" indent="-285750">
              <a:buFont typeface="Arial" panose="020B0604020202020204" pitchFamily="34" charset="0"/>
              <a:buChar char="•"/>
            </a:pPr>
            <a:r>
              <a:rPr lang="da-DK" dirty="0">
                <a:solidFill>
                  <a:schemeClr val="bg2"/>
                </a:solidFill>
              </a:rPr>
              <a:t>3.3 Differentiation</a:t>
            </a:r>
          </a:p>
          <a:p>
            <a:pPr marL="285750" indent="-285750">
              <a:buFont typeface="Arial" panose="020B0604020202020204" pitchFamily="34" charset="0"/>
              <a:buChar char="•"/>
            </a:pPr>
            <a:r>
              <a:rPr lang="da-DK" dirty="0">
                <a:solidFill>
                  <a:schemeClr val="bg2"/>
                </a:solidFill>
              </a:rPr>
              <a:t>3.4 </a:t>
            </a:r>
            <a:r>
              <a:rPr lang="da-DK" dirty="0" err="1">
                <a:solidFill>
                  <a:schemeClr val="bg2"/>
                </a:solidFill>
              </a:rPr>
              <a:t>Backpropagation</a:t>
            </a:r>
            <a:endParaRPr lang="da-DK" dirty="0">
              <a:solidFill>
                <a:schemeClr val="bg2"/>
              </a:solidFill>
            </a:endParaRPr>
          </a:p>
          <a:p>
            <a:pPr marL="285750" indent="-285750">
              <a:buFont typeface="Arial" panose="020B0604020202020204" pitchFamily="34" charset="0"/>
              <a:buChar char="•"/>
            </a:pPr>
            <a:r>
              <a:rPr lang="da-DK" dirty="0">
                <a:solidFill>
                  <a:schemeClr val="bg2"/>
                </a:solidFill>
              </a:rPr>
              <a:t>3.5 </a:t>
            </a:r>
            <a:r>
              <a:rPr lang="da-DK" dirty="0" err="1">
                <a:solidFill>
                  <a:schemeClr val="bg2"/>
                </a:solidFill>
              </a:rPr>
              <a:t>Activation</a:t>
            </a:r>
            <a:r>
              <a:rPr lang="da-DK" dirty="0">
                <a:solidFill>
                  <a:schemeClr val="bg2"/>
                </a:solidFill>
              </a:rPr>
              <a:t> </a:t>
            </a:r>
            <a:r>
              <a:rPr lang="da-DK" dirty="0" err="1">
                <a:solidFill>
                  <a:schemeClr val="bg2"/>
                </a:solidFill>
              </a:rPr>
              <a:t>Function</a:t>
            </a:r>
            <a:endParaRPr lang="da-DK" dirty="0">
              <a:solidFill>
                <a:schemeClr val="bg2"/>
              </a:solidFill>
            </a:endParaRPr>
          </a:p>
          <a:p>
            <a:pPr marL="285750" indent="-285750">
              <a:buFont typeface="Arial" panose="020B0604020202020204" pitchFamily="34" charset="0"/>
              <a:buChar char="•"/>
            </a:pPr>
            <a:r>
              <a:rPr lang="da-DK" dirty="0">
                <a:solidFill>
                  <a:schemeClr val="bg2"/>
                </a:solidFill>
              </a:rPr>
              <a:t>3.6 Learning </a:t>
            </a:r>
            <a:r>
              <a:rPr lang="da-DK" dirty="0" err="1">
                <a:solidFill>
                  <a:schemeClr val="bg2"/>
                </a:solidFill>
              </a:rPr>
              <a:t>Algorithm</a:t>
            </a:r>
            <a:endParaRPr lang="da-DK" dirty="0">
              <a:solidFill>
                <a:schemeClr val="bg2"/>
              </a:solidFill>
            </a:endParaRPr>
          </a:p>
          <a:p>
            <a:pPr marL="285750" indent="-285750">
              <a:buFont typeface="Arial" panose="020B0604020202020204" pitchFamily="34" charset="0"/>
              <a:buChar char="•"/>
            </a:pPr>
            <a:r>
              <a:rPr lang="da-DK" dirty="0">
                <a:solidFill>
                  <a:schemeClr val="bg2"/>
                </a:solidFill>
              </a:rPr>
              <a:t>3.7 </a:t>
            </a:r>
            <a:r>
              <a:rPr lang="da-DK" dirty="0" err="1">
                <a:solidFill>
                  <a:schemeClr val="bg2"/>
                </a:solidFill>
              </a:rPr>
              <a:t>Regularization</a:t>
            </a:r>
            <a:r>
              <a:rPr lang="da-DK" dirty="0">
                <a:solidFill>
                  <a:schemeClr val="bg2"/>
                </a:solidFill>
              </a:rPr>
              <a:t> of Neural Networks</a:t>
            </a:r>
          </a:p>
          <a:p>
            <a:pPr marL="285750" indent="-285750">
              <a:buFont typeface="Arial" panose="020B0604020202020204" pitchFamily="34" charset="0"/>
              <a:buChar char="•"/>
            </a:pPr>
            <a:r>
              <a:rPr lang="da-DK" dirty="0"/>
              <a:t>3.8 </a:t>
            </a:r>
            <a:r>
              <a:rPr lang="da-DK" dirty="0" err="1"/>
              <a:t>Approximating</a:t>
            </a:r>
            <a:r>
              <a:rPr lang="da-DK" dirty="0"/>
              <a:t> the Sine </a:t>
            </a:r>
            <a:r>
              <a:rPr lang="da-DK" dirty="0" err="1"/>
              <a:t>Function</a:t>
            </a:r>
            <a:endParaRPr lang="da-DK" dirty="0"/>
          </a:p>
          <a:p>
            <a:pPr marL="285750" indent="-285750">
              <a:buFont typeface="Arial" panose="020B0604020202020204" pitchFamily="34" charset="0"/>
              <a:buChar char="•"/>
            </a:pPr>
            <a:r>
              <a:rPr lang="da-DK" dirty="0"/>
              <a:t>3.9.1 </a:t>
            </a:r>
            <a:r>
              <a:rPr lang="da-DK" dirty="0" err="1"/>
              <a:t>Convolutional</a:t>
            </a:r>
            <a:r>
              <a:rPr lang="da-DK" dirty="0"/>
              <a:t> Neural Networks</a:t>
            </a:r>
          </a:p>
          <a:p>
            <a:pPr marL="285750" indent="-285750">
              <a:buFont typeface="Arial" panose="020B0604020202020204" pitchFamily="34" charset="0"/>
              <a:buChar char="•"/>
            </a:pPr>
            <a:r>
              <a:rPr lang="da-DK" dirty="0"/>
              <a:t>3.9.2 Graph Neural Networks</a:t>
            </a:r>
          </a:p>
          <a:p>
            <a:pPr marL="285750" indent="-285750">
              <a:buFont typeface="Arial" panose="020B0604020202020204" pitchFamily="34" charset="0"/>
              <a:buChar char="•"/>
            </a:pPr>
            <a:r>
              <a:rPr lang="da-DK" dirty="0"/>
              <a:t>3.9.6 </a:t>
            </a:r>
            <a:r>
              <a:rPr lang="da-DK" dirty="0" err="1"/>
              <a:t>Recurrent</a:t>
            </a:r>
            <a:r>
              <a:rPr lang="da-DK" dirty="0"/>
              <a:t> Neural Networks</a:t>
            </a:r>
          </a:p>
          <a:p>
            <a:pPr marL="285750" indent="-285750">
              <a:buFont typeface="Arial" panose="020B0604020202020204" pitchFamily="34" charset="0"/>
              <a:buChar char="•"/>
            </a:pPr>
            <a:r>
              <a:rPr lang="da-DK" dirty="0"/>
              <a:t>3.9.8 </a:t>
            </a:r>
            <a:r>
              <a:rPr lang="da-DK" dirty="0" err="1"/>
              <a:t>Physics-Inspired</a:t>
            </a:r>
            <a:r>
              <a:rPr lang="da-DK" dirty="0"/>
              <a:t> Architectures for Dynamics (</a:t>
            </a:r>
            <a:r>
              <a:rPr lang="da-DK" dirty="0" err="1"/>
              <a:t>Hamiltonian</a:t>
            </a:r>
            <a:r>
              <a:rPr lang="da-DK" dirty="0"/>
              <a:t> &amp; </a:t>
            </a:r>
            <a:r>
              <a:rPr lang="da-DK" dirty="0" err="1"/>
              <a:t>Lagrangian</a:t>
            </a:r>
            <a:r>
              <a:rPr lang="da-DK" dirty="0"/>
              <a:t> Neural Networks)</a:t>
            </a:r>
          </a:p>
          <a:p>
            <a:pPr marL="285750" indent="-285750">
              <a:buFont typeface="Arial" panose="020B0604020202020204" pitchFamily="34" charset="0"/>
              <a:buChar char="•"/>
            </a:pPr>
            <a:r>
              <a:rPr lang="da-DK" dirty="0">
                <a:solidFill>
                  <a:schemeClr val="bg2"/>
                </a:solidFill>
              </a:rPr>
              <a:t>4 </a:t>
            </a:r>
            <a:r>
              <a:rPr lang="da-DK" dirty="0" err="1">
                <a:solidFill>
                  <a:schemeClr val="bg2"/>
                </a:solidFill>
              </a:rPr>
              <a:t>Introduction</a:t>
            </a:r>
            <a:r>
              <a:rPr lang="da-DK" dirty="0">
                <a:solidFill>
                  <a:schemeClr val="bg2"/>
                </a:solidFill>
              </a:rPr>
              <a:t> to </a:t>
            </a:r>
            <a:r>
              <a:rPr lang="da-DK" dirty="0" err="1">
                <a:solidFill>
                  <a:schemeClr val="bg2"/>
                </a:solidFill>
              </a:rPr>
              <a:t>Physics-Informed</a:t>
            </a:r>
            <a:r>
              <a:rPr lang="da-DK" dirty="0">
                <a:solidFill>
                  <a:schemeClr val="bg2"/>
                </a:solidFill>
              </a:rPr>
              <a:t> Neural Networks</a:t>
            </a:r>
          </a:p>
        </p:txBody>
      </p:sp>
      <p:sp>
        <p:nvSpPr>
          <p:cNvPr id="3" name="Title 2">
            <a:extLst>
              <a:ext uri="{FF2B5EF4-FFF2-40B4-BE49-F238E27FC236}">
                <a16:creationId xmlns:a16="http://schemas.microsoft.com/office/drawing/2014/main" id="{DFBF6F85-170B-A30E-33B7-C2E6A5DD75DD}"/>
              </a:ext>
            </a:extLst>
          </p:cNvPr>
          <p:cNvSpPr>
            <a:spLocks noGrp="1"/>
          </p:cNvSpPr>
          <p:nvPr>
            <p:ph type="title"/>
          </p:nvPr>
        </p:nvSpPr>
        <p:spPr/>
        <p:txBody>
          <a:bodyPr/>
          <a:lstStyle/>
          <a:p>
            <a:r>
              <a:rPr lang="da-DK"/>
              <a:t>Contents</a:t>
            </a:r>
            <a:endParaRPr lang="en-DE"/>
          </a:p>
        </p:txBody>
      </p:sp>
      <p:sp>
        <p:nvSpPr>
          <p:cNvPr id="4" name="Slide Number Placeholder 3">
            <a:extLst>
              <a:ext uri="{FF2B5EF4-FFF2-40B4-BE49-F238E27FC236}">
                <a16:creationId xmlns:a16="http://schemas.microsoft.com/office/drawing/2014/main" id="{67DAA654-E2B3-96C9-445E-07E4B5ABC450}"/>
              </a:ext>
            </a:extLst>
          </p:cNvPr>
          <p:cNvSpPr>
            <a:spLocks noGrp="1"/>
          </p:cNvSpPr>
          <p:nvPr>
            <p:ph type="sldNum" sz="quarter" idx="11"/>
          </p:nvPr>
        </p:nvSpPr>
        <p:spPr/>
        <p:txBody>
          <a:bodyPr/>
          <a:lstStyle/>
          <a:p>
            <a:fld id="{CE58CB1E-F828-4F11-99E0-327109AF9DA4}" type="slidenum">
              <a:rPr lang="de-DE" smtClean="0"/>
              <a:pPr/>
              <a:t>2</a:t>
            </a:fld>
            <a:endParaRPr lang="de-DE"/>
          </a:p>
        </p:txBody>
      </p:sp>
      <p:sp>
        <p:nvSpPr>
          <p:cNvPr id="5" name="Footer Placeholder 4">
            <a:extLst>
              <a:ext uri="{FF2B5EF4-FFF2-40B4-BE49-F238E27FC236}">
                <a16:creationId xmlns:a16="http://schemas.microsoft.com/office/drawing/2014/main" id="{530B75BC-0336-09DB-12FD-989D41FC2141}"/>
              </a:ext>
            </a:extLst>
          </p:cNvPr>
          <p:cNvSpPr>
            <a:spLocks noGrp="1"/>
          </p:cNvSpPr>
          <p:nvPr>
            <p:ph type="ftr" sz="quarter" idx="12"/>
          </p:nvPr>
        </p:nvSpPr>
        <p:spPr/>
        <p:txBody>
          <a:bodyPr/>
          <a:lstStyle/>
          <a:p>
            <a:r>
              <a:rPr lang="de-DE"/>
              <a:t>Leon Herrmann &amp; Stefan Kollmannsberger || Deep Learning in Computational </a:t>
            </a:r>
            <a:r>
              <a:rPr lang="de-DE" err="1"/>
              <a:t>Mechanics</a:t>
            </a:r>
            <a:r>
              <a:rPr lang="de-DE"/>
              <a:t> || Bauhaus-Universität Weimar</a:t>
            </a:r>
            <a:endParaRPr lang="en-US"/>
          </a:p>
        </p:txBody>
      </p:sp>
    </p:spTree>
    <p:extLst>
      <p:ext uri="{BB962C8B-B14F-4D97-AF65-F5344CB8AC3E}">
        <p14:creationId xmlns:p14="http://schemas.microsoft.com/office/powerpoint/2010/main" val="864131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F1E3A54C-1F6E-6F30-EF13-A4083A0AEE67}"/>
                  </a:ext>
                </a:extLst>
              </p:cNvPr>
              <p:cNvSpPr>
                <a:spLocks noGrp="1"/>
              </p:cNvSpPr>
              <p:nvPr>
                <p:ph idx="1"/>
              </p:nvPr>
            </p:nvSpPr>
            <p:spPr/>
            <p:txBody>
              <a:bodyPr/>
              <a:lstStyle/>
              <a:p>
                <a:r>
                  <a:rPr lang="de-DE" dirty="0"/>
                  <a:t>Goal </a:t>
                </a:r>
                <a:r>
                  <a:rPr lang="de-DE" dirty="0" err="1"/>
                  <a:t>is</a:t>
                </a:r>
                <a:r>
                  <a:rPr lang="de-DE" dirty="0"/>
                  <a:t> </a:t>
                </a:r>
                <a:r>
                  <a:rPr lang="de-DE" dirty="0" err="1"/>
                  <a:t>to</a:t>
                </a:r>
                <a:r>
                  <a:rPr lang="de-DE" dirty="0"/>
                  <a:t> </a:t>
                </a:r>
                <a:r>
                  <a:rPr lang="de-DE" dirty="0" err="1"/>
                  <a:t>approximate</a:t>
                </a:r>
                <a:r>
                  <a:rPr lang="de-DE" dirty="0"/>
                  <a:t> </a:t>
                </a:r>
              </a:p>
              <a:p>
                <a:pP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𝑓</m:t>
                      </m:r>
                      <m:d>
                        <m:dPr>
                          <m:ctrlPr>
                            <a:rPr lang="de-DE" b="0" i="1" smtClean="0">
                              <a:latin typeface="Cambria Math" panose="02040503050406030204" pitchFamily="18" charset="0"/>
                            </a:rPr>
                          </m:ctrlPr>
                        </m:dPr>
                        <m:e>
                          <m:r>
                            <a:rPr lang="de-DE" b="0" i="1" smtClean="0">
                              <a:latin typeface="Cambria Math" panose="02040503050406030204" pitchFamily="18" charset="0"/>
                            </a:rPr>
                            <m:t>𝑥</m:t>
                          </m:r>
                        </m:e>
                      </m:d>
                      <m:r>
                        <a:rPr lang="de-DE" b="0" i="1" smtClean="0">
                          <a:latin typeface="Cambria Math" panose="02040503050406030204" pitchFamily="18" charset="0"/>
                        </a:rPr>
                        <m:t>=</m:t>
                      </m:r>
                      <m:r>
                        <m:rPr>
                          <m:sty m:val="p"/>
                        </m:rPr>
                        <a:rPr lang="de-DE" b="0" i="1" smtClean="0">
                          <a:latin typeface="Cambria Math" panose="02040503050406030204" pitchFamily="18" charset="0"/>
                        </a:rPr>
                        <m:t>sin</m:t>
                      </m:r>
                      <m:d>
                        <m:dPr>
                          <m:ctrlPr>
                            <a:rPr lang="de-DE" b="0" i="1" smtClean="0">
                              <a:latin typeface="Cambria Math" panose="02040503050406030204" pitchFamily="18" charset="0"/>
                            </a:rPr>
                          </m:ctrlPr>
                        </m:dPr>
                        <m:e>
                          <m:r>
                            <a:rPr lang="de-DE" b="0" i="1" smtClean="0">
                              <a:latin typeface="Cambria Math" panose="02040503050406030204" pitchFamily="18" charset="0"/>
                            </a:rPr>
                            <m:t>2</m:t>
                          </m:r>
                          <m:r>
                            <a:rPr lang="de-DE" b="0" i="1" smtClean="0">
                              <a:latin typeface="Cambria Math" panose="02040503050406030204" pitchFamily="18" charset="0"/>
                            </a:rPr>
                            <m:t>𝜋</m:t>
                          </m:r>
                          <m:r>
                            <a:rPr lang="de-DE" b="0" i="1" smtClean="0">
                              <a:latin typeface="Cambria Math" panose="02040503050406030204" pitchFamily="18" charset="0"/>
                            </a:rPr>
                            <m:t>𝑥</m:t>
                          </m:r>
                        </m:e>
                      </m:d>
                      <m:r>
                        <a:rPr lang="de-DE" b="0" i="1" smtClean="0">
                          <a:latin typeface="Cambria Math" panose="02040503050406030204" pitchFamily="18" charset="0"/>
                        </a:rPr>
                        <m:t>, </m:t>
                      </m:r>
                      <m:r>
                        <a:rPr lang="de-DE" b="0" i="1" smtClean="0">
                          <a:latin typeface="Cambria Math" panose="02040503050406030204" pitchFamily="18" charset="0"/>
                        </a:rPr>
                        <m:t>𝑥</m:t>
                      </m:r>
                      <m:r>
                        <a:rPr lang="de-DE" b="0" i="1" smtClean="0">
                          <a:latin typeface="Cambria Math" panose="02040503050406030204" pitchFamily="18" charset="0"/>
                        </a:rPr>
                        <m:t>∈</m:t>
                      </m:r>
                      <m:d>
                        <m:dPr>
                          <m:begChr m:val="["/>
                          <m:endChr m:val="]"/>
                          <m:ctrlPr>
                            <a:rPr lang="de-DE" b="0" i="1" smtClean="0">
                              <a:latin typeface="Cambria Math" panose="02040503050406030204" pitchFamily="18" charset="0"/>
                            </a:rPr>
                          </m:ctrlPr>
                        </m:dPr>
                        <m:e>
                          <m:r>
                            <a:rPr lang="de-DE" b="0" i="1" smtClean="0">
                              <a:latin typeface="Cambria Math" panose="02040503050406030204" pitchFamily="18" charset="0"/>
                            </a:rPr>
                            <m:t>−1, 1</m:t>
                          </m:r>
                        </m:e>
                      </m:d>
                    </m:oMath>
                  </m:oMathPara>
                </a14:m>
                <a:endParaRPr lang="de-DE" b="0" dirty="0"/>
              </a:p>
              <a:p>
                <a:r>
                  <a:rPr lang="de-DE" dirty="0" err="1"/>
                  <a:t>Neural</a:t>
                </a:r>
                <a:r>
                  <a:rPr lang="de-DE" dirty="0"/>
                  <a:t> network </a:t>
                </a:r>
                <a:r>
                  <a:rPr lang="de-DE" dirty="0" err="1"/>
                  <a:t>architecture</a:t>
                </a:r>
                <a:endParaRPr lang="de-DE" dirty="0"/>
              </a:p>
              <a:p>
                <a:pPr marL="285750" indent="-285750">
                  <a:buFont typeface="Arial" panose="020B0604020202020204" pitchFamily="34" charset="0"/>
                  <a:buChar char="•"/>
                </a:pPr>
                <a:r>
                  <a:rPr lang="de-DE" dirty="0"/>
                  <a:t>2 </a:t>
                </a:r>
                <a:r>
                  <a:rPr lang="de-DE" dirty="0" err="1"/>
                  <a:t>hidden</a:t>
                </a:r>
                <a:r>
                  <a:rPr lang="de-DE" dirty="0"/>
                  <a:t> </a:t>
                </a:r>
                <a:r>
                  <a:rPr lang="de-DE" dirty="0" err="1"/>
                  <a:t>layers</a:t>
                </a:r>
                <a:endParaRPr lang="de-DE" dirty="0"/>
              </a:p>
              <a:p>
                <a:pPr marL="285750" indent="-285750">
                  <a:buFont typeface="Arial" panose="020B0604020202020204" pitchFamily="34" charset="0"/>
                  <a:buChar char="•"/>
                </a:pPr>
                <a:r>
                  <a:rPr lang="de-DE" dirty="0"/>
                  <a:t>50 </a:t>
                </a:r>
                <a:r>
                  <a:rPr lang="de-DE" dirty="0" err="1"/>
                  <a:t>neurons</a:t>
                </a:r>
                <a:r>
                  <a:rPr lang="de-DE" dirty="0"/>
                  <a:t> </a:t>
                </a:r>
                <a:r>
                  <a:rPr lang="de-DE" dirty="0" err="1"/>
                  <a:t>each</a:t>
                </a:r>
                <a:endParaRPr lang="de-DE" dirty="0"/>
              </a:p>
              <a:p>
                <a:pPr marL="285750" indent="-285750">
                  <a:buFont typeface="Arial" panose="020B0604020202020204" pitchFamily="34" charset="0"/>
                  <a:buChar char="•"/>
                </a:pPr>
                <a:r>
                  <a:rPr lang="de-DE" dirty="0" err="1"/>
                  <a:t>Activation</a:t>
                </a:r>
                <a:r>
                  <a:rPr lang="de-DE" dirty="0"/>
                  <a:t> </a:t>
                </a:r>
                <a:r>
                  <a:rPr lang="de-DE" dirty="0" err="1"/>
                  <a:t>function</a:t>
                </a:r>
                <a:r>
                  <a:rPr lang="de-DE" dirty="0"/>
                  <a:t> </a:t>
                </a:r>
                <a14:m>
                  <m:oMath xmlns:m="http://schemas.openxmlformats.org/officeDocument/2006/math">
                    <m:r>
                      <a:rPr lang="de-DE" b="0" i="1" smtClean="0">
                        <a:latin typeface="Cambria Math" panose="02040503050406030204" pitchFamily="18" charset="0"/>
                      </a:rPr>
                      <m:t>𝜎</m:t>
                    </m:r>
                    <m:d>
                      <m:dPr>
                        <m:ctrlPr>
                          <a:rPr lang="de-DE" b="0" i="1" smtClean="0">
                            <a:latin typeface="Cambria Math" panose="02040503050406030204" pitchFamily="18" charset="0"/>
                          </a:rPr>
                        </m:ctrlPr>
                      </m:dPr>
                      <m:e>
                        <m:sSub>
                          <m:sSubPr>
                            <m:ctrlPr>
                              <a:rPr lang="de-DE" b="0" i="1" smtClean="0">
                                <a:latin typeface="Cambria Math" panose="02040503050406030204" pitchFamily="18" charset="0"/>
                              </a:rPr>
                            </m:ctrlPr>
                          </m:sSubPr>
                          <m:e>
                            <m:r>
                              <a:rPr lang="de-DE" b="0" i="1" smtClean="0">
                                <a:latin typeface="Cambria Math" panose="02040503050406030204" pitchFamily="18" charset="0"/>
                              </a:rPr>
                              <m:t>𝑧</m:t>
                            </m:r>
                          </m:e>
                          <m:sub>
                            <m:r>
                              <a:rPr lang="de-DE" b="0" i="1" smtClean="0">
                                <a:latin typeface="Cambria Math" panose="02040503050406030204" pitchFamily="18" charset="0"/>
                              </a:rPr>
                              <m:t>𝑖</m:t>
                            </m:r>
                          </m:sub>
                        </m:sSub>
                      </m:e>
                    </m:d>
                    <m:r>
                      <a:rPr lang="de-DE" b="0" i="1" smtClean="0">
                        <a:latin typeface="Cambria Math" panose="02040503050406030204" pitchFamily="18" charset="0"/>
                      </a:rPr>
                      <m:t>=</m:t>
                    </m:r>
                    <m:r>
                      <m:rPr>
                        <m:sty m:val="p"/>
                      </m:rPr>
                      <a:rPr lang="de-DE" b="0" i="1" smtClean="0">
                        <a:latin typeface="Cambria Math" panose="02040503050406030204" pitchFamily="18" charset="0"/>
                      </a:rPr>
                      <m:t>tanh</m:t>
                    </m:r>
                    <m:r>
                      <a:rPr lang="de-DE" b="0" i="1" smtClean="0">
                        <a:latin typeface="Cambria Math" panose="02040503050406030204" pitchFamily="18" charset="0"/>
                      </a:rPr>
                      <m:t>(</m:t>
                    </m:r>
                    <m:sSub>
                      <m:sSubPr>
                        <m:ctrlPr>
                          <a:rPr lang="de-DE" b="0" i="1" smtClean="0">
                            <a:latin typeface="Cambria Math" panose="02040503050406030204" pitchFamily="18" charset="0"/>
                          </a:rPr>
                        </m:ctrlPr>
                      </m:sSubPr>
                      <m:e>
                        <m:r>
                          <a:rPr lang="de-DE" b="0" i="1" smtClean="0">
                            <a:latin typeface="Cambria Math" panose="02040503050406030204" pitchFamily="18" charset="0"/>
                          </a:rPr>
                          <m:t>𝑧</m:t>
                        </m:r>
                      </m:e>
                      <m:sub>
                        <m:r>
                          <a:rPr lang="de-DE" b="0" i="1" smtClean="0">
                            <a:latin typeface="Cambria Math" panose="02040503050406030204" pitchFamily="18" charset="0"/>
                          </a:rPr>
                          <m:t>𝑖</m:t>
                        </m:r>
                      </m:sub>
                    </m:sSub>
                    <m:r>
                      <a:rPr lang="de-DE" b="0" i="1" smtClean="0">
                        <a:latin typeface="Cambria Math" panose="02040503050406030204" pitchFamily="18" charset="0"/>
                      </a:rPr>
                      <m:t>)</m:t>
                    </m:r>
                  </m:oMath>
                </a14:m>
                <a:endParaRPr lang="de-DE" dirty="0"/>
              </a:p>
              <a:p>
                <a:pPr marL="285750" indent="-285750">
                  <a:buFont typeface="Arial" panose="020B0604020202020204" pitchFamily="34" charset="0"/>
                  <a:buChar char="•"/>
                </a:pPr>
                <a14:m>
                  <m:oMath xmlns:m="http://schemas.openxmlformats.org/officeDocument/2006/math">
                    <m:sSub>
                      <m:sSubPr>
                        <m:ctrlPr>
                          <a:rPr lang="de-DE" b="0" i="1" smtClean="0">
                            <a:latin typeface="Cambria Math" panose="02040503050406030204" pitchFamily="18" charset="0"/>
                          </a:rPr>
                        </m:ctrlPr>
                      </m:sSubPr>
                      <m:e>
                        <m:r>
                          <a:rPr lang="de-DE" b="0" i="1" smtClean="0">
                            <a:latin typeface="Cambria Math" panose="02040503050406030204" pitchFamily="18" charset="0"/>
                          </a:rPr>
                          <m:t>𝑓</m:t>
                        </m:r>
                      </m:e>
                      <m:sub>
                        <m:r>
                          <a:rPr lang="de-DE" b="0" i="1" smtClean="0">
                            <a:latin typeface="Cambria Math" panose="02040503050406030204" pitchFamily="18" charset="0"/>
                          </a:rPr>
                          <m:t>𝑁𝑁</m:t>
                        </m:r>
                      </m:sub>
                    </m:sSub>
                    <m:r>
                      <a:rPr lang="de-DE" b="0" i="1" smtClean="0">
                        <a:latin typeface="Cambria Math" panose="02040503050406030204" pitchFamily="18" charset="0"/>
                      </a:rPr>
                      <m:t>=</m:t>
                    </m:r>
                    <m:sSubSup>
                      <m:sSubSupPr>
                        <m:ctrlPr>
                          <a:rPr lang="de-DE" b="0" i="1" smtClean="0">
                            <a:latin typeface="Cambria Math" panose="02040503050406030204" pitchFamily="18" charset="0"/>
                          </a:rPr>
                        </m:ctrlPr>
                      </m:sSubSupPr>
                      <m:e>
                        <m:r>
                          <a:rPr lang="de-DE" b="0" i="1" smtClean="0">
                            <a:latin typeface="Cambria Math" panose="02040503050406030204" pitchFamily="18" charset="0"/>
                          </a:rPr>
                          <m:t>𝑤</m:t>
                        </m:r>
                      </m:e>
                      <m:sub>
                        <m:r>
                          <a:rPr lang="de-DE" b="0" i="1" smtClean="0">
                            <a:latin typeface="Cambria Math" panose="02040503050406030204" pitchFamily="18" charset="0"/>
                          </a:rPr>
                          <m:t>3</m:t>
                        </m:r>
                      </m:sub>
                      <m:sup>
                        <m:r>
                          <a:rPr lang="de-DE" b="0" i="1" smtClean="0">
                            <a:latin typeface="Cambria Math" panose="02040503050406030204" pitchFamily="18" charset="0"/>
                          </a:rPr>
                          <m:t>𝑇</m:t>
                        </m:r>
                      </m:sup>
                    </m:sSubSup>
                    <m:r>
                      <a:rPr lang="de-DE" b="0" i="1" smtClean="0">
                        <a:latin typeface="Cambria Math" panose="02040503050406030204" pitchFamily="18" charset="0"/>
                      </a:rPr>
                      <m:t>𝜎</m:t>
                    </m:r>
                    <m:d>
                      <m:dPr>
                        <m:ctrlPr>
                          <a:rPr lang="de-DE" b="0" i="1" smtClean="0">
                            <a:latin typeface="Cambria Math" panose="02040503050406030204" pitchFamily="18" charset="0"/>
                          </a:rPr>
                        </m:ctrlPr>
                      </m:dPr>
                      <m:e>
                        <m:sSub>
                          <m:sSubPr>
                            <m:ctrlPr>
                              <a:rPr lang="de-DE" b="0" i="1" smtClean="0">
                                <a:latin typeface="Cambria Math" panose="02040503050406030204" pitchFamily="18" charset="0"/>
                              </a:rPr>
                            </m:ctrlPr>
                          </m:sSubPr>
                          <m:e>
                            <m:r>
                              <a:rPr lang="de-DE" b="0" i="1" smtClean="0">
                                <a:latin typeface="Cambria Math" panose="02040503050406030204" pitchFamily="18" charset="0"/>
                              </a:rPr>
                              <m:t>𝑊</m:t>
                            </m:r>
                          </m:e>
                          <m:sub>
                            <m:r>
                              <a:rPr lang="de-DE" b="0" i="1" smtClean="0">
                                <a:latin typeface="Cambria Math" panose="02040503050406030204" pitchFamily="18" charset="0"/>
                              </a:rPr>
                              <m:t>2</m:t>
                            </m:r>
                          </m:sub>
                        </m:sSub>
                        <m:d>
                          <m:dPr>
                            <m:ctrlPr>
                              <a:rPr lang="de-DE" b="0" i="1" smtClean="0">
                                <a:latin typeface="Cambria Math" panose="02040503050406030204" pitchFamily="18" charset="0"/>
                              </a:rPr>
                            </m:ctrlPr>
                          </m:dPr>
                          <m:e>
                            <m:r>
                              <a:rPr lang="de-DE" b="0" i="1" smtClean="0">
                                <a:latin typeface="Cambria Math" panose="02040503050406030204" pitchFamily="18" charset="0"/>
                              </a:rPr>
                              <m:t>𝜎</m:t>
                            </m:r>
                            <m:d>
                              <m:dPr>
                                <m:ctrlPr>
                                  <a:rPr lang="de-DE" b="0" i="1" smtClean="0">
                                    <a:latin typeface="Cambria Math" panose="02040503050406030204" pitchFamily="18" charset="0"/>
                                  </a:rPr>
                                </m:ctrlPr>
                              </m:dPr>
                              <m:e>
                                <m:sSubSup>
                                  <m:sSubSupPr>
                                    <m:ctrlPr>
                                      <a:rPr lang="de-DE" b="0" i="1" smtClean="0">
                                        <a:latin typeface="Cambria Math" panose="02040503050406030204" pitchFamily="18" charset="0"/>
                                      </a:rPr>
                                    </m:ctrlPr>
                                  </m:sSubSupPr>
                                  <m:e>
                                    <m:r>
                                      <a:rPr lang="de-DE" b="0" i="1" smtClean="0">
                                        <a:latin typeface="Cambria Math" panose="02040503050406030204" pitchFamily="18" charset="0"/>
                                      </a:rPr>
                                      <m:t>𝑤</m:t>
                                    </m:r>
                                  </m:e>
                                  <m:sub>
                                    <m:r>
                                      <a:rPr lang="de-DE" b="0" i="1" smtClean="0">
                                        <a:latin typeface="Cambria Math" panose="02040503050406030204" pitchFamily="18" charset="0"/>
                                      </a:rPr>
                                      <m:t>1</m:t>
                                    </m:r>
                                  </m:sub>
                                  <m:sup>
                                    <m:r>
                                      <a:rPr lang="de-DE" b="0" i="1" smtClean="0">
                                        <a:latin typeface="Cambria Math" panose="02040503050406030204" pitchFamily="18" charset="0"/>
                                      </a:rPr>
                                      <m:t>𝑇</m:t>
                                    </m:r>
                                  </m:sup>
                                </m:sSubSup>
                                <m:r>
                                  <a:rPr lang="de-DE" b="0" i="1" smtClean="0">
                                    <a:latin typeface="Cambria Math" panose="02040503050406030204" pitchFamily="18" charset="0"/>
                                  </a:rPr>
                                  <m:t>𝑥</m:t>
                                </m:r>
                                <m:r>
                                  <a:rPr lang="de-DE" b="0" i="1" smtClean="0">
                                    <a:latin typeface="Cambria Math" panose="02040503050406030204" pitchFamily="18" charset="0"/>
                                  </a:rPr>
                                  <m:t>+</m:t>
                                </m:r>
                                <m:sSub>
                                  <m:sSubPr>
                                    <m:ctrlPr>
                                      <a:rPr lang="de-DE" b="0" i="1" smtClean="0">
                                        <a:latin typeface="Cambria Math" panose="02040503050406030204" pitchFamily="18" charset="0"/>
                                      </a:rPr>
                                    </m:ctrlPr>
                                  </m:sSubPr>
                                  <m:e>
                                    <m:r>
                                      <a:rPr lang="de-DE" b="0" i="1" smtClean="0">
                                        <a:latin typeface="Cambria Math" panose="02040503050406030204" pitchFamily="18" charset="0"/>
                                      </a:rPr>
                                      <m:t>𝑏</m:t>
                                    </m:r>
                                  </m:e>
                                  <m:sub>
                                    <m:r>
                                      <a:rPr lang="de-DE" b="0" i="1" smtClean="0">
                                        <a:latin typeface="Cambria Math" panose="02040503050406030204" pitchFamily="18" charset="0"/>
                                      </a:rPr>
                                      <m:t>1</m:t>
                                    </m:r>
                                  </m:sub>
                                </m:sSub>
                              </m:e>
                            </m:d>
                          </m:e>
                        </m:d>
                        <m:r>
                          <a:rPr lang="de-DE" b="0" i="1" smtClean="0">
                            <a:latin typeface="Cambria Math" panose="02040503050406030204" pitchFamily="18" charset="0"/>
                          </a:rPr>
                          <m:t>+</m:t>
                        </m:r>
                        <m:sSub>
                          <m:sSubPr>
                            <m:ctrlPr>
                              <a:rPr lang="de-DE" b="0" i="1" smtClean="0">
                                <a:latin typeface="Cambria Math" panose="02040503050406030204" pitchFamily="18" charset="0"/>
                              </a:rPr>
                            </m:ctrlPr>
                          </m:sSubPr>
                          <m:e>
                            <m:r>
                              <a:rPr lang="de-DE" b="0" i="1" smtClean="0">
                                <a:latin typeface="Cambria Math" panose="02040503050406030204" pitchFamily="18" charset="0"/>
                              </a:rPr>
                              <m:t>𝑏</m:t>
                            </m:r>
                          </m:e>
                          <m:sub>
                            <m:r>
                              <a:rPr lang="de-DE" b="0" i="1" smtClean="0">
                                <a:latin typeface="Cambria Math" panose="02040503050406030204" pitchFamily="18" charset="0"/>
                              </a:rPr>
                              <m:t>2</m:t>
                            </m:r>
                          </m:sub>
                        </m:sSub>
                      </m:e>
                    </m:d>
                    <m:r>
                      <a:rPr lang="de-DE" b="0" i="1" smtClean="0">
                        <a:latin typeface="Cambria Math" panose="02040503050406030204" pitchFamily="18" charset="0"/>
                      </a:rPr>
                      <m:t>+</m:t>
                    </m:r>
                    <m:sSub>
                      <m:sSubPr>
                        <m:ctrlPr>
                          <a:rPr lang="de-DE" b="0" i="1" smtClean="0">
                            <a:latin typeface="Cambria Math" panose="02040503050406030204" pitchFamily="18" charset="0"/>
                          </a:rPr>
                        </m:ctrlPr>
                      </m:sSubPr>
                      <m:e>
                        <m:r>
                          <a:rPr lang="de-DE" b="0" i="1" smtClean="0">
                            <a:latin typeface="Cambria Math" panose="02040503050406030204" pitchFamily="18" charset="0"/>
                          </a:rPr>
                          <m:t>𝑏</m:t>
                        </m:r>
                      </m:e>
                      <m:sub>
                        <m:r>
                          <a:rPr lang="de-DE" b="0" i="1" smtClean="0">
                            <a:latin typeface="Cambria Math" panose="02040503050406030204" pitchFamily="18" charset="0"/>
                          </a:rPr>
                          <m:t>3</m:t>
                        </m:r>
                      </m:sub>
                    </m:sSub>
                    <m:r>
                      <a:rPr lang="de-DE" b="0" i="1" smtClean="0">
                        <a:latin typeface="Cambria Math" panose="02040503050406030204" pitchFamily="18" charset="0"/>
                      </a:rPr>
                      <m:t>=</m:t>
                    </m:r>
                    <m:acc>
                      <m:accPr>
                        <m:chr m:val="̂"/>
                        <m:ctrlPr>
                          <a:rPr lang="de-DE" b="0" i="1" smtClean="0">
                            <a:latin typeface="Cambria Math" panose="02040503050406030204" pitchFamily="18" charset="0"/>
                          </a:rPr>
                        </m:ctrlPr>
                      </m:accPr>
                      <m:e>
                        <m:r>
                          <a:rPr lang="de-DE" b="0" i="1" smtClean="0">
                            <a:latin typeface="Cambria Math" panose="02040503050406030204" pitchFamily="18" charset="0"/>
                          </a:rPr>
                          <m:t>𝑦</m:t>
                        </m:r>
                      </m:e>
                    </m:acc>
                  </m:oMath>
                </a14:m>
                <a:endParaRPr lang="de-DE" b="0" dirty="0"/>
              </a:p>
              <a:p>
                <a:r>
                  <a:rPr lang="de-DE" dirty="0"/>
                  <a:t>Data</a:t>
                </a:r>
              </a:p>
              <a:p>
                <a:pPr marL="285750" indent="-285750">
                  <a:buFont typeface="Arial" panose="020B0604020202020204" pitchFamily="34" charset="0"/>
                  <a:buChar char="•"/>
                </a:pPr>
                <a:r>
                  <a:rPr lang="de-DE" dirty="0"/>
                  <a:t>Training </a:t>
                </a:r>
                <a:r>
                  <a:rPr lang="de-DE" dirty="0" err="1"/>
                  <a:t>set</a:t>
                </a:r>
                <a:r>
                  <a:rPr lang="de-DE" dirty="0"/>
                  <a:t> </a:t>
                </a:r>
                <a:r>
                  <a:rPr lang="de-DE" dirty="0" err="1"/>
                  <a:t>contains</a:t>
                </a:r>
                <a:r>
                  <a:rPr lang="de-DE" dirty="0"/>
                  <a:t> 40 </a:t>
                </a:r>
                <a:r>
                  <a:rPr lang="de-DE" dirty="0" err="1"/>
                  <a:t>samples</a:t>
                </a:r>
                <a:endParaRPr lang="de-DE" dirty="0"/>
              </a:p>
              <a:p>
                <a:pPr marL="285750" indent="-285750">
                  <a:buFont typeface="Arial" panose="020B0604020202020204" pitchFamily="34" charset="0"/>
                  <a:buChar char="•"/>
                </a:pPr>
                <a:r>
                  <a:rPr lang="de-DE" dirty="0"/>
                  <a:t>Validation </a:t>
                </a:r>
                <a:r>
                  <a:rPr lang="de-DE" dirty="0" err="1"/>
                  <a:t>set</a:t>
                </a:r>
                <a:r>
                  <a:rPr lang="de-DE" dirty="0"/>
                  <a:t> </a:t>
                </a:r>
                <a:r>
                  <a:rPr lang="de-DE" dirty="0" err="1"/>
                  <a:t>contains</a:t>
                </a:r>
                <a:r>
                  <a:rPr lang="de-DE" dirty="0"/>
                  <a:t> 40 </a:t>
                </a:r>
                <a:r>
                  <a:rPr lang="de-DE" dirty="0" err="1"/>
                  <a:t>samples</a:t>
                </a:r>
                <a:endParaRPr lang="de-DE" dirty="0"/>
              </a:p>
              <a:p>
                <a:pPr marL="285750" indent="-285750">
                  <a:buFont typeface="Arial" panose="020B0604020202020204" pitchFamily="34" charset="0"/>
                  <a:buChar char="•"/>
                </a:pPr>
                <a:r>
                  <a:rPr lang="de-DE" dirty="0" err="1"/>
                  <a:t>Generated</a:t>
                </a:r>
                <a:r>
                  <a:rPr lang="de-DE" dirty="0"/>
                  <a:t> </a:t>
                </a:r>
                <a:r>
                  <a:rPr lang="de-DE" dirty="0" err="1"/>
                  <a:t>with</a:t>
                </a:r>
                <a:r>
                  <a:rPr lang="de-DE" dirty="0"/>
                  <a:t> </a:t>
                </a:r>
                <a14:m>
                  <m:oMath xmlns:m="http://schemas.openxmlformats.org/officeDocument/2006/math">
                    <m:r>
                      <a:rPr lang="de-DE" b="0" i="1" smtClean="0">
                        <a:latin typeface="Cambria Math" panose="02040503050406030204" pitchFamily="18" charset="0"/>
                      </a:rPr>
                      <m:t>𝑦</m:t>
                    </m:r>
                    <m:r>
                      <a:rPr lang="de-DE" b="0" i="1" smtClean="0">
                        <a:latin typeface="Cambria Math" panose="02040503050406030204" pitchFamily="18" charset="0"/>
                      </a:rPr>
                      <m:t>=</m:t>
                    </m:r>
                    <m:r>
                      <m:rPr>
                        <m:sty m:val="p"/>
                      </m:rPr>
                      <a:rPr lang="de-DE" b="0" i="1" smtClean="0">
                        <a:latin typeface="Cambria Math" panose="02040503050406030204" pitchFamily="18" charset="0"/>
                      </a:rPr>
                      <m:t>sin</m:t>
                    </m:r>
                    <m:d>
                      <m:dPr>
                        <m:ctrlPr>
                          <a:rPr lang="de-DE" b="0" i="1" smtClean="0">
                            <a:latin typeface="Cambria Math" panose="02040503050406030204" pitchFamily="18" charset="0"/>
                          </a:rPr>
                        </m:ctrlPr>
                      </m:dPr>
                      <m:e>
                        <m:r>
                          <a:rPr lang="de-DE" b="0" i="1" smtClean="0">
                            <a:latin typeface="Cambria Math" panose="02040503050406030204" pitchFamily="18" charset="0"/>
                          </a:rPr>
                          <m:t>2</m:t>
                        </m:r>
                        <m:r>
                          <a:rPr lang="de-DE" b="0" i="1" smtClean="0">
                            <a:latin typeface="Cambria Math" panose="02040503050406030204" pitchFamily="18" charset="0"/>
                          </a:rPr>
                          <m:t>𝜋</m:t>
                        </m:r>
                        <m:r>
                          <a:rPr lang="de-DE" b="0" i="1" smtClean="0">
                            <a:latin typeface="Cambria Math" panose="02040503050406030204" pitchFamily="18" charset="0"/>
                          </a:rPr>
                          <m:t>𝑥</m:t>
                        </m:r>
                      </m:e>
                    </m:d>
                    <m:r>
                      <a:rPr lang="de-DE" b="0" i="1" smtClean="0">
                        <a:latin typeface="Cambria Math" panose="02040503050406030204" pitchFamily="18" charset="0"/>
                      </a:rPr>
                      <m:t>+</m:t>
                    </m:r>
                    <m:r>
                      <a:rPr lang="de-DE" b="0" i="1" smtClean="0">
                        <a:latin typeface="Cambria Math" panose="02040503050406030204" pitchFamily="18" charset="0"/>
                      </a:rPr>
                      <m:t>𝜖</m:t>
                    </m:r>
                    <m:r>
                      <a:rPr lang="de-DE" b="0" i="1" smtClean="0">
                        <a:latin typeface="Cambria Math" panose="02040503050406030204" pitchFamily="18" charset="0"/>
                      </a:rPr>
                      <m:t>, </m:t>
                    </m:r>
                    <m:r>
                      <a:rPr lang="de-DE" b="0" i="1" smtClean="0">
                        <a:latin typeface="Cambria Math" panose="02040503050406030204" pitchFamily="18" charset="0"/>
                      </a:rPr>
                      <m:t>𝜖</m:t>
                    </m:r>
                    <m:r>
                      <a:rPr lang="de-DE" b="0" i="1" smtClean="0">
                        <a:latin typeface="Cambria Math" panose="02040503050406030204" pitchFamily="18" charset="0"/>
                      </a:rPr>
                      <m:t>=0.1⋅</m:t>
                    </m:r>
                    <m:r>
                      <a:rPr lang="de-DE" b="0" i="1" smtClean="0">
                        <a:latin typeface="Cambria Math" panose="02040503050406030204" pitchFamily="18" charset="0"/>
                      </a:rPr>
                      <m:t>𝑈</m:t>
                    </m:r>
                    <m:d>
                      <m:dPr>
                        <m:ctrlPr>
                          <a:rPr lang="de-DE" b="0" i="1" smtClean="0">
                            <a:latin typeface="Cambria Math" panose="02040503050406030204" pitchFamily="18" charset="0"/>
                          </a:rPr>
                        </m:ctrlPr>
                      </m:dPr>
                      <m:e>
                        <m:r>
                          <a:rPr lang="de-DE" b="0" i="1" smtClean="0">
                            <a:latin typeface="Cambria Math" panose="02040503050406030204" pitchFamily="18" charset="0"/>
                          </a:rPr>
                          <m:t>−1,1</m:t>
                        </m:r>
                      </m:e>
                    </m:d>
                  </m:oMath>
                </a14:m>
                <a:br>
                  <a:rPr lang="de-DE" dirty="0"/>
                </a:br>
                <a:r>
                  <a:rPr lang="de-DE" dirty="0" err="1"/>
                  <a:t>where</a:t>
                </a:r>
                <a:r>
                  <a:rPr lang="de-DE" dirty="0"/>
                  <a:t> </a:t>
                </a:r>
                <a14:m>
                  <m:oMath xmlns:m="http://schemas.openxmlformats.org/officeDocument/2006/math">
                    <m:r>
                      <a:rPr lang="de-DE" b="0" i="1" smtClean="0">
                        <a:latin typeface="Cambria Math" panose="02040503050406030204" pitchFamily="18" charset="0"/>
                      </a:rPr>
                      <m:t>𝑈</m:t>
                    </m:r>
                    <m:r>
                      <a:rPr lang="de-DE" b="0" i="1" smtClean="0">
                        <a:latin typeface="Cambria Math" panose="02040503050406030204" pitchFamily="18" charset="0"/>
                      </a:rPr>
                      <m:t>(−1,1)</m:t>
                    </m:r>
                  </m:oMath>
                </a14:m>
                <a:r>
                  <a:rPr lang="de-DE" dirty="0"/>
                  <a:t> </a:t>
                </a:r>
                <a:r>
                  <a:rPr lang="de-DE" dirty="0" err="1"/>
                  <a:t>is</a:t>
                </a:r>
                <a:r>
                  <a:rPr lang="de-DE" dirty="0"/>
                  <a:t> a uniform </a:t>
                </a:r>
                <a:r>
                  <a:rPr lang="de-DE" dirty="0" err="1"/>
                  <a:t>random</a:t>
                </a:r>
                <a:r>
                  <a:rPr lang="de-DE" dirty="0"/>
                  <a:t> </a:t>
                </a:r>
                <a:r>
                  <a:rPr lang="de-DE" dirty="0" err="1"/>
                  <a:t>distribution</a:t>
                </a:r>
                <a:r>
                  <a:rPr lang="de-DE" dirty="0"/>
                  <a:t> in </a:t>
                </a:r>
                <a:r>
                  <a:rPr lang="de-DE" dirty="0" err="1"/>
                  <a:t>the</a:t>
                </a:r>
                <a:r>
                  <a:rPr lang="de-DE" dirty="0"/>
                  <a:t> </a:t>
                </a:r>
                <a:r>
                  <a:rPr lang="de-DE" dirty="0" err="1"/>
                  <a:t>interval</a:t>
                </a:r>
                <a:r>
                  <a:rPr lang="de-DE" dirty="0"/>
                  <a:t> </a:t>
                </a:r>
                <a14:m>
                  <m:oMath xmlns:m="http://schemas.openxmlformats.org/officeDocument/2006/math">
                    <m:r>
                      <a:rPr lang="de-DE" b="0" i="1" smtClean="0">
                        <a:latin typeface="Cambria Math" panose="02040503050406030204" pitchFamily="18" charset="0"/>
                      </a:rPr>
                      <m:t>[−1,1]</m:t>
                    </m:r>
                  </m:oMath>
                </a14:m>
                <a:endParaRPr lang="de-DE" dirty="0"/>
              </a:p>
              <a:p>
                <a:pPr marL="285750" indent="-285750">
                  <a:buFont typeface="Arial" panose="020B0604020202020204" pitchFamily="34" charset="0"/>
                  <a:buChar char="•"/>
                </a:pPr>
                <a:r>
                  <a:rPr lang="de-DE" dirty="0"/>
                  <a:t>Test </a:t>
                </a:r>
                <a:r>
                  <a:rPr lang="de-DE" dirty="0" err="1"/>
                  <a:t>set</a:t>
                </a:r>
                <a:r>
                  <a:rPr lang="de-DE" dirty="0"/>
                  <a:t> </a:t>
                </a:r>
                <a:r>
                  <a:rPr lang="de-DE" dirty="0" err="1"/>
                  <a:t>is</a:t>
                </a:r>
                <a:r>
                  <a:rPr lang="de-DE" dirty="0"/>
                  <a:t> </a:t>
                </a:r>
                <a:r>
                  <a:rPr lang="de-DE" dirty="0" err="1"/>
                  <a:t>the</a:t>
                </a:r>
                <a:r>
                  <a:rPr lang="de-DE" dirty="0"/>
                  <a:t> </a:t>
                </a:r>
                <a:r>
                  <a:rPr lang="de-DE" dirty="0" err="1"/>
                  <a:t>analytical</a:t>
                </a:r>
                <a:r>
                  <a:rPr lang="de-DE" dirty="0"/>
                  <a:t> </a:t>
                </a:r>
                <a:r>
                  <a:rPr lang="de-DE" dirty="0" err="1"/>
                  <a:t>solution</a:t>
                </a:r>
                <a:endParaRPr lang="de-DE" dirty="0"/>
              </a:p>
            </p:txBody>
          </p:sp>
        </mc:Choice>
        <mc:Fallback xmlns="">
          <p:sp>
            <p:nvSpPr>
              <p:cNvPr id="2" name="Content Placeholder 1">
                <a:extLst>
                  <a:ext uri="{FF2B5EF4-FFF2-40B4-BE49-F238E27FC236}">
                    <a16:creationId xmlns:a16="http://schemas.microsoft.com/office/drawing/2014/main" id="{F1E3A54C-1F6E-6F30-EF13-A4083A0AEE67}"/>
                  </a:ext>
                </a:extLst>
              </p:cNvPr>
              <p:cNvSpPr>
                <a:spLocks noGrp="1" noRot="1" noChangeAspect="1" noMove="1" noResize="1" noEditPoints="1" noAdjustHandles="1" noChangeArrowheads="1" noChangeShapeType="1" noTextEdit="1"/>
              </p:cNvSpPr>
              <p:nvPr>
                <p:ph idx="1"/>
              </p:nvPr>
            </p:nvSpPr>
            <p:spPr>
              <a:blipFill>
                <a:blip r:embed="rId2"/>
                <a:stretch>
                  <a:fillRect l="-1289" t="-92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94A6215A-1D11-0FAB-3F41-83798D9F292F}"/>
              </a:ext>
            </a:extLst>
          </p:cNvPr>
          <p:cNvSpPr>
            <a:spLocks noGrp="1"/>
          </p:cNvSpPr>
          <p:nvPr>
            <p:ph type="title"/>
          </p:nvPr>
        </p:nvSpPr>
        <p:spPr/>
        <p:txBody>
          <a:bodyPr/>
          <a:lstStyle/>
          <a:p>
            <a:r>
              <a:rPr lang="de-DE" dirty="0"/>
              <a:t>3.8 </a:t>
            </a:r>
            <a:r>
              <a:rPr lang="de-DE" dirty="0" err="1"/>
              <a:t>Approximating</a:t>
            </a:r>
            <a:r>
              <a:rPr lang="de-DE" dirty="0"/>
              <a:t> </a:t>
            </a:r>
            <a:r>
              <a:rPr lang="de-DE" dirty="0" err="1"/>
              <a:t>the</a:t>
            </a:r>
            <a:r>
              <a:rPr lang="de-DE" dirty="0"/>
              <a:t> Sine </a:t>
            </a:r>
            <a:r>
              <a:rPr lang="de-DE" dirty="0" err="1"/>
              <a:t>Function</a:t>
            </a:r>
            <a:endParaRPr lang="en-US" dirty="0"/>
          </a:p>
        </p:txBody>
      </p:sp>
      <p:sp>
        <p:nvSpPr>
          <p:cNvPr id="4" name="Slide Number Placeholder 3">
            <a:extLst>
              <a:ext uri="{FF2B5EF4-FFF2-40B4-BE49-F238E27FC236}">
                <a16:creationId xmlns:a16="http://schemas.microsoft.com/office/drawing/2014/main" id="{11E3E102-9BED-1331-A9DE-C9DA880D5AA7}"/>
              </a:ext>
            </a:extLst>
          </p:cNvPr>
          <p:cNvSpPr>
            <a:spLocks noGrp="1"/>
          </p:cNvSpPr>
          <p:nvPr>
            <p:ph type="sldNum" sz="quarter" idx="11"/>
          </p:nvPr>
        </p:nvSpPr>
        <p:spPr/>
        <p:txBody>
          <a:bodyPr/>
          <a:lstStyle/>
          <a:p>
            <a:fld id="{CE58CB1E-F828-4F11-99E0-327109AF9DA4}" type="slidenum">
              <a:rPr lang="de-DE" smtClean="0"/>
              <a:pPr/>
              <a:t>3</a:t>
            </a:fld>
            <a:endParaRPr lang="de-DE"/>
          </a:p>
        </p:txBody>
      </p:sp>
      <p:sp>
        <p:nvSpPr>
          <p:cNvPr id="5" name="Footer Placeholder 4">
            <a:extLst>
              <a:ext uri="{FF2B5EF4-FFF2-40B4-BE49-F238E27FC236}">
                <a16:creationId xmlns:a16="http://schemas.microsoft.com/office/drawing/2014/main" id="{B4FB3D89-2720-7505-02B8-D6ACD06663B8}"/>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pic>
        <p:nvPicPr>
          <p:cNvPr id="7" name="Picture 6">
            <a:extLst>
              <a:ext uri="{FF2B5EF4-FFF2-40B4-BE49-F238E27FC236}">
                <a16:creationId xmlns:a16="http://schemas.microsoft.com/office/drawing/2014/main" id="{98056C31-E0C6-750F-F70C-A89560CB3FDE}"/>
              </a:ext>
            </a:extLst>
          </p:cNvPr>
          <p:cNvPicPr>
            <a:picLocks noChangeAspect="1"/>
          </p:cNvPicPr>
          <p:nvPr/>
        </p:nvPicPr>
        <p:blipFill>
          <a:blip r:embed="rId3"/>
          <a:stretch>
            <a:fillRect/>
          </a:stretch>
        </p:blipFill>
        <p:spPr>
          <a:xfrm>
            <a:off x="5847338" y="1221582"/>
            <a:ext cx="3203794" cy="2521744"/>
          </a:xfrm>
          <a:prstGeom prst="rect">
            <a:avLst/>
          </a:prstGeom>
        </p:spPr>
      </p:pic>
    </p:spTree>
    <p:extLst>
      <p:ext uri="{BB962C8B-B14F-4D97-AF65-F5344CB8AC3E}">
        <p14:creationId xmlns:p14="http://schemas.microsoft.com/office/powerpoint/2010/main" val="509967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26D455D9-0B1F-A456-C585-602454B7D8AD}"/>
                  </a:ext>
                </a:extLst>
              </p:cNvPr>
              <p:cNvSpPr>
                <a:spLocks noGrp="1"/>
              </p:cNvSpPr>
              <p:nvPr>
                <p:ph idx="1"/>
              </p:nvPr>
            </p:nvSpPr>
            <p:spPr/>
            <p:txBody>
              <a:bodyPr/>
              <a:lstStyle/>
              <a:p>
                <a:pPr marL="285750" indent="-285750">
                  <a:buFont typeface="Arial" panose="020B0604020202020204" pitchFamily="34" charset="0"/>
                  <a:buChar char="•"/>
                </a:pPr>
                <a:r>
                  <a:rPr lang="de-DE" dirty="0"/>
                  <a:t>Goal </a:t>
                </a:r>
                <a:r>
                  <a:rPr lang="de-DE" dirty="0" err="1"/>
                  <a:t>is</a:t>
                </a:r>
                <a:r>
                  <a:rPr lang="de-DE" dirty="0"/>
                  <a:t> </a:t>
                </a:r>
                <a:r>
                  <a:rPr lang="de-DE" dirty="0" err="1"/>
                  <a:t>to</a:t>
                </a:r>
                <a:r>
                  <a:rPr lang="de-DE" dirty="0"/>
                  <a:t> </a:t>
                </a:r>
                <a:r>
                  <a:rPr lang="de-DE" dirty="0" err="1"/>
                  <a:t>approximate</a:t>
                </a:r>
                <a:r>
                  <a:rPr lang="de-DE" dirty="0"/>
                  <a:t> </a:t>
                </a:r>
              </a:p>
              <a:p>
                <a:pP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𝑓</m:t>
                      </m:r>
                      <m:d>
                        <m:dPr>
                          <m:ctrlPr>
                            <a:rPr lang="de-DE" b="0" i="1" smtClean="0">
                              <a:latin typeface="Cambria Math" panose="02040503050406030204" pitchFamily="18" charset="0"/>
                            </a:rPr>
                          </m:ctrlPr>
                        </m:dPr>
                        <m:e>
                          <m:r>
                            <a:rPr lang="de-DE" b="0" i="1" smtClean="0">
                              <a:latin typeface="Cambria Math" panose="02040503050406030204" pitchFamily="18" charset="0"/>
                            </a:rPr>
                            <m:t>𝑥</m:t>
                          </m:r>
                        </m:e>
                      </m:d>
                      <m:r>
                        <a:rPr lang="de-DE" b="0" i="1" smtClean="0">
                          <a:latin typeface="Cambria Math" panose="02040503050406030204" pitchFamily="18" charset="0"/>
                        </a:rPr>
                        <m:t>=</m:t>
                      </m:r>
                      <m:r>
                        <m:rPr>
                          <m:sty m:val="p"/>
                        </m:rPr>
                        <a:rPr lang="de-DE" b="0" i="1" smtClean="0">
                          <a:latin typeface="Cambria Math" panose="02040503050406030204" pitchFamily="18" charset="0"/>
                        </a:rPr>
                        <m:t>sin</m:t>
                      </m:r>
                      <m:d>
                        <m:dPr>
                          <m:ctrlPr>
                            <a:rPr lang="de-DE" b="0" i="1" smtClean="0">
                              <a:latin typeface="Cambria Math" panose="02040503050406030204" pitchFamily="18" charset="0"/>
                            </a:rPr>
                          </m:ctrlPr>
                        </m:dPr>
                        <m:e>
                          <m:r>
                            <a:rPr lang="de-DE" b="0" i="1" smtClean="0">
                              <a:latin typeface="Cambria Math" panose="02040503050406030204" pitchFamily="18" charset="0"/>
                            </a:rPr>
                            <m:t>2</m:t>
                          </m:r>
                          <m:r>
                            <a:rPr lang="de-DE" b="0" i="1" smtClean="0">
                              <a:latin typeface="Cambria Math" panose="02040503050406030204" pitchFamily="18" charset="0"/>
                            </a:rPr>
                            <m:t>𝜋</m:t>
                          </m:r>
                          <m:r>
                            <a:rPr lang="de-DE" b="0" i="1" smtClean="0">
                              <a:latin typeface="Cambria Math" panose="02040503050406030204" pitchFamily="18" charset="0"/>
                            </a:rPr>
                            <m:t>𝑥</m:t>
                          </m:r>
                        </m:e>
                      </m:d>
                      <m:r>
                        <a:rPr lang="de-DE" b="0" i="1" smtClean="0">
                          <a:latin typeface="Cambria Math" panose="02040503050406030204" pitchFamily="18" charset="0"/>
                        </a:rPr>
                        <m:t>, </m:t>
                      </m:r>
                      <m:r>
                        <a:rPr lang="de-DE" b="0" i="1" smtClean="0">
                          <a:latin typeface="Cambria Math" panose="02040503050406030204" pitchFamily="18" charset="0"/>
                        </a:rPr>
                        <m:t>𝑥</m:t>
                      </m:r>
                      <m:r>
                        <a:rPr lang="de-DE" b="0" i="1" smtClean="0">
                          <a:latin typeface="Cambria Math" panose="02040503050406030204" pitchFamily="18" charset="0"/>
                        </a:rPr>
                        <m:t>∈</m:t>
                      </m:r>
                      <m:d>
                        <m:dPr>
                          <m:begChr m:val="["/>
                          <m:endChr m:val="]"/>
                          <m:ctrlPr>
                            <a:rPr lang="de-DE" b="0" i="1" smtClean="0">
                              <a:latin typeface="Cambria Math" panose="02040503050406030204" pitchFamily="18" charset="0"/>
                            </a:rPr>
                          </m:ctrlPr>
                        </m:dPr>
                        <m:e>
                          <m:r>
                            <a:rPr lang="de-DE" b="0" i="1" smtClean="0">
                              <a:latin typeface="Cambria Math" panose="02040503050406030204" pitchFamily="18" charset="0"/>
                            </a:rPr>
                            <m:t>−1, 1</m:t>
                          </m:r>
                        </m:e>
                      </m:d>
                    </m:oMath>
                  </m:oMathPara>
                </a14:m>
                <a:endParaRPr lang="de-DE" b="0" dirty="0"/>
              </a:p>
              <a:p>
                <a:pPr marL="285750" indent="-285750">
                  <a:buFont typeface="Arial" panose="020B0604020202020204" pitchFamily="34" charset="0"/>
                  <a:buChar char="•"/>
                </a:pPr>
                <a:r>
                  <a:rPr lang="de-DE" dirty="0"/>
                  <a:t>Network </a:t>
                </a:r>
                <a:r>
                  <a:rPr lang="de-DE" dirty="0" err="1"/>
                  <a:t>architecture</a:t>
                </a:r>
                <a:endParaRPr lang="de-DE" dirty="0"/>
              </a:p>
              <a:p>
                <a:pPr/>
                <a14:m>
                  <m:oMathPara xmlns:m="http://schemas.openxmlformats.org/officeDocument/2006/math">
                    <m:oMathParaPr>
                      <m:jc m:val="centerGroup"/>
                    </m:oMathParaPr>
                    <m:oMath xmlns:m="http://schemas.openxmlformats.org/officeDocument/2006/math">
                      <m:sSub>
                        <m:sSubPr>
                          <m:ctrlPr>
                            <a:rPr lang="de-DE" b="0" i="1" smtClean="0">
                              <a:latin typeface="Cambria Math" panose="02040503050406030204" pitchFamily="18" charset="0"/>
                            </a:rPr>
                          </m:ctrlPr>
                        </m:sSubPr>
                        <m:e>
                          <m:r>
                            <a:rPr lang="de-DE" b="0" i="1" smtClean="0">
                              <a:latin typeface="Cambria Math" panose="02040503050406030204" pitchFamily="18" charset="0"/>
                            </a:rPr>
                            <m:t>𝑓</m:t>
                          </m:r>
                        </m:e>
                        <m:sub>
                          <m:r>
                            <a:rPr lang="de-DE" b="0" i="1" smtClean="0">
                              <a:latin typeface="Cambria Math" panose="02040503050406030204" pitchFamily="18" charset="0"/>
                            </a:rPr>
                            <m:t>𝑁𝑁</m:t>
                          </m:r>
                        </m:sub>
                      </m:sSub>
                      <m:r>
                        <a:rPr lang="de-DE" b="0" i="1" smtClean="0">
                          <a:latin typeface="Cambria Math" panose="02040503050406030204" pitchFamily="18" charset="0"/>
                        </a:rPr>
                        <m:t>=</m:t>
                      </m:r>
                      <m:sSubSup>
                        <m:sSubSupPr>
                          <m:ctrlPr>
                            <a:rPr lang="de-DE" b="0" i="1" smtClean="0">
                              <a:latin typeface="Cambria Math" panose="02040503050406030204" pitchFamily="18" charset="0"/>
                            </a:rPr>
                          </m:ctrlPr>
                        </m:sSubSupPr>
                        <m:e>
                          <m:r>
                            <a:rPr lang="de-DE" b="0" i="1" smtClean="0">
                              <a:latin typeface="Cambria Math" panose="02040503050406030204" pitchFamily="18" charset="0"/>
                            </a:rPr>
                            <m:t>𝑤</m:t>
                          </m:r>
                        </m:e>
                        <m:sub>
                          <m:r>
                            <a:rPr lang="de-DE" b="0" i="1" smtClean="0">
                              <a:latin typeface="Cambria Math" panose="02040503050406030204" pitchFamily="18" charset="0"/>
                            </a:rPr>
                            <m:t>3</m:t>
                          </m:r>
                        </m:sub>
                        <m:sup>
                          <m:r>
                            <a:rPr lang="de-DE" b="0" i="1" smtClean="0">
                              <a:latin typeface="Cambria Math" panose="02040503050406030204" pitchFamily="18" charset="0"/>
                            </a:rPr>
                            <m:t>𝑇</m:t>
                          </m:r>
                        </m:sup>
                      </m:sSubSup>
                      <m:r>
                        <a:rPr lang="de-DE" b="0" i="1" smtClean="0">
                          <a:latin typeface="Cambria Math" panose="02040503050406030204" pitchFamily="18" charset="0"/>
                        </a:rPr>
                        <m:t>𝜎</m:t>
                      </m:r>
                      <m:d>
                        <m:dPr>
                          <m:ctrlPr>
                            <a:rPr lang="de-DE" b="0" i="1" smtClean="0">
                              <a:latin typeface="Cambria Math" panose="02040503050406030204" pitchFamily="18" charset="0"/>
                            </a:rPr>
                          </m:ctrlPr>
                        </m:dPr>
                        <m:e>
                          <m:sSub>
                            <m:sSubPr>
                              <m:ctrlPr>
                                <a:rPr lang="de-DE" b="0" i="1" smtClean="0">
                                  <a:latin typeface="Cambria Math" panose="02040503050406030204" pitchFamily="18" charset="0"/>
                                </a:rPr>
                              </m:ctrlPr>
                            </m:sSubPr>
                            <m:e>
                              <m:r>
                                <a:rPr lang="de-DE" b="0" i="1" smtClean="0">
                                  <a:latin typeface="Cambria Math" panose="02040503050406030204" pitchFamily="18" charset="0"/>
                                </a:rPr>
                                <m:t>𝑊</m:t>
                              </m:r>
                            </m:e>
                            <m:sub>
                              <m:r>
                                <a:rPr lang="de-DE" b="0" i="1" smtClean="0">
                                  <a:latin typeface="Cambria Math" panose="02040503050406030204" pitchFamily="18" charset="0"/>
                                </a:rPr>
                                <m:t>2</m:t>
                              </m:r>
                            </m:sub>
                          </m:sSub>
                          <m:d>
                            <m:dPr>
                              <m:ctrlPr>
                                <a:rPr lang="de-DE" b="0" i="1" smtClean="0">
                                  <a:latin typeface="Cambria Math" panose="02040503050406030204" pitchFamily="18" charset="0"/>
                                </a:rPr>
                              </m:ctrlPr>
                            </m:dPr>
                            <m:e>
                              <m:r>
                                <a:rPr lang="de-DE" b="0" i="1" smtClean="0">
                                  <a:latin typeface="Cambria Math" panose="02040503050406030204" pitchFamily="18" charset="0"/>
                                </a:rPr>
                                <m:t>𝜎</m:t>
                              </m:r>
                              <m:d>
                                <m:dPr>
                                  <m:ctrlPr>
                                    <a:rPr lang="de-DE" b="0" i="1" smtClean="0">
                                      <a:latin typeface="Cambria Math" panose="02040503050406030204" pitchFamily="18" charset="0"/>
                                    </a:rPr>
                                  </m:ctrlPr>
                                </m:dPr>
                                <m:e>
                                  <m:sSubSup>
                                    <m:sSubSupPr>
                                      <m:ctrlPr>
                                        <a:rPr lang="de-DE" b="0" i="1" smtClean="0">
                                          <a:latin typeface="Cambria Math" panose="02040503050406030204" pitchFamily="18" charset="0"/>
                                        </a:rPr>
                                      </m:ctrlPr>
                                    </m:sSubSupPr>
                                    <m:e>
                                      <m:r>
                                        <a:rPr lang="de-DE" b="0" i="1" smtClean="0">
                                          <a:latin typeface="Cambria Math" panose="02040503050406030204" pitchFamily="18" charset="0"/>
                                        </a:rPr>
                                        <m:t>𝑤</m:t>
                                      </m:r>
                                    </m:e>
                                    <m:sub>
                                      <m:r>
                                        <a:rPr lang="de-DE" b="0" i="1" smtClean="0">
                                          <a:latin typeface="Cambria Math" panose="02040503050406030204" pitchFamily="18" charset="0"/>
                                        </a:rPr>
                                        <m:t>1</m:t>
                                      </m:r>
                                    </m:sub>
                                    <m:sup>
                                      <m:r>
                                        <a:rPr lang="de-DE" b="0" i="1" smtClean="0">
                                          <a:latin typeface="Cambria Math" panose="02040503050406030204" pitchFamily="18" charset="0"/>
                                        </a:rPr>
                                        <m:t>𝑇</m:t>
                                      </m:r>
                                    </m:sup>
                                  </m:sSubSup>
                                  <m:r>
                                    <a:rPr lang="de-DE" b="0" i="1" smtClean="0">
                                      <a:latin typeface="Cambria Math" panose="02040503050406030204" pitchFamily="18" charset="0"/>
                                    </a:rPr>
                                    <m:t>𝑥</m:t>
                                  </m:r>
                                  <m:r>
                                    <a:rPr lang="de-DE" b="0" i="1" smtClean="0">
                                      <a:latin typeface="Cambria Math" panose="02040503050406030204" pitchFamily="18" charset="0"/>
                                    </a:rPr>
                                    <m:t>+</m:t>
                                  </m:r>
                                  <m:sSub>
                                    <m:sSubPr>
                                      <m:ctrlPr>
                                        <a:rPr lang="de-DE" b="0" i="1" smtClean="0">
                                          <a:latin typeface="Cambria Math" panose="02040503050406030204" pitchFamily="18" charset="0"/>
                                        </a:rPr>
                                      </m:ctrlPr>
                                    </m:sSubPr>
                                    <m:e>
                                      <m:r>
                                        <a:rPr lang="de-DE" b="0" i="1" smtClean="0">
                                          <a:latin typeface="Cambria Math" panose="02040503050406030204" pitchFamily="18" charset="0"/>
                                        </a:rPr>
                                        <m:t>𝑏</m:t>
                                      </m:r>
                                    </m:e>
                                    <m:sub>
                                      <m:r>
                                        <a:rPr lang="de-DE" b="0" i="1" smtClean="0">
                                          <a:latin typeface="Cambria Math" panose="02040503050406030204" pitchFamily="18" charset="0"/>
                                        </a:rPr>
                                        <m:t>1</m:t>
                                      </m:r>
                                    </m:sub>
                                  </m:sSub>
                                </m:e>
                              </m:d>
                            </m:e>
                          </m:d>
                          <m:r>
                            <a:rPr lang="de-DE" b="0" i="1" smtClean="0">
                              <a:latin typeface="Cambria Math" panose="02040503050406030204" pitchFamily="18" charset="0"/>
                            </a:rPr>
                            <m:t>+</m:t>
                          </m:r>
                          <m:sSub>
                            <m:sSubPr>
                              <m:ctrlPr>
                                <a:rPr lang="de-DE" b="0" i="1" smtClean="0">
                                  <a:latin typeface="Cambria Math" panose="02040503050406030204" pitchFamily="18" charset="0"/>
                                </a:rPr>
                              </m:ctrlPr>
                            </m:sSubPr>
                            <m:e>
                              <m:r>
                                <a:rPr lang="de-DE" b="0" i="1" smtClean="0">
                                  <a:latin typeface="Cambria Math" panose="02040503050406030204" pitchFamily="18" charset="0"/>
                                </a:rPr>
                                <m:t>𝑏</m:t>
                              </m:r>
                            </m:e>
                            <m:sub>
                              <m:r>
                                <a:rPr lang="de-DE" b="0" i="1" smtClean="0">
                                  <a:latin typeface="Cambria Math" panose="02040503050406030204" pitchFamily="18" charset="0"/>
                                </a:rPr>
                                <m:t>2</m:t>
                              </m:r>
                            </m:sub>
                          </m:sSub>
                        </m:e>
                      </m:d>
                      <m:r>
                        <a:rPr lang="de-DE" b="0" i="1" smtClean="0">
                          <a:latin typeface="Cambria Math" panose="02040503050406030204" pitchFamily="18" charset="0"/>
                        </a:rPr>
                        <m:t>+</m:t>
                      </m:r>
                      <m:sSub>
                        <m:sSubPr>
                          <m:ctrlPr>
                            <a:rPr lang="de-DE" b="0" i="1" smtClean="0">
                              <a:latin typeface="Cambria Math" panose="02040503050406030204" pitchFamily="18" charset="0"/>
                            </a:rPr>
                          </m:ctrlPr>
                        </m:sSubPr>
                        <m:e>
                          <m:r>
                            <a:rPr lang="de-DE" b="0" i="1" smtClean="0">
                              <a:latin typeface="Cambria Math" panose="02040503050406030204" pitchFamily="18" charset="0"/>
                            </a:rPr>
                            <m:t>𝑏</m:t>
                          </m:r>
                        </m:e>
                        <m:sub>
                          <m:r>
                            <a:rPr lang="de-DE" b="0" i="1" smtClean="0">
                              <a:latin typeface="Cambria Math" panose="02040503050406030204" pitchFamily="18" charset="0"/>
                            </a:rPr>
                            <m:t>3</m:t>
                          </m:r>
                        </m:sub>
                      </m:sSub>
                      <m:r>
                        <a:rPr lang="de-DE" b="0" i="1" smtClean="0">
                          <a:latin typeface="Cambria Math" panose="02040503050406030204" pitchFamily="18" charset="0"/>
                        </a:rPr>
                        <m:t>=</m:t>
                      </m:r>
                      <m:acc>
                        <m:accPr>
                          <m:chr m:val="̂"/>
                          <m:ctrlPr>
                            <a:rPr lang="de-DE" b="0" i="1" smtClean="0">
                              <a:latin typeface="Cambria Math" panose="02040503050406030204" pitchFamily="18" charset="0"/>
                            </a:rPr>
                          </m:ctrlPr>
                        </m:accPr>
                        <m:e>
                          <m:r>
                            <a:rPr lang="de-DE" b="0" i="1" smtClean="0">
                              <a:latin typeface="Cambria Math" panose="02040503050406030204" pitchFamily="18" charset="0"/>
                            </a:rPr>
                            <m:t>𝑦</m:t>
                          </m:r>
                        </m:e>
                      </m:acc>
                    </m:oMath>
                  </m:oMathPara>
                </a14:m>
                <a:endParaRPr lang="en-US" dirty="0"/>
              </a:p>
              <a:p>
                <a:pPr marL="285750" indent="-285750">
                  <a:buFont typeface="Arial" panose="020B0604020202020204" pitchFamily="34" charset="0"/>
                  <a:buChar char="•"/>
                </a:pPr>
                <a:r>
                  <a:rPr lang="en-US" dirty="0"/>
                  <a:t>Cost function used for training</a:t>
                </a:r>
              </a:p>
              <a:p>
                <a:pP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𝐶</m:t>
                      </m:r>
                      <m:r>
                        <a:rPr lang="de-DE" b="0" i="1" smtClean="0">
                          <a:latin typeface="Cambria Math" panose="02040503050406030204" pitchFamily="18" charset="0"/>
                        </a:rPr>
                        <m:t>=</m:t>
                      </m:r>
                      <m:sSubSup>
                        <m:sSubSupPr>
                          <m:ctrlPr>
                            <a:rPr lang="de-DE" b="0" i="1" smtClean="0">
                              <a:latin typeface="Cambria Math" panose="02040503050406030204" pitchFamily="18" charset="0"/>
                              <a:ea typeface="Cambria Math" panose="02040503050406030204" pitchFamily="18" charset="0"/>
                            </a:rPr>
                          </m:ctrlPr>
                        </m:sSubSupPr>
                        <m:e>
                          <m:r>
                            <a:rPr lang="de-DE" b="0" i="1" smtClean="0">
                              <a:latin typeface="Cambria Math" panose="02040503050406030204" pitchFamily="18" charset="0"/>
                              <a:ea typeface="Cambria Math" panose="02040503050406030204" pitchFamily="18" charset="0"/>
                            </a:rPr>
                            <m:t>ℒ</m:t>
                          </m:r>
                        </m:e>
                        <m:sub>
                          <m:r>
                            <a:rPr lang="de-DE" b="0" i="1" smtClean="0">
                              <a:latin typeface="Cambria Math" panose="02040503050406030204" pitchFamily="18" charset="0"/>
                              <a:ea typeface="Cambria Math" panose="02040503050406030204" pitchFamily="18" charset="0"/>
                            </a:rPr>
                            <m:t>𝐷</m:t>
                          </m:r>
                        </m:sub>
                        <m:sup>
                          <m:d>
                            <m:dPr>
                              <m:ctrlPr>
                                <a:rPr lang="de-DE" b="0" i="1" smtClean="0">
                                  <a:latin typeface="Cambria Math" panose="02040503050406030204" pitchFamily="18" charset="0"/>
                                  <a:ea typeface="Cambria Math" panose="02040503050406030204" pitchFamily="18" charset="0"/>
                                </a:rPr>
                              </m:ctrlPr>
                            </m:dPr>
                            <m:e>
                              <m:r>
                                <m:rPr>
                                  <m:sty m:val="p"/>
                                </m:rPr>
                                <a:rPr lang="de-DE" b="0" i="0" smtClean="0">
                                  <a:latin typeface="Cambria Math" panose="02040503050406030204" pitchFamily="18" charset="0"/>
                                  <a:ea typeface="Cambria Math" panose="02040503050406030204" pitchFamily="18" charset="0"/>
                                </a:rPr>
                                <m:t>train</m:t>
                              </m:r>
                            </m:e>
                          </m:d>
                        </m:sup>
                      </m:sSubSup>
                      <m:r>
                        <a:rPr lang="de-DE" b="0" i="1" smtClean="0">
                          <a:latin typeface="Cambria Math" panose="02040503050406030204" pitchFamily="18" charset="0"/>
                          <a:ea typeface="Cambria Math" panose="02040503050406030204" pitchFamily="18" charset="0"/>
                        </a:rPr>
                        <m:t>=</m:t>
                      </m:r>
                      <m:f>
                        <m:fPr>
                          <m:ctrlPr>
                            <a:rPr lang="de-DE" b="0" i="1" smtClean="0">
                              <a:latin typeface="Cambria Math" panose="02040503050406030204" pitchFamily="18" charset="0"/>
                              <a:ea typeface="Cambria Math" panose="02040503050406030204" pitchFamily="18" charset="0"/>
                            </a:rPr>
                          </m:ctrlPr>
                        </m:fPr>
                        <m:num>
                          <m:r>
                            <a:rPr lang="de-DE" b="0" i="1" smtClean="0">
                              <a:latin typeface="Cambria Math" panose="02040503050406030204" pitchFamily="18" charset="0"/>
                              <a:ea typeface="Cambria Math" panose="02040503050406030204" pitchFamily="18" charset="0"/>
                            </a:rPr>
                            <m:t>1</m:t>
                          </m:r>
                        </m:num>
                        <m:den>
                          <m:sSubSup>
                            <m:sSubSupPr>
                              <m:ctrlPr>
                                <a:rPr lang="de-DE" b="0" i="1" smtClean="0">
                                  <a:latin typeface="Cambria Math" panose="02040503050406030204" pitchFamily="18" charset="0"/>
                                  <a:ea typeface="Cambria Math" panose="02040503050406030204" pitchFamily="18" charset="0"/>
                                </a:rPr>
                              </m:ctrlPr>
                            </m:sSubSupPr>
                            <m:e>
                              <m:r>
                                <a:rPr lang="de-DE" b="0" i="1" smtClean="0">
                                  <a:latin typeface="Cambria Math" panose="02040503050406030204" pitchFamily="18" charset="0"/>
                                  <a:ea typeface="Cambria Math" panose="02040503050406030204" pitchFamily="18" charset="0"/>
                                </a:rPr>
                                <m:t>𝑚</m:t>
                              </m:r>
                            </m:e>
                            <m:sub>
                              <m:r>
                                <a:rPr lang="de-DE" b="0" i="1" smtClean="0">
                                  <a:latin typeface="Cambria Math" panose="02040503050406030204" pitchFamily="18" charset="0"/>
                                  <a:ea typeface="Cambria Math" panose="02040503050406030204" pitchFamily="18" charset="0"/>
                                </a:rPr>
                                <m:t>𝐷</m:t>
                              </m:r>
                            </m:sub>
                            <m:sup>
                              <m:d>
                                <m:dPr>
                                  <m:ctrlPr>
                                    <a:rPr lang="de-DE" b="0" i="1" smtClean="0">
                                      <a:latin typeface="Cambria Math" panose="02040503050406030204" pitchFamily="18" charset="0"/>
                                      <a:ea typeface="Cambria Math" panose="02040503050406030204" pitchFamily="18" charset="0"/>
                                    </a:rPr>
                                  </m:ctrlPr>
                                </m:dPr>
                                <m:e>
                                  <m:r>
                                    <m:rPr>
                                      <m:sty m:val="p"/>
                                    </m:rPr>
                                    <a:rPr lang="de-DE" b="0" i="0" smtClean="0">
                                      <a:latin typeface="Cambria Math" panose="02040503050406030204" pitchFamily="18" charset="0"/>
                                      <a:ea typeface="Cambria Math" panose="02040503050406030204" pitchFamily="18" charset="0"/>
                                    </a:rPr>
                                    <m:t>train</m:t>
                                  </m:r>
                                </m:e>
                              </m:d>
                            </m:sup>
                          </m:sSubSup>
                        </m:den>
                      </m:f>
                      <m:nary>
                        <m:naryPr>
                          <m:chr m:val="∑"/>
                          <m:ctrlPr>
                            <a:rPr lang="de-DE" b="0" i="1" smtClean="0">
                              <a:latin typeface="Cambria Math" panose="02040503050406030204" pitchFamily="18" charset="0"/>
                              <a:ea typeface="Cambria Math" panose="02040503050406030204" pitchFamily="18" charset="0"/>
                            </a:rPr>
                          </m:ctrlPr>
                        </m:naryPr>
                        <m:sub>
                          <m:r>
                            <m:rPr>
                              <m:brk m:alnAt="23"/>
                            </m:rPr>
                            <a:rPr lang="de-DE" b="0" i="1" smtClean="0">
                              <a:latin typeface="Cambria Math" panose="02040503050406030204" pitchFamily="18" charset="0"/>
                              <a:ea typeface="Cambria Math" panose="02040503050406030204" pitchFamily="18" charset="0"/>
                            </a:rPr>
                            <m:t>𝑖</m:t>
                          </m:r>
                          <m:r>
                            <a:rPr lang="de-DE" b="0" i="1" smtClean="0">
                              <a:latin typeface="Cambria Math" panose="02040503050406030204" pitchFamily="18" charset="0"/>
                              <a:ea typeface="Cambria Math" panose="02040503050406030204" pitchFamily="18" charset="0"/>
                            </a:rPr>
                            <m:t>=1</m:t>
                          </m:r>
                        </m:sub>
                        <m:sup>
                          <m:sSubSup>
                            <m:sSubSupPr>
                              <m:ctrlPr>
                                <a:rPr lang="de-DE" b="0" i="1" smtClean="0">
                                  <a:latin typeface="Cambria Math" panose="02040503050406030204" pitchFamily="18" charset="0"/>
                                  <a:ea typeface="Cambria Math" panose="02040503050406030204" pitchFamily="18" charset="0"/>
                                </a:rPr>
                              </m:ctrlPr>
                            </m:sSubSupPr>
                            <m:e>
                              <m:r>
                                <a:rPr lang="de-DE" b="0" i="1" smtClean="0">
                                  <a:latin typeface="Cambria Math" panose="02040503050406030204" pitchFamily="18" charset="0"/>
                                  <a:ea typeface="Cambria Math" panose="02040503050406030204" pitchFamily="18" charset="0"/>
                                </a:rPr>
                                <m:t>𝑚</m:t>
                              </m:r>
                            </m:e>
                            <m:sub>
                              <m:r>
                                <a:rPr lang="de-DE" b="0" i="1" smtClean="0">
                                  <a:latin typeface="Cambria Math" panose="02040503050406030204" pitchFamily="18" charset="0"/>
                                  <a:ea typeface="Cambria Math" panose="02040503050406030204" pitchFamily="18" charset="0"/>
                                </a:rPr>
                                <m:t>𝐷</m:t>
                              </m:r>
                            </m:sub>
                            <m:sup>
                              <m:d>
                                <m:dPr>
                                  <m:ctrlPr>
                                    <a:rPr lang="de-DE" b="0" i="1" smtClean="0">
                                      <a:latin typeface="Cambria Math" panose="02040503050406030204" pitchFamily="18" charset="0"/>
                                      <a:ea typeface="Cambria Math" panose="02040503050406030204" pitchFamily="18" charset="0"/>
                                    </a:rPr>
                                  </m:ctrlPr>
                                </m:dPr>
                                <m:e>
                                  <m:r>
                                    <m:rPr>
                                      <m:sty m:val="p"/>
                                    </m:rPr>
                                    <a:rPr lang="de-DE" b="0" i="0" smtClean="0">
                                      <a:latin typeface="Cambria Math" panose="02040503050406030204" pitchFamily="18" charset="0"/>
                                      <a:ea typeface="Cambria Math" panose="02040503050406030204" pitchFamily="18" charset="0"/>
                                    </a:rPr>
                                    <m:t>train</m:t>
                                  </m:r>
                                </m:e>
                              </m:d>
                            </m:sup>
                          </m:sSubSup>
                        </m:sup>
                        <m:e>
                          <m:sSup>
                            <m:sSupPr>
                              <m:ctrlPr>
                                <a:rPr lang="de-DE" b="0" i="1" smtClean="0">
                                  <a:latin typeface="Cambria Math" panose="02040503050406030204" pitchFamily="18" charset="0"/>
                                  <a:ea typeface="Cambria Math" panose="02040503050406030204" pitchFamily="18" charset="0"/>
                                </a:rPr>
                              </m:ctrlPr>
                            </m:sSupPr>
                            <m:e>
                              <m:d>
                                <m:dPr>
                                  <m:ctrlPr>
                                    <a:rPr lang="de-DE" b="0" i="1" smtClean="0">
                                      <a:latin typeface="Cambria Math" panose="02040503050406030204" pitchFamily="18" charset="0"/>
                                      <a:ea typeface="Cambria Math" panose="02040503050406030204" pitchFamily="18" charset="0"/>
                                    </a:rPr>
                                  </m:ctrlPr>
                                </m:dPr>
                                <m:e>
                                  <m:sSubSup>
                                    <m:sSubSupPr>
                                      <m:ctrlPr>
                                        <a:rPr lang="de-DE" b="0" i="1" smtClean="0">
                                          <a:latin typeface="Cambria Math" panose="02040503050406030204" pitchFamily="18" charset="0"/>
                                          <a:ea typeface="Cambria Math" panose="02040503050406030204" pitchFamily="18" charset="0"/>
                                        </a:rPr>
                                      </m:ctrlPr>
                                    </m:sSubSupPr>
                                    <m:e>
                                      <m:acc>
                                        <m:accPr>
                                          <m:chr m:val="̃"/>
                                          <m:ctrlPr>
                                            <a:rPr lang="de-DE" b="0" i="1" smtClean="0">
                                              <a:latin typeface="Cambria Math" panose="02040503050406030204" pitchFamily="18" charset="0"/>
                                              <a:ea typeface="Cambria Math" panose="02040503050406030204" pitchFamily="18" charset="0"/>
                                            </a:rPr>
                                          </m:ctrlPr>
                                        </m:accPr>
                                        <m:e>
                                          <m:r>
                                            <a:rPr lang="de-DE" b="0" i="1" smtClean="0">
                                              <a:latin typeface="Cambria Math" panose="02040503050406030204" pitchFamily="18" charset="0"/>
                                              <a:ea typeface="Cambria Math" panose="02040503050406030204" pitchFamily="18" charset="0"/>
                                            </a:rPr>
                                            <m:t>𝑦</m:t>
                                          </m:r>
                                        </m:e>
                                      </m:acc>
                                    </m:e>
                                    <m:sub>
                                      <m:r>
                                        <a:rPr lang="de-DE" b="0" i="1" smtClean="0">
                                          <a:latin typeface="Cambria Math" panose="02040503050406030204" pitchFamily="18" charset="0"/>
                                          <a:ea typeface="Cambria Math" panose="02040503050406030204" pitchFamily="18" charset="0"/>
                                        </a:rPr>
                                        <m:t>𝑖</m:t>
                                      </m:r>
                                    </m:sub>
                                    <m:sup>
                                      <m:d>
                                        <m:dPr>
                                          <m:ctrlPr>
                                            <a:rPr lang="de-DE" b="0" i="1" smtClean="0">
                                              <a:latin typeface="Cambria Math" panose="02040503050406030204" pitchFamily="18" charset="0"/>
                                              <a:ea typeface="Cambria Math" panose="02040503050406030204" pitchFamily="18" charset="0"/>
                                            </a:rPr>
                                          </m:ctrlPr>
                                        </m:dPr>
                                        <m:e>
                                          <m:r>
                                            <m:rPr>
                                              <m:sty m:val="p"/>
                                            </m:rPr>
                                            <a:rPr lang="de-DE" b="0" i="0" smtClean="0">
                                              <a:latin typeface="Cambria Math" panose="02040503050406030204" pitchFamily="18" charset="0"/>
                                              <a:ea typeface="Cambria Math" panose="02040503050406030204" pitchFamily="18" charset="0"/>
                                            </a:rPr>
                                            <m:t>train</m:t>
                                          </m:r>
                                        </m:e>
                                      </m:d>
                                    </m:sup>
                                  </m:sSubSup>
                                  <m:r>
                                    <a:rPr lang="de-DE" b="0" i="1" smtClean="0">
                                      <a:latin typeface="Cambria Math" panose="02040503050406030204" pitchFamily="18" charset="0"/>
                                      <a:ea typeface="Cambria Math" panose="02040503050406030204" pitchFamily="18" charset="0"/>
                                    </a:rPr>
                                    <m:t>−</m:t>
                                  </m:r>
                                  <m:sSubSup>
                                    <m:sSubSupPr>
                                      <m:ctrlPr>
                                        <a:rPr lang="de-DE" b="0" i="1" smtClean="0">
                                          <a:latin typeface="Cambria Math" panose="02040503050406030204" pitchFamily="18" charset="0"/>
                                          <a:ea typeface="Cambria Math" panose="02040503050406030204" pitchFamily="18" charset="0"/>
                                        </a:rPr>
                                      </m:ctrlPr>
                                    </m:sSubSupPr>
                                    <m:e>
                                      <m:acc>
                                        <m:accPr>
                                          <m:chr m:val="̂"/>
                                          <m:ctrlPr>
                                            <a:rPr lang="de-DE" b="0" i="1" smtClean="0">
                                              <a:latin typeface="Cambria Math" panose="02040503050406030204" pitchFamily="18" charset="0"/>
                                              <a:ea typeface="Cambria Math" panose="02040503050406030204" pitchFamily="18" charset="0"/>
                                            </a:rPr>
                                          </m:ctrlPr>
                                        </m:accPr>
                                        <m:e>
                                          <m:r>
                                            <a:rPr lang="de-DE" b="0" i="1" smtClean="0">
                                              <a:latin typeface="Cambria Math" panose="02040503050406030204" pitchFamily="18" charset="0"/>
                                              <a:ea typeface="Cambria Math" panose="02040503050406030204" pitchFamily="18" charset="0"/>
                                            </a:rPr>
                                            <m:t>𝑦</m:t>
                                          </m:r>
                                        </m:e>
                                      </m:acc>
                                    </m:e>
                                    <m:sub>
                                      <m:r>
                                        <a:rPr lang="de-DE" b="0" i="1" smtClean="0">
                                          <a:latin typeface="Cambria Math" panose="02040503050406030204" pitchFamily="18" charset="0"/>
                                          <a:ea typeface="Cambria Math" panose="02040503050406030204" pitchFamily="18" charset="0"/>
                                        </a:rPr>
                                        <m:t>𝑖</m:t>
                                      </m:r>
                                    </m:sub>
                                    <m:sup>
                                      <m:d>
                                        <m:dPr>
                                          <m:ctrlPr>
                                            <a:rPr lang="de-DE" b="0" i="1" smtClean="0">
                                              <a:latin typeface="Cambria Math" panose="02040503050406030204" pitchFamily="18" charset="0"/>
                                              <a:ea typeface="Cambria Math" panose="02040503050406030204" pitchFamily="18" charset="0"/>
                                            </a:rPr>
                                          </m:ctrlPr>
                                        </m:dPr>
                                        <m:e>
                                          <m:r>
                                            <m:rPr>
                                              <m:sty m:val="p"/>
                                            </m:rPr>
                                            <a:rPr lang="de-DE" b="0" i="0" smtClean="0">
                                              <a:latin typeface="Cambria Math" panose="02040503050406030204" pitchFamily="18" charset="0"/>
                                              <a:ea typeface="Cambria Math" panose="02040503050406030204" pitchFamily="18" charset="0"/>
                                            </a:rPr>
                                            <m:t>train</m:t>
                                          </m:r>
                                        </m:e>
                                      </m:d>
                                    </m:sup>
                                  </m:sSubSup>
                                </m:e>
                              </m:d>
                            </m:e>
                            <m:sup>
                              <m:r>
                                <a:rPr lang="de-DE" b="0" i="1" smtClean="0">
                                  <a:latin typeface="Cambria Math" panose="02040503050406030204" pitchFamily="18" charset="0"/>
                                  <a:ea typeface="Cambria Math" panose="02040503050406030204" pitchFamily="18" charset="0"/>
                                </a:rPr>
                                <m:t>2</m:t>
                              </m:r>
                            </m:sup>
                          </m:sSup>
                        </m:e>
                      </m:nary>
                    </m:oMath>
                  </m:oMathPara>
                </a14:m>
                <a:endParaRPr lang="en-US" dirty="0"/>
              </a:p>
              <a:p>
                <a:pPr marL="285750" indent="-285750">
                  <a:buFont typeface="Arial" panose="020B0604020202020204" pitchFamily="34" charset="0"/>
                  <a:buChar char="•"/>
                </a:pPr>
                <a:r>
                  <a:rPr lang="en-US" dirty="0"/>
                  <a:t>Neural network parameter initialization with a uniform distribution with special bounds</a:t>
                </a:r>
              </a:p>
              <a:p>
                <a:pPr marL="285750" indent="-285750">
                  <a:buFont typeface="Arial" panose="020B0604020202020204" pitchFamily="34" charset="0"/>
                  <a:buChar char="•"/>
                </a:pPr>
                <a:r>
                  <a:rPr lang="en-US" dirty="0"/>
                  <a:t>Optimization with Adam for 10’000 epochs</a:t>
                </a:r>
              </a:p>
            </p:txBody>
          </p:sp>
        </mc:Choice>
        <mc:Fallback xmlns="">
          <p:sp>
            <p:nvSpPr>
              <p:cNvPr id="2" name="Content Placeholder 1">
                <a:extLst>
                  <a:ext uri="{FF2B5EF4-FFF2-40B4-BE49-F238E27FC236}">
                    <a16:creationId xmlns:a16="http://schemas.microsoft.com/office/drawing/2014/main" id="{26D455D9-0B1F-A456-C585-602454B7D8AD}"/>
                  </a:ext>
                </a:extLst>
              </p:cNvPr>
              <p:cNvSpPr>
                <a:spLocks noGrp="1" noRot="1" noChangeAspect="1" noMove="1" noResize="1" noEditPoints="1" noAdjustHandles="1" noChangeArrowheads="1" noChangeShapeType="1" noTextEdit="1"/>
              </p:cNvSpPr>
              <p:nvPr>
                <p:ph idx="1"/>
              </p:nvPr>
            </p:nvSpPr>
            <p:spPr>
              <a:blipFill>
                <a:blip r:embed="rId2"/>
                <a:stretch>
                  <a:fillRect l="-1146" t="-92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B3BE7F5A-7613-7947-F006-8B245A5C9071}"/>
              </a:ext>
            </a:extLst>
          </p:cNvPr>
          <p:cNvSpPr>
            <a:spLocks noGrp="1"/>
          </p:cNvSpPr>
          <p:nvPr>
            <p:ph type="title"/>
          </p:nvPr>
        </p:nvSpPr>
        <p:spPr/>
        <p:txBody>
          <a:bodyPr/>
          <a:lstStyle/>
          <a:p>
            <a:r>
              <a:rPr lang="de-DE" dirty="0"/>
              <a:t>3.8 </a:t>
            </a:r>
            <a:r>
              <a:rPr lang="de-DE" dirty="0" err="1"/>
              <a:t>Approximating</a:t>
            </a:r>
            <a:r>
              <a:rPr lang="de-DE" dirty="0"/>
              <a:t> </a:t>
            </a:r>
            <a:r>
              <a:rPr lang="de-DE" dirty="0" err="1"/>
              <a:t>the</a:t>
            </a:r>
            <a:r>
              <a:rPr lang="de-DE" dirty="0"/>
              <a:t> Sine </a:t>
            </a:r>
            <a:r>
              <a:rPr lang="de-DE" dirty="0" err="1"/>
              <a:t>Function</a:t>
            </a:r>
            <a:endParaRPr lang="en-US" dirty="0"/>
          </a:p>
        </p:txBody>
      </p:sp>
      <p:sp>
        <p:nvSpPr>
          <p:cNvPr id="4" name="Slide Number Placeholder 3">
            <a:extLst>
              <a:ext uri="{FF2B5EF4-FFF2-40B4-BE49-F238E27FC236}">
                <a16:creationId xmlns:a16="http://schemas.microsoft.com/office/drawing/2014/main" id="{06B0B374-C42E-7251-00F7-E74E1094A3CF}"/>
              </a:ext>
            </a:extLst>
          </p:cNvPr>
          <p:cNvSpPr>
            <a:spLocks noGrp="1"/>
          </p:cNvSpPr>
          <p:nvPr>
            <p:ph type="sldNum" sz="quarter" idx="11"/>
          </p:nvPr>
        </p:nvSpPr>
        <p:spPr/>
        <p:txBody>
          <a:bodyPr/>
          <a:lstStyle/>
          <a:p>
            <a:fld id="{CE58CB1E-F828-4F11-99E0-327109AF9DA4}" type="slidenum">
              <a:rPr lang="de-DE" smtClean="0"/>
              <a:pPr/>
              <a:t>4</a:t>
            </a:fld>
            <a:endParaRPr lang="de-DE"/>
          </a:p>
        </p:txBody>
      </p:sp>
      <p:sp>
        <p:nvSpPr>
          <p:cNvPr id="5" name="Footer Placeholder 4">
            <a:extLst>
              <a:ext uri="{FF2B5EF4-FFF2-40B4-BE49-F238E27FC236}">
                <a16:creationId xmlns:a16="http://schemas.microsoft.com/office/drawing/2014/main" id="{5E584206-47AF-A185-AF2C-BA3A608C5186}"/>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spTree>
    <p:extLst>
      <p:ext uri="{BB962C8B-B14F-4D97-AF65-F5344CB8AC3E}">
        <p14:creationId xmlns:p14="http://schemas.microsoft.com/office/powerpoint/2010/main" val="2637129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CFF17F6-0D72-EF1B-4B7D-255FA3421C0C}"/>
              </a:ext>
            </a:extLst>
          </p:cNvPr>
          <p:cNvSpPr>
            <a:spLocks noGrp="1"/>
          </p:cNvSpPr>
          <p:nvPr>
            <p:ph idx="1"/>
          </p:nvPr>
        </p:nvSpPr>
        <p:spPr/>
        <p:txBody>
          <a:bodyPr/>
          <a:lstStyle/>
          <a:p>
            <a:r>
              <a:rPr lang="de-DE" b="1" dirty="0" err="1"/>
              <a:t>Neural</a:t>
            </a:r>
            <a:r>
              <a:rPr lang="de-DE" b="1" dirty="0"/>
              <a:t> network </a:t>
            </a:r>
            <a:r>
              <a:rPr lang="de-DE" b="1" dirty="0" err="1"/>
              <a:t>definition</a:t>
            </a:r>
            <a:endParaRPr lang="de-DE" dirty="0"/>
          </a:p>
          <a:p>
            <a:pPr>
              <a:lnSpc>
                <a:spcPts val="1425"/>
              </a:lnSpc>
            </a:pPr>
            <a:r>
              <a:rPr lang="en-US" dirty="0">
                <a:solidFill>
                  <a:srgbClr val="000000"/>
                </a:solidFill>
                <a:latin typeface="Consolas" panose="020B0609020204030204" pitchFamily="49" charset="0"/>
              </a:rPr>
              <a:t>modules = []</a:t>
            </a:r>
          </a:p>
          <a:p>
            <a:pPr>
              <a:lnSpc>
                <a:spcPts val="1425"/>
              </a:lnSpc>
            </a:pPr>
            <a:r>
              <a:rPr lang="en-US" dirty="0" err="1">
                <a:solidFill>
                  <a:srgbClr val="000000"/>
                </a:solidFill>
                <a:latin typeface="Consolas" panose="020B0609020204030204" pitchFamily="49" charset="0"/>
              </a:rPr>
              <a:t>modules.append</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torch.nn.Linear</a:t>
            </a:r>
            <a:r>
              <a:rPr lang="en-US" dirty="0">
                <a:solidFill>
                  <a:srgbClr val="000000"/>
                </a:solidFill>
                <a:latin typeface="Consolas" panose="020B0609020204030204" pitchFamily="49" charset="0"/>
              </a:rPr>
              <a:t>(</a:t>
            </a:r>
            <a:r>
              <a:rPr lang="en-US" dirty="0">
                <a:solidFill>
                  <a:srgbClr val="098658"/>
                </a:solidFill>
                <a:latin typeface="Consolas" panose="020B0609020204030204" pitchFamily="49" charset="0"/>
              </a:rPr>
              <a:t>1</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50</a:t>
            </a:r>
            <a:r>
              <a:rPr lang="en-US" dirty="0">
                <a:solidFill>
                  <a:srgbClr val="000000"/>
                </a:solidFill>
                <a:latin typeface="Consolas" panose="020B0609020204030204" pitchFamily="49" charset="0"/>
              </a:rPr>
              <a:t>))</a:t>
            </a:r>
          </a:p>
          <a:p>
            <a:pPr>
              <a:lnSpc>
                <a:spcPts val="1425"/>
              </a:lnSpc>
            </a:pPr>
            <a:r>
              <a:rPr lang="en-US" dirty="0" err="1">
                <a:solidFill>
                  <a:srgbClr val="000000"/>
                </a:solidFill>
                <a:latin typeface="Consolas" panose="020B0609020204030204" pitchFamily="49" charset="0"/>
              </a:rPr>
              <a:t>modules.append</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torch.nn.Tanh</a:t>
            </a:r>
            <a:r>
              <a:rPr lang="en-US" dirty="0">
                <a:solidFill>
                  <a:srgbClr val="000000"/>
                </a:solidFill>
                <a:latin typeface="Consolas" panose="020B0609020204030204" pitchFamily="49" charset="0"/>
              </a:rPr>
              <a:t>())</a:t>
            </a:r>
          </a:p>
          <a:p>
            <a:pPr>
              <a:lnSpc>
                <a:spcPts val="1425"/>
              </a:lnSpc>
            </a:pPr>
            <a:r>
              <a:rPr lang="en-US" dirty="0" err="1">
                <a:solidFill>
                  <a:srgbClr val="000000"/>
                </a:solidFill>
                <a:latin typeface="Consolas" panose="020B0609020204030204" pitchFamily="49" charset="0"/>
              </a:rPr>
              <a:t>modules.append</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torch.nn.Linear</a:t>
            </a:r>
            <a:r>
              <a:rPr lang="en-US" dirty="0">
                <a:solidFill>
                  <a:srgbClr val="000000"/>
                </a:solidFill>
                <a:latin typeface="Consolas" panose="020B0609020204030204" pitchFamily="49" charset="0"/>
              </a:rPr>
              <a:t>(</a:t>
            </a:r>
            <a:r>
              <a:rPr lang="en-US" dirty="0">
                <a:solidFill>
                  <a:srgbClr val="098658"/>
                </a:solidFill>
                <a:latin typeface="Consolas" panose="020B0609020204030204" pitchFamily="49" charset="0"/>
              </a:rPr>
              <a:t>50</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50</a:t>
            </a:r>
            <a:r>
              <a:rPr lang="en-US" dirty="0">
                <a:solidFill>
                  <a:srgbClr val="000000"/>
                </a:solidFill>
                <a:latin typeface="Consolas" panose="020B0609020204030204" pitchFamily="49" charset="0"/>
              </a:rPr>
              <a:t>))</a:t>
            </a:r>
          </a:p>
          <a:p>
            <a:pPr>
              <a:lnSpc>
                <a:spcPts val="1425"/>
              </a:lnSpc>
            </a:pPr>
            <a:r>
              <a:rPr lang="en-US" dirty="0" err="1">
                <a:solidFill>
                  <a:srgbClr val="000000"/>
                </a:solidFill>
                <a:latin typeface="Consolas" panose="020B0609020204030204" pitchFamily="49" charset="0"/>
              </a:rPr>
              <a:t>modules.append</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torch.nn.Tanh</a:t>
            </a:r>
            <a:r>
              <a:rPr lang="en-US" dirty="0">
                <a:solidFill>
                  <a:srgbClr val="000000"/>
                </a:solidFill>
                <a:latin typeface="Consolas" panose="020B0609020204030204" pitchFamily="49" charset="0"/>
              </a:rPr>
              <a:t>())</a:t>
            </a:r>
          </a:p>
          <a:p>
            <a:pPr>
              <a:lnSpc>
                <a:spcPts val="1425"/>
              </a:lnSpc>
            </a:pPr>
            <a:r>
              <a:rPr lang="en-US" dirty="0" err="1">
                <a:solidFill>
                  <a:srgbClr val="000000"/>
                </a:solidFill>
                <a:latin typeface="Consolas" panose="020B0609020204030204" pitchFamily="49" charset="0"/>
              </a:rPr>
              <a:t>modules.append</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torch.nn.Linear</a:t>
            </a:r>
            <a:r>
              <a:rPr lang="en-US" dirty="0">
                <a:solidFill>
                  <a:srgbClr val="000000"/>
                </a:solidFill>
                <a:latin typeface="Consolas" panose="020B0609020204030204" pitchFamily="49" charset="0"/>
              </a:rPr>
              <a:t>(</a:t>
            </a:r>
            <a:r>
              <a:rPr lang="en-US" dirty="0">
                <a:solidFill>
                  <a:srgbClr val="098658"/>
                </a:solidFill>
                <a:latin typeface="Consolas" panose="020B0609020204030204" pitchFamily="49" charset="0"/>
              </a:rPr>
              <a:t>50</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1</a:t>
            </a:r>
            <a:r>
              <a:rPr lang="en-US" dirty="0">
                <a:solidFill>
                  <a:srgbClr val="000000"/>
                </a:solidFill>
                <a:latin typeface="Consolas" panose="020B0609020204030204" pitchFamily="49" charset="0"/>
              </a:rPr>
              <a:t>))</a:t>
            </a:r>
          </a:p>
          <a:p>
            <a:pPr>
              <a:lnSpc>
                <a:spcPts val="1425"/>
              </a:lnSpc>
            </a:pPr>
            <a:br>
              <a:rPr lang="en-US" dirty="0">
                <a:solidFill>
                  <a:srgbClr val="000000"/>
                </a:solidFill>
                <a:latin typeface="Consolas" panose="020B0609020204030204" pitchFamily="49" charset="0"/>
              </a:rPr>
            </a:br>
            <a:r>
              <a:rPr lang="en-US" dirty="0">
                <a:solidFill>
                  <a:srgbClr val="000000"/>
                </a:solidFill>
                <a:latin typeface="Consolas" panose="020B0609020204030204" pitchFamily="49" charset="0"/>
              </a:rPr>
              <a:t>model = </a:t>
            </a:r>
            <a:r>
              <a:rPr lang="en-US" dirty="0" err="1">
                <a:solidFill>
                  <a:srgbClr val="000000"/>
                </a:solidFill>
                <a:latin typeface="Consolas" panose="020B0609020204030204" pitchFamily="49" charset="0"/>
              </a:rPr>
              <a:t>torch.nn.Sequential</a:t>
            </a:r>
            <a:r>
              <a:rPr lang="en-US" dirty="0">
                <a:solidFill>
                  <a:srgbClr val="000000"/>
                </a:solidFill>
                <a:latin typeface="Consolas" panose="020B0609020204030204" pitchFamily="49" charset="0"/>
              </a:rPr>
              <a:t>(*modules)</a:t>
            </a:r>
          </a:p>
          <a:p>
            <a:endParaRPr lang="da-DK" dirty="0">
              <a:latin typeface="DejaVu Sans Mono" panose="020B0609030804020204" pitchFamily="49" charset="0"/>
            </a:endParaRPr>
          </a:p>
          <a:p>
            <a:r>
              <a:rPr lang="de-DE" b="1" dirty="0"/>
              <a:t>Training </a:t>
            </a:r>
            <a:r>
              <a:rPr lang="de-DE" b="1" dirty="0" err="1"/>
              <a:t>data</a:t>
            </a:r>
            <a:endParaRPr lang="da-DK" dirty="0">
              <a:latin typeface="DejaVu Sans Mono" panose="020B0609030804020204" pitchFamily="49" charset="0"/>
            </a:endParaRPr>
          </a:p>
          <a:p>
            <a:pPr>
              <a:lnSpc>
                <a:spcPts val="1425"/>
              </a:lnSpc>
            </a:pPr>
            <a:r>
              <a:rPr lang="en-US" dirty="0">
                <a:solidFill>
                  <a:srgbClr val="000000"/>
                </a:solidFill>
                <a:latin typeface="Consolas" panose="020B0609020204030204" pitchFamily="49" charset="0"/>
              </a:rPr>
              <a:t>x = </a:t>
            </a:r>
            <a:r>
              <a:rPr lang="en-US" dirty="0" err="1">
                <a:solidFill>
                  <a:srgbClr val="000000"/>
                </a:solidFill>
                <a:latin typeface="Consolas" panose="020B0609020204030204" pitchFamily="49" charset="0"/>
              </a:rPr>
              <a:t>torch.rand</a:t>
            </a:r>
            <a:r>
              <a:rPr lang="en-US" dirty="0">
                <a:solidFill>
                  <a:srgbClr val="000000"/>
                </a:solidFill>
                <a:latin typeface="Consolas" panose="020B0609020204030204" pitchFamily="49" charset="0"/>
              </a:rPr>
              <a:t>((</a:t>
            </a:r>
            <a:r>
              <a:rPr lang="en-US" dirty="0">
                <a:solidFill>
                  <a:srgbClr val="098658"/>
                </a:solidFill>
                <a:latin typeface="Consolas" panose="020B0609020204030204" pitchFamily="49" charset="0"/>
              </a:rPr>
              <a:t>40</a:t>
            </a:r>
            <a:r>
              <a:rPr lang="en-US" dirty="0">
                <a:solidFill>
                  <a:srgbClr val="000000"/>
                </a:solidFill>
                <a:latin typeface="Consolas" panose="020B0609020204030204" pitchFamily="49" charset="0"/>
              </a:rPr>
              <a:t>, </a:t>
            </a:r>
            <a:r>
              <a:rPr lang="en-US" dirty="0">
                <a:solidFill>
                  <a:srgbClr val="098658"/>
                </a:solidFill>
                <a:latin typeface="Consolas" panose="020B0609020204030204" pitchFamily="49" charset="0"/>
              </a:rPr>
              <a:t>1</a:t>
            </a:r>
            <a:r>
              <a:rPr lang="en-US" dirty="0">
                <a:solidFill>
                  <a:srgbClr val="000000"/>
                </a:solidFill>
                <a:latin typeface="Consolas" panose="020B0609020204030204" pitchFamily="49" charset="0"/>
              </a:rPr>
              <a:t>)) * </a:t>
            </a:r>
            <a:r>
              <a:rPr lang="en-US" dirty="0">
                <a:solidFill>
                  <a:srgbClr val="098658"/>
                </a:solidFill>
                <a:latin typeface="Consolas" panose="020B0609020204030204" pitchFamily="49" charset="0"/>
              </a:rPr>
              <a:t>2</a:t>
            </a:r>
            <a:r>
              <a:rPr lang="en-US" dirty="0">
                <a:solidFill>
                  <a:srgbClr val="000000"/>
                </a:solidFill>
                <a:latin typeface="Consolas" panose="020B0609020204030204" pitchFamily="49" charset="0"/>
              </a:rPr>
              <a:t> – </a:t>
            </a:r>
            <a:r>
              <a:rPr lang="en-US" dirty="0">
                <a:solidFill>
                  <a:srgbClr val="098658"/>
                </a:solidFill>
                <a:latin typeface="Consolas" panose="020B0609020204030204" pitchFamily="49" charset="0"/>
              </a:rPr>
              <a:t>1</a:t>
            </a:r>
            <a:endParaRPr lang="en-US" dirty="0">
              <a:solidFill>
                <a:srgbClr val="000000"/>
              </a:solidFill>
              <a:latin typeface="Consolas" panose="020B0609020204030204" pitchFamily="49" charset="0"/>
            </a:endParaRPr>
          </a:p>
          <a:p>
            <a:pPr>
              <a:lnSpc>
                <a:spcPts val="1425"/>
              </a:lnSpc>
            </a:pPr>
            <a:r>
              <a:rPr lang="en-US" dirty="0">
                <a:solidFill>
                  <a:srgbClr val="000000"/>
                </a:solidFill>
                <a:latin typeface="Consolas" panose="020B0609020204030204" pitchFamily="49" charset="0"/>
              </a:rPr>
              <a:t>noise = </a:t>
            </a:r>
            <a:r>
              <a:rPr lang="en-US" dirty="0" err="1">
                <a:solidFill>
                  <a:srgbClr val="000000"/>
                </a:solidFill>
                <a:latin typeface="Consolas" panose="020B0609020204030204" pitchFamily="49" charset="0"/>
              </a:rPr>
              <a:t>torch.rand</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x.shape</a:t>
            </a:r>
            <a:r>
              <a:rPr lang="en-US" dirty="0">
                <a:solidFill>
                  <a:srgbClr val="000000"/>
                </a:solidFill>
                <a:latin typeface="Consolas" panose="020B0609020204030204" pitchFamily="49" charset="0"/>
              </a:rPr>
              <a:t>) * </a:t>
            </a:r>
            <a:r>
              <a:rPr lang="en-US" dirty="0">
                <a:solidFill>
                  <a:srgbClr val="098658"/>
                </a:solidFill>
                <a:latin typeface="Consolas" panose="020B0609020204030204" pitchFamily="49" charset="0"/>
              </a:rPr>
              <a:t>0.2</a:t>
            </a:r>
            <a:r>
              <a:rPr lang="en-US" dirty="0">
                <a:solidFill>
                  <a:srgbClr val="000000"/>
                </a:solidFill>
                <a:latin typeface="Consolas" panose="020B0609020204030204" pitchFamily="49" charset="0"/>
              </a:rPr>
              <a:t> – </a:t>
            </a:r>
            <a:r>
              <a:rPr lang="en-US" dirty="0">
                <a:solidFill>
                  <a:srgbClr val="098658"/>
                </a:solidFill>
                <a:latin typeface="Consolas" panose="020B0609020204030204" pitchFamily="49" charset="0"/>
              </a:rPr>
              <a:t>0.1</a:t>
            </a:r>
            <a:endParaRPr lang="en-US" dirty="0">
              <a:solidFill>
                <a:srgbClr val="000000"/>
              </a:solidFill>
              <a:latin typeface="Consolas" panose="020B0609020204030204" pitchFamily="49" charset="0"/>
            </a:endParaRPr>
          </a:p>
          <a:p>
            <a:pPr>
              <a:lnSpc>
                <a:spcPts val="1425"/>
              </a:lnSpc>
            </a:pPr>
            <a:r>
              <a:rPr lang="en-US" dirty="0">
                <a:solidFill>
                  <a:srgbClr val="000000"/>
                </a:solidFill>
                <a:latin typeface="Consolas" panose="020B0609020204030204" pitchFamily="49" charset="0"/>
              </a:rPr>
              <a:t>y = </a:t>
            </a:r>
            <a:r>
              <a:rPr lang="en-US" dirty="0" err="1">
                <a:solidFill>
                  <a:srgbClr val="000000"/>
                </a:solidFill>
                <a:latin typeface="Consolas" panose="020B0609020204030204" pitchFamily="49" charset="0"/>
              </a:rPr>
              <a:t>torch.sin</a:t>
            </a:r>
            <a:r>
              <a:rPr lang="en-US" dirty="0">
                <a:solidFill>
                  <a:srgbClr val="000000"/>
                </a:solidFill>
                <a:latin typeface="Consolas" panose="020B0609020204030204" pitchFamily="49" charset="0"/>
              </a:rPr>
              <a:t>(</a:t>
            </a:r>
            <a:r>
              <a:rPr lang="en-US" dirty="0">
                <a:solidFill>
                  <a:srgbClr val="098658"/>
                </a:solidFill>
                <a:latin typeface="Consolas" panose="020B0609020204030204" pitchFamily="49" charset="0"/>
              </a:rPr>
              <a:t>2</a:t>
            </a:r>
            <a:r>
              <a:rPr lang="en-US" dirty="0">
                <a:solidFill>
                  <a:srgbClr val="000000"/>
                </a:solidFill>
                <a:latin typeface="Consolas" panose="020B0609020204030204" pitchFamily="49" charset="0"/>
              </a:rPr>
              <a:t> * </a:t>
            </a:r>
            <a:r>
              <a:rPr lang="en-US" dirty="0" err="1">
                <a:solidFill>
                  <a:srgbClr val="000000"/>
                </a:solidFill>
                <a:latin typeface="Consolas" panose="020B0609020204030204" pitchFamily="49" charset="0"/>
              </a:rPr>
              <a:t>torch.pi</a:t>
            </a:r>
            <a:r>
              <a:rPr lang="en-US" dirty="0">
                <a:solidFill>
                  <a:srgbClr val="000000"/>
                </a:solidFill>
                <a:latin typeface="Consolas" panose="020B0609020204030204" pitchFamily="49" charset="0"/>
              </a:rPr>
              <a:t> * x) + noise</a:t>
            </a:r>
          </a:p>
          <a:p>
            <a:endParaRPr lang="da-DK" dirty="0">
              <a:latin typeface="DejaVu Sans Mono" panose="020B0609030804020204" pitchFamily="49" charset="0"/>
            </a:endParaRPr>
          </a:p>
          <a:p>
            <a:endParaRPr lang="da-DK" dirty="0">
              <a:latin typeface="DejaVu Sans Mono" panose="020B0609030804020204" pitchFamily="49" charset="0"/>
            </a:endParaRPr>
          </a:p>
          <a:p>
            <a:endParaRPr lang="da-DK" dirty="0">
              <a:latin typeface="DejaVu Sans Mono" panose="020B0609030804020204" pitchFamily="49" charset="0"/>
            </a:endParaRPr>
          </a:p>
          <a:p>
            <a:endParaRPr lang="en-US" dirty="0"/>
          </a:p>
        </p:txBody>
      </p:sp>
      <p:sp>
        <p:nvSpPr>
          <p:cNvPr id="3" name="Title 2">
            <a:extLst>
              <a:ext uri="{FF2B5EF4-FFF2-40B4-BE49-F238E27FC236}">
                <a16:creationId xmlns:a16="http://schemas.microsoft.com/office/drawing/2014/main" id="{C58338AC-ED39-3099-18FB-7636E8CB5E77}"/>
              </a:ext>
            </a:extLst>
          </p:cNvPr>
          <p:cNvSpPr>
            <a:spLocks noGrp="1"/>
          </p:cNvSpPr>
          <p:nvPr>
            <p:ph type="title"/>
          </p:nvPr>
        </p:nvSpPr>
        <p:spPr/>
        <p:txBody>
          <a:bodyPr/>
          <a:lstStyle/>
          <a:p>
            <a:r>
              <a:rPr lang="de-DE" dirty="0"/>
              <a:t>3.8 </a:t>
            </a:r>
            <a:r>
              <a:rPr lang="de-DE" dirty="0" err="1"/>
              <a:t>Approximating</a:t>
            </a:r>
            <a:r>
              <a:rPr lang="de-DE" dirty="0"/>
              <a:t> </a:t>
            </a:r>
            <a:r>
              <a:rPr lang="de-DE" dirty="0" err="1"/>
              <a:t>the</a:t>
            </a:r>
            <a:r>
              <a:rPr lang="de-DE" dirty="0"/>
              <a:t> Sine </a:t>
            </a:r>
            <a:r>
              <a:rPr lang="de-DE" dirty="0" err="1"/>
              <a:t>Function</a:t>
            </a:r>
            <a:r>
              <a:rPr lang="de-DE" dirty="0"/>
              <a:t> – </a:t>
            </a:r>
            <a:r>
              <a:rPr lang="de-DE" dirty="0" err="1"/>
              <a:t>PyTorch</a:t>
            </a:r>
            <a:r>
              <a:rPr lang="de-DE" dirty="0"/>
              <a:t> </a:t>
            </a:r>
            <a:endParaRPr lang="en-US" dirty="0"/>
          </a:p>
        </p:txBody>
      </p:sp>
      <p:sp>
        <p:nvSpPr>
          <p:cNvPr id="4" name="Slide Number Placeholder 3">
            <a:extLst>
              <a:ext uri="{FF2B5EF4-FFF2-40B4-BE49-F238E27FC236}">
                <a16:creationId xmlns:a16="http://schemas.microsoft.com/office/drawing/2014/main" id="{AD511201-0411-70A0-DDA7-A1BBE83894C5}"/>
              </a:ext>
            </a:extLst>
          </p:cNvPr>
          <p:cNvSpPr>
            <a:spLocks noGrp="1"/>
          </p:cNvSpPr>
          <p:nvPr>
            <p:ph type="sldNum" sz="quarter" idx="11"/>
          </p:nvPr>
        </p:nvSpPr>
        <p:spPr/>
        <p:txBody>
          <a:bodyPr/>
          <a:lstStyle/>
          <a:p>
            <a:fld id="{CE58CB1E-F828-4F11-99E0-327109AF9DA4}" type="slidenum">
              <a:rPr lang="de-DE" smtClean="0"/>
              <a:pPr/>
              <a:t>5</a:t>
            </a:fld>
            <a:endParaRPr lang="de-DE"/>
          </a:p>
        </p:txBody>
      </p:sp>
      <p:sp>
        <p:nvSpPr>
          <p:cNvPr id="5" name="Footer Placeholder 4">
            <a:extLst>
              <a:ext uri="{FF2B5EF4-FFF2-40B4-BE49-F238E27FC236}">
                <a16:creationId xmlns:a16="http://schemas.microsoft.com/office/drawing/2014/main" id="{5118D4C9-BD23-6D18-0F55-DD2EA82D1622}"/>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spTree>
    <p:extLst>
      <p:ext uri="{BB962C8B-B14F-4D97-AF65-F5344CB8AC3E}">
        <p14:creationId xmlns:p14="http://schemas.microsoft.com/office/powerpoint/2010/main" val="1462432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2B9598-050B-187A-901D-A2310EF9AB0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7F19C2-2476-B555-C536-134AF9B2763C}"/>
              </a:ext>
            </a:extLst>
          </p:cNvPr>
          <p:cNvSpPr>
            <a:spLocks noGrp="1"/>
          </p:cNvSpPr>
          <p:nvPr>
            <p:ph idx="1"/>
          </p:nvPr>
        </p:nvSpPr>
        <p:spPr/>
        <p:txBody>
          <a:bodyPr/>
          <a:lstStyle/>
          <a:p>
            <a:r>
              <a:rPr lang="de-DE" b="1" dirty="0" err="1"/>
              <a:t>Cost</a:t>
            </a:r>
            <a:r>
              <a:rPr lang="de-DE" b="1" dirty="0"/>
              <a:t> </a:t>
            </a:r>
            <a:r>
              <a:rPr lang="de-DE" b="1" dirty="0" err="1"/>
              <a:t>function</a:t>
            </a:r>
            <a:r>
              <a:rPr lang="de-DE" b="1" dirty="0"/>
              <a:t> </a:t>
            </a:r>
            <a:r>
              <a:rPr lang="de-DE" b="1" dirty="0" err="1"/>
              <a:t>definition</a:t>
            </a:r>
            <a:endParaRPr lang="de-DE" dirty="0"/>
          </a:p>
          <a:p>
            <a:pPr>
              <a:lnSpc>
                <a:spcPts val="1425"/>
              </a:lnSpc>
            </a:pPr>
            <a:r>
              <a:rPr lang="en-US" dirty="0">
                <a:solidFill>
                  <a:srgbClr val="0000FF"/>
                </a:solidFill>
                <a:latin typeface="Consolas" panose="020B0609020204030204" pitchFamily="49" charset="0"/>
              </a:rPr>
              <a:t>def</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costFunction</a:t>
            </a:r>
            <a:r>
              <a:rPr lang="en-US" dirty="0">
                <a:solidFill>
                  <a:srgbClr val="000000"/>
                </a:solidFill>
                <a:latin typeface="Consolas" panose="020B0609020204030204" pitchFamily="49" charset="0"/>
              </a:rPr>
              <a:t>(y, </a:t>
            </a:r>
            <a:r>
              <a:rPr lang="en-US" dirty="0" err="1">
                <a:solidFill>
                  <a:srgbClr val="000000"/>
                </a:solidFill>
                <a:latin typeface="Consolas" panose="020B0609020204030204" pitchFamily="49" charset="0"/>
              </a:rPr>
              <a:t>yPred</a:t>
            </a:r>
            <a:r>
              <a:rPr lang="en-US" dirty="0">
                <a:solidFill>
                  <a:srgbClr val="000000"/>
                </a:solidFill>
                <a:latin typeface="Consolas" panose="020B0609020204030204" pitchFamily="49" charset="0"/>
              </a:rPr>
              <a:t>):</a:t>
            </a:r>
          </a:p>
          <a:p>
            <a:pPr>
              <a:lnSpc>
                <a:spcPts val="1425"/>
              </a:lnSpc>
            </a:pP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return</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torch.mean</a:t>
            </a:r>
            <a:r>
              <a:rPr lang="en-US" dirty="0">
                <a:solidFill>
                  <a:srgbClr val="000000"/>
                </a:solidFill>
                <a:latin typeface="Consolas" panose="020B0609020204030204" pitchFamily="49" charset="0"/>
              </a:rPr>
              <a:t>((y – </a:t>
            </a:r>
            <a:r>
              <a:rPr lang="en-US" dirty="0" err="1">
                <a:solidFill>
                  <a:srgbClr val="000000"/>
                </a:solidFill>
                <a:latin typeface="Consolas" panose="020B0609020204030204" pitchFamily="49" charset="0"/>
              </a:rPr>
              <a:t>yPred</a:t>
            </a:r>
            <a:r>
              <a:rPr lang="en-US" dirty="0">
                <a:solidFill>
                  <a:srgbClr val="000000"/>
                </a:solidFill>
                <a:latin typeface="Consolas" panose="020B0609020204030204" pitchFamily="49" charset="0"/>
              </a:rPr>
              <a:t>) ** </a:t>
            </a:r>
            <a:r>
              <a:rPr lang="en-US" dirty="0">
                <a:solidFill>
                  <a:srgbClr val="098658"/>
                </a:solidFill>
                <a:latin typeface="Consolas" panose="020B0609020204030204" pitchFamily="49" charset="0"/>
              </a:rPr>
              <a:t>2</a:t>
            </a:r>
            <a:r>
              <a:rPr lang="en-US" dirty="0">
                <a:solidFill>
                  <a:srgbClr val="000000"/>
                </a:solidFill>
                <a:latin typeface="Consolas" panose="020B0609020204030204" pitchFamily="49" charset="0"/>
              </a:rPr>
              <a:t>)</a:t>
            </a:r>
          </a:p>
          <a:p>
            <a:pPr>
              <a:lnSpc>
                <a:spcPts val="1425"/>
              </a:lnSpc>
            </a:pPr>
            <a:endParaRPr lang="da-DK" dirty="0">
              <a:latin typeface="DejaVu Sans Mono" panose="020B0609030804020204" pitchFamily="49" charset="0"/>
            </a:endParaRPr>
          </a:p>
          <a:p>
            <a:r>
              <a:rPr lang="de-DE" b="1" dirty="0" err="1"/>
              <a:t>Prediction</a:t>
            </a:r>
            <a:r>
              <a:rPr lang="de-DE" b="1" dirty="0"/>
              <a:t> and </a:t>
            </a:r>
            <a:r>
              <a:rPr lang="de-DE" b="1" dirty="0" err="1"/>
              <a:t>cost</a:t>
            </a:r>
            <a:r>
              <a:rPr lang="de-DE" b="1" dirty="0"/>
              <a:t> </a:t>
            </a:r>
            <a:r>
              <a:rPr lang="de-DE" b="1" dirty="0" err="1"/>
              <a:t>function</a:t>
            </a:r>
            <a:r>
              <a:rPr lang="de-DE" b="1" dirty="0"/>
              <a:t> </a:t>
            </a:r>
            <a:r>
              <a:rPr lang="de-DE" b="1" dirty="0" err="1"/>
              <a:t>evaluation</a:t>
            </a:r>
            <a:endParaRPr lang="da-DK" dirty="0">
              <a:latin typeface="DejaVu Sans Mono" panose="020B0609030804020204" pitchFamily="49" charset="0"/>
            </a:endParaRPr>
          </a:p>
          <a:p>
            <a:pPr>
              <a:lnSpc>
                <a:spcPts val="1425"/>
              </a:lnSpc>
            </a:pPr>
            <a:r>
              <a:rPr lang="en-US" dirty="0" err="1">
                <a:solidFill>
                  <a:srgbClr val="000000"/>
                </a:solidFill>
                <a:latin typeface="Consolas" panose="020B0609020204030204" pitchFamily="49" charset="0"/>
              </a:rPr>
              <a:t>yPred</a:t>
            </a:r>
            <a:r>
              <a:rPr lang="en-US" dirty="0">
                <a:solidFill>
                  <a:srgbClr val="000000"/>
                </a:solidFill>
                <a:latin typeface="Consolas" panose="020B0609020204030204" pitchFamily="49" charset="0"/>
              </a:rPr>
              <a:t> = model(x)</a:t>
            </a:r>
          </a:p>
          <a:p>
            <a:pPr>
              <a:lnSpc>
                <a:spcPts val="1425"/>
              </a:lnSpc>
            </a:pPr>
            <a:r>
              <a:rPr lang="en-US" dirty="0">
                <a:solidFill>
                  <a:srgbClr val="000000"/>
                </a:solidFill>
                <a:latin typeface="Consolas" panose="020B0609020204030204" pitchFamily="49" charset="0"/>
              </a:rPr>
              <a:t>cost = </a:t>
            </a:r>
            <a:r>
              <a:rPr lang="en-US" dirty="0" err="1">
                <a:solidFill>
                  <a:srgbClr val="000000"/>
                </a:solidFill>
                <a:latin typeface="Consolas" panose="020B0609020204030204" pitchFamily="49" charset="0"/>
              </a:rPr>
              <a:t>costFunction</a:t>
            </a:r>
            <a:r>
              <a:rPr lang="en-US" dirty="0">
                <a:solidFill>
                  <a:srgbClr val="000000"/>
                </a:solidFill>
                <a:latin typeface="Consolas" panose="020B0609020204030204" pitchFamily="49" charset="0"/>
              </a:rPr>
              <a:t>(y, </a:t>
            </a:r>
            <a:r>
              <a:rPr lang="en-US" dirty="0" err="1">
                <a:solidFill>
                  <a:srgbClr val="000000"/>
                </a:solidFill>
                <a:latin typeface="Consolas" panose="020B0609020204030204" pitchFamily="49" charset="0"/>
              </a:rPr>
              <a:t>yPred</a:t>
            </a:r>
            <a:r>
              <a:rPr lang="en-US" dirty="0">
                <a:solidFill>
                  <a:srgbClr val="000000"/>
                </a:solidFill>
                <a:latin typeface="Consolas" panose="020B0609020204030204" pitchFamily="49" charset="0"/>
              </a:rPr>
              <a:t>)</a:t>
            </a:r>
          </a:p>
          <a:p>
            <a:pPr>
              <a:lnSpc>
                <a:spcPts val="1425"/>
              </a:lnSpc>
            </a:pPr>
            <a:r>
              <a:rPr lang="en-US" dirty="0" err="1">
                <a:solidFill>
                  <a:srgbClr val="000000"/>
                </a:solidFill>
                <a:latin typeface="Consolas" panose="020B0609020204030204" pitchFamily="49" charset="0"/>
              </a:rPr>
              <a:t>cost.backward</a:t>
            </a:r>
            <a:r>
              <a:rPr lang="en-US" dirty="0">
                <a:solidFill>
                  <a:srgbClr val="000000"/>
                </a:solidFill>
                <a:latin typeface="Consolas" panose="020B0609020204030204" pitchFamily="49" charset="0"/>
              </a:rPr>
              <a:t>()             </a:t>
            </a:r>
            <a:r>
              <a:rPr lang="en-US" dirty="0">
                <a:solidFill>
                  <a:schemeClr val="bg1">
                    <a:lumMod val="65000"/>
                  </a:schemeClr>
                </a:solidFill>
                <a:latin typeface="Consolas" panose="020B0609020204030204" pitchFamily="49" charset="0"/>
              </a:rPr>
              <a:t>#computes the gradient</a:t>
            </a:r>
          </a:p>
          <a:p>
            <a:endParaRPr lang="da-DK" dirty="0">
              <a:latin typeface="DejaVu Sans Mono" panose="020B0609030804020204" pitchFamily="49" charset="0"/>
            </a:endParaRPr>
          </a:p>
          <a:p>
            <a:r>
              <a:rPr lang="de-DE" b="1" dirty="0"/>
              <a:t>Optimizer </a:t>
            </a:r>
            <a:r>
              <a:rPr lang="de-DE" b="1" dirty="0" err="1"/>
              <a:t>definition</a:t>
            </a:r>
            <a:endParaRPr lang="da-DK" dirty="0">
              <a:latin typeface="DejaVu Sans Mono" panose="020B0609030804020204" pitchFamily="49" charset="0"/>
            </a:endParaRPr>
          </a:p>
          <a:p>
            <a:pPr>
              <a:lnSpc>
                <a:spcPts val="1425"/>
              </a:lnSpc>
            </a:pPr>
            <a:r>
              <a:rPr lang="en-US" dirty="0">
                <a:solidFill>
                  <a:srgbClr val="000000"/>
                </a:solidFill>
                <a:latin typeface="Consolas" panose="020B0609020204030204" pitchFamily="49" charset="0"/>
              </a:rPr>
              <a:t>epochs = </a:t>
            </a:r>
            <a:r>
              <a:rPr lang="en-US" dirty="0">
                <a:solidFill>
                  <a:srgbClr val="098658"/>
                </a:solidFill>
                <a:latin typeface="Consolas" panose="020B0609020204030204" pitchFamily="49" charset="0"/>
              </a:rPr>
              <a:t>10000</a:t>
            </a:r>
            <a:endParaRPr lang="en-US" dirty="0">
              <a:solidFill>
                <a:srgbClr val="000000"/>
              </a:solidFill>
              <a:latin typeface="Consolas" panose="020B0609020204030204" pitchFamily="49" charset="0"/>
            </a:endParaRPr>
          </a:p>
          <a:p>
            <a:pPr>
              <a:lnSpc>
                <a:spcPts val="1425"/>
              </a:lnSpc>
            </a:pPr>
            <a:r>
              <a:rPr lang="en-US" dirty="0">
                <a:solidFill>
                  <a:srgbClr val="000000"/>
                </a:solidFill>
                <a:latin typeface="Consolas" panose="020B0609020204030204" pitchFamily="49" charset="0"/>
              </a:rPr>
              <a:t>optimizer = </a:t>
            </a:r>
            <a:r>
              <a:rPr lang="en-US" dirty="0" err="1">
                <a:solidFill>
                  <a:srgbClr val="000000"/>
                </a:solidFill>
                <a:latin typeface="Consolas" panose="020B0609020204030204" pitchFamily="49" charset="0"/>
              </a:rPr>
              <a:t>torch.optim.Adam</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model.parameters</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lr</a:t>
            </a:r>
            <a:r>
              <a:rPr lang="en-US" dirty="0">
                <a:solidFill>
                  <a:srgbClr val="000000"/>
                </a:solidFill>
                <a:latin typeface="Consolas" panose="020B0609020204030204" pitchFamily="49" charset="0"/>
              </a:rPr>
              <a:t>=</a:t>
            </a:r>
            <a:r>
              <a:rPr lang="en-US" dirty="0">
                <a:solidFill>
                  <a:srgbClr val="098658"/>
                </a:solidFill>
                <a:latin typeface="Consolas" panose="020B0609020204030204" pitchFamily="49" charset="0"/>
              </a:rPr>
              <a:t>0.001</a:t>
            </a:r>
            <a:r>
              <a:rPr lang="en-US" dirty="0">
                <a:solidFill>
                  <a:srgbClr val="000000"/>
                </a:solidFill>
                <a:latin typeface="Consolas" panose="020B0609020204030204" pitchFamily="49" charset="0"/>
              </a:rPr>
              <a:t>)</a:t>
            </a:r>
          </a:p>
          <a:p>
            <a:endParaRPr lang="da-DK" dirty="0">
              <a:latin typeface="DejaVu Sans Mono" panose="020B0609030804020204" pitchFamily="49" charset="0"/>
            </a:endParaRPr>
          </a:p>
          <a:p>
            <a:r>
              <a:rPr lang="de-DE" b="1" dirty="0"/>
              <a:t>Training loop</a:t>
            </a:r>
            <a:endParaRPr lang="da-DK" dirty="0">
              <a:latin typeface="DejaVu Sans Mono" panose="020B0609030804020204" pitchFamily="49" charset="0"/>
            </a:endParaRPr>
          </a:p>
          <a:p>
            <a:pPr>
              <a:lnSpc>
                <a:spcPts val="1425"/>
              </a:lnSpc>
            </a:pPr>
            <a:r>
              <a:rPr lang="en-US" dirty="0">
                <a:solidFill>
                  <a:srgbClr val="0000FF"/>
                </a:solidFill>
                <a:latin typeface="Consolas" panose="020B0609020204030204" pitchFamily="49" charset="0"/>
              </a:rPr>
              <a:t>for</a:t>
            </a:r>
            <a:r>
              <a:rPr lang="en-US" dirty="0">
                <a:solidFill>
                  <a:srgbClr val="000000"/>
                </a:solidFill>
                <a:latin typeface="Consolas" panose="020B0609020204030204" pitchFamily="49" charset="0"/>
              </a:rPr>
              <a:t> epoch </a:t>
            </a:r>
            <a:r>
              <a:rPr lang="en-US" dirty="0">
                <a:solidFill>
                  <a:srgbClr val="0000FF"/>
                </a:solidFill>
                <a:latin typeface="Consolas" panose="020B0609020204030204" pitchFamily="49" charset="0"/>
              </a:rPr>
              <a:t>in</a:t>
            </a:r>
            <a:r>
              <a:rPr lang="en-US" dirty="0">
                <a:solidFill>
                  <a:srgbClr val="000000"/>
                </a:solidFill>
                <a:latin typeface="Consolas" panose="020B0609020204030204" pitchFamily="49" charset="0"/>
              </a:rPr>
              <a:t> range(epochs):</a:t>
            </a:r>
          </a:p>
          <a:p>
            <a:pPr>
              <a:lnSpc>
                <a:spcPts val="1425"/>
              </a:lnSpc>
            </a:pP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optimizer.zero_grad</a:t>
            </a:r>
            <a:r>
              <a:rPr lang="en-US" dirty="0">
                <a:solidFill>
                  <a:srgbClr val="000000"/>
                </a:solidFill>
                <a:latin typeface="Consolas" panose="020B0609020204030204" pitchFamily="49" charset="0"/>
              </a:rPr>
              <a:t>()    </a:t>
            </a:r>
            <a:r>
              <a:rPr lang="en-US" dirty="0">
                <a:solidFill>
                  <a:schemeClr val="bg1">
                    <a:lumMod val="65000"/>
                  </a:schemeClr>
                </a:solidFill>
                <a:latin typeface="Consolas" panose="020B0609020204030204" pitchFamily="49" charset="0"/>
              </a:rPr>
              <a:t>#resetting the gradients (not accumulating them)</a:t>
            </a:r>
          </a:p>
          <a:p>
            <a:pPr>
              <a:lnSpc>
                <a:spcPts val="1425"/>
              </a:lnSpc>
            </a:pP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yPred</a:t>
            </a:r>
            <a:r>
              <a:rPr lang="en-US" dirty="0">
                <a:solidFill>
                  <a:srgbClr val="000000"/>
                </a:solidFill>
                <a:latin typeface="Consolas" panose="020B0609020204030204" pitchFamily="49" charset="0"/>
              </a:rPr>
              <a:t> = model(x)</a:t>
            </a:r>
          </a:p>
          <a:p>
            <a:pPr>
              <a:lnSpc>
                <a:spcPts val="1425"/>
              </a:lnSpc>
            </a:pPr>
            <a:r>
              <a:rPr lang="en-US" dirty="0">
                <a:solidFill>
                  <a:srgbClr val="000000"/>
                </a:solidFill>
                <a:latin typeface="Consolas" panose="020B0609020204030204" pitchFamily="49" charset="0"/>
              </a:rPr>
              <a:t>    cost = </a:t>
            </a:r>
            <a:r>
              <a:rPr lang="en-US" dirty="0" err="1">
                <a:solidFill>
                  <a:srgbClr val="000000"/>
                </a:solidFill>
                <a:latin typeface="Consolas" panose="020B0609020204030204" pitchFamily="49" charset="0"/>
              </a:rPr>
              <a:t>costFunction</a:t>
            </a:r>
            <a:r>
              <a:rPr lang="en-US" dirty="0">
                <a:solidFill>
                  <a:srgbClr val="000000"/>
                </a:solidFill>
                <a:latin typeface="Consolas" panose="020B0609020204030204" pitchFamily="49" charset="0"/>
              </a:rPr>
              <a:t>(y, </a:t>
            </a:r>
            <a:r>
              <a:rPr lang="en-US" dirty="0" err="1">
                <a:solidFill>
                  <a:srgbClr val="000000"/>
                </a:solidFill>
                <a:latin typeface="Consolas" panose="020B0609020204030204" pitchFamily="49" charset="0"/>
              </a:rPr>
              <a:t>yPred</a:t>
            </a:r>
            <a:r>
              <a:rPr lang="en-US" dirty="0">
                <a:solidFill>
                  <a:srgbClr val="000000"/>
                </a:solidFill>
                <a:latin typeface="Consolas" panose="020B0609020204030204" pitchFamily="49" charset="0"/>
              </a:rPr>
              <a:t>)</a:t>
            </a:r>
          </a:p>
          <a:p>
            <a:pPr>
              <a:lnSpc>
                <a:spcPts val="1425"/>
              </a:lnSpc>
            </a:pP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cost.backward</a:t>
            </a:r>
            <a:r>
              <a:rPr lang="en-US" dirty="0">
                <a:solidFill>
                  <a:srgbClr val="000000"/>
                </a:solidFill>
                <a:latin typeface="Consolas" panose="020B0609020204030204" pitchFamily="49" charset="0"/>
              </a:rPr>
              <a:t>()          </a:t>
            </a:r>
          </a:p>
          <a:p>
            <a:pPr>
              <a:lnSpc>
                <a:spcPts val="1425"/>
              </a:lnSpc>
            </a:pP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optimizer.step</a:t>
            </a:r>
            <a:r>
              <a:rPr lang="en-US" dirty="0">
                <a:solidFill>
                  <a:srgbClr val="000000"/>
                </a:solidFill>
                <a:latin typeface="Consolas" panose="020B0609020204030204" pitchFamily="49" charset="0"/>
              </a:rPr>
              <a:t>()</a:t>
            </a:r>
          </a:p>
          <a:p>
            <a:endParaRPr lang="da-DK" dirty="0">
              <a:latin typeface="DejaVu Sans Mono" panose="020B0609030804020204" pitchFamily="49" charset="0"/>
            </a:endParaRPr>
          </a:p>
          <a:p>
            <a:endParaRPr lang="da-DK" dirty="0">
              <a:latin typeface="DejaVu Sans Mono" panose="020B0609030804020204" pitchFamily="49" charset="0"/>
            </a:endParaRPr>
          </a:p>
          <a:p>
            <a:endParaRPr lang="en-US" dirty="0"/>
          </a:p>
        </p:txBody>
      </p:sp>
      <p:sp>
        <p:nvSpPr>
          <p:cNvPr id="3" name="Title 2">
            <a:extLst>
              <a:ext uri="{FF2B5EF4-FFF2-40B4-BE49-F238E27FC236}">
                <a16:creationId xmlns:a16="http://schemas.microsoft.com/office/drawing/2014/main" id="{D09A1CA3-139B-EBCF-7D06-2C24411EBDAF}"/>
              </a:ext>
            </a:extLst>
          </p:cNvPr>
          <p:cNvSpPr>
            <a:spLocks noGrp="1"/>
          </p:cNvSpPr>
          <p:nvPr>
            <p:ph type="title"/>
          </p:nvPr>
        </p:nvSpPr>
        <p:spPr/>
        <p:txBody>
          <a:bodyPr/>
          <a:lstStyle/>
          <a:p>
            <a:r>
              <a:rPr lang="de-DE" dirty="0"/>
              <a:t>3.8 </a:t>
            </a:r>
            <a:r>
              <a:rPr lang="de-DE" dirty="0" err="1"/>
              <a:t>Approximating</a:t>
            </a:r>
            <a:r>
              <a:rPr lang="de-DE" dirty="0"/>
              <a:t> </a:t>
            </a:r>
            <a:r>
              <a:rPr lang="de-DE" dirty="0" err="1"/>
              <a:t>the</a:t>
            </a:r>
            <a:r>
              <a:rPr lang="de-DE" dirty="0"/>
              <a:t> Sine </a:t>
            </a:r>
            <a:r>
              <a:rPr lang="de-DE" dirty="0" err="1"/>
              <a:t>Function</a:t>
            </a:r>
            <a:r>
              <a:rPr lang="de-DE" dirty="0"/>
              <a:t> – </a:t>
            </a:r>
            <a:r>
              <a:rPr lang="de-DE" dirty="0" err="1"/>
              <a:t>PyTorch</a:t>
            </a:r>
            <a:r>
              <a:rPr lang="de-DE" dirty="0"/>
              <a:t> </a:t>
            </a:r>
            <a:endParaRPr lang="en-US" dirty="0"/>
          </a:p>
        </p:txBody>
      </p:sp>
      <p:sp>
        <p:nvSpPr>
          <p:cNvPr id="4" name="Slide Number Placeholder 3">
            <a:extLst>
              <a:ext uri="{FF2B5EF4-FFF2-40B4-BE49-F238E27FC236}">
                <a16:creationId xmlns:a16="http://schemas.microsoft.com/office/drawing/2014/main" id="{A94C9E60-5361-98BD-1E56-B87DD537FE15}"/>
              </a:ext>
            </a:extLst>
          </p:cNvPr>
          <p:cNvSpPr>
            <a:spLocks noGrp="1"/>
          </p:cNvSpPr>
          <p:nvPr>
            <p:ph type="sldNum" sz="quarter" idx="11"/>
          </p:nvPr>
        </p:nvSpPr>
        <p:spPr/>
        <p:txBody>
          <a:bodyPr/>
          <a:lstStyle/>
          <a:p>
            <a:fld id="{CE58CB1E-F828-4F11-99E0-327109AF9DA4}" type="slidenum">
              <a:rPr lang="de-DE" smtClean="0"/>
              <a:pPr/>
              <a:t>6</a:t>
            </a:fld>
            <a:endParaRPr lang="de-DE"/>
          </a:p>
        </p:txBody>
      </p:sp>
      <p:sp>
        <p:nvSpPr>
          <p:cNvPr id="5" name="Footer Placeholder 4">
            <a:extLst>
              <a:ext uri="{FF2B5EF4-FFF2-40B4-BE49-F238E27FC236}">
                <a16:creationId xmlns:a16="http://schemas.microsoft.com/office/drawing/2014/main" id="{CE00F858-E829-3455-D0B0-65FA86B83B07}"/>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spTree>
    <p:extLst>
      <p:ext uri="{BB962C8B-B14F-4D97-AF65-F5344CB8AC3E}">
        <p14:creationId xmlns:p14="http://schemas.microsoft.com/office/powerpoint/2010/main" val="3808885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78547E1-B52B-3173-6947-AF9565330C86}"/>
              </a:ext>
            </a:extLst>
          </p:cNvPr>
          <p:cNvGrpSpPr>
            <a:grpSpLocks noChangeAspect="1"/>
          </p:cNvGrpSpPr>
          <p:nvPr/>
        </p:nvGrpSpPr>
        <p:grpSpPr>
          <a:xfrm>
            <a:off x="1293895" y="608147"/>
            <a:ext cx="6047176" cy="4402112"/>
            <a:chOff x="759391" y="-84302"/>
            <a:chExt cx="6588466" cy="4796150"/>
          </a:xfrm>
        </p:grpSpPr>
        <p:pic>
          <p:nvPicPr>
            <p:cNvPr id="8" name="Picture 7">
              <a:extLst>
                <a:ext uri="{FF2B5EF4-FFF2-40B4-BE49-F238E27FC236}">
                  <a16:creationId xmlns:a16="http://schemas.microsoft.com/office/drawing/2014/main" id="{63721BEF-33D5-0371-C1A2-8DE33D61997C}"/>
                </a:ext>
              </a:extLst>
            </p:cNvPr>
            <p:cNvPicPr>
              <a:picLocks noChangeAspect="1"/>
            </p:cNvPicPr>
            <p:nvPr/>
          </p:nvPicPr>
          <p:blipFill>
            <a:blip r:embed="rId3"/>
            <a:srcRect t="60860"/>
            <a:stretch/>
          </p:blipFill>
          <p:spPr>
            <a:xfrm>
              <a:off x="766534" y="2138830"/>
              <a:ext cx="6581323" cy="2573018"/>
            </a:xfrm>
            <a:prstGeom prst="rect">
              <a:avLst/>
            </a:prstGeom>
          </p:spPr>
        </p:pic>
        <p:pic>
          <p:nvPicPr>
            <p:cNvPr id="7" name="Picture 6">
              <a:extLst>
                <a:ext uri="{FF2B5EF4-FFF2-40B4-BE49-F238E27FC236}">
                  <a16:creationId xmlns:a16="http://schemas.microsoft.com/office/drawing/2014/main" id="{BAAA4FBE-9CF7-23EE-CC61-033D43A515AF}"/>
                </a:ext>
              </a:extLst>
            </p:cNvPr>
            <p:cNvPicPr>
              <a:picLocks noChangeAspect="1"/>
            </p:cNvPicPr>
            <p:nvPr/>
          </p:nvPicPr>
          <p:blipFill>
            <a:blip r:embed="rId3"/>
            <a:srcRect b="62919"/>
            <a:stretch/>
          </p:blipFill>
          <p:spPr>
            <a:xfrm>
              <a:off x="759391" y="-84302"/>
              <a:ext cx="6581323" cy="2437680"/>
            </a:xfrm>
            <a:prstGeom prst="rect">
              <a:avLst/>
            </a:prstGeom>
          </p:spPr>
        </p:pic>
      </p:grpSp>
      <p:sp>
        <p:nvSpPr>
          <p:cNvPr id="2" name="Content Placeholder 1">
            <a:extLst>
              <a:ext uri="{FF2B5EF4-FFF2-40B4-BE49-F238E27FC236}">
                <a16:creationId xmlns:a16="http://schemas.microsoft.com/office/drawing/2014/main" id="{3F39A6FF-480E-D12A-C31B-A658708CE586}"/>
              </a:ext>
            </a:extLst>
          </p:cNvPr>
          <p:cNvSpPr>
            <a:spLocks noGrp="1"/>
          </p:cNvSpPr>
          <p:nvPr>
            <p:ph idx="1"/>
          </p:nvPr>
        </p:nvSpPr>
        <p:spPr/>
        <p:txBody>
          <a:bodyPr/>
          <a:lstStyle/>
          <a:p>
            <a:r>
              <a:rPr lang="de-DE" dirty="0"/>
              <a:t> </a:t>
            </a:r>
            <a:endParaRPr lang="en-US" dirty="0"/>
          </a:p>
        </p:txBody>
      </p:sp>
      <p:sp>
        <p:nvSpPr>
          <p:cNvPr id="3" name="Title 2">
            <a:extLst>
              <a:ext uri="{FF2B5EF4-FFF2-40B4-BE49-F238E27FC236}">
                <a16:creationId xmlns:a16="http://schemas.microsoft.com/office/drawing/2014/main" id="{D0C3E5C5-6996-5921-60AB-0252F1C0A912}"/>
              </a:ext>
            </a:extLst>
          </p:cNvPr>
          <p:cNvSpPr>
            <a:spLocks noGrp="1"/>
          </p:cNvSpPr>
          <p:nvPr>
            <p:ph type="title"/>
          </p:nvPr>
        </p:nvSpPr>
        <p:spPr/>
        <p:txBody>
          <a:bodyPr/>
          <a:lstStyle/>
          <a:p>
            <a:r>
              <a:rPr lang="de-DE" dirty="0"/>
              <a:t>3.8 </a:t>
            </a:r>
            <a:r>
              <a:rPr lang="de-DE" dirty="0" err="1"/>
              <a:t>Approximating</a:t>
            </a:r>
            <a:r>
              <a:rPr lang="de-DE" dirty="0"/>
              <a:t> </a:t>
            </a:r>
            <a:r>
              <a:rPr lang="de-DE" dirty="0" err="1"/>
              <a:t>the</a:t>
            </a:r>
            <a:r>
              <a:rPr lang="de-DE" dirty="0"/>
              <a:t> Sine </a:t>
            </a:r>
            <a:r>
              <a:rPr lang="de-DE" dirty="0" err="1"/>
              <a:t>Function</a:t>
            </a:r>
            <a:r>
              <a:rPr lang="de-DE" dirty="0"/>
              <a:t> – </a:t>
            </a:r>
            <a:r>
              <a:rPr lang="de-DE" dirty="0" err="1"/>
              <a:t>Results</a:t>
            </a:r>
            <a:r>
              <a:rPr lang="de-DE" dirty="0"/>
              <a:t> </a:t>
            </a:r>
            <a:endParaRPr lang="en-US" dirty="0"/>
          </a:p>
        </p:txBody>
      </p:sp>
      <p:sp>
        <p:nvSpPr>
          <p:cNvPr id="4" name="Slide Number Placeholder 3">
            <a:extLst>
              <a:ext uri="{FF2B5EF4-FFF2-40B4-BE49-F238E27FC236}">
                <a16:creationId xmlns:a16="http://schemas.microsoft.com/office/drawing/2014/main" id="{92FC73AC-23DF-C1CE-C02E-665D661352BC}"/>
              </a:ext>
            </a:extLst>
          </p:cNvPr>
          <p:cNvSpPr>
            <a:spLocks noGrp="1"/>
          </p:cNvSpPr>
          <p:nvPr>
            <p:ph type="sldNum" sz="quarter" idx="11"/>
          </p:nvPr>
        </p:nvSpPr>
        <p:spPr/>
        <p:txBody>
          <a:bodyPr/>
          <a:lstStyle/>
          <a:p>
            <a:fld id="{CE58CB1E-F828-4F11-99E0-327109AF9DA4}" type="slidenum">
              <a:rPr lang="de-DE" smtClean="0"/>
              <a:pPr/>
              <a:t>7</a:t>
            </a:fld>
            <a:endParaRPr lang="de-DE"/>
          </a:p>
        </p:txBody>
      </p:sp>
      <p:sp>
        <p:nvSpPr>
          <p:cNvPr id="5" name="Footer Placeholder 4">
            <a:extLst>
              <a:ext uri="{FF2B5EF4-FFF2-40B4-BE49-F238E27FC236}">
                <a16:creationId xmlns:a16="http://schemas.microsoft.com/office/drawing/2014/main" id="{C5F2D703-2509-5E1C-2751-4776B0725ED5}"/>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sp>
        <p:nvSpPr>
          <p:cNvPr id="10" name="TextBox 9">
            <a:extLst>
              <a:ext uri="{FF2B5EF4-FFF2-40B4-BE49-F238E27FC236}">
                <a16:creationId xmlns:a16="http://schemas.microsoft.com/office/drawing/2014/main" id="{6E351C63-CAF2-E914-AAD7-F350B7FC2D66}"/>
              </a:ext>
            </a:extLst>
          </p:cNvPr>
          <p:cNvSpPr txBox="1"/>
          <p:nvPr/>
        </p:nvSpPr>
        <p:spPr>
          <a:xfrm>
            <a:off x="466889" y="1545886"/>
            <a:ext cx="833562" cy="231602"/>
          </a:xfrm>
          <a:prstGeom prst="rect">
            <a:avLst/>
          </a:prstGeom>
          <a:noFill/>
        </p:spPr>
        <p:txBody>
          <a:bodyPr wrap="none" lIns="0" tIns="0" rIns="0" bIns="0" rtlCol="0">
            <a:spAutoFit/>
          </a:bodyPr>
          <a:lstStyle/>
          <a:p>
            <a:pPr>
              <a:lnSpc>
                <a:spcPct val="114000"/>
              </a:lnSpc>
            </a:pPr>
            <a:r>
              <a:rPr lang="de-DE" sz="1400" dirty="0">
                <a:latin typeface="+mn-lt"/>
              </a:rPr>
              <a:t>500 </a:t>
            </a:r>
            <a:r>
              <a:rPr lang="de-DE" sz="1400" dirty="0" err="1">
                <a:latin typeface="+mn-lt"/>
              </a:rPr>
              <a:t>epochs</a:t>
            </a:r>
            <a:endParaRPr lang="en-DE" sz="1400" dirty="0">
              <a:latin typeface="+mn-lt"/>
            </a:endParaRPr>
          </a:p>
        </p:txBody>
      </p:sp>
      <p:sp>
        <p:nvSpPr>
          <p:cNvPr id="11" name="TextBox 10">
            <a:extLst>
              <a:ext uri="{FF2B5EF4-FFF2-40B4-BE49-F238E27FC236}">
                <a16:creationId xmlns:a16="http://schemas.microsoft.com/office/drawing/2014/main" id="{D4EADA49-46BD-8EFA-0C69-2CC2E970FB97}"/>
              </a:ext>
            </a:extLst>
          </p:cNvPr>
          <p:cNvSpPr txBox="1"/>
          <p:nvPr/>
        </p:nvSpPr>
        <p:spPr>
          <a:xfrm>
            <a:off x="7347431" y="1545886"/>
            <a:ext cx="969817" cy="231602"/>
          </a:xfrm>
          <a:prstGeom prst="rect">
            <a:avLst/>
          </a:prstGeom>
          <a:noFill/>
        </p:spPr>
        <p:txBody>
          <a:bodyPr wrap="none" lIns="0" tIns="0" rIns="0" bIns="0" rtlCol="0">
            <a:spAutoFit/>
          </a:bodyPr>
          <a:lstStyle/>
          <a:p>
            <a:pPr>
              <a:lnSpc>
                <a:spcPct val="114000"/>
              </a:lnSpc>
            </a:pPr>
            <a:r>
              <a:rPr lang="de-DE" sz="1400" dirty="0">
                <a:latin typeface="+mn-lt"/>
              </a:rPr>
              <a:t>5‘000 </a:t>
            </a:r>
            <a:r>
              <a:rPr lang="de-DE" sz="1400" dirty="0" err="1">
                <a:latin typeface="+mn-lt"/>
              </a:rPr>
              <a:t>epochs</a:t>
            </a:r>
            <a:endParaRPr lang="en-DE" sz="1400" dirty="0">
              <a:latin typeface="+mn-lt"/>
            </a:endParaRPr>
          </a:p>
        </p:txBody>
      </p:sp>
      <p:sp>
        <p:nvSpPr>
          <p:cNvPr id="12" name="TextBox 11">
            <a:extLst>
              <a:ext uri="{FF2B5EF4-FFF2-40B4-BE49-F238E27FC236}">
                <a16:creationId xmlns:a16="http://schemas.microsoft.com/office/drawing/2014/main" id="{D8AD96DC-7D9A-096B-2126-D91BA32A4939}"/>
              </a:ext>
            </a:extLst>
          </p:cNvPr>
          <p:cNvSpPr txBox="1"/>
          <p:nvPr/>
        </p:nvSpPr>
        <p:spPr>
          <a:xfrm>
            <a:off x="275212" y="3600898"/>
            <a:ext cx="1061188" cy="231602"/>
          </a:xfrm>
          <a:prstGeom prst="rect">
            <a:avLst/>
          </a:prstGeom>
          <a:noFill/>
        </p:spPr>
        <p:txBody>
          <a:bodyPr wrap="none" lIns="0" tIns="0" rIns="0" bIns="0" rtlCol="0">
            <a:spAutoFit/>
          </a:bodyPr>
          <a:lstStyle/>
          <a:p>
            <a:pPr>
              <a:lnSpc>
                <a:spcPct val="114000"/>
              </a:lnSpc>
            </a:pPr>
            <a:r>
              <a:rPr lang="de-DE" sz="1400" dirty="0">
                <a:latin typeface="+mn-lt"/>
              </a:rPr>
              <a:t>20‘000 </a:t>
            </a:r>
            <a:r>
              <a:rPr lang="de-DE" sz="1400" dirty="0" err="1">
                <a:latin typeface="+mn-lt"/>
              </a:rPr>
              <a:t>epochs</a:t>
            </a:r>
            <a:endParaRPr lang="en-DE" sz="1400" dirty="0">
              <a:latin typeface="+mn-lt"/>
            </a:endParaRPr>
          </a:p>
        </p:txBody>
      </p:sp>
      <p:sp>
        <p:nvSpPr>
          <p:cNvPr id="13" name="TextBox 12">
            <a:extLst>
              <a:ext uri="{FF2B5EF4-FFF2-40B4-BE49-F238E27FC236}">
                <a16:creationId xmlns:a16="http://schemas.microsoft.com/office/drawing/2014/main" id="{06FF7191-AED5-29E5-CB2E-36B19587E7BF}"/>
              </a:ext>
            </a:extLst>
          </p:cNvPr>
          <p:cNvSpPr txBox="1"/>
          <p:nvPr/>
        </p:nvSpPr>
        <p:spPr>
          <a:xfrm>
            <a:off x="7347431" y="3600898"/>
            <a:ext cx="1173783" cy="231602"/>
          </a:xfrm>
          <a:prstGeom prst="rect">
            <a:avLst/>
          </a:prstGeom>
          <a:noFill/>
        </p:spPr>
        <p:txBody>
          <a:bodyPr wrap="none" lIns="0" tIns="0" rIns="0" bIns="0" rtlCol="0">
            <a:spAutoFit/>
          </a:bodyPr>
          <a:lstStyle/>
          <a:p>
            <a:pPr>
              <a:lnSpc>
                <a:spcPct val="114000"/>
              </a:lnSpc>
            </a:pPr>
            <a:r>
              <a:rPr lang="de-DE" sz="1400" dirty="0">
                <a:latin typeface="+mn-lt"/>
              </a:rPr>
              <a:t>Learning </a:t>
            </a:r>
            <a:r>
              <a:rPr lang="de-DE" sz="1400" dirty="0" err="1">
                <a:latin typeface="+mn-lt"/>
              </a:rPr>
              <a:t>history</a:t>
            </a:r>
            <a:endParaRPr lang="en-DE" sz="1400" dirty="0">
              <a:latin typeface="+mn-lt"/>
            </a:endParaRPr>
          </a:p>
        </p:txBody>
      </p:sp>
    </p:spTree>
    <p:extLst>
      <p:ext uri="{BB962C8B-B14F-4D97-AF65-F5344CB8AC3E}">
        <p14:creationId xmlns:p14="http://schemas.microsoft.com/office/powerpoint/2010/main" val="210311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09F63A3-49CA-EB93-D3E4-88370A161197}"/>
              </a:ext>
            </a:extLst>
          </p:cNvPr>
          <p:cNvSpPr>
            <a:spLocks noGrp="1"/>
          </p:cNvSpPr>
          <p:nvPr>
            <p:ph idx="1"/>
          </p:nvPr>
        </p:nvSpPr>
        <p:spPr/>
        <p:txBody>
          <a:bodyPr/>
          <a:lstStyle/>
          <a:p>
            <a:r>
              <a:rPr lang="de-DE" dirty="0"/>
              <a:t> </a:t>
            </a:r>
            <a:endParaRPr lang="en-US" dirty="0"/>
          </a:p>
        </p:txBody>
      </p:sp>
      <p:sp>
        <p:nvSpPr>
          <p:cNvPr id="3" name="Title 2">
            <a:extLst>
              <a:ext uri="{FF2B5EF4-FFF2-40B4-BE49-F238E27FC236}">
                <a16:creationId xmlns:a16="http://schemas.microsoft.com/office/drawing/2014/main" id="{2CFC1478-BB27-9183-EC06-9163C066579F}"/>
              </a:ext>
            </a:extLst>
          </p:cNvPr>
          <p:cNvSpPr>
            <a:spLocks noGrp="1"/>
          </p:cNvSpPr>
          <p:nvPr>
            <p:ph type="title"/>
          </p:nvPr>
        </p:nvSpPr>
        <p:spPr/>
        <p:txBody>
          <a:bodyPr/>
          <a:lstStyle/>
          <a:p>
            <a:r>
              <a:rPr lang="de-DE" dirty="0"/>
              <a:t>3.8 </a:t>
            </a:r>
            <a:r>
              <a:rPr lang="de-DE" dirty="0" err="1"/>
              <a:t>Approximating</a:t>
            </a:r>
            <a:r>
              <a:rPr lang="de-DE" dirty="0"/>
              <a:t> </a:t>
            </a:r>
            <a:r>
              <a:rPr lang="de-DE" dirty="0" err="1"/>
              <a:t>the</a:t>
            </a:r>
            <a:r>
              <a:rPr lang="de-DE" dirty="0"/>
              <a:t> Sine </a:t>
            </a:r>
            <a:r>
              <a:rPr lang="de-DE" dirty="0" err="1"/>
              <a:t>Function</a:t>
            </a:r>
            <a:r>
              <a:rPr lang="de-DE" dirty="0"/>
              <a:t> – </a:t>
            </a:r>
            <a:r>
              <a:rPr lang="de-DE" dirty="0" err="1"/>
              <a:t>Results</a:t>
            </a:r>
            <a:r>
              <a:rPr lang="de-DE" dirty="0"/>
              <a:t> </a:t>
            </a:r>
            <a:endParaRPr lang="en-US" dirty="0"/>
          </a:p>
        </p:txBody>
      </p:sp>
      <p:sp>
        <p:nvSpPr>
          <p:cNvPr id="4" name="Slide Number Placeholder 3">
            <a:extLst>
              <a:ext uri="{FF2B5EF4-FFF2-40B4-BE49-F238E27FC236}">
                <a16:creationId xmlns:a16="http://schemas.microsoft.com/office/drawing/2014/main" id="{22464F88-BE96-1AB2-090F-7E5FEAEDA4B7}"/>
              </a:ext>
            </a:extLst>
          </p:cNvPr>
          <p:cNvSpPr>
            <a:spLocks noGrp="1"/>
          </p:cNvSpPr>
          <p:nvPr>
            <p:ph type="sldNum" sz="quarter" idx="11"/>
          </p:nvPr>
        </p:nvSpPr>
        <p:spPr/>
        <p:txBody>
          <a:bodyPr/>
          <a:lstStyle/>
          <a:p>
            <a:fld id="{CE58CB1E-F828-4F11-99E0-327109AF9DA4}" type="slidenum">
              <a:rPr lang="de-DE" smtClean="0"/>
              <a:pPr/>
              <a:t>8</a:t>
            </a:fld>
            <a:endParaRPr lang="de-DE"/>
          </a:p>
        </p:txBody>
      </p:sp>
      <p:sp>
        <p:nvSpPr>
          <p:cNvPr id="5" name="Footer Placeholder 4">
            <a:extLst>
              <a:ext uri="{FF2B5EF4-FFF2-40B4-BE49-F238E27FC236}">
                <a16:creationId xmlns:a16="http://schemas.microsoft.com/office/drawing/2014/main" id="{0A1C1B77-3B83-D1F3-0722-AA6FE7FA0475}"/>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pic>
        <p:nvPicPr>
          <p:cNvPr id="7" name="Picture 6">
            <a:extLst>
              <a:ext uri="{FF2B5EF4-FFF2-40B4-BE49-F238E27FC236}">
                <a16:creationId xmlns:a16="http://schemas.microsoft.com/office/drawing/2014/main" id="{D3648F1B-AD8B-FE94-2F05-264A36567D3E}"/>
              </a:ext>
            </a:extLst>
          </p:cNvPr>
          <p:cNvPicPr>
            <a:picLocks noChangeAspect="1"/>
          </p:cNvPicPr>
          <p:nvPr/>
        </p:nvPicPr>
        <p:blipFill>
          <a:blip r:embed="rId2"/>
          <a:stretch>
            <a:fillRect/>
          </a:stretch>
        </p:blipFill>
        <p:spPr>
          <a:xfrm>
            <a:off x="311161" y="1384210"/>
            <a:ext cx="8415338" cy="3145689"/>
          </a:xfrm>
          <a:prstGeom prst="rect">
            <a:avLst/>
          </a:prstGeom>
        </p:spPr>
      </p:pic>
      <p:sp>
        <p:nvSpPr>
          <p:cNvPr id="8" name="TextBox 7">
            <a:extLst>
              <a:ext uri="{FF2B5EF4-FFF2-40B4-BE49-F238E27FC236}">
                <a16:creationId xmlns:a16="http://schemas.microsoft.com/office/drawing/2014/main" id="{4AB2611F-6779-56BC-2630-7EA19CBE230D}"/>
              </a:ext>
            </a:extLst>
          </p:cNvPr>
          <p:cNvSpPr txBox="1"/>
          <p:nvPr/>
        </p:nvSpPr>
        <p:spPr>
          <a:xfrm>
            <a:off x="1367002" y="1152608"/>
            <a:ext cx="2512932" cy="231602"/>
          </a:xfrm>
          <a:prstGeom prst="rect">
            <a:avLst/>
          </a:prstGeom>
          <a:noFill/>
        </p:spPr>
        <p:txBody>
          <a:bodyPr wrap="none" lIns="0" tIns="0" rIns="0" bIns="0" rtlCol="0">
            <a:spAutoFit/>
          </a:bodyPr>
          <a:lstStyle/>
          <a:p>
            <a:pPr>
              <a:lnSpc>
                <a:spcPct val="114000"/>
              </a:lnSpc>
            </a:pPr>
            <a:r>
              <a:rPr lang="de-DE" sz="1400" dirty="0">
                <a:latin typeface="+mn-lt"/>
              </a:rPr>
              <a:t>20‘000 </a:t>
            </a:r>
            <a:r>
              <a:rPr lang="de-DE" sz="1400" dirty="0" err="1">
                <a:latin typeface="+mn-lt"/>
              </a:rPr>
              <a:t>epochs</a:t>
            </a:r>
            <a:r>
              <a:rPr lang="de-DE" sz="1400" dirty="0">
                <a:latin typeface="+mn-lt"/>
              </a:rPr>
              <a:t> with </a:t>
            </a:r>
            <a:r>
              <a:rPr lang="de-DE" sz="1400" dirty="0" err="1">
                <a:latin typeface="+mn-lt"/>
              </a:rPr>
              <a:t>regularization</a:t>
            </a:r>
            <a:endParaRPr lang="en-DE" sz="1400" dirty="0">
              <a:latin typeface="+mn-lt"/>
            </a:endParaRPr>
          </a:p>
        </p:txBody>
      </p:sp>
      <p:sp>
        <p:nvSpPr>
          <p:cNvPr id="9" name="TextBox 8">
            <a:extLst>
              <a:ext uri="{FF2B5EF4-FFF2-40B4-BE49-F238E27FC236}">
                <a16:creationId xmlns:a16="http://schemas.microsoft.com/office/drawing/2014/main" id="{091EC39B-0D1A-945A-5DAC-0971E5B7D77A}"/>
              </a:ext>
            </a:extLst>
          </p:cNvPr>
          <p:cNvSpPr txBox="1"/>
          <p:nvPr/>
        </p:nvSpPr>
        <p:spPr>
          <a:xfrm>
            <a:off x="5641345" y="1152608"/>
            <a:ext cx="2843022" cy="231602"/>
          </a:xfrm>
          <a:prstGeom prst="rect">
            <a:avLst/>
          </a:prstGeom>
          <a:noFill/>
        </p:spPr>
        <p:txBody>
          <a:bodyPr wrap="none" lIns="0" tIns="0" rIns="0" bIns="0" rtlCol="0">
            <a:spAutoFit/>
          </a:bodyPr>
          <a:lstStyle/>
          <a:p>
            <a:pPr>
              <a:lnSpc>
                <a:spcPct val="114000"/>
              </a:lnSpc>
            </a:pPr>
            <a:r>
              <a:rPr lang="de-DE" sz="1400" dirty="0">
                <a:latin typeface="+mn-lt"/>
              </a:rPr>
              <a:t>20‘000 </a:t>
            </a:r>
            <a:r>
              <a:rPr lang="de-DE" sz="1400" dirty="0" err="1">
                <a:latin typeface="+mn-lt"/>
              </a:rPr>
              <a:t>epochs</a:t>
            </a:r>
            <a:r>
              <a:rPr lang="de-DE" sz="1400" dirty="0">
                <a:latin typeface="+mn-lt"/>
              </a:rPr>
              <a:t> </a:t>
            </a:r>
            <a:r>
              <a:rPr lang="de-DE" sz="1400" dirty="0" err="1">
                <a:latin typeface="+mn-lt"/>
              </a:rPr>
              <a:t>too</a:t>
            </a:r>
            <a:r>
              <a:rPr lang="de-DE" sz="1400" dirty="0">
                <a:latin typeface="+mn-lt"/>
              </a:rPr>
              <a:t> </a:t>
            </a:r>
            <a:r>
              <a:rPr lang="de-DE" sz="1400" dirty="0" err="1">
                <a:latin typeface="+mn-lt"/>
              </a:rPr>
              <a:t>much</a:t>
            </a:r>
            <a:r>
              <a:rPr lang="de-DE" sz="1400" dirty="0">
                <a:latin typeface="+mn-lt"/>
              </a:rPr>
              <a:t> </a:t>
            </a:r>
            <a:r>
              <a:rPr lang="de-DE" sz="1400" dirty="0" err="1">
                <a:latin typeface="+mn-lt"/>
              </a:rPr>
              <a:t>regularization</a:t>
            </a:r>
            <a:endParaRPr lang="en-DE" sz="1400" dirty="0">
              <a:latin typeface="+mn-lt"/>
            </a:endParaRPr>
          </a:p>
        </p:txBody>
      </p:sp>
    </p:spTree>
    <p:extLst>
      <p:ext uri="{BB962C8B-B14F-4D97-AF65-F5344CB8AC3E}">
        <p14:creationId xmlns:p14="http://schemas.microsoft.com/office/powerpoint/2010/main" val="26361233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2C21EE-C799-2C9A-84A2-2697F668207F}"/>
              </a:ext>
            </a:extLst>
          </p:cNvPr>
          <p:cNvSpPr>
            <a:spLocks noGrp="1"/>
          </p:cNvSpPr>
          <p:nvPr>
            <p:ph idx="1"/>
          </p:nvPr>
        </p:nvSpPr>
        <p:spPr/>
        <p:txBody>
          <a:bodyPr/>
          <a:lstStyle/>
          <a:p>
            <a:r>
              <a:rPr lang="de-DE" dirty="0"/>
              <a:t> </a:t>
            </a:r>
            <a:endParaRPr lang="en-US" dirty="0"/>
          </a:p>
        </p:txBody>
      </p:sp>
      <p:sp>
        <p:nvSpPr>
          <p:cNvPr id="3" name="Title 2">
            <a:extLst>
              <a:ext uri="{FF2B5EF4-FFF2-40B4-BE49-F238E27FC236}">
                <a16:creationId xmlns:a16="http://schemas.microsoft.com/office/drawing/2014/main" id="{A0C68120-328A-ECB0-2BA4-B197CB3D4EB0}"/>
              </a:ext>
            </a:extLst>
          </p:cNvPr>
          <p:cNvSpPr>
            <a:spLocks noGrp="1"/>
          </p:cNvSpPr>
          <p:nvPr>
            <p:ph type="title"/>
          </p:nvPr>
        </p:nvSpPr>
        <p:spPr/>
        <p:txBody>
          <a:bodyPr/>
          <a:lstStyle/>
          <a:p>
            <a:r>
              <a:rPr lang="de-DE" dirty="0"/>
              <a:t>3.8 </a:t>
            </a:r>
            <a:r>
              <a:rPr lang="de-DE" dirty="0" err="1"/>
              <a:t>Approximating</a:t>
            </a:r>
            <a:r>
              <a:rPr lang="de-DE" dirty="0"/>
              <a:t> </a:t>
            </a:r>
            <a:r>
              <a:rPr lang="de-DE" dirty="0" err="1"/>
              <a:t>the</a:t>
            </a:r>
            <a:r>
              <a:rPr lang="de-DE" dirty="0"/>
              <a:t> Sine </a:t>
            </a:r>
            <a:r>
              <a:rPr lang="de-DE" dirty="0" err="1"/>
              <a:t>Function</a:t>
            </a:r>
            <a:r>
              <a:rPr lang="de-DE" dirty="0"/>
              <a:t> – </a:t>
            </a:r>
            <a:r>
              <a:rPr lang="de-DE" dirty="0" err="1"/>
              <a:t>Results</a:t>
            </a:r>
            <a:r>
              <a:rPr lang="de-DE" dirty="0"/>
              <a:t> </a:t>
            </a:r>
            <a:endParaRPr lang="en-US" dirty="0"/>
          </a:p>
        </p:txBody>
      </p:sp>
      <p:sp>
        <p:nvSpPr>
          <p:cNvPr id="4" name="Slide Number Placeholder 3">
            <a:extLst>
              <a:ext uri="{FF2B5EF4-FFF2-40B4-BE49-F238E27FC236}">
                <a16:creationId xmlns:a16="http://schemas.microsoft.com/office/drawing/2014/main" id="{78E06FE5-6F13-866E-D61C-523F1C68E5A8}"/>
              </a:ext>
            </a:extLst>
          </p:cNvPr>
          <p:cNvSpPr>
            <a:spLocks noGrp="1"/>
          </p:cNvSpPr>
          <p:nvPr>
            <p:ph type="sldNum" sz="quarter" idx="11"/>
          </p:nvPr>
        </p:nvSpPr>
        <p:spPr/>
        <p:txBody>
          <a:bodyPr/>
          <a:lstStyle/>
          <a:p>
            <a:fld id="{CE58CB1E-F828-4F11-99E0-327109AF9DA4}" type="slidenum">
              <a:rPr lang="de-DE" smtClean="0"/>
              <a:pPr/>
              <a:t>9</a:t>
            </a:fld>
            <a:endParaRPr lang="de-DE"/>
          </a:p>
        </p:txBody>
      </p:sp>
      <p:sp>
        <p:nvSpPr>
          <p:cNvPr id="5" name="Footer Placeholder 4">
            <a:extLst>
              <a:ext uri="{FF2B5EF4-FFF2-40B4-BE49-F238E27FC236}">
                <a16:creationId xmlns:a16="http://schemas.microsoft.com/office/drawing/2014/main" id="{3013AF78-F3B9-413D-18AB-F8B2C915D923}"/>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pic>
        <p:nvPicPr>
          <p:cNvPr id="8" name="Picture 7">
            <a:extLst>
              <a:ext uri="{FF2B5EF4-FFF2-40B4-BE49-F238E27FC236}">
                <a16:creationId xmlns:a16="http://schemas.microsoft.com/office/drawing/2014/main" id="{58178D6F-8AA2-9CF5-7FF8-E2D32E669C26}"/>
              </a:ext>
            </a:extLst>
          </p:cNvPr>
          <p:cNvPicPr>
            <a:picLocks noChangeAspect="1"/>
          </p:cNvPicPr>
          <p:nvPr/>
        </p:nvPicPr>
        <p:blipFill>
          <a:blip r:embed="rId3"/>
          <a:stretch>
            <a:fillRect/>
          </a:stretch>
        </p:blipFill>
        <p:spPr>
          <a:xfrm>
            <a:off x="296874" y="1400513"/>
            <a:ext cx="8422481" cy="3184510"/>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9635B42-8356-16EF-9A9A-C7A208507E16}"/>
                  </a:ext>
                </a:extLst>
              </p:cNvPr>
              <p:cNvSpPr txBox="1"/>
              <p:nvPr/>
            </p:nvSpPr>
            <p:spPr>
              <a:xfrm>
                <a:off x="1278179" y="1152608"/>
                <a:ext cx="2612254" cy="231025"/>
              </a:xfrm>
              <a:prstGeom prst="rect">
                <a:avLst/>
              </a:prstGeom>
              <a:noFill/>
            </p:spPr>
            <p:txBody>
              <a:bodyPr wrap="none" lIns="0" tIns="0" rIns="0" bIns="0" rtlCol="0">
                <a:spAutoFit/>
              </a:bodyPr>
              <a:lstStyle/>
              <a:p>
                <a:pPr>
                  <a:lnSpc>
                    <a:spcPct val="114000"/>
                  </a:lnSpc>
                </a:pPr>
                <a:r>
                  <a:rPr lang="de-DE" sz="1400" dirty="0">
                    <a:latin typeface="+mn-lt"/>
                  </a:rPr>
                  <a:t>5‘000 </a:t>
                </a:r>
                <a:r>
                  <a:rPr lang="de-DE" sz="1400" dirty="0" err="1">
                    <a:latin typeface="+mn-lt"/>
                  </a:rPr>
                  <a:t>epochs</a:t>
                </a:r>
                <a:r>
                  <a:rPr lang="de-DE" sz="1400" dirty="0">
                    <a:latin typeface="+mn-lt"/>
                  </a:rPr>
                  <a:t> </a:t>
                </a:r>
                <a:r>
                  <a:rPr lang="de-DE" sz="1400" dirty="0" err="1">
                    <a:latin typeface="+mn-lt"/>
                  </a:rPr>
                  <a:t>with</a:t>
                </a:r>
                <a:r>
                  <a:rPr lang="de-DE" sz="1400" dirty="0">
                    <a:latin typeface="+mn-lt"/>
                  </a:rPr>
                  <a:t> Adam at </a:t>
                </a:r>
                <a14:m>
                  <m:oMath xmlns:m="http://schemas.openxmlformats.org/officeDocument/2006/math">
                    <m:r>
                      <a:rPr lang="de-DE" sz="1400" b="0" i="1" smtClean="0">
                        <a:latin typeface="Cambria Math" panose="02040503050406030204" pitchFamily="18" charset="0"/>
                      </a:rPr>
                      <m:t>𝛼</m:t>
                    </m:r>
                    <m:r>
                      <a:rPr lang="de-DE" sz="1400" b="0" i="1" smtClean="0">
                        <a:latin typeface="Cambria Math" panose="02040503050406030204" pitchFamily="18" charset="0"/>
                      </a:rPr>
                      <m:t>=0.1</m:t>
                    </m:r>
                  </m:oMath>
                </a14:m>
                <a:endParaRPr lang="en-DE" sz="1400" dirty="0">
                  <a:latin typeface="+mn-lt"/>
                </a:endParaRPr>
              </a:p>
            </p:txBody>
          </p:sp>
        </mc:Choice>
        <mc:Fallback xmlns="">
          <p:sp>
            <p:nvSpPr>
              <p:cNvPr id="9" name="TextBox 8">
                <a:extLst>
                  <a:ext uri="{FF2B5EF4-FFF2-40B4-BE49-F238E27FC236}">
                    <a16:creationId xmlns:a16="http://schemas.microsoft.com/office/drawing/2014/main" id="{79635B42-8356-16EF-9A9A-C7A208507E16}"/>
                  </a:ext>
                </a:extLst>
              </p:cNvPr>
              <p:cNvSpPr txBox="1">
                <a:spLocks noRot="1" noChangeAspect="1" noMove="1" noResize="1" noEditPoints="1" noAdjustHandles="1" noChangeArrowheads="1" noChangeShapeType="1" noTextEdit="1"/>
              </p:cNvSpPr>
              <p:nvPr/>
            </p:nvSpPr>
            <p:spPr>
              <a:xfrm>
                <a:off x="1278179" y="1152608"/>
                <a:ext cx="2612254" cy="231025"/>
              </a:xfrm>
              <a:prstGeom prst="rect">
                <a:avLst/>
              </a:prstGeom>
              <a:blipFill>
                <a:blip r:embed="rId4"/>
                <a:stretch>
                  <a:fillRect l="-4206" t="-15789" r="-1402" b="-47368"/>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886CFC32-2AA9-397C-B394-D9A7B1D5E590}"/>
              </a:ext>
            </a:extLst>
          </p:cNvPr>
          <p:cNvSpPr txBox="1"/>
          <p:nvPr/>
        </p:nvSpPr>
        <p:spPr>
          <a:xfrm>
            <a:off x="6184270" y="1152031"/>
            <a:ext cx="1681551" cy="231602"/>
          </a:xfrm>
          <a:prstGeom prst="rect">
            <a:avLst/>
          </a:prstGeom>
          <a:noFill/>
        </p:spPr>
        <p:txBody>
          <a:bodyPr wrap="none" lIns="0" tIns="0" rIns="0" bIns="0" rtlCol="0">
            <a:spAutoFit/>
          </a:bodyPr>
          <a:lstStyle/>
          <a:p>
            <a:pPr>
              <a:lnSpc>
                <a:spcPct val="114000"/>
              </a:lnSpc>
            </a:pPr>
            <a:r>
              <a:rPr lang="de-DE" sz="1400" dirty="0">
                <a:latin typeface="+mn-lt"/>
              </a:rPr>
              <a:t>5‘000 </a:t>
            </a:r>
            <a:r>
              <a:rPr lang="de-DE" sz="1400" dirty="0" err="1">
                <a:latin typeface="+mn-lt"/>
              </a:rPr>
              <a:t>epochs</a:t>
            </a:r>
            <a:r>
              <a:rPr lang="de-DE" sz="1400" dirty="0">
                <a:latin typeface="+mn-lt"/>
              </a:rPr>
              <a:t> with SGD</a:t>
            </a:r>
            <a:endParaRPr lang="en-DE" sz="1400" dirty="0">
              <a:latin typeface="+mn-lt"/>
            </a:endParaRPr>
          </a:p>
        </p:txBody>
      </p:sp>
    </p:spTree>
    <p:extLst>
      <p:ext uri="{BB962C8B-B14F-4D97-AF65-F5344CB8AC3E}">
        <p14:creationId xmlns:p14="http://schemas.microsoft.com/office/powerpoint/2010/main" val="2692938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509088E-D5F4-73B5-1B14-147CCD477209}"/>
              </a:ext>
            </a:extLst>
          </p:cNvPr>
          <p:cNvPicPr>
            <a:picLocks noChangeAspect="1"/>
          </p:cNvPicPr>
          <p:nvPr/>
        </p:nvPicPr>
        <p:blipFill>
          <a:blip r:embed="rId2"/>
          <a:stretch>
            <a:fillRect/>
          </a:stretch>
        </p:blipFill>
        <p:spPr>
          <a:xfrm>
            <a:off x="5989366" y="688106"/>
            <a:ext cx="3075857" cy="2328863"/>
          </a:xfrm>
          <a:prstGeom prst="rect">
            <a:avLst/>
          </a:prstGeom>
        </p:spPr>
      </p:pic>
      <p:sp>
        <p:nvSpPr>
          <p:cNvPr id="2" name="Content Placeholder 1">
            <a:extLst>
              <a:ext uri="{FF2B5EF4-FFF2-40B4-BE49-F238E27FC236}">
                <a16:creationId xmlns:a16="http://schemas.microsoft.com/office/drawing/2014/main" id="{D40B2DB6-DA41-BB07-6685-E5DF9DD43177}"/>
              </a:ext>
            </a:extLst>
          </p:cNvPr>
          <p:cNvSpPr>
            <a:spLocks noGrp="1"/>
          </p:cNvSpPr>
          <p:nvPr>
            <p:ph idx="1"/>
          </p:nvPr>
        </p:nvSpPr>
        <p:spPr/>
        <p:txBody>
          <a:bodyPr/>
          <a:lstStyle/>
          <a:p>
            <a:pPr marL="285750" indent="-285750">
              <a:buFont typeface="Arial" panose="020B0604020202020204" pitchFamily="34" charset="0"/>
              <a:buChar char="•"/>
            </a:pPr>
            <a:r>
              <a:rPr lang="de-DE" dirty="0"/>
              <a:t>Derivatives </a:t>
            </a:r>
            <a:r>
              <a:rPr lang="de-DE" dirty="0" err="1"/>
              <a:t>of</a:t>
            </a:r>
            <a:r>
              <a:rPr lang="de-DE" dirty="0"/>
              <a:t> </a:t>
            </a:r>
            <a:r>
              <a:rPr lang="de-DE" dirty="0" err="1"/>
              <a:t>predictions</a:t>
            </a:r>
            <a:r>
              <a:rPr lang="de-DE" dirty="0"/>
              <a:t> </a:t>
            </a:r>
            <a:r>
              <a:rPr lang="de-DE" dirty="0" err="1"/>
              <a:t>are</a:t>
            </a:r>
            <a:r>
              <a:rPr lang="de-DE" dirty="0"/>
              <a:t> </a:t>
            </a:r>
            <a:r>
              <a:rPr lang="de-DE" dirty="0" err="1"/>
              <a:t>typically</a:t>
            </a:r>
            <a:r>
              <a:rPr lang="de-DE" dirty="0"/>
              <a:t> </a:t>
            </a:r>
            <a:r>
              <a:rPr lang="de-DE" dirty="0" err="1"/>
              <a:t>inaccurate</a:t>
            </a:r>
            <a:endParaRPr lang="de-DE" dirty="0"/>
          </a:p>
          <a:p>
            <a:pPr marL="285750" indent="-285750">
              <a:buFont typeface="Arial" panose="020B0604020202020204" pitchFamily="34" charset="0"/>
              <a:buChar char="•"/>
            </a:pPr>
            <a:r>
              <a:rPr lang="de-DE" b="1" dirty="0"/>
              <a:t>Sobolev </a:t>
            </a:r>
            <a:r>
              <a:rPr lang="de-DE" b="1" dirty="0" err="1"/>
              <a:t>training</a:t>
            </a:r>
            <a:r>
              <a:rPr lang="de-DE" dirty="0"/>
              <a:t> </a:t>
            </a:r>
            <a:r>
              <a:rPr lang="de-DE" dirty="0" err="1"/>
              <a:t>increases</a:t>
            </a:r>
            <a:r>
              <a:rPr lang="de-DE" dirty="0"/>
              <a:t> </a:t>
            </a:r>
            <a:r>
              <a:rPr lang="de-DE" dirty="0" err="1"/>
              <a:t>accuracy</a:t>
            </a:r>
            <a:r>
              <a:rPr lang="de-DE" dirty="0"/>
              <a:t> </a:t>
            </a:r>
            <a:r>
              <a:rPr lang="de-DE" dirty="0" err="1"/>
              <a:t>by</a:t>
            </a:r>
            <a:r>
              <a:rPr lang="de-DE" dirty="0"/>
              <a:t> </a:t>
            </a:r>
            <a:r>
              <a:rPr lang="de-DE" dirty="0" err="1"/>
              <a:t>incorporating</a:t>
            </a:r>
            <a:r>
              <a:rPr lang="de-DE" dirty="0"/>
              <a:t> derivatives in </a:t>
            </a:r>
            <a:r>
              <a:rPr lang="de-DE" dirty="0" err="1"/>
              <a:t>training</a:t>
            </a:r>
            <a:r>
              <a:rPr lang="de-DE" dirty="0"/>
              <a:t> </a:t>
            </a:r>
            <a:br>
              <a:rPr lang="de-DE" dirty="0"/>
            </a:br>
            <a:r>
              <a:rPr lang="de-DE" dirty="0" err="1"/>
              <a:t>data</a:t>
            </a:r>
            <a:r>
              <a:rPr lang="de-DE" dirty="0"/>
              <a:t> (</a:t>
            </a:r>
            <a:r>
              <a:rPr lang="de-DE" dirty="0" err="1"/>
              <a:t>higher</a:t>
            </a:r>
            <a:r>
              <a:rPr lang="de-DE" dirty="0"/>
              <a:t> </a:t>
            </a:r>
            <a:r>
              <a:rPr lang="de-DE" dirty="0" err="1"/>
              <a:t>order</a:t>
            </a:r>
            <a:r>
              <a:rPr lang="de-DE" dirty="0"/>
              <a:t> derivatives also </a:t>
            </a:r>
            <a:r>
              <a:rPr lang="de-DE" dirty="0" err="1"/>
              <a:t>improve</a:t>
            </a:r>
            <a:r>
              <a:rPr lang="de-DE" dirty="0"/>
              <a:t>)</a:t>
            </a:r>
          </a:p>
          <a:p>
            <a:pPr marL="285750" indent="-285750">
              <a:buFont typeface="Arial" panose="020B0604020202020204" pitchFamily="34" charset="0"/>
              <a:buChar char="•"/>
            </a:pPr>
            <a:endParaRPr lang="de-DE" dirty="0"/>
          </a:p>
          <a:p>
            <a:pPr>
              <a:lnSpc>
                <a:spcPts val="1425"/>
              </a:lnSpc>
            </a:pPr>
            <a:r>
              <a:rPr lang="en-US" dirty="0">
                <a:solidFill>
                  <a:srgbClr val="0000FF"/>
                </a:solidFill>
                <a:latin typeface="Consolas" panose="020B0609020204030204" pitchFamily="49" charset="0"/>
              </a:rPr>
              <a:t>def</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costFunction</a:t>
            </a:r>
            <a:r>
              <a:rPr lang="en-US" dirty="0">
                <a:solidFill>
                  <a:srgbClr val="000000"/>
                </a:solidFill>
                <a:latin typeface="Consolas" panose="020B0609020204030204" pitchFamily="49" charset="0"/>
              </a:rPr>
              <a:t>(y, </a:t>
            </a:r>
            <a:r>
              <a:rPr lang="en-US" dirty="0" err="1">
                <a:solidFill>
                  <a:srgbClr val="000000"/>
                </a:solidFill>
                <a:latin typeface="Consolas" panose="020B0609020204030204" pitchFamily="49" charset="0"/>
              </a:rPr>
              <a:t>yPred</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dy</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dyPred</a:t>
            </a:r>
            <a:r>
              <a:rPr lang="en-US" dirty="0">
                <a:solidFill>
                  <a:srgbClr val="000000"/>
                </a:solidFill>
                <a:latin typeface="Consolas" panose="020B0609020204030204" pitchFamily="49" charset="0"/>
              </a:rPr>
              <a:t>):</a:t>
            </a:r>
          </a:p>
          <a:p>
            <a:pPr>
              <a:lnSpc>
                <a:spcPts val="1425"/>
              </a:lnSpc>
            </a:pPr>
            <a:r>
              <a:rPr lang="en-US" dirty="0">
                <a:solidFill>
                  <a:srgbClr val="000000"/>
                </a:solidFill>
                <a:latin typeface="Consolas" panose="020B0609020204030204" pitchFamily="49" charset="0"/>
              </a:rPr>
              <a:t>    lossy = </a:t>
            </a:r>
            <a:r>
              <a:rPr lang="en-US" dirty="0" err="1">
                <a:solidFill>
                  <a:srgbClr val="000000"/>
                </a:solidFill>
                <a:latin typeface="Consolas" panose="020B0609020204030204" pitchFamily="49" charset="0"/>
              </a:rPr>
              <a:t>torch.mean</a:t>
            </a:r>
            <a:r>
              <a:rPr lang="en-US" dirty="0">
                <a:solidFill>
                  <a:srgbClr val="000000"/>
                </a:solidFill>
                <a:latin typeface="Consolas" panose="020B0609020204030204" pitchFamily="49" charset="0"/>
              </a:rPr>
              <a:t>((y – </a:t>
            </a:r>
            <a:r>
              <a:rPr lang="en-US" dirty="0" err="1">
                <a:solidFill>
                  <a:srgbClr val="000000"/>
                </a:solidFill>
                <a:latin typeface="Consolas" panose="020B0609020204030204" pitchFamily="49" charset="0"/>
              </a:rPr>
              <a:t>yPred</a:t>
            </a:r>
            <a:r>
              <a:rPr lang="en-US" dirty="0">
                <a:solidFill>
                  <a:srgbClr val="000000"/>
                </a:solidFill>
                <a:latin typeface="Consolas" panose="020B0609020204030204" pitchFamily="49" charset="0"/>
              </a:rPr>
              <a:t>) ** </a:t>
            </a:r>
            <a:r>
              <a:rPr lang="en-US" dirty="0">
                <a:solidFill>
                  <a:srgbClr val="098658"/>
                </a:solidFill>
                <a:latin typeface="Consolas" panose="020B0609020204030204" pitchFamily="49" charset="0"/>
              </a:rPr>
              <a:t>2</a:t>
            </a:r>
            <a:r>
              <a:rPr lang="en-US" dirty="0">
                <a:solidFill>
                  <a:srgbClr val="000000"/>
                </a:solidFill>
                <a:latin typeface="Consolas" panose="020B0609020204030204" pitchFamily="49" charset="0"/>
              </a:rPr>
              <a:t>)</a:t>
            </a:r>
          </a:p>
          <a:p>
            <a:pPr>
              <a:lnSpc>
                <a:spcPts val="1425"/>
              </a:lnSpc>
            </a:pP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lossdy</a:t>
            </a:r>
            <a:r>
              <a:rPr lang="en-US" dirty="0">
                <a:solidFill>
                  <a:srgbClr val="000000"/>
                </a:solidFill>
                <a:latin typeface="Consolas" panose="020B0609020204030204" pitchFamily="49" charset="0"/>
              </a:rPr>
              <a:t> = </a:t>
            </a:r>
            <a:r>
              <a:rPr lang="en-US" dirty="0" err="1">
                <a:solidFill>
                  <a:srgbClr val="000000"/>
                </a:solidFill>
                <a:latin typeface="Consolas" panose="020B0609020204030204" pitchFamily="49" charset="0"/>
              </a:rPr>
              <a:t>torch.mean</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dy</a:t>
            </a:r>
            <a:r>
              <a:rPr lang="en-US" dirty="0">
                <a:solidFill>
                  <a:srgbClr val="000000"/>
                </a:solidFill>
                <a:latin typeface="Consolas" panose="020B0609020204030204" pitchFamily="49" charset="0"/>
              </a:rPr>
              <a:t> – </a:t>
            </a:r>
            <a:r>
              <a:rPr lang="en-US" dirty="0" err="1">
                <a:solidFill>
                  <a:srgbClr val="000000"/>
                </a:solidFill>
                <a:latin typeface="Consolas" panose="020B0609020204030204" pitchFamily="49" charset="0"/>
              </a:rPr>
              <a:t>dyPred</a:t>
            </a:r>
            <a:r>
              <a:rPr lang="en-US" dirty="0">
                <a:solidFill>
                  <a:srgbClr val="000000"/>
                </a:solidFill>
                <a:latin typeface="Consolas" panose="020B0609020204030204" pitchFamily="49" charset="0"/>
              </a:rPr>
              <a:t>) ** </a:t>
            </a:r>
            <a:r>
              <a:rPr lang="en-US" dirty="0">
                <a:solidFill>
                  <a:srgbClr val="098658"/>
                </a:solidFill>
                <a:latin typeface="Consolas" panose="020B0609020204030204" pitchFamily="49" charset="0"/>
              </a:rPr>
              <a:t>2</a:t>
            </a:r>
            <a:r>
              <a:rPr lang="en-US" dirty="0">
                <a:solidFill>
                  <a:srgbClr val="000000"/>
                </a:solidFill>
                <a:latin typeface="Consolas" panose="020B0609020204030204" pitchFamily="49" charset="0"/>
              </a:rPr>
              <a:t>)</a:t>
            </a:r>
          </a:p>
          <a:p>
            <a:pPr>
              <a:lnSpc>
                <a:spcPts val="1425"/>
              </a:lnSpc>
            </a:pPr>
            <a:r>
              <a:rPr lang="en-US" dirty="0">
                <a:solidFill>
                  <a:srgbClr val="0000FF"/>
                </a:solidFill>
                <a:latin typeface="Consolas" panose="020B0609020204030204" pitchFamily="49" charset="0"/>
              </a:rPr>
              <a:t>return</a:t>
            </a:r>
            <a:r>
              <a:rPr lang="en-US" dirty="0">
                <a:solidFill>
                  <a:srgbClr val="000000"/>
                </a:solidFill>
                <a:latin typeface="Consolas" panose="020B0609020204030204" pitchFamily="49" charset="0"/>
              </a:rPr>
              <a:t> lossy + </a:t>
            </a:r>
            <a:r>
              <a:rPr lang="en-US" dirty="0" err="1">
                <a:solidFill>
                  <a:srgbClr val="000000"/>
                </a:solidFill>
                <a:latin typeface="Consolas" panose="020B0609020204030204" pitchFamily="49" charset="0"/>
              </a:rPr>
              <a:t>lossdy</a:t>
            </a:r>
            <a:endParaRPr lang="en-US" dirty="0">
              <a:solidFill>
                <a:srgbClr val="000000"/>
              </a:solidFill>
              <a:latin typeface="Consolas" panose="020B0609020204030204" pitchFamily="49" charset="0"/>
            </a:endParaRPr>
          </a:p>
          <a:p>
            <a:endParaRPr lang="en-US" dirty="0"/>
          </a:p>
        </p:txBody>
      </p:sp>
      <p:sp>
        <p:nvSpPr>
          <p:cNvPr id="3" name="Title 2">
            <a:extLst>
              <a:ext uri="{FF2B5EF4-FFF2-40B4-BE49-F238E27FC236}">
                <a16:creationId xmlns:a16="http://schemas.microsoft.com/office/drawing/2014/main" id="{0AFDF4F9-5E43-64F0-DE9A-6E64A85C2CC0}"/>
              </a:ext>
            </a:extLst>
          </p:cNvPr>
          <p:cNvSpPr>
            <a:spLocks noGrp="1"/>
          </p:cNvSpPr>
          <p:nvPr>
            <p:ph type="title"/>
          </p:nvPr>
        </p:nvSpPr>
        <p:spPr/>
        <p:txBody>
          <a:bodyPr/>
          <a:lstStyle/>
          <a:p>
            <a:r>
              <a:rPr lang="de-DE" dirty="0"/>
              <a:t>3.8 </a:t>
            </a:r>
            <a:r>
              <a:rPr lang="de-DE" dirty="0" err="1"/>
              <a:t>Approximating</a:t>
            </a:r>
            <a:r>
              <a:rPr lang="de-DE" dirty="0"/>
              <a:t> </a:t>
            </a:r>
            <a:r>
              <a:rPr lang="de-DE" dirty="0" err="1"/>
              <a:t>the</a:t>
            </a:r>
            <a:r>
              <a:rPr lang="de-DE" dirty="0"/>
              <a:t> Sine </a:t>
            </a:r>
            <a:r>
              <a:rPr lang="de-DE" dirty="0" err="1"/>
              <a:t>Function</a:t>
            </a:r>
            <a:r>
              <a:rPr lang="de-DE" dirty="0"/>
              <a:t> – Sobolev </a:t>
            </a:r>
            <a:endParaRPr lang="en-US" dirty="0"/>
          </a:p>
        </p:txBody>
      </p:sp>
      <p:sp>
        <p:nvSpPr>
          <p:cNvPr id="4" name="Slide Number Placeholder 3">
            <a:extLst>
              <a:ext uri="{FF2B5EF4-FFF2-40B4-BE49-F238E27FC236}">
                <a16:creationId xmlns:a16="http://schemas.microsoft.com/office/drawing/2014/main" id="{CA583F02-0BEA-CEA4-953B-BC9B060D0DE1}"/>
              </a:ext>
            </a:extLst>
          </p:cNvPr>
          <p:cNvSpPr>
            <a:spLocks noGrp="1"/>
          </p:cNvSpPr>
          <p:nvPr>
            <p:ph type="sldNum" sz="quarter" idx="11"/>
          </p:nvPr>
        </p:nvSpPr>
        <p:spPr/>
        <p:txBody>
          <a:bodyPr/>
          <a:lstStyle/>
          <a:p>
            <a:fld id="{CE58CB1E-F828-4F11-99E0-327109AF9DA4}" type="slidenum">
              <a:rPr lang="de-DE" smtClean="0"/>
              <a:pPr/>
              <a:t>10</a:t>
            </a:fld>
            <a:endParaRPr lang="de-DE"/>
          </a:p>
        </p:txBody>
      </p:sp>
      <p:sp>
        <p:nvSpPr>
          <p:cNvPr id="5" name="Footer Placeholder 4">
            <a:extLst>
              <a:ext uri="{FF2B5EF4-FFF2-40B4-BE49-F238E27FC236}">
                <a16:creationId xmlns:a16="http://schemas.microsoft.com/office/drawing/2014/main" id="{83512733-8C20-36F8-28D7-9254F1BB574C}"/>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pic>
        <p:nvPicPr>
          <p:cNvPr id="9" name="Picture 8">
            <a:extLst>
              <a:ext uri="{FF2B5EF4-FFF2-40B4-BE49-F238E27FC236}">
                <a16:creationId xmlns:a16="http://schemas.microsoft.com/office/drawing/2014/main" id="{16A79290-9F8E-1DE1-EF2B-E742B781572B}"/>
              </a:ext>
            </a:extLst>
          </p:cNvPr>
          <p:cNvPicPr>
            <a:picLocks noChangeAspect="1"/>
          </p:cNvPicPr>
          <p:nvPr/>
        </p:nvPicPr>
        <p:blipFill>
          <a:blip r:embed="rId3"/>
          <a:stretch>
            <a:fillRect/>
          </a:stretch>
        </p:blipFill>
        <p:spPr>
          <a:xfrm>
            <a:off x="0" y="2566922"/>
            <a:ext cx="5989366" cy="2211511"/>
          </a:xfrm>
          <a:prstGeom prst="rect">
            <a:avLst/>
          </a:prstGeom>
        </p:spPr>
      </p:pic>
      <p:sp>
        <p:nvSpPr>
          <p:cNvPr id="10" name="TextBox 9">
            <a:extLst>
              <a:ext uri="{FF2B5EF4-FFF2-40B4-BE49-F238E27FC236}">
                <a16:creationId xmlns:a16="http://schemas.microsoft.com/office/drawing/2014/main" id="{10109383-6E8B-FD14-4F87-3CCFE15C8CAC}"/>
              </a:ext>
            </a:extLst>
          </p:cNvPr>
          <p:cNvSpPr txBox="1"/>
          <p:nvPr/>
        </p:nvSpPr>
        <p:spPr>
          <a:xfrm>
            <a:off x="1282711" y="4691523"/>
            <a:ext cx="746230" cy="231602"/>
          </a:xfrm>
          <a:prstGeom prst="rect">
            <a:avLst/>
          </a:prstGeom>
          <a:noFill/>
        </p:spPr>
        <p:txBody>
          <a:bodyPr wrap="none" lIns="0" tIns="0" rIns="0" bIns="0" rtlCol="0">
            <a:spAutoFit/>
          </a:bodyPr>
          <a:lstStyle/>
          <a:p>
            <a:pPr>
              <a:lnSpc>
                <a:spcPct val="114000"/>
              </a:lnSpc>
            </a:pPr>
            <a:r>
              <a:rPr lang="de-DE" sz="1400" dirty="0" err="1">
                <a:latin typeface="+mn-lt"/>
              </a:rPr>
              <a:t>Prediction</a:t>
            </a:r>
            <a:endParaRPr lang="en-DE" sz="1400" dirty="0">
              <a:latin typeface="+mn-lt"/>
            </a:endParaRPr>
          </a:p>
        </p:txBody>
      </p:sp>
      <p:sp>
        <p:nvSpPr>
          <p:cNvPr id="11" name="TextBox 10">
            <a:extLst>
              <a:ext uri="{FF2B5EF4-FFF2-40B4-BE49-F238E27FC236}">
                <a16:creationId xmlns:a16="http://schemas.microsoft.com/office/drawing/2014/main" id="{451347EA-55C3-68FE-7704-1B473DD18222}"/>
              </a:ext>
            </a:extLst>
          </p:cNvPr>
          <p:cNvSpPr txBox="1"/>
          <p:nvPr/>
        </p:nvSpPr>
        <p:spPr>
          <a:xfrm>
            <a:off x="4038338" y="4653460"/>
            <a:ext cx="1718034" cy="231602"/>
          </a:xfrm>
          <a:prstGeom prst="rect">
            <a:avLst/>
          </a:prstGeom>
          <a:noFill/>
        </p:spPr>
        <p:txBody>
          <a:bodyPr wrap="none" lIns="0" tIns="0" rIns="0" bIns="0" rtlCol="0">
            <a:spAutoFit/>
          </a:bodyPr>
          <a:lstStyle/>
          <a:p>
            <a:pPr>
              <a:lnSpc>
                <a:spcPct val="114000"/>
              </a:lnSpc>
            </a:pPr>
            <a:r>
              <a:rPr lang="de-DE" sz="1400" dirty="0">
                <a:latin typeface="+mn-lt"/>
              </a:rPr>
              <a:t>Derivative </a:t>
            </a:r>
            <a:r>
              <a:rPr lang="de-DE" sz="1400" dirty="0" err="1">
                <a:latin typeface="+mn-lt"/>
              </a:rPr>
              <a:t>of</a:t>
            </a:r>
            <a:r>
              <a:rPr lang="de-DE" sz="1400" dirty="0">
                <a:latin typeface="+mn-lt"/>
              </a:rPr>
              <a:t> </a:t>
            </a:r>
            <a:r>
              <a:rPr lang="de-DE" sz="1400" dirty="0" err="1">
                <a:latin typeface="+mn-lt"/>
              </a:rPr>
              <a:t>prediction</a:t>
            </a:r>
            <a:endParaRPr lang="en-DE" sz="1400" dirty="0">
              <a:latin typeface="+mn-lt"/>
            </a:endParaRPr>
          </a:p>
        </p:txBody>
      </p:sp>
    </p:spTree>
    <p:extLst>
      <p:ext uri="{BB962C8B-B14F-4D97-AF65-F5344CB8AC3E}">
        <p14:creationId xmlns:p14="http://schemas.microsoft.com/office/powerpoint/2010/main" val="2704898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B0F13-EA01-1A77-170F-F5F0AC25192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00DA92B-4127-B87A-D79E-453FC5C575FD}"/>
              </a:ext>
            </a:extLst>
          </p:cNvPr>
          <p:cNvSpPr>
            <a:spLocks noGrp="1"/>
          </p:cNvSpPr>
          <p:nvPr>
            <p:ph idx="1"/>
          </p:nvPr>
        </p:nvSpPr>
        <p:spPr/>
        <p:txBody>
          <a:bodyPr/>
          <a:lstStyle/>
          <a:p>
            <a:r>
              <a:rPr lang="de-DE" dirty="0"/>
              <a:t>E.7 </a:t>
            </a:r>
            <a:r>
              <a:rPr lang="de-DE" dirty="0" err="1"/>
              <a:t>Approximating</a:t>
            </a:r>
            <a:r>
              <a:rPr lang="de-DE" dirty="0"/>
              <a:t> </a:t>
            </a:r>
            <a:r>
              <a:rPr lang="de-DE" dirty="0" err="1"/>
              <a:t>the</a:t>
            </a:r>
            <a:r>
              <a:rPr lang="de-DE" dirty="0"/>
              <a:t> Sine </a:t>
            </a:r>
            <a:r>
              <a:rPr lang="de-DE" dirty="0" err="1"/>
              <a:t>Function</a:t>
            </a:r>
            <a:r>
              <a:rPr lang="de-DE" dirty="0"/>
              <a:t> (C)</a:t>
            </a:r>
          </a:p>
          <a:p>
            <a:pPr marL="285750" indent="-285750">
              <a:buFont typeface="Arial" panose="020B0604020202020204" pitchFamily="34" charset="0"/>
              <a:buChar char="•"/>
            </a:pPr>
            <a:r>
              <a:rPr lang="de-DE" dirty="0"/>
              <a:t>In </a:t>
            </a:r>
            <a:r>
              <a:rPr lang="de-DE" dirty="0" err="1"/>
              <a:t>PyTorch</a:t>
            </a:r>
            <a:r>
              <a:rPr lang="de-DE" dirty="0"/>
              <a:t>, </a:t>
            </a:r>
            <a:r>
              <a:rPr lang="de-DE" dirty="0" err="1"/>
              <a:t>build</a:t>
            </a:r>
            <a:r>
              <a:rPr lang="de-DE" dirty="0"/>
              <a:t> a fully </a:t>
            </a:r>
            <a:r>
              <a:rPr lang="de-DE" dirty="0" err="1"/>
              <a:t>connected</a:t>
            </a:r>
            <a:r>
              <a:rPr lang="de-DE" dirty="0"/>
              <a:t> </a:t>
            </a:r>
            <a:r>
              <a:rPr lang="de-DE" dirty="0" err="1"/>
              <a:t>neural</a:t>
            </a:r>
            <a:r>
              <a:rPr lang="de-DE" dirty="0"/>
              <a:t> network, </a:t>
            </a:r>
            <a:r>
              <a:rPr lang="de-DE" dirty="0" err="1"/>
              <a:t>that</a:t>
            </a:r>
            <a:r>
              <a:rPr lang="de-DE" dirty="0"/>
              <a:t> </a:t>
            </a:r>
            <a:r>
              <a:rPr lang="de-DE" dirty="0" err="1"/>
              <a:t>approximates</a:t>
            </a:r>
            <a:r>
              <a:rPr lang="de-DE" dirty="0"/>
              <a:t> </a:t>
            </a:r>
            <a:r>
              <a:rPr lang="de-DE" dirty="0" err="1"/>
              <a:t>the</a:t>
            </a:r>
            <a:r>
              <a:rPr lang="de-DE" dirty="0"/>
              <a:t> sine </a:t>
            </a:r>
            <a:r>
              <a:rPr lang="de-DE" dirty="0" err="1"/>
              <a:t>function</a:t>
            </a:r>
            <a:r>
              <a:rPr lang="de-DE" dirty="0"/>
              <a:t>.</a:t>
            </a:r>
          </a:p>
        </p:txBody>
      </p:sp>
      <p:sp>
        <p:nvSpPr>
          <p:cNvPr id="3" name="Title 2">
            <a:extLst>
              <a:ext uri="{FF2B5EF4-FFF2-40B4-BE49-F238E27FC236}">
                <a16:creationId xmlns:a16="http://schemas.microsoft.com/office/drawing/2014/main" id="{83D616EF-8962-3F0D-DEB9-0046E2FAB5D0}"/>
              </a:ext>
            </a:extLst>
          </p:cNvPr>
          <p:cNvSpPr>
            <a:spLocks noGrp="1"/>
          </p:cNvSpPr>
          <p:nvPr>
            <p:ph type="title"/>
          </p:nvPr>
        </p:nvSpPr>
        <p:spPr/>
        <p:txBody>
          <a:bodyPr/>
          <a:lstStyle/>
          <a:p>
            <a:r>
              <a:rPr lang="de-DE" dirty="0" err="1">
                <a:solidFill>
                  <a:schemeClr val="bg2"/>
                </a:solidFill>
              </a:rPr>
              <a:t>Exercises</a:t>
            </a:r>
            <a:endParaRPr lang="en-US" dirty="0">
              <a:solidFill>
                <a:schemeClr val="bg2"/>
              </a:solidFill>
            </a:endParaRPr>
          </a:p>
        </p:txBody>
      </p:sp>
      <p:sp>
        <p:nvSpPr>
          <p:cNvPr id="4" name="Slide Number Placeholder 3">
            <a:extLst>
              <a:ext uri="{FF2B5EF4-FFF2-40B4-BE49-F238E27FC236}">
                <a16:creationId xmlns:a16="http://schemas.microsoft.com/office/drawing/2014/main" id="{158B1EF3-DC7C-15BE-1B15-7D0861E18A16}"/>
              </a:ext>
            </a:extLst>
          </p:cNvPr>
          <p:cNvSpPr>
            <a:spLocks noGrp="1"/>
          </p:cNvSpPr>
          <p:nvPr>
            <p:ph type="sldNum" sz="quarter" idx="11"/>
          </p:nvPr>
        </p:nvSpPr>
        <p:spPr/>
        <p:txBody>
          <a:bodyPr/>
          <a:lstStyle/>
          <a:p>
            <a:fld id="{CE58CB1E-F828-4F11-99E0-327109AF9DA4}" type="slidenum">
              <a:rPr lang="de-DE" smtClean="0"/>
              <a:pPr/>
              <a:t>11</a:t>
            </a:fld>
            <a:endParaRPr lang="de-DE"/>
          </a:p>
        </p:txBody>
      </p:sp>
      <p:sp>
        <p:nvSpPr>
          <p:cNvPr id="5" name="Footer Placeholder 4">
            <a:extLst>
              <a:ext uri="{FF2B5EF4-FFF2-40B4-BE49-F238E27FC236}">
                <a16:creationId xmlns:a16="http://schemas.microsoft.com/office/drawing/2014/main" id="{A5809E5E-D079-DA24-353C-73A8F615A67F}"/>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spTree>
    <p:extLst>
      <p:ext uri="{BB962C8B-B14F-4D97-AF65-F5344CB8AC3E}">
        <p14:creationId xmlns:p14="http://schemas.microsoft.com/office/powerpoint/2010/main" val="28276386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E0259F08-A265-F124-0BF2-119EFD9E59D6}"/>
                  </a:ext>
                </a:extLst>
              </p:cNvPr>
              <p:cNvSpPr>
                <a:spLocks noGrp="1"/>
              </p:cNvSpPr>
              <p:nvPr>
                <p:ph idx="1"/>
              </p:nvPr>
            </p:nvSpPr>
            <p:spPr/>
            <p:txBody>
              <a:bodyPr/>
              <a:lstStyle/>
              <a:p>
                <a:pPr marL="285750" indent="-285750">
                  <a:buFont typeface="Arial" panose="020B0604020202020204" pitchFamily="34" charset="0"/>
                  <a:buChar char="•"/>
                </a:pPr>
                <a:r>
                  <a:rPr lang="en-US" dirty="0"/>
                  <a:t>Originally designed for image processing</a:t>
                </a:r>
              </a:p>
              <a:p>
                <a:pPr marL="285750" indent="-285750">
                  <a:buFont typeface="Arial" panose="020B0604020202020204" pitchFamily="34" charset="0"/>
                  <a:buChar char="•"/>
                </a:pPr>
                <a:r>
                  <a:rPr lang="en-US" dirty="0"/>
                  <a:t>Identify relative positions of features</a:t>
                </a:r>
              </a:p>
              <a:p>
                <a:pPr marL="285750" indent="-285750">
                  <a:buFont typeface="Arial" panose="020B0604020202020204" pitchFamily="34" charset="0"/>
                  <a:buChar char="•"/>
                </a:pPr>
                <a:r>
                  <a:rPr lang="en-US" dirty="0"/>
                  <a:t>Proximity of features is important</a:t>
                </a:r>
              </a:p>
              <a:p>
                <a:pPr marL="285750" indent="-285750">
                  <a:buFont typeface="Arial" panose="020B0604020202020204" pitchFamily="34" charset="0"/>
                  <a:buChar char="•"/>
                </a:pPr>
                <a:r>
                  <a:rPr lang="en-US" dirty="0"/>
                  <a:t>Operate with convolutional layers</a:t>
                </a:r>
              </a:p>
              <a:p>
                <a:pPr marL="285750" indent="-285750">
                  <a:buFont typeface="Arial" panose="020B0604020202020204" pitchFamily="34" charset="0"/>
                  <a:buChar char="•"/>
                </a:pPr>
                <a:endParaRPr lang="en-US" dirty="0"/>
              </a:p>
              <a:p>
                <a:r>
                  <a:rPr lang="en-US" b="1" dirty="0"/>
                  <a:t>Convolutional layers</a:t>
                </a:r>
                <a:br>
                  <a:rPr lang="en-US" dirty="0"/>
                </a:br>
                <a:r>
                  <a:rPr lang="en-US" dirty="0"/>
                  <a:t>consist of</a:t>
                </a:r>
                <a:r>
                  <a:rPr lang="en-US" dirty="0">
                    <a:solidFill>
                      <a:schemeClr val="bg1">
                        <a:lumMod val="50000"/>
                      </a:schemeClr>
                    </a:solidFill>
                  </a:rPr>
                  <a:t> </a:t>
                </a:r>
                <a:r>
                  <a:rPr lang="en-US" dirty="0">
                    <a:solidFill>
                      <a:schemeClr val="bg2"/>
                    </a:solidFill>
                  </a:rPr>
                  <a:t>filters/kernels </a:t>
                </a:r>
                <a14:m>
                  <m:oMath xmlns:m="http://schemas.openxmlformats.org/officeDocument/2006/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𝑤</m:t>
                    </m:r>
                    <m:r>
                      <a:rPr lang="en-US" b="0" i="1" smtClean="0">
                        <a:latin typeface="Cambria Math" panose="02040503050406030204" pitchFamily="18" charset="0"/>
                      </a:rPr>
                      <m:t>)</m:t>
                    </m:r>
                  </m:oMath>
                </a14:m>
                <a:r>
                  <a:rPr lang="en-US" dirty="0"/>
                  <a:t> that are</a:t>
                </a:r>
                <a:br>
                  <a:rPr lang="en-US" dirty="0"/>
                </a:br>
                <a:r>
                  <a:rPr lang="en-US" dirty="0"/>
                  <a:t>applied to an input field </a:t>
                </a:r>
                <a14:m>
                  <m:oMath xmlns:m="http://schemas.openxmlformats.org/officeDocument/2006/math">
                    <m:r>
                      <a:rPr lang="en-US" b="0" i="1" smtClean="0">
                        <a:latin typeface="Cambria Math" panose="02040503050406030204" pitchFamily="18" charset="0"/>
                      </a:rPr>
                      <m:t>𝐼</m:t>
                    </m:r>
                  </m:oMath>
                </a14:m>
                <a:r>
                  <a:rPr lang="en-US" dirty="0"/>
                  <a:t> and defined by</a:t>
                </a:r>
              </a:p>
              <a:p>
                <a:pPr marL="285750" indent="-285750">
                  <a:buFont typeface="Arial" panose="020B0604020202020204" pitchFamily="34" charset="0"/>
                  <a:buChar char="•"/>
                </a:pPr>
                <a:r>
                  <a:rPr lang="en-US" dirty="0"/>
                  <a:t>Kernel size</a:t>
                </a:r>
              </a:p>
              <a:p>
                <a:pPr marL="285750" indent="-285750">
                  <a:buFont typeface="Arial" panose="020B0604020202020204" pitchFamily="34" charset="0"/>
                  <a:buChar char="•"/>
                </a:pPr>
                <a:r>
                  <a:rPr lang="en-US" dirty="0"/>
                  <a:t>Number of kernels</a:t>
                </a:r>
              </a:p>
              <a:p>
                <a:pPr marL="285750" indent="-285750">
                  <a:buFont typeface="Arial" panose="020B0604020202020204" pitchFamily="34" charset="0"/>
                  <a:buChar char="•"/>
                </a:pPr>
                <a:r>
                  <a:rPr lang="en-US" dirty="0">
                    <a:solidFill>
                      <a:schemeClr val="bg2"/>
                    </a:solidFill>
                  </a:rPr>
                  <a:t>Stride length</a:t>
                </a:r>
                <a:r>
                  <a:rPr lang="en-US" dirty="0"/>
                  <a:t>: how large is the shift of the kernel per step</a:t>
                </a:r>
              </a:p>
              <a:p>
                <a:pPr marL="285750" indent="-285750">
                  <a:buFont typeface="Arial" panose="020B0604020202020204" pitchFamily="34" charset="0"/>
                  <a:buChar char="•"/>
                </a:pPr>
                <a:r>
                  <a:rPr lang="en-US" dirty="0">
                    <a:solidFill>
                      <a:schemeClr val="bg2"/>
                    </a:solidFill>
                  </a:rPr>
                  <a:t>Padding</a:t>
                </a:r>
                <a:r>
                  <a:rPr lang="en-US" dirty="0"/>
                  <a:t>: do you embed the input field?</a:t>
                </a:r>
              </a:p>
              <a:p>
                <a:endParaRPr lang="en-US" dirty="0"/>
              </a:p>
              <a:p>
                <a:r>
                  <a:rPr lang="en-US" dirty="0"/>
                  <a:t>In neural networks: The values in the kernel are not preset. They are learnt by the network and represent the weights.</a:t>
                </a:r>
              </a:p>
            </p:txBody>
          </p:sp>
        </mc:Choice>
        <mc:Fallback>
          <p:sp>
            <p:nvSpPr>
              <p:cNvPr id="2" name="Content Placeholder 1">
                <a:extLst>
                  <a:ext uri="{FF2B5EF4-FFF2-40B4-BE49-F238E27FC236}">
                    <a16:creationId xmlns:a16="http://schemas.microsoft.com/office/drawing/2014/main" id="{E0259F08-A265-F124-0BF2-119EFD9E59D6}"/>
                  </a:ext>
                </a:extLst>
              </p:cNvPr>
              <p:cNvSpPr>
                <a:spLocks noGrp="1" noRot="1" noChangeAspect="1" noMove="1" noResize="1" noEditPoints="1" noAdjustHandles="1" noChangeArrowheads="1" noChangeShapeType="1" noTextEdit="1"/>
              </p:cNvSpPr>
              <p:nvPr>
                <p:ph idx="1"/>
              </p:nvPr>
            </p:nvSpPr>
            <p:spPr>
              <a:blipFill>
                <a:blip r:embed="rId3"/>
                <a:stretch>
                  <a:fillRect l="-1289" t="-92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BF458F97-5ACD-0AD1-1D3F-45AC6D175E9E}"/>
              </a:ext>
            </a:extLst>
          </p:cNvPr>
          <p:cNvSpPr>
            <a:spLocks noGrp="1"/>
          </p:cNvSpPr>
          <p:nvPr>
            <p:ph type="title"/>
          </p:nvPr>
        </p:nvSpPr>
        <p:spPr/>
        <p:txBody>
          <a:bodyPr/>
          <a:lstStyle/>
          <a:p>
            <a:r>
              <a:rPr lang="de-DE" dirty="0"/>
              <a:t>3.9.1 </a:t>
            </a:r>
            <a:r>
              <a:rPr lang="de-DE" dirty="0" err="1"/>
              <a:t>Convolutional</a:t>
            </a:r>
            <a:r>
              <a:rPr lang="de-DE" dirty="0"/>
              <a:t> </a:t>
            </a:r>
            <a:r>
              <a:rPr lang="de-DE" dirty="0" err="1"/>
              <a:t>Neural</a:t>
            </a:r>
            <a:r>
              <a:rPr lang="de-DE" dirty="0"/>
              <a:t> Networks </a:t>
            </a:r>
            <a:endParaRPr lang="en-US" dirty="0"/>
          </a:p>
        </p:txBody>
      </p:sp>
      <p:sp>
        <p:nvSpPr>
          <p:cNvPr id="4" name="Slide Number Placeholder 3">
            <a:extLst>
              <a:ext uri="{FF2B5EF4-FFF2-40B4-BE49-F238E27FC236}">
                <a16:creationId xmlns:a16="http://schemas.microsoft.com/office/drawing/2014/main" id="{8CA84195-0153-BB6C-310A-AB30571A0506}"/>
              </a:ext>
            </a:extLst>
          </p:cNvPr>
          <p:cNvSpPr>
            <a:spLocks noGrp="1"/>
          </p:cNvSpPr>
          <p:nvPr>
            <p:ph type="sldNum" sz="quarter" idx="11"/>
          </p:nvPr>
        </p:nvSpPr>
        <p:spPr/>
        <p:txBody>
          <a:bodyPr/>
          <a:lstStyle/>
          <a:p>
            <a:fld id="{CE58CB1E-F828-4F11-99E0-327109AF9DA4}" type="slidenum">
              <a:rPr lang="de-DE" smtClean="0"/>
              <a:pPr/>
              <a:t>12</a:t>
            </a:fld>
            <a:endParaRPr lang="de-DE"/>
          </a:p>
        </p:txBody>
      </p:sp>
      <p:sp>
        <p:nvSpPr>
          <p:cNvPr id="5" name="Footer Placeholder 4">
            <a:extLst>
              <a:ext uri="{FF2B5EF4-FFF2-40B4-BE49-F238E27FC236}">
                <a16:creationId xmlns:a16="http://schemas.microsoft.com/office/drawing/2014/main" id="{574E944B-F6CB-45EF-9FAD-CD75526B524C}"/>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pic>
        <p:nvPicPr>
          <p:cNvPr id="7" name="Picture 6">
            <a:extLst>
              <a:ext uri="{FF2B5EF4-FFF2-40B4-BE49-F238E27FC236}">
                <a16:creationId xmlns:a16="http://schemas.microsoft.com/office/drawing/2014/main" id="{280E2FFC-AE14-D5F4-A416-8FA3962E8831}"/>
              </a:ext>
            </a:extLst>
          </p:cNvPr>
          <p:cNvPicPr>
            <a:picLocks noChangeAspect="1"/>
          </p:cNvPicPr>
          <p:nvPr/>
        </p:nvPicPr>
        <p:blipFill>
          <a:blip r:embed="rId4"/>
          <a:stretch>
            <a:fillRect/>
          </a:stretch>
        </p:blipFill>
        <p:spPr>
          <a:xfrm>
            <a:off x="3554018" y="970380"/>
            <a:ext cx="5539975" cy="2044283"/>
          </a:xfrm>
          <a:prstGeom prst="rect">
            <a:avLst/>
          </a:prstGeom>
        </p:spPr>
      </p:pic>
      <p:sp>
        <p:nvSpPr>
          <p:cNvPr id="8" name="Rechteck 1">
            <a:extLst>
              <a:ext uri="{FF2B5EF4-FFF2-40B4-BE49-F238E27FC236}">
                <a16:creationId xmlns:a16="http://schemas.microsoft.com/office/drawing/2014/main" id="{2DBC0C28-731C-FCC7-E98A-97316D5C2CDB}"/>
              </a:ext>
            </a:extLst>
          </p:cNvPr>
          <p:cNvSpPr/>
          <p:nvPr/>
        </p:nvSpPr>
        <p:spPr>
          <a:xfrm>
            <a:off x="5279395" y="2357579"/>
            <a:ext cx="861530" cy="553998"/>
          </a:xfrm>
          <a:prstGeom prst="rect">
            <a:avLst/>
          </a:prstGeom>
          <a:solidFill>
            <a:schemeClr val="bg1">
              <a:lumMod val="50000"/>
              <a:alpha val="24000"/>
            </a:schemeClr>
          </a:solidFill>
          <a:ln w="22225">
            <a:solidFill>
              <a:schemeClr val="tx1"/>
            </a:solidFill>
          </a:ln>
        </p:spPr>
        <p:txBody>
          <a:bodyPr wrap="square">
            <a:spAutoFit/>
          </a:bodyPr>
          <a:lstStyle/>
          <a:p>
            <a:pPr algn="ctr"/>
            <a:r>
              <a:rPr lang="en-US" sz="1000" dirty="0"/>
              <a:t>local receptive </a:t>
            </a:r>
          </a:p>
          <a:p>
            <a:pPr algn="ctr"/>
            <a:r>
              <a:rPr lang="en-US" sz="1000" dirty="0"/>
              <a:t>field</a:t>
            </a:r>
          </a:p>
        </p:txBody>
      </p:sp>
      <p:sp>
        <p:nvSpPr>
          <p:cNvPr id="9" name="Rechteck 7">
            <a:extLst>
              <a:ext uri="{FF2B5EF4-FFF2-40B4-BE49-F238E27FC236}">
                <a16:creationId xmlns:a16="http://schemas.microsoft.com/office/drawing/2014/main" id="{7E65182C-FF87-7F35-4415-AB3CA47C2CB5}"/>
              </a:ext>
            </a:extLst>
          </p:cNvPr>
          <p:cNvSpPr/>
          <p:nvPr/>
        </p:nvSpPr>
        <p:spPr>
          <a:xfrm>
            <a:off x="6261290" y="2357579"/>
            <a:ext cx="861530" cy="246221"/>
          </a:xfrm>
          <a:prstGeom prst="rect">
            <a:avLst/>
          </a:prstGeom>
          <a:solidFill>
            <a:schemeClr val="bg1">
              <a:lumMod val="50000"/>
              <a:alpha val="24000"/>
            </a:schemeClr>
          </a:solidFill>
          <a:ln w="22225">
            <a:solidFill>
              <a:schemeClr val="tx1"/>
            </a:solidFill>
          </a:ln>
        </p:spPr>
        <p:txBody>
          <a:bodyPr wrap="square">
            <a:spAutoFit/>
          </a:bodyPr>
          <a:lstStyle/>
          <a:p>
            <a:pPr algn="ctr"/>
            <a:r>
              <a:rPr lang="en-US" sz="1000" dirty="0"/>
              <a:t>Kernel</a:t>
            </a:r>
          </a:p>
        </p:txBody>
      </p:sp>
    </p:spTree>
    <p:extLst>
      <p:ext uri="{BB962C8B-B14F-4D97-AF65-F5344CB8AC3E}">
        <p14:creationId xmlns:p14="http://schemas.microsoft.com/office/powerpoint/2010/main" val="4149466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DCDCEF9B-BBEC-D69D-56C9-B2557E5C8966}"/>
                  </a:ext>
                </a:extLst>
              </p:cNvPr>
              <p:cNvSpPr>
                <a:spLocks noGrp="1"/>
              </p:cNvSpPr>
              <p:nvPr>
                <p:ph idx="1"/>
              </p:nvPr>
            </p:nvSpPr>
            <p:spPr/>
            <p:txBody>
              <a:bodyPr/>
              <a:lstStyle/>
              <a:p>
                <a:r>
                  <a:rPr lang="de-DE" dirty="0"/>
                  <a:t>  </a:t>
                </a:r>
              </a:p>
              <a:p>
                <a:endParaRPr lang="de-DE" dirty="0"/>
              </a:p>
              <a:p>
                <a:endParaRPr lang="de-DE" dirty="0"/>
              </a:p>
              <a:p>
                <a:endParaRPr lang="de-DE" dirty="0"/>
              </a:p>
              <a:p>
                <a:endParaRPr lang="de-DE" dirty="0"/>
              </a:p>
              <a:p>
                <a:endParaRPr lang="de-DE" dirty="0"/>
              </a:p>
              <a:p>
                <a:endParaRPr lang="de-DE" dirty="0"/>
              </a:p>
              <a:p>
                <a:r>
                  <a:rPr lang="de-DE" dirty="0"/>
                  <a:t> </a:t>
                </a:r>
              </a:p>
              <a:p>
                <a:r>
                  <a:rPr lang="de-DE" dirty="0"/>
                  <a:t>The </a:t>
                </a:r>
                <a:r>
                  <a:rPr lang="de-DE" dirty="0" err="1"/>
                  <a:t>convolution</a:t>
                </a:r>
                <a:r>
                  <a:rPr lang="de-DE" dirty="0"/>
                  <a:t> </a:t>
                </a:r>
                <a14:m>
                  <m:oMath xmlns:m="http://schemas.openxmlformats.org/officeDocument/2006/math">
                    <m:r>
                      <a:rPr lang="de-DE" b="0" i="1" smtClean="0">
                        <a:latin typeface="Cambria Math" panose="02040503050406030204" pitchFamily="18" charset="0"/>
                      </a:rPr>
                      <m:t>∗</m:t>
                    </m:r>
                  </m:oMath>
                </a14:m>
                <a:r>
                  <a:rPr lang="en-US" dirty="0"/>
                  <a:t> is computed as a combination of the multidimensional dot product, also known as </a:t>
                </a:r>
                <a:r>
                  <a:rPr lang="en-US" dirty="0" err="1">
                    <a:solidFill>
                      <a:schemeClr val="bg2"/>
                    </a:solidFill>
                  </a:rPr>
                  <a:t>tensordot</a:t>
                </a:r>
                <a:r>
                  <a:rPr lang="en-US" dirty="0"/>
                  <a:t> product:</a:t>
                </a:r>
              </a:p>
              <a:p>
                <a:pP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𝑜</m:t>
                      </m:r>
                      <m:r>
                        <a:rPr lang="de-DE" b="0" i="1" smtClean="0">
                          <a:latin typeface="Cambria Math" panose="02040503050406030204" pitchFamily="18" charset="0"/>
                        </a:rPr>
                        <m:t>=</m:t>
                      </m:r>
                      <m:sSub>
                        <m:sSubPr>
                          <m:ctrlPr>
                            <a:rPr lang="de-DE" b="0" i="1" smtClean="0">
                              <a:latin typeface="Cambria Math" panose="02040503050406030204" pitchFamily="18" charset="0"/>
                            </a:rPr>
                          </m:ctrlPr>
                        </m:sSubPr>
                        <m:e>
                          <m:r>
                            <a:rPr lang="de-DE" b="0" i="1" smtClean="0">
                              <a:latin typeface="Cambria Math" panose="02040503050406030204" pitchFamily="18" charset="0"/>
                            </a:rPr>
                            <m:t>𝑉</m:t>
                          </m:r>
                        </m:e>
                        <m:sub>
                          <m:r>
                            <a:rPr lang="de-DE" b="0" i="1" smtClean="0">
                              <a:latin typeface="Cambria Math" panose="02040503050406030204" pitchFamily="18" charset="0"/>
                            </a:rPr>
                            <m:t>𝑖𝑗</m:t>
                          </m:r>
                        </m:sub>
                      </m:sSub>
                      <m:r>
                        <a:rPr lang="de-DE" b="0" i="1" smtClean="0">
                          <a:latin typeface="Cambria Math" panose="02040503050406030204" pitchFamily="18" charset="0"/>
                        </a:rPr>
                        <m:t>⋅</m:t>
                      </m:r>
                      <m:sSub>
                        <m:sSubPr>
                          <m:ctrlPr>
                            <a:rPr lang="de-DE" b="0" i="1" smtClean="0">
                              <a:latin typeface="Cambria Math" panose="02040503050406030204" pitchFamily="18" charset="0"/>
                            </a:rPr>
                          </m:ctrlPr>
                        </m:sSubPr>
                        <m:e>
                          <m:r>
                            <a:rPr lang="de-DE" b="0" i="1" smtClean="0">
                              <a:latin typeface="Cambria Math" panose="02040503050406030204" pitchFamily="18" charset="0"/>
                            </a:rPr>
                            <m:t>𝐾</m:t>
                          </m:r>
                        </m:e>
                        <m:sub>
                          <m:r>
                            <a:rPr lang="de-DE" b="0" i="1" smtClean="0">
                              <a:latin typeface="Cambria Math" panose="02040503050406030204" pitchFamily="18" charset="0"/>
                            </a:rPr>
                            <m:t>𝑖𝑗</m:t>
                          </m:r>
                        </m:sub>
                      </m:sSub>
                    </m:oMath>
                  </m:oMathPara>
                </a14:m>
                <a:endParaRPr lang="en-US" dirty="0"/>
              </a:p>
              <a:p>
                <a:r>
                  <a:rPr lang="en-US" dirty="0"/>
                  <a:t>Example (2D </a:t>
                </a:r>
                <a:r>
                  <a:rPr lang="en-US" dirty="0">
                    <a:solidFill>
                      <a:schemeClr val="bg2"/>
                    </a:solidFill>
                  </a:rPr>
                  <a:t>convolutional filter </a:t>
                </a:r>
                <a:r>
                  <a:rPr lang="en-US" dirty="0"/>
                  <a:t>applied with a </a:t>
                </a:r>
                <a:r>
                  <a:rPr lang="en-US" dirty="0">
                    <a:solidFill>
                      <a:schemeClr val="bg2"/>
                    </a:solidFill>
                  </a:rPr>
                  <a:t>stride</a:t>
                </a:r>
                <a:r>
                  <a:rPr lang="en-US" dirty="0"/>
                  <a:t> length of </a:t>
                </a:r>
                <a14:m>
                  <m:oMath xmlns:m="http://schemas.openxmlformats.org/officeDocument/2006/math">
                    <m:r>
                      <a:rPr lang="de-DE" b="0" i="1" smtClean="0">
                        <a:latin typeface="Cambria Math" panose="02040503050406030204" pitchFamily="18" charset="0"/>
                      </a:rPr>
                      <m:t>𝑠</m:t>
                    </m:r>
                    <m:r>
                      <a:rPr lang="de-DE" b="0" i="1" smtClean="0">
                        <a:latin typeface="Cambria Math" panose="02040503050406030204" pitchFamily="18" charset="0"/>
                      </a:rPr>
                      <m:t>=1</m:t>
                    </m:r>
                  </m:oMath>
                </a14:m>
                <a:r>
                  <a:rPr lang="en-US" dirty="0"/>
                  <a:t> and no padding)</a:t>
                </a:r>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1⋅0+1⋅1+1⋅0+0⋅1+1⋅0+1⋅1+1⋅0+1⋅1+0⋅0=3</m:t>
                      </m:r>
                    </m:oMath>
                  </m:oMathPara>
                </a14:m>
                <a:endParaRPr lang="en-US" dirty="0"/>
              </a:p>
              <a:p>
                <a:r>
                  <a:rPr lang="en-US" dirty="0"/>
                  <a:t>This operation is then repeated by shifting the </a:t>
                </a:r>
                <a:r>
                  <a:rPr lang="en-US" dirty="0">
                    <a:solidFill>
                      <a:schemeClr val="bg2"/>
                    </a:solidFill>
                  </a:rPr>
                  <a:t>view</a:t>
                </a:r>
                <a:r>
                  <a:rPr lang="en-US" dirty="0"/>
                  <a:t> </a:t>
                </a:r>
                <a14:m>
                  <m:oMath xmlns:m="http://schemas.openxmlformats.org/officeDocument/2006/math">
                    <m:sSub>
                      <m:sSubPr>
                        <m:ctrlPr>
                          <a:rPr lang="de-DE" b="0" i="1" smtClean="0">
                            <a:latin typeface="Cambria Math" panose="02040503050406030204" pitchFamily="18" charset="0"/>
                          </a:rPr>
                        </m:ctrlPr>
                      </m:sSubPr>
                      <m:e>
                        <m:r>
                          <a:rPr lang="de-DE" b="0" i="1" smtClean="0">
                            <a:latin typeface="Cambria Math" panose="02040503050406030204" pitchFamily="18" charset="0"/>
                          </a:rPr>
                          <m:t>𝑉</m:t>
                        </m:r>
                      </m:e>
                      <m:sub>
                        <m:r>
                          <a:rPr lang="de-DE" b="0" i="1" smtClean="0">
                            <a:latin typeface="Cambria Math" panose="02040503050406030204" pitchFamily="18" charset="0"/>
                          </a:rPr>
                          <m:t>𝑖𝑗</m:t>
                        </m:r>
                      </m:sub>
                    </m:sSub>
                  </m:oMath>
                </a14:m>
                <a:r>
                  <a:rPr lang="en-US" dirty="0"/>
                  <a:t> with the stride </a:t>
                </a:r>
                <a14:m>
                  <m:oMath xmlns:m="http://schemas.openxmlformats.org/officeDocument/2006/math">
                    <m:r>
                      <a:rPr lang="de-DE" b="0" i="1" smtClean="0">
                        <a:latin typeface="Cambria Math" panose="02040503050406030204" pitchFamily="18" charset="0"/>
                      </a:rPr>
                      <m:t>𝑠</m:t>
                    </m:r>
                  </m:oMath>
                </a14:m>
                <a:endParaRPr lang="en-US" dirty="0"/>
              </a:p>
              <a:p>
                <a:pPr/>
                <a14:m>
                  <m:oMathPara xmlns:m="http://schemas.openxmlformats.org/officeDocument/2006/math">
                    <m:oMathParaPr>
                      <m:jc m:val="centerGroup"/>
                    </m:oMathParaPr>
                    <m:oMath xmlns:m="http://schemas.openxmlformats.org/officeDocument/2006/math">
                      <m:sSub>
                        <m:sSubPr>
                          <m:ctrlPr>
                            <a:rPr lang="de-DE" sz="1400" b="0" i="1" smtClean="0">
                              <a:latin typeface="Cambria Math" panose="02040503050406030204" pitchFamily="18" charset="0"/>
                            </a:rPr>
                          </m:ctrlPr>
                        </m:sSubPr>
                        <m:e>
                          <m:r>
                            <a:rPr lang="de-DE" sz="1400" b="0" i="1" smtClean="0">
                              <a:latin typeface="Cambria Math" panose="02040503050406030204" pitchFamily="18" charset="0"/>
                            </a:rPr>
                            <m:t>𝑂</m:t>
                          </m:r>
                        </m:e>
                        <m:sub>
                          <m:r>
                            <a:rPr lang="de-DE" sz="1400" b="0" i="1" smtClean="0">
                              <a:latin typeface="Cambria Math" panose="02040503050406030204" pitchFamily="18" charset="0"/>
                            </a:rPr>
                            <m:t>𝑘𝑙</m:t>
                          </m:r>
                        </m:sub>
                      </m:sSub>
                      <m:r>
                        <a:rPr lang="de-DE" sz="1400" b="0" i="1" smtClean="0">
                          <a:latin typeface="Cambria Math" panose="02040503050406030204" pitchFamily="18" charset="0"/>
                        </a:rPr>
                        <m:t>=</m:t>
                      </m:r>
                      <m:nary>
                        <m:naryPr>
                          <m:chr m:val="∑"/>
                          <m:supHide m:val="on"/>
                          <m:ctrlPr>
                            <a:rPr lang="de-DE" sz="1400" i="1">
                              <a:latin typeface="Cambria Math" panose="02040503050406030204" pitchFamily="18" charset="0"/>
                            </a:rPr>
                          </m:ctrlPr>
                        </m:naryPr>
                        <m:sub>
                          <m:r>
                            <a:rPr lang="de-DE" sz="1400" i="1">
                              <a:latin typeface="Cambria Math" panose="02040503050406030204" pitchFamily="18" charset="0"/>
                            </a:rPr>
                            <m:t>𝑖</m:t>
                          </m:r>
                          <m:r>
                            <a:rPr lang="de-DE" sz="1400" i="1">
                              <a:latin typeface="Cambria Math" panose="02040503050406030204" pitchFamily="18" charset="0"/>
                            </a:rPr>
                            <m:t>,</m:t>
                          </m:r>
                          <m:r>
                            <a:rPr lang="de-DE" sz="1400" i="1">
                              <a:latin typeface="Cambria Math" panose="02040503050406030204" pitchFamily="18" charset="0"/>
                            </a:rPr>
                            <m:t>𝑗</m:t>
                          </m:r>
                        </m:sub>
                        <m:sup/>
                        <m:e>
                          <m:sSub>
                            <m:sSubPr>
                              <m:ctrlPr>
                                <a:rPr lang="de-DE" sz="1400" i="1">
                                  <a:latin typeface="Cambria Math" panose="02040503050406030204" pitchFamily="18" charset="0"/>
                                </a:rPr>
                              </m:ctrlPr>
                            </m:sSubPr>
                            <m:e>
                              <m:r>
                                <a:rPr lang="de-DE" sz="1400" i="1">
                                  <a:latin typeface="Cambria Math" panose="02040503050406030204" pitchFamily="18" charset="0"/>
                                </a:rPr>
                                <m:t>𝑉</m:t>
                              </m:r>
                            </m:e>
                            <m:sub>
                              <m:r>
                                <a:rPr lang="de-DE" sz="1400" b="0" i="1" smtClean="0">
                                  <a:latin typeface="Cambria Math" panose="02040503050406030204" pitchFamily="18" charset="0"/>
                                </a:rPr>
                                <m:t>(</m:t>
                              </m:r>
                              <m:r>
                                <a:rPr lang="de-DE" sz="1400" i="1">
                                  <a:latin typeface="Cambria Math" panose="02040503050406030204" pitchFamily="18" charset="0"/>
                                </a:rPr>
                                <m:t>𝑖</m:t>
                              </m:r>
                              <m:r>
                                <a:rPr lang="de-DE" sz="1400" i="1">
                                  <a:latin typeface="Cambria Math" panose="02040503050406030204" pitchFamily="18" charset="0"/>
                                </a:rPr>
                                <m:t>+</m:t>
                              </m:r>
                              <m:r>
                                <a:rPr lang="de-DE" sz="1400" i="1">
                                  <a:latin typeface="Cambria Math" panose="02040503050406030204" pitchFamily="18" charset="0"/>
                                </a:rPr>
                                <m:t>𝑘</m:t>
                              </m:r>
                              <m:r>
                                <a:rPr lang="de-DE" sz="1400" b="0" i="1" smtClean="0">
                                  <a:latin typeface="Cambria Math" panose="02040503050406030204" pitchFamily="18" charset="0"/>
                                </a:rPr>
                                <m:t>)(</m:t>
                              </m:r>
                              <m:r>
                                <a:rPr lang="de-DE" sz="1400" i="1">
                                  <a:latin typeface="Cambria Math" panose="02040503050406030204" pitchFamily="18" charset="0"/>
                                </a:rPr>
                                <m:t>𝑗</m:t>
                              </m:r>
                              <m:r>
                                <a:rPr lang="de-DE" sz="1400" i="1">
                                  <a:latin typeface="Cambria Math" panose="02040503050406030204" pitchFamily="18" charset="0"/>
                                </a:rPr>
                                <m:t>+</m:t>
                              </m:r>
                              <m:r>
                                <a:rPr lang="de-DE" sz="1400" i="1">
                                  <a:latin typeface="Cambria Math" panose="02040503050406030204" pitchFamily="18" charset="0"/>
                                </a:rPr>
                                <m:t>𝑙</m:t>
                              </m:r>
                              <m:r>
                                <a:rPr lang="de-DE" sz="1400" b="0" i="1" smtClean="0">
                                  <a:latin typeface="Cambria Math" panose="02040503050406030204" pitchFamily="18" charset="0"/>
                                </a:rPr>
                                <m:t>)</m:t>
                              </m:r>
                            </m:sub>
                          </m:sSub>
                          <m:r>
                            <a:rPr lang="de-DE" sz="1400" i="1">
                              <a:latin typeface="Cambria Math" panose="02040503050406030204" pitchFamily="18" charset="0"/>
                            </a:rPr>
                            <m:t>⋅</m:t>
                          </m:r>
                          <m:sSub>
                            <m:sSubPr>
                              <m:ctrlPr>
                                <a:rPr lang="de-DE" sz="1400" i="1">
                                  <a:latin typeface="Cambria Math" panose="02040503050406030204" pitchFamily="18" charset="0"/>
                                </a:rPr>
                              </m:ctrlPr>
                            </m:sSubPr>
                            <m:e>
                              <m:r>
                                <a:rPr lang="de-DE" sz="1400" i="1">
                                  <a:latin typeface="Cambria Math" panose="02040503050406030204" pitchFamily="18" charset="0"/>
                                </a:rPr>
                                <m:t>𝐾</m:t>
                              </m:r>
                            </m:e>
                            <m:sub>
                              <m:r>
                                <a:rPr lang="de-DE" sz="1400" i="1">
                                  <a:latin typeface="Cambria Math" panose="02040503050406030204" pitchFamily="18" charset="0"/>
                                </a:rPr>
                                <m:t>𝑖𝑗</m:t>
                              </m:r>
                            </m:sub>
                          </m:sSub>
                        </m:e>
                      </m:nary>
                      <m:r>
                        <a:rPr lang="de-DE" sz="1400" b="0" i="1" smtClean="0">
                          <a:latin typeface="Cambria Math" panose="02040503050406030204" pitchFamily="18" charset="0"/>
                        </a:rPr>
                        <m:t>=</m:t>
                      </m:r>
                      <m:r>
                        <a:rPr lang="de-DE" sz="1400" b="0" i="1" smtClean="0">
                          <a:latin typeface="Cambria Math" panose="02040503050406030204" pitchFamily="18" charset="0"/>
                        </a:rPr>
                        <m:t>𝑉</m:t>
                      </m:r>
                      <m:r>
                        <a:rPr lang="de-DE" sz="1400" b="0" i="1" smtClean="0">
                          <a:latin typeface="Cambria Math" panose="02040503050406030204" pitchFamily="18" charset="0"/>
                        </a:rPr>
                        <m:t>∗</m:t>
                      </m:r>
                      <m:r>
                        <a:rPr lang="de-DE" sz="1400" b="0" i="1" smtClean="0">
                          <a:latin typeface="Cambria Math" panose="02040503050406030204" pitchFamily="18" charset="0"/>
                        </a:rPr>
                        <m:t>𝐾</m:t>
                      </m:r>
                    </m:oMath>
                  </m:oMathPara>
                </a14:m>
                <a:endParaRPr lang="en-US" sz="1400" dirty="0"/>
              </a:p>
              <a:p>
                <a:endParaRPr lang="en-US" dirty="0"/>
              </a:p>
            </p:txBody>
          </p:sp>
        </mc:Choice>
        <mc:Fallback xmlns="">
          <p:sp>
            <p:nvSpPr>
              <p:cNvPr id="2" name="Content Placeholder 1">
                <a:extLst>
                  <a:ext uri="{FF2B5EF4-FFF2-40B4-BE49-F238E27FC236}">
                    <a16:creationId xmlns:a16="http://schemas.microsoft.com/office/drawing/2014/main" id="{DCDCEF9B-BBEC-D69D-56C9-B2557E5C8966}"/>
                  </a:ext>
                </a:extLst>
              </p:cNvPr>
              <p:cNvSpPr>
                <a:spLocks noGrp="1" noRot="1" noChangeAspect="1" noMove="1" noResize="1" noEditPoints="1" noAdjustHandles="1" noChangeArrowheads="1" noChangeShapeType="1" noTextEdit="1"/>
              </p:cNvSpPr>
              <p:nvPr>
                <p:ph idx="1"/>
              </p:nvPr>
            </p:nvSpPr>
            <p:spPr>
              <a:blipFill>
                <a:blip r:embed="rId2"/>
                <a:stretch>
                  <a:fillRect l="-1289" b="-2611"/>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967E4734-3B68-BD86-E778-FB56C0472939}"/>
              </a:ext>
            </a:extLst>
          </p:cNvPr>
          <p:cNvSpPr>
            <a:spLocks noGrp="1"/>
          </p:cNvSpPr>
          <p:nvPr>
            <p:ph type="title"/>
          </p:nvPr>
        </p:nvSpPr>
        <p:spPr/>
        <p:txBody>
          <a:bodyPr/>
          <a:lstStyle/>
          <a:p>
            <a:r>
              <a:rPr lang="de-DE" dirty="0"/>
              <a:t>3.9.1 </a:t>
            </a:r>
            <a:r>
              <a:rPr lang="de-DE" dirty="0" err="1"/>
              <a:t>Convolutional</a:t>
            </a:r>
            <a:r>
              <a:rPr lang="de-DE" dirty="0"/>
              <a:t> </a:t>
            </a:r>
            <a:r>
              <a:rPr lang="de-DE" dirty="0" err="1"/>
              <a:t>Neural</a:t>
            </a:r>
            <a:r>
              <a:rPr lang="de-DE" dirty="0"/>
              <a:t> Networks </a:t>
            </a:r>
            <a:endParaRPr lang="en-US" dirty="0"/>
          </a:p>
        </p:txBody>
      </p:sp>
      <p:sp>
        <p:nvSpPr>
          <p:cNvPr id="4" name="Slide Number Placeholder 3">
            <a:extLst>
              <a:ext uri="{FF2B5EF4-FFF2-40B4-BE49-F238E27FC236}">
                <a16:creationId xmlns:a16="http://schemas.microsoft.com/office/drawing/2014/main" id="{E3FE8813-A085-307D-9F2A-8F8991C54109}"/>
              </a:ext>
            </a:extLst>
          </p:cNvPr>
          <p:cNvSpPr>
            <a:spLocks noGrp="1"/>
          </p:cNvSpPr>
          <p:nvPr>
            <p:ph type="sldNum" sz="quarter" idx="11"/>
          </p:nvPr>
        </p:nvSpPr>
        <p:spPr/>
        <p:txBody>
          <a:bodyPr/>
          <a:lstStyle/>
          <a:p>
            <a:fld id="{CE58CB1E-F828-4F11-99E0-327109AF9DA4}" type="slidenum">
              <a:rPr lang="de-DE" smtClean="0"/>
              <a:pPr/>
              <a:t>13</a:t>
            </a:fld>
            <a:endParaRPr lang="de-DE"/>
          </a:p>
        </p:txBody>
      </p:sp>
      <p:sp>
        <p:nvSpPr>
          <p:cNvPr id="5" name="Footer Placeholder 4">
            <a:extLst>
              <a:ext uri="{FF2B5EF4-FFF2-40B4-BE49-F238E27FC236}">
                <a16:creationId xmlns:a16="http://schemas.microsoft.com/office/drawing/2014/main" id="{2C558AFA-6090-83D0-E4BF-84F3113D4DCA}"/>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grpSp>
        <p:nvGrpSpPr>
          <p:cNvPr id="8" name="Group 7">
            <a:extLst>
              <a:ext uri="{FF2B5EF4-FFF2-40B4-BE49-F238E27FC236}">
                <a16:creationId xmlns:a16="http://schemas.microsoft.com/office/drawing/2014/main" id="{055E6241-76D3-EB99-940D-1B339ED0674F}"/>
              </a:ext>
            </a:extLst>
          </p:cNvPr>
          <p:cNvGrpSpPr/>
          <p:nvPr/>
        </p:nvGrpSpPr>
        <p:grpSpPr>
          <a:xfrm>
            <a:off x="1435894" y="688106"/>
            <a:ext cx="6000750" cy="2055095"/>
            <a:chOff x="1435894" y="688106"/>
            <a:chExt cx="6000750" cy="2055095"/>
          </a:xfrm>
        </p:grpSpPr>
        <p:pic>
          <p:nvPicPr>
            <p:cNvPr id="6" name="Picture 5">
              <a:extLst>
                <a:ext uri="{FF2B5EF4-FFF2-40B4-BE49-F238E27FC236}">
                  <a16:creationId xmlns:a16="http://schemas.microsoft.com/office/drawing/2014/main" id="{D5C6A83F-EF2C-3E76-5998-AC18ECF2A2E6}"/>
                </a:ext>
              </a:extLst>
            </p:cNvPr>
            <p:cNvPicPr>
              <a:picLocks noChangeAspect="1"/>
            </p:cNvPicPr>
            <p:nvPr/>
          </p:nvPicPr>
          <p:blipFill>
            <a:blip r:embed="rId3"/>
            <a:stretch>
              <a:fillRect/>
            </a:stretch>
          </p:blipFill>
          <p:spPr>
            <a:xfrm>
              <a:off x="1529932" y="688106"/>
              <a:ext cx="5539975" cy="2044283"/>
            </a:xfrm>
            <a:prstGeom prst="rect">
              <a:avLst/>
            </a:prstGeom>
          </p:spPr>
        </p:pic>
        <p:sp>
          <p:nvSpPr>
            <p:cNvPr id="7" name="Rectangle 6">
              <a:extLst>
                <a:ext uri="{FF2B5EF4-FFF2-40B4-BE49-F238E27FC236}">
                  <a16:creationId xmlns:a16="http://schemas.microsoft.com/office/drawing/2014/main" id="{98C39CCE-B7F3-7959-000B-78DAB8E0FF0B}"/>
                </a:ext>
              </a:extLst>
            </p:cNvPr>
            <p:cNvSpPr/>
            <p:nvPr/>
          </p:nvSpPr>
          <p:spPr>
            <a:xfrm>
              <a:off x="1435894" y="2500313"/>
              <a:ext cx="6000750" cy="2428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grpSp>
      <mc:AlternateContent xmlns:mc="http://schemas.openxmlformats.org/markup-compatibility/2006" xmlns:a14="http://schemas.microsoft.com/office/drawing/2010/main">
        <mc:Choice Requires="a14">
          <p:sp>
            <p:nvSpPr>
              <p:cNvPr id="9" name="Textfeld 8">
                <a:extLst>
                  <a:ext uri="{FF2B5EF4-FFF2-40B4-BE49-F238E27FC236}">
                    <a16:creationId xmlns:a16="http://schemas.microsoft.com/office/drawing/2014/main" id="{8C26EAD3-C6BE-FFC5-80A9-AAA61B32D482}"/>
                  </a:ext>
                </a:extLst>
              </p:cNvPr>
              <p:cNvSpPr txBox="1"/>
              <p:nvPr/>
            </p:nvSpPr>
            <p:spPr>
              <a:xfrm>
                <a:off x="3499471" y="2136494"/>
                <a:ext cx="367823" cy="3916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de-DE" b="0" i="1" smtClean="0">
                              <a:latin typeface="Cambria Math" panose="02040503050406030204" pitchFamily="18" charset="0"/>
                            </a:rPr>
                          </m:ctrlPr>
                        </m:sSubPr>
                        <m:e>
                          <m:r>
                            <a:rPr lang="de-DE" b="0" i="1" smtClean="0">
                              <a:latin typeface="Cambria Math" panose="02040503050406030204" pitchFamily="18" charset="0"/>
                            </a:rPr>
                            <m:t>𝑉</m:t>
                          </m:r>
                        </m:e>
                        <m:sub>
                          <m:r>
                            <a:rPr lang="de-DE" b="0" i="1" smtClean="0">
                              <a:latin typeface="Cambria Math" panose="02040503050406030204" pitchFamily="18" charset="0"/>
                            </a:rPr>
                            <m:t>𝑖𝑗</m:t>
                          </m:r>
                        </m:sub>
                      </m:sSub>
                    </m:oMath>
                  </m:oMathPara>
                </a14:m>
                <a:endParaRPr lang="en-US" dirty="0"/>
              </a:p>
            </p:txBody>
          </p:sp>
        </mc:Choice>
        <mc:Fallback xmlns="">
          <p:sp>
            <p:nvSpPr>
              <p:cNvPr id="9" name="Textfeld 8">
                <a:extLst>
                  <a:ext uri="{FF2B5EF4-FFF2-40B4-BE49-F238E27FC236}">
                    <a16:creationId xmlns:a16="http://schemas.microsoft.com/office/drawing/2014/main" id="{8C26EAD3-C6BE-FFC5-80A9-AAA61B32D482}"/>
                  </a:ext>
                </a:extLst>
              </p:cNvPr>
              <p:cNvSpPr txBox="1">
                <a:spLocks noRot="1" noChangeAspect="1" noMove="1" noResize="1" noEditPoints="1" noAdjustHandles="1" noChangeArrowheads="1" noChangeShapeType="1" noTextEdit="1"/>
              </p:cNvSpPr>
              <p:nvPr/>
            </p:nvSpPr>
            <p:spPr>
              <a:xfrm>
                <a:off x="3499471" y="2136494"/>
                <a:ext cx="367823" cy="391646"/>
              </a:xfrm>
              <a:prstGeom prst="rect">
                <a:avLst/>
              </a:prstGeom>
              <a:blipFill>
                <a:blip r:embed="rId4"/>
                <a:stretch>
                  <a:fillRect r="-16667" b="-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feld 9">
                <a:extLst>
                  <a:ext uri="{FF2B5EF4-FFF2-40B4-BE49-F238E27FC236}">
                    <a16:creationId xmlns:a16="http://schemas.microsoft.com/office/drawing/2014/main" id="{094D92FF-5DCC-90B9-BB48-C2F6925B7213}"/>
                  </a:ext>
                </a:extLst>
              </p:cNvPr>
              <p:cNvSpPr txBox="1"/>
              <p:nvPr/>
            </p:nvSpPr>
            <p:spPr>
              <a:xfrm>
                <a:off x="4435448" y="2119474"/>
                <a:ext cx="553453" cy="3916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de-DE" b="0" i="1" smtClean="0">
                              <a:latin typeface="Cambria Math" panose="02040503050406030204" pitchFamily="18" charset="0"/>
                            </a:rPr>
                          </m:ctrlPr>
                        </m:sSubPr>
                        <m:e>
                          <m:r>
                            <a:rPr lang="de-DE" b="0" i="1" smtClean="0">
                              <a:latin typeface="Cambria Math" panose="02040503050406030204" pitchFamily="18" charset="0"/>
                            </a:rPr>
                            <m:t>𝐾</m:t>
                          </m:r>
                        </m:e>
                        <m:sub>
                          <m:r>
                            <a:rPr lang="de-DE" b="0" i="1" smtClean="0">
                              <a:latin typeface="Cambria Math" panose="02040503050406030204" pitchFamily="18" charset="0"/>
                            </a:rPr>
                            <m:t>𝑖𝑗</m:t>
                          </m:r>
                        </m:sub>
                      </m:sSub>
                    </m:oMath>
                  </m:oMathPara>
                </a14:m>
                <a:endParaRPr lang="en-US" dirty="0"/>
              </a:p>
            </p:txBody>
          </p:sp>
        </mc:Choice>
        <mc:Fallback xmlns="">
          <p:sp>
            <p:nvSpPr>
              <p:cNvPr id="10" name="Textfeld 9">
                <a:extLst>
                  <a:ext uri="{FF2B5EF4-FFF2-40B4-BE49-F238E27FC236}">
                    <a16:creationId xmlns:a16="http://schemas.microsoft.com/office/drawing/2014/main" id="{094D92FF-5DCC-90B9-BB48-C2F6925B7213}"/>
                  </a:ext>
                </a:extLst>
              </p:cNvPr>
              <p:cNvSpPr txBox="1">
                <a:spLocks noRot="1" noChangeAspect="1" noMove="1" noResize="1" noEditPoints="1" noAdjustHandles="1" noChangeArrowheads="1" noChangeShapeType="1" noTextEdit="1"/>
              </p:cNvSpPr>
              <p:nvPr/>
            </p:nvSpPr>
            <p:spPr>
              <a:xfrm>
                <a:off x="4435448" y="2119474"/>
                <a:ext cx="553453" cy="391646"/>
              </a:xfrm>
              <a:prstGeom prst="rect">
                <a:avLst/>
              </a:prstGeom>
              <a:blipFill>
                <a:blip r:embed="rId5"/>
                <a:stretch>
                  <a:fillRect b="-781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feld 10">
                <a:extLst>
                  <a:ext uri="{FF2B5EF4-FFF2-40B4-BE49-F238E27FC236}">
                    <a16:creationId xmlns:a16="http://schemas.microsoft.com/office/drawing/2014/main" id="{71CE0896-D2A5-41EF-C8BA-DA12017104C5}"/>
                  </a:ext>
                </a:extLst>
              </p:cNvPr>
              <p:cNvSpPr txBox="1"/>
              <p:nvPr/>
            </p:nvSpPr>
            <p:spPr>
              <a:xfrm>
                <a:off x="6219357" y="2227530"/>
                <a:ext cx="5534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de-DE" b="0" i="1" smtClean="0">
                              <a:latin typeface="Cambria Math" panose="02040503050406030204" pitchFamily="18" charset="0"/>
                            </a:rPr>
                          </m:ctrlPr>
                        </m:sSubPr>
                        <m:e>
                          <m:r>
                            <a:rPr lang="de-DE" b="0" i="1" smtClean="0">
                              <a:latin typeface="Cambria Math" panose="02040503050406030204" pitchFamily="18" charset="0"/>
                            </a:rPr>
                            <m:t>𝑂</m:t>
                          </m:r>
                        </m:e>
                        <m:sub>
                          <m:r>
                            <a:rPr lang="de-DE" b="0" i="1" smtClean="0">
                              <a:latin typeface="Cambria Math" panose="02040503050406030204" pitchFamily="18" charset="0"/>
                            </a:rPr>
                            <m:t>𝑘𝑙</m:t>
                          </m:r>
                        </m:sub>
                      </m:sSub>
                    </m:oMath>
                  </m:oMathPara>
                </a14:m>
                <a:endParaRPr lang="en-US" dirty="0"/>
              </a:p>
            </p:txBody>
          </p:sp>
        </mc:Choice>
        <mc:Fallback xmlns="">
          <p:sp>
            <p:nvSpPr>
              <p:cNvPr id="11" name="Textfeld 10">
                <a:extLst>
                  <a:ext uri="{FF2B5EF4-FFF2-40B4-BE49-F238E27FC236}">
                    <a16:creationId xmlns:a16="http://schemas.microsoft.com/office/drawing/2014/main" id="{71CE0896-D2A5-41EF-C8BA-DA12017104C5}"/>
                  </a:ext>
                </a:extLst>
              </p:cNvPr>
              <p:cNvSpPr txBox="1">
                <a:spLocks noRot="1" noChangeAspect="1" noMove="1" noResize="1" noEditPoints="1" noAdjustHandles="1" noChangeArrowheads="1" noChangeShapeType="1" noTextEdit="1"/>
              </p:cNvSpPr>
              <p:nvPr/>
            </p:nvSpPr>
            <p:spPr>
              <a:xfrm>
                <a:off x="6219357" y="2227530"/>
                <a:ext cx="553453" cy="369332"/>
              </a:xfrm>
              <a:prstGeom prst="rect">
                <a:avLst/>
              </a:prstGeom>
              <a:blipFill>
                <a:blip r:embed="rId6"/>
                <a:stretch>
                  <a:fillRect b="-1639"/>
                </a:stretch>
              </a:blipFill>
            </p:spPr>
            <p:txBody>
              <a:bodyPr/>
              <a:lstStyle/>
              <a:p>
                <a:r>
                  <a:rPr lang="en-US">
                    <a:noFill/>
                  </a:rPr>
                  <a:t> </a:t>
                </a:r>
              </a:p>
            </p:txBody>
          </p:sp>
        </mc:Fallback>
      </mc:AlternateContent>
    </p:spTree>
    <p:extLst>
      <p:ext uri="{BB962C8B-B14F-4D97-AF65-F5344CB8AC3E}">
        <p14:creationId xmlns:p14="http://schemas.microsoft.com/office/powerpoint/2010/main" val="3153302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0" end="1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12" end="1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DCC5620-B11C-3529-8DEC-DE3971D0F078}"/>
              </a:ext>
            </a:extLst>
          </p:cNvPr>
          <p:cNvSpPr>
            <a:spLocks noGrp="1"/>
          </p:cNvSpPr>
          <p:nvPr>
            <p:ph type="title"/>
          </p:nvPr>
        </p:nvSpPr>
        <p:spPr/>
        <p:txBody>
          <a:bodyPr/>
          <a:lstStyle/>
          <a:p>
            <a:r>
              <a:rPr lang="de-DE" dirty="0"/>
              <a:t>3.9.1 </a:t>
            </a:r>
            <a:r>
              <a:rPr lang="de-DE" dirty="0" err="1"/>
              <a:t>Convolutional</a:t>
            </a:r>
            <a:r>
              <a:rPr lang="de-DE" dirty="0"/>
              <a:t> </a:t>
            </a:r>
            <a:r>
              <a:rPr lang="de-DE" dirty="0" err="1"/>
              <a:t>Neural</a:t>
            </a:r>
            <a:r>
              <a:rPr lang="de-DE" dirty="0"/>
              <a:t> Networks – Filters </a:t>
            </a:r>
            <a:endParaRPr lang="en-US" dirty="0"/>
          </a:p>
        </p:txBody>
      </p:sp>
      <p:sp>
        <p:nvSpPr>
          <p:cNvPr id="4" name="Slide Number Placeholder 3">
            <a:extLst>
              <a:ext uri="{FF2B5EF4-FFF2-40B4-BE49-F238E27FC236}">
                <a16:creationId xmlns:a16="http://schemas.microsoft.com/office/drawing/2014/main" id="{DD2C89B0-EAEB-C42E-917B-6BCFFBC28313}"/>
              </a:ext>
            </a:extLst>
          </p:cNvPr>
          <p:cNvSpPr>
            <a:spLocks noGrp="1"/>
          </p:cNvSpPr>
          <p:nvPr>
            <p:ph type="sldNum" sz="quarter" idx="11"/>
          </p:nvPr>
        </p:nvSpPr>
        <p:spPr/>
        <p:txBody>
          <a:bodyPr/>
          <a:lstStyle/>
          <a:p>
            <a:fld id="{CE58CB1E-F828-4F11-99E0-327109AF9DA4}" type="slidenum">
              <a:rPr lang="de-DE" smtClean="0"/>
              <a:pPr/>
              <a:t>14</a:t>
            </a:fld>
            <a:endParaRPr lang="de-DE"/>
          </a:p>
        </p:txBody>
      </p:sp>
      <p:sp>
        <p:nvSpPr>
          <p:cNvPr id="5" name="Footer Placeholder 4">
            <a:extLst>
              <a:ext uri="{FF2B5EF4-FFF2-40B4-BE49-F238E27FC236}">
                <a16:creationId xmlns:a16="http://schemas.microsoft.com/office/drawing/2014/main" id="{316BFC50-A834-D5A9-0FDA-2E2DDAE06072}"/>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sp>
        <p:nvSpPr>
          <p:cNvPr id="9" name="Content Placeholder 8">
            <a:extLst>
              <a:ext uri="{FF2B5EF4-FFF2-40B4-BE49-F238E27FC236}">
                <a16:creationId xmlns:a16="http://schemas.microsoft.com/office/drawing/2014/main" id="{C275FFEA-0003-A653-D3A3-79A08FD7E291}"/>
              </a:ext>
            </a:extLst>
          </p:cNvPr>
          <p:cNvSpPr>
            <a:spLocks noGrp="1"/>
          </p:cNvSpPr>
          <p:nvPr>
            <p:ph idx="1"/>
          </p:nvPr>
        </p:nvSpPr>
        <p:spPr/>
        <p:txBody>
          <a:bodyPr/>
          <a:lstStyle/>
          <a:p>
            <a:r>
              <a:rPr lang="de-DE" dirty="0" err="1"/>
              <a:t>Example</a:t>
            </a:r>
            <a:r>
              <a:rPr lang="de-DE" dirty="0"/>
              <a:t> </a:t>
            </a:r>
            <a:r>
              <a:rPr lang="de-DE" dirty="0" err="1"/>
              <a:t>filters</a:t>
            </a:r>
            <a:r>
              <a:rPr lang="de-DE" dirty="0"/>
              <a:t> </a:t>
            </a:r>
            <a:endParaRPr lang="en-US" dirty="0"/>
          </a:p>
        </p:txBody>
      </p:sp>
      <p:pic>
        <p:nvPicPr>
          <p:cNvPr id="11" name="Picture 10">
            <a:extLst>
              <a:ext uri="{FF2B5EF4-FFF2-40B4-BE49-F238E27FC236}">
                <a16:creationId xmlns:a16="http://schemas.microsoft.com/office/drawing/2014/main" id="{986F057B-EE77-AE7B-BF63-8AB52CDCB206}"/>
              </a:ext>
            </a:extLst>
          </p:cNvPr>
          <p:cNvPicPr>
            <a:picLocks noChangeAspect="1"/>
          </p:cNvPicPr>
          <p:nvPr/>
        </p:nvPicPr>
        <p:blipFill>
          <a:blip r:embed="rId2"/>
          <a:stretch>
            <a:fillRect/>
          </a:stretch>
        </p:blipFill>
        <p:spPr>
          <a:xfrm>
            <a:off x="0" y="1408407"/>
            <a:ext cx="4610313" cy="2286567"/>
          </a:xfrm>
          <a:prstGeom prst="rect">
            <a:avLst/>
          </a:prstGeom>
        </p:spPr>
      </p:pic>
      <p:pic>
        <p:nvPicPr>
          <p:cNvPr id="13" name="Picture 12">
            <a:extLst>
              <a:ext uri="{FF2B5EF4-FFF2-40B4-BE49-F238E27FC236}">
                <a16:creationId xmlns:a16="http://schemas.microsoft.com/office/drawing/2014/main" id="{D9C21156-8498-9A18-0A24-4A430A4695CE}"/>
              </a:ext>
            </a:extLst>
          </p:cNvPr>
          <p:cNvPicPr>
            <a:picLocks noChangeAspect="1"/>
          </p:cNvPicPr>
          <p:nvPr/>
        </p:nvPicPr>
        <p:blipFill>
          <a:blip r:embed="rId3"/>
          <a:stretch>
            <a:fillRect/>
          </a:stretch>
        </p:blipFill>
        <p:spPr>
          <a:xfrm>
            <a:off x="4529139" y="1394119"/>
            <a:ext cx="4614862" cy="2319870"/>
          </a:xfrm>
          <a:prstGeom prst="rect">
            <a:avLst/>
          </a:prstGeom>
        </p:spPr>
      </p:pic>
      <p:sp>
        <p:nvSpPr>
          <p:cNvPr id="14" name="TextBox 13">
            <a:extLst>
              <a:ext uri="{FF2B5EF4-FFF2-40B4-BE49-F238E27FC236}">
                <a16:creationId xmlns:a16="http://schemas.microsoft.com/office/drawing/2014/main" id="{A966B56A-3ED5-37D1-4475-8F2DD38D2B04}"/>
              </a:ext>
            </a:extLst>
          </p:cNvPr>
          <p:cNvSpPr txBox="1"/>
          <p:nvPr/>
        </p:nvSpPr>
        <p:spPr>
          <a:xfrm>
            <a:off x="585236" y="1176805"/>
            <a:ext cx="983603" cy="231602"/>
          </a:xfrm>
          <a:prstGeom prst="rect">
            <a:avLst/>
          </a:prstGeom>
          <a:noFill/>
        </p:spPr>
        <p:txBody>
          <a:bodyPr wrap="none" lIns="0" tIns="0" rIns="0" bIns="0" rtlCol="0">
            <a:spAutoFit/>
          </a:bodyPr>
          <a:lstStyle/>
          <a:p>
            <a:pPr>
              <a:lnSpc>
                <a:spcPct val="114000"/>
              </a:lnSpc>
            </a:pPr>
            <a:r>
              <a:rPr lang="de-DE" sz="1400" b="1" dirty="0">
                <a:latin typeface="+mn-lt"/>
              </a:rPr>
              <a:t>Identity </a:t>
            </a:r>
            <a:r>
              <a:rPr lang="de-DE" sz="1400" b="1" dirty="0" err="1">
                <a:latin typeface="+mn-lt"/>
              </a:rPr>
              <a:t>filter</a:t>
            </a:r>
            <a:endParaRPr lang="en-DE" sz="1400" b="1" dirty="0">
              <a:latin typeface="+mn-lt"/>
            </a:endParaRPr>
          </a:p>
        </p:txBody>
      </p:sp>
      <p:sp>
        <p:nvSpPr>
          <p:cNvPr id="15" name="TextBox 14">
            <a:extLst>
              <a:ext uri="{FF2B5EF4-FFF2-40B4-BE49-F238E27FC236}">
                <a16:creationId xmlns:a16="http://schemas.microsoft.com/office/drawing/2014/main" id="{FBBA1D16-825E-10DA-F1A1-1C38CE32E504}"/>
              </a:ext>
            </a:extLst>
          </p:cNvPr>
          <p:cNvSpPr txBox="1"/>
          <p:nvPr/>
        </p:nvSpPr>
        <p:spPr>
          <a:xfrm>
            <a:off x="2923623" y="1176805"/>
            <a:ext cx="1071832" cy="231602"/>
          </a:xfrm>
          <a:prstGeom prst="rect">
            <a:avLst/>
          </a:prstGeom>
          <a:noFill/>
        </p:spPr>
        <p:txBody>
          <a:bodyPr wrap="none" lIns="0" tIns="0" rIns="0" bIns="0" rtlCol="0">
            <a:spAutoFit/>
          </a:bodyPr>
          <a:lstStyle/>
          <a:p>
            <a:pPr>
              <a:lnSpc>
                <a:spcPct val="114000"/>
              </a:lnSpc>
            </a:pPr>
            <a:r>
              <a:rPr lang="de-DE" sz="1400" b="1" dirty="0" err="1">
                <a:latin typeface="+mn-lt"/>
              </a:rPr>
              <a:t>Gaussian</a:t>
            </a:r>
            <a:r>
              <a:rPr lang="de-DE" sz="1400" b="1" dirty="0">
                <a:latin typeface="+mn-lt"/>
              </a:rPr>
              <a:t> </a:t>
            </a:r>
            <a:r>
              <a:rPr lang="de-DE" sz="1400" b="1" dirty="0" err="1">
                <a:latin typeface="+mn-lt"/>
              </a:rPr>
              <a:t>filter</a:t>
            </a:r>
            <a:endParaRPr lang="en-DE" sz="1400" b="1" dirty="0">
              <a:latin typeface="+mn-lt"/>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8DDD6AA-DBD1-AB5C-46DE-5E6BF45E0381}"/>
                  </a:ext>
                </a:extLst>
              </p:cNvPr>
              <p:cNvSpPr txBox="1"/>
              <p:nvPr/>
            </p:nvSpPr>
            <p:spPr>
              <a:xfrm>
                <a:off x="4760591" y="1176805"/>
                <a:ext cx="1860125" cy="231025"/>
              </a:xfrm>
              <a:prstGeom prst="rect">
                <a:avLst/>
              </a:prstGeom>
              <a:noFill/>
            </p:spPr>
            <p:txBody>
              <a:bodyPr wrap="none" lIns="0" tIns="0" rIns="0" bIns="0" rtlCol="0">
                <a:spAutoFit/>
              </a:bodyPr>
              <a:lstStyle/>
              <a:p>
                <a:pPr>
                  <a:lnSpc>
                    <a:spcPct val="114000"/>
                  </a:lnSpc>
                </a:pPr>
                <a:r>
                  <a:rPr lang="de-DE" sz="1400" b="1" dirty="0">
                    <a:latin typeface="+mn-lt"/>
                  </a:rPr>
                  <a:t>Sobel </a:t>
                </a:r>
                <a:r>
                  <a:rPr lang="de-DE" sz="1400" b="1" dirty="0" err="1">
                    <a:latin typeface="+mn-lt"/>
                  </a:rPr>
                  <a:t>filter</a:t>
                </a:r>
                <a:r>
                  <a:rPr lang="de-DE" sz="1400" b="1" dirty="0">
                    <a:latin typeface="+mn-lt"/>
                  </a:rPr>
                  <a:t> in </a:t>
                </a:r>
                <a14:m>
                  <m:oMath xmlns:m="http://schemas.openxmlformats.org/officeDocument/2006/math">
                    <m:r>
                      <a:rPr lang="de-DE" sz="1400" b="0" i="1" smtClean="0">
                        <a:latin typeface="Cambria Math" panose="02040503050406030204" pitchFamily="18" charset="0"/>
                      </a:rPr>
                      <m:t>𝑥</m:t>
                    </m:r>
                  </m:oMath>
                </a14:m>
                <a:r>
                  <a:rPr lang="de-DE" sz="1400" b="1" dirty="0">
                    <a:latin typeface="+mn-lt"/>
                  </a:rPr>
                  <a:t>-</a:t>
                </a:r>
                <a:r>
                  <a:rPr lang="de-DE" sz="1400" b="1" dirty="0" err="1">
                    <a:latin typeface="+mn-lt"/>
                  </a:rPr>
                  <a:t>direction</a:t>
                </a:r>
                <a:endParaRPr lang="en-DE" sz="1400" b="1" dirty="0">
                  <a:latin typeface="+mn-lt"/>
                </a:endParaRPr>
              </a:p>
            </p:txBody>
          </p:sp>
        </mc:Choice>
        <mc:Fallback xmlns="">
          <p:sp>
            <p:nvSpPr>
              <p:cNvPr id="16" name="TextBox 15">
                <a:extLst>
                  <a:ext uri="{FF2B5EF4-FFF2-40B4-BE49-F238E27FC236}">
                    <a16:creationId xmlns:a16="http://schemas.microsoft.com/office/drawing/2014/main" id="{E8DDD6AA-DBD1-AB5C-46DE-5E6BF45E0381}"/>
                  </a:ext>
                </a:extLst>
              </p:cNvPr>
              <p:cNvSpPr txBox="1">
                <a:spLocks noRot="1" noChangeAspect="1" noMove="1" noResize="1" noEditPoints="1" noAdjustHandles="1" noChangeArrowheads="1" noChangeShapeType="1" noTextEdit="1"/>
              </p:cNvSpPr>
              <p:nvPr/>
            </p:nvSpPr>
            <p:spPr>
              <a:xfrm>
                <a:off x="4760591" y="1176805"/>
                <a:ext cx="1860125" cy="231025"/>
              </a:xfrm>
              <a:prstGeom prst="rect">
                <a:avLst/>
              </a:prstGeom>
              <a:blipFill>
                <a:blip r:embed="rId4"/>
                <a:stretch>
                  <a:fillRect l="-5902" t="-15789" r="-5246" b="-47368"/>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EF02EF19-62D8-0F8F-EF65-295D353661B9}"/>
              </a:ext>
            </a:extLst>
          </p:cNvPr>
          <p:cNvSpPr txBox="1"/>
          <p:nvPr/>
        </p:nvSpPr>
        <p:spPr>
          <a:xfrm>
            <a:off x="7447306" y="1176805"/>
            <a:ext cx="1137171" cy="231602"/>
          </a:xfrm>
          <a:prstGeom prst="rect">
            <a:avLst/>
          </a:prstGeom>
          <a:noFill/>
        </p:spPr>
        <p:txBody>
          <a:bodyPr wrap="none" lIns="0" tIns="0" rIns="0" bIns="0" rtlCol="0">
            <a:spAutoFit/>
          </a:bodyPr>
          <a:lstStyle/>
          <a:p>
            <a:pPr>
              <a:lnSpc>
                <a:spcPct val="114000"/>
              </a:lnSpc>
            </a:pPr>
            <a:r>
              <a:rPr lang="de-DE" sz="1400" b="1" dirty="0" err="1">
                <a:latin typeface="+mn-lt"/>
              </a:rPr>
              <a:t>Averaging</a:t>
            </a:r>
            <a:r>
              <a:rPr lang="de-DE" sz="1400" b="1" dirty="0">
                <a:latin typeface="+mn-lt"/>
              </a:rPr>
              <a:t> </a:t>
            </a:r>
            <a:r>
              <a:rPr lang="de-DE" sz="1400" b="1" dirty="0" err="1">
                <a:latin typeface="+mn-lt"/>
              </a:rPr>
              <a:t>filter</a:t>
            </a:r>
            <a:endParaRPr lang="en-DE" sz="1400" b="1" dirty="0">
              <a:latin typeface="+mn-lt"/>
            </a:endParaRPr>
          </a:p>
        </p:txBody>
      </p:sp>
      <p:pic>
        <p:nvPicPr>
          <p:cNvPr id="18" name="Graphic 17">
            <a:extLst>
              <a:ext uri="{FF2B5EF4-FFF2-40B4-BE49-F238E27FC236}">
                <a16:creationId xmlns:a16="http://schemas.microsoft.com/office/drawing/2014/main" id="{B887A214-4464-FB28-CA0B-2F974204699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698084" y="3717394"/>
            <a:ext cx="1515143" cy="1137591"/>
          </a:xfrm>
          <a:prstGeom prst="rect">
            <a:avLst/>
          </a:prstGeom>
        </p:spPr>
      </p:pic>
      <p:sp>
        <p:nvSpPr>
          <p:cNvPr id="19" name="TextBox 18">
            <a:extLst>
              <a:ext uri="{FF2B5EF4-FFF2-40B4-BE49-F238E27FC236}">
                <a16:creationId xmlns:a16="http://schemas.microsoft.com/office/drawing/2014/main" id="{A18F5ACA-D824-3C2F-A28E-C42172FA8F45}"/>
              </a:ext>
            </a:extLst>
          </p:cNvPr>
          <p:cNvSpPr txBox="1"/>
          <p:nvPr/>
        </p:nvSpPr>
        <p:spPr>
          <a:xfrm>
            <a:off x="5131464" y="3767048"/>
            <a:ext cx="3570288" cy="198581"/>
          </a:xfrm>
          <a:prstGeom prst="rect">
            <a:avLst/>
          </a:prstGeom>
          <a:solidFill>
            <a:schemeClr val="accent6"/>
          </a:solidFill>
        </p:spPr>
        <p:txBody>
          <a:bodyPr wrap="square" lIns="0" tIns="0" rIns="0" bIns="0" rtlCol="0">
            <a:spAutoFit/>
          </a:bodyPr>
          <a:lstStyle/>
          <a:p>
            <a:pPr>
              <a:lnSpc>
                <a:spcPct val="114000"/>
              </a:lnSpc>
            </a:pPr>
            <a:r>
              <a:rPr lang="de-DE" sz="1200" dirty="0" err="1">
                <a:latin typeface="+mn-lt"/>
              </a:rPr>
              <a:t>For</a:t>
            </a:r>
            <a:r>
              <a:rPr lang="de-DE" sz="1200" dirty="0">
                <a:latin typeface="+mn-lt"/>
              </a:rPr>
              <a:t> </a:t>
            </a:r>
            <a:r>
              <a:rPr lang="de-DE" sz="1200" dirty="0" err="1">
                <a:latin typeface="+mn-lt"/>
              </a:rPr>
              <a:t>other</a:t>
            </a:r>
            <a:r>
              <a:rPr lang="de-DE" sz="1200" dirty="0">
                <a:latin typeface="+mn-lt"/>
              </a:rPr>
              <a:t> </a:t>
            </a:r>
            <a:r>
              <a:rPr lang="de-DE" sz="1200" dirty="0" err="1">
                <a:latin typeface="+mn-lt"/>
              </a:rPr>
              <a:t>filters</a:t>
            </a:r>
            <a:r>
              <a:rPr lang="de-DE" sz="1200" dirty="0">
                <a:latin typeface="+mn-lt"/>
              </a:rPr>
              <a:t> </a:t>
            </a:r>
            <a:r>
              <a:rPr lang="de-DE" sz="1200" dirty="0" err="1">
                <a:latin typeface="+mn-lt"/>
              </a:rPr>
              <a:t>for</a:t>
            </a:r>
            <a:r>
              <a:rPr lang="de-DE" sz="1200" dirty="0">
                <a:latin typeface="+mn-lt"/>
              </a:rPr>
              <a:t> </a:t>
            </a:r>
            <a:r>
              <a:rPr lang="de-DE" sz="1200" dirty="0" err="1">
                <a:latin typeface="+mn-lt"/>
              </a:rPr>
              <a:t>gradient</a:t>
            </a:r>
            <a:r>
              <a:rPr lang="de-DE" sz="1200" dirty="0">
                <a:latin typeface="+mn-lt"/>
              </a:rPr>
              <a:t> </a:t>
            </a:r>
            <a:r>
              <a:rPr lang="de-DE" sz="1200" dirty="0" err="1">
                <a:latin typeface="+mn-lt"/>
              </a:rPr>
              <a:t>computation</a:t>
            </a:r>
            <a:r>
              <a:rPr lang="de-DE" sz="1200" dirty="0">
                <a:latin typeface="+mn-lt"/>
              </a:rPr>
              <a:t>, </a:t>
            </a:r>
            <a:r>
              <a:rPr lang="de-DE" sz="1200" dirty="0" err="1">
                <a:latin typeface="+mn-lt"/>
              </a:rPr>
              <a:t>see</a:t>
            </a:r>
            <a:r>
              <a:rPr lang="de-DE" sz="1200" dirty="0">
                <a:latin typeface="+mn-lt"/>
              </a:rPr>
              <a:t> Chapter 9.</a:t>
            </a:r>
            <a:endParaRPr lang="en-US" sz="1200" dirty="0" err="1">
              <a:latin typeface="+mn-lt"/>
            </a:endParaRPr>
          </a:p>
        </p:txBody>
      </p:sp>
      <p:pic>
        <p:nvPicPr>
          <p:cNvPr id="21" name="Picture 20">
            <a:extLst>
              <a:ext uri="{FF2B5EF4-FFF2-40B4-BE49-F238E27FC236}">
                <a16:creationId xmlns:a16="http://schemas.microsoft.com/office/drawing/2014/main" id="{B338767B-7AF0-47D3-5490-3BA30D68217D}"/>
              </a:ext>
            </a:extLst>
          </p:cNvPr>
          <p:cNvPicPr>
            <a:picLocks noChangeAspect="1"/>
          </p:cNvPicPr>
          <p:nvPr/>
        </p:nvPicPr>
        <p:blipFill>
          <a:blip r:embed="rId7">
            <a:extLst>
              <a:ext uri="{BEBA8EAE-BF5A-486C-A8C5-ECC9F3942E4B}">
                <a14:imgProps xmlns:a14="http://schemas.microsoft.com/office/drawing/2010/main">
                  <a14:imgLayer r:embed="rId8">
                    <a14:imgEffect>
                      <a14:saturation sat="0"/>
                    </a14:imgEffect>
                  </a14:imgLayer>
                </a14:imgProps>
              </a:ext>
            </a:extLst>
          </a:blip>
          <a:stretch>
            <a:fillRect/>
          </a:stretch>
        </p:blipFill>
        <p:spPr>
          <a:xfrm>
            <a:off x="4930775" y="3987093"/>
            <a:ext cx="3971667" cy="753559"/>
          </a:xfrm>
          <a:prstGeom prst="rect">
            <a:avLst/>
          </a:prstGeom>
        </p:spPr>
      </p:pic>
    </p:spTree>
    <p:extLst>
      <p:ext uri="{BB962C8B-B14F-4D97-AF65-F5344CB8AC3E}">
        <p14:creationId xmlns:p14="http://schemas.microsoft.com/office/powerpoint/2010/main" val="8229868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F7334ED3-F37C-2D5E-92FE-BD32B19BED6B}"/>
                  </a:ext>
                </a:extLst>
              </p:cNvPr>
              <p:cNvSpPr>
                <a:spLocks noGrp="1"/>
              </p:cNvSpPr>
              <p:nvPr>
                <p:ph idx="1"/>
              </p:nvPr>
            </p:nvSpPr>
            <p:spPr/>
            <p:txBody>
              <a:bodyPr/>
              <a:lstStyle/>
              <a:p>
                <a:r>
                  <a:rPr lang="en-US" b="1" dirty="0">
                    <a:solidFill>
                      <a:schemeClr val="bg2"/>
                    </a:solidFill>
                  </a:rPr>
                  <a:t>Pooling layers </a:t>
                </a:r>
                <a:r>
                  <a:rPr lang="en-US" dirty="0"/>
                  <a:t>reduce the spatial size by extracting relevant features (filtering!)</a:t>
                </a:r>
              </a:p>
              <a:p>
                <a:pPr marL="285750" indent="-285750">
                  <a:buFont typeface="Arial" panose="020B0604020202020204" pitchFamily="34" charset="0"/>
                  <a:buChar char="•"/>
                </a:pPr>
                <a:r>
                  <a:rPr lang="en-US" dirty="0">
                    <a:solidFill>
                      <a:schemeClr val="bg2"/>
                    </a:solidFill>
                  </a:rPr>
                  <a:t>Pooling types</a:t>
                </a:r>
              </a:p>
              <a:p>
                <a:pPr marL="461963" lvl="1" indent="-285750">
                  <a:buFont typeface="Arial" panose="020B0604020202020204" pitchFamily="34" charset="0"/>
                  <a:buChar char="•"/>
                </a:pPr>
                <a:r>
                  <a:rPr lang="en-US" dirty="0"/>
                  <a:t>Max Pooling</a:t>
                </a:r>
              </a:p>
              <a:p>
                <a:pPr marL="461963" lvl="1" indent="-285750">
                  <a:buFont typeface="Arial" panose="020B0604020202020204" pitchFamily="34" charset="0"/>
                  <a:buChar char="•"/>
                </a:pPr>
                <a:r>
                  <a:rPr lang="en-US" dirty="0"/>
                  <a:t>Average Pooling</a:t>
                </a:r>
              </a:p>
              <a:p>
                <a:pPr marL="285750" indent="-285750">
                  <a:buFont typeface="Arial" panose="020B0604020202020204" pitchFamily="34" charset="0"/>
                  <a:buChar char="•"/>
                </a:pPr>
                <a:r>
                  <a:rPr lang="en-US" dirty="0">
                    <a:solidFill>
                      <a:schemeClr val="bg2"/>
                    </a:solidFill>
                  </a:rPr>
                  <a:t>Pooling layers are defined by</a:t>
                </a:r>
              </a:p>
              <a:p>
                <a:pPr marL="461963" lvl="1" indent="-285750">
                  <a:buFont typeface="Arial" panose="020B0604020202020204" pitchFamily="34" charset="0"/>
                  <a:buChar char="•"/>
                </a:pPr>
                <a:r>
                  <a:rPr lang="en-US" dirty="0"/>
                  <a:t>Kernel size</a:t>
                </a:r>
              </a:p>
              <a:p>
                <a:pPr marL="461963" lvl="1" indent="-285750">
                  <a:buFont typeface="Arial" panose="020B0604020202020204" pitchFamily="34" charset="0"/>
                  <a:buChar char="•"/>
                </a:pPr>
                <a:r>
                  <a:rPr lang="en-US" dirty="0"/>
                  <a:t>Stride length</a:t>
                </a:r>
              </a:p>
              <a:p>
                <a:pPr marL="461963" lvl="1" indent="-285750">
                  <a:buFont typeface="Arial" panose="020B0604020202020204" pitchFamily="34" charset="0"/>
                  <a:buChar char="•"/>
                </a:pPr>
                <a:r>
                  <a:rPr lang="en-US" dirty="0"/>
                  <a:t>Padding</a:t>
                </a:r>
              </a:p>
              <a:p>
                <a:endParaRPr lang="en-US" dirty="0"/>
              </a:p>
              <a:p>
                <a:endParaRPr lang="en-US" dirty="0"/>
              </a:p>
              <a:p>
                <a:endParaRPr lang="en-US" dirty="0"/>
              </a:p>
              <a:p>
                <a:pPr marL="285750" indent="-285750">
                  <a:buFont typeface="Arial" panose="020B0604020202020204" pitchFamily="34" charset="0"/>
                  <a:buChar char="•"/>
                </a:pPr>
                <a:r>
                  <a:rPr lang="en-US" dirty="0"/>
                  <a:t>Example “max pooling”(2D convolutional filter applied with a stride length of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=1</m:t>
                    </m:r>
                  </m:oMath>
                </a14:m>
                <a:r>
                  <a:rPr lang="en-US" dirty="0"/>
                  <a:t> and no padding)</a:t>
                </a:r>
              </a:p>
              <a:p>
                <a:pPr/>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max</m:t>
                          </m:r>
                        </m:fName>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1, 2, 1, 2</m:t>
                              </m:r>
                            </m:e>
                          </m:d>
                          <m:r>
                            <a:rPr lang="en-US" b="0" i="1" smtClean="0">
                              <a:latin typeface="Cambria Math" panose="02040503050406030204" pitchFamily="18" charset="0"/>
                            </a:rPr>
                            <m:t>=2</m:t>
                          </m:r>
                        </m:e>
                      </m:func>
                    </m:oMath>
                  </m:oMathPara>
                </a14:m>
                <a:endParaRPr lang="en-US" dirty="0"/>
              </a:p>
              <a:p>
                <a:endParaRPr lang="en-US" dirty="0"/>
              </a:p>
            </p:txBody>
          </p:sp>
        </mc:Choice>
        <mc:Fallback xmlns="">
          <p:sp>
            <p:nvSpPr>
              <p:cNvPr id="2" name="Content Placeholder 1">
                <a:extLst>
                  <a:ext uri="{FF2B5EF4-FFF2-40B4-BE49-F238E27FC236}">
                    <a16:creationId xmlns:a16="http://schemas.microsoft.com/office/drawing/2014/main" id="{F7334ED3-F37C-2D5E-92FE-BD32B19BED6B}"/>
                  </a:ext>
                </a:extLst>
              </p:cNvPr>
              <p:cNvSpPr>
                <a:spLocks noGrp="1" noRot="1" noChangeAspect="1" noMove="1" noResize="1" noEditPoints="1" noAdjustHandles="1" noChangeArrowheads="1" noChangeShapeType="1" noTextEdit="1"/>
              </p:cNvSpPr>
              <p:nvPr>
                <p:ph idx="1"/>
              </p:nvPr>
            </p:nvSpPr>
            <p:spPr>
              <a:blipFill>
                <a:blip r:embed="rId2"/>
                <a:stretch>
                  <a:fillRect l="-1289" t="-92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57A6ADFC-0ED9-5CF5-E384-812B9C66BB03}"/>
              </a:ext>
            </a:extLst>
          </p:cNvPr>
          <p:cNvSpPr>
            <a:spLocks noGrp="1"/>
          </p:cNvSpPr>
          <p:nvPr>
            <p:ph type="title"/>
          </p:nvPr>
        </p:nvSpPr>
        <p:spPr/>
        <p:txBody>
          <a:bodyPr/>
          <a:lstStyle/>
          <a:p>
            <a:r>
              <a:rPr lang="de-DE" dirty="0"/>
              <a:t>3.9.1 </a:t>
            </a:r>
            <a:r>
              <a:rPr lang="de-DE" dirty="0" err="1"/>
              <a:t>Convolutional</a:t>
            </a:r>
            <a:r>
              <a:rPr lang="de-DE" dirty="0"/>
              <a:t> </a:t>
            </a:r>
            <a:r>
              <a:rPr lang="de-DE" dirty="0" err="1"/>
              <a:t>Neural</a:t>
            </a:r>
            <a:r>
              <a:rPr lang="de-DE" dirty="0"/>
              <a:t> Networks – Pooling </a:t>
            </a:r>
            <a:endParaRPr lang="en-US" dirty="0"/>
          </a:p>
        </p:txBody>
      </p:sp>
      <p:sp>
        <p:nvSpPr>
          <p:cNvPr id="4" name="Slide Number Placeholder 3">
            <a:extLst>
              <a:ext uri="{FF2B5EF4-FFF2-40B4-BE49-F238E27FC236}">
                <a16:creationId xmlns:a16="http://schemas.microsoft.com/office/drawing/2014/main" id="{764E71CD-4080-2391-F382-594F4D6D6DE9}"/>
              </a:ext>
            </a:extLst>
          </p:cNvPr>
          <p:cNvSpPr>
            <a:spLocks noGrp="1"/>
          </p:cNvSpPr>
          <p:nvPr>
            <p:ph type="sldNum" sz="quarter" idx="11"/>
          </p:nvPr>
        </p:nvSpPr>
        <p:spPr/>
        <p:txBody>
          <a:bodyPr/>
          <a:lstStyle/>
          <a:p>
            <a:fld id="{CE58CB1E-F828-4F11-99E0-327109AF9DA4}" type="slidenum">
              <a:rPr lang="de-DE" smtClean="0"/>
              <a:pPr/>
              <a:t>15</a:t>
            </a:fld>
            <a:endParaRPr lang="de-DE"/>
          </a:p>
        </p:txBody>
      </p:sp>
      <p:sp>
        <p:nvSpPr>
          <p:cNvPr id="5" name="Footer Placeholder 4">
            <a:extLst>
              <a:ext uri="{FF2B5EF4-FFF2-40B4-BE49-F238E27FC236}">
                <a16:creationId xmlns:a16="http://schemas.microsoft.com/office/drawing/2014/main" id="{D15E7E58-0B66-9278-F3AB-28AEE2D77728}"/>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pic>
        <p:nvPicPr>
          <p:cNvPr id="8" name="Picture 7">
            <a:extLst>
              <a:ext uri="{FF2B5EF4-FFF2-40B4-BE49-F238E27FC236}">
                <a16:creationId xmlns:a16="http://schemas.microsoft.com/office/drawing/2014/main" id="{58322500-3898-039C-C808-F82BE3AC58C9}"/>
              </a:ext>
            </a:extLst>
          </p:cNvPr>
          <p:cNvPicPr>
            <a:picLocks noChangeAspect="1"/>
          </p:cNvPicPr>
          <p:nvPr/>
        </p:nvPicPr>
        <p:blipFill>
          <a:blip r:embed="rId3"/>
          <a:stretch>
            <a:fillRect/>
          </a:stretch>
        </p:blipFill>
        <p:spPr>
          <a:xfrm>
            <a:off x="3776110" y="1203843"/>
            <a:ext cx="4039746" cy="2078590"/>
          </a:xfrm>
          <a:prstGeom prst="rect">
            <a:avLst/>
          </a:prstGeom>
        </p:spPr>
      </p:pic>
    </p:spTree>
    <p:extLst>
      <p:ext uri="{BB962C8B-B14F-4D97-AF65-F5344CB8AC3E}">
        <p14:creationId xmlns:p14="http://schemas.microsoft.com/office/powerpoint/2010/main" val="3379135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FE1F2AF0-F8D0-B1D7-BC7B-4F3729E7FEF4}"/>
                  </a:ext>
                </a:extLst>
              </p:cNvPr>
              <p:cNvSpPr>
                <a:spLocks noGrp="1"/>
              </p:cNvSpPr>
              <p:nvPr>
                <p:ph idx="1"/>
              </p:nvPr>
            </p:nvSpPr>
            <p:spPr/>
            <p:txBody>
              <a:bodyPr/>
              <a:lstStyle/>
              <a:p>
                <a:r>
                  <a:rPr lang="en-US" dirty="0"/>
                  <a:t>What if we want two features O from one input?</a:t>
                </a:r>
              </a:p>
              <a:p>
                <a:endParaRPr lang="en-US" dirty="0"/>
              </a:p>
              <a:p>
                <a:r>
                  <a:rPr lang="en-US" dirty="0"/>
                  <a:t>Example with 1D convolutional filters</a:t>
                </a:r>
              </a:p>
              <a:p>
                <a:pPr marL="285750" indent="-285750">
                  <a:buFont typeface="Arial" panose="020B0604020202020204" pitchFamily="34" charset="0"/>
                  <a:buChar char="•"/>
                </a:pPr>
                <a:r>
                  <a:rPr lang="en-US" dirty="0"/>
                  <a:t>Stride length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=1</m:t>
                    </m:r>
                  </m:oMath>
                </a14:m>
                <a:endParaRPr lang="en-US" dirty="0"/>
              </a:p>
              <a:p>
                <a:pPr marL="285750" indent="-285750">
                  <a:buFont typeface="Arial" panose="020B0604020202020204" pitchFamily="34" charset="0"/>
                  <a:buChar char="•"/>
                </a:pPr>
                <a:r>
                  <a:rPr lang="en-US" dirty="0"/>
                  <a:t>Without a bias</a:t>
                </a:r>
              </a:p>
              <a:p>
                <a:pPr marL="285750" indent="-285750">
                  <a:buFont typeface="Arial" panose="020B0604020202020204" pitchFamily="34" charset="0"/>
                  <a:buChar char="•"/>
                </a:pPr>
                <a:r>
                  <a:rPr lang="en-US" dirty="0"/>
                  <a:t>Input (given)</a:t>
                </a:r>
              </a:p>
              <a:p>
                <a:pPr marL="285750" indent="-285750">
                  <a:buFont typeface="Arial" panose="020B0604020202020204" pitchFamily="34" charset="0"/>
                  <a:buChar char="•"/>
                </a:pPr>
                <a:endParaRPr lang="en-US" dirty="0"/>
              </a:p>
              <a:p>
                <a:pPr/>
                <a14:m>
                  <m:oMathPara xmlns:m="http://schemas.openxmlformats.org/officeDocument/2006/math">
                    <m:oMathParaPr>
                      <m:jc m:val="centerGroup"/>
                    </m:oMathParaPr>
                    <m:oMath xmlns:m="http://schemas.openxmlformats.org/officeDocument/2006/math">
                      <m:r>
                        <a:rPr lang="en-US" b="1" i="1" smtClean="0">
                          <a:solidFill>
                            <a:srgbClr val="005293"/>
                          </a:solidFill>
                          <a:latin typeface="Cambria Math" panose="02040503050406030204" pitchFamily="18" charset="0"/>
                        </a:rPr>
                        <m:t>𝑰</m:t>
                      </m:r>
                      <m:r>
                        <a:rPr lang="en-US" b="0" i="1" smtClean="0">
                          <a:solidFill>
                            <a:srgbClr val="005293"/>
                          </a:solidFill>
                          <a:latin typeface="Cambria Math" panose="02040503050406030204" pitchFamily="18" charset="0"/>
                        </a:rPr>
                        <m:t>=</m:t>
                      </m:r>
                      <m:d>
                        <m:dPr>
                          <m:begChr m:val="["/>
                          <m:endChr m:val="]"/>
                          <m:ctrlPr>
                            <a:rPr lang="en-US" b="0" i="1" smtClean="0">
                              <a:solidFill>
                                <a:srgbClr val="005293"/>
                              </a:solidFill>
                              <a:latin typeface="Cambria Math" panose="02040503050406030204" pitchFamily="18" charset="0"/>
                            </a:rPr>
                          </m:ctrlPr>
                        </m:dPr>
                        <m:e>
                          <m:r>
                            <a:rPr lang="en-US" b="0" i="1" smtClean="0">
                              <a:solidFill>
                                <a:srgbClr val="005293"/>
                              </a:solidFill>
                              <a:latin typeface="Cambria Math" panose="02040503050406030204" pitchFamily="18" charset="0"/>
                            </a:rPr>
                            <m:t>0, 1, 3, 2, 5</m:t>
                          </m:r>
                        </m:e>
                      </m:d>
                    </m:oMath>
                  </m:oMathPara>
                </a14:m>
                <a:endParaRPr lang="en-US" b="0" dirty="0"/>
              </a:p>
              <a:p>
                <a:endParaRPr lang="en-US" b="0" dirty="0"/>
              </a:p>
              <a:p>
                <a:pPr marL="285750" indent="-285750">
                  <a:buFont typeface="Arial" panose="020B0604020202020204" pitchFamily="34" charset="0"/>
                  <a:buChar char="•"/>
                </a:pPr>
                <a:r>
                  <a:rPr lang="en-US" dirty="0"/>
                  <a:t>Weights from input layer </a:t>
                </a:r>
                <a14:m>
                  <m:oMath xmlns:m="http://schemas.openxmlformats.org/officeDocument/2006/math">
                    <m:r>
                      <a:rPr lang="en-US" b="1" i="1" smtClean="0">
                        <a:latin typeface="Cambria Math" panose="02040503050406030204" pitchFamily="18" charset="0"/>
                      </a:rPr>
                      <m:t>𝑰</m:t>
                    </m:r>
                  </m:oMath>
                </a14:m>
                <a:r>
                  <a:rPr lang="en-US" dirty="0"/>
                  <a:t> to first hidden layer </a:t>
                </a:r>
                <a14:m>
                  <m:oMath xmlns:m="http://schemas.openxmlformats.org/officeDocument/2006/math">
                    <m:sSup>
                      <m:sSupPr>
                        <m:ctrlPr>
                          <a:rPr lang="en-US" b="0" i="1" smtClean="0">
                            <a:latin typeface="Cambria Math" panose="02040503050406030204" pitchFamily="18" charset="0"/>
                          </a:rPr>
                        </m:ctrlPr>
                      </m:sSupPr>
                      <m:e>
                        <m:r>
                          <a:rPr lang="en-US" b="1" i="1" smtClean="0">
                            <a:latin typeface="Cambria Math" panose="02040503050406030204" pitchFamily="18" charset="0"/>
                          </a:rPr>
                          <m:t>𝑯</m:t>
                        </m:r>
                      </m:e>
                      <m:sup>
                        <m:d>
                          <m:dPr>
                            <m:ctrlPr>
                              <a:rPr lang="en-US" b="0" i="1" smtClean="0">
                                <a:latin typeface="Cambria Math" panose="02040503050406030204" pitchFamily="18" charset="0"/>
                              </a:rPr>
                            </m:ctrlPr>
                          </m:dPr>
                          <m:e>
                            <m:r>
                              <a:rPr lang="en-US" b="0" i="1" smtClean="0">
                                <a:latin typeface="Cambria Math" panose="02040503050406030204" pitchFamily="18" charset="0"/>
                              </a:rPr>
                              <m:t>1</m:t>
                            </m:r>
                          </m:e>
                        </m:d>
                      </m:sup>
                    </m:sSup>
                  </m:oMath>
                </a14:m>
                <a:r>
                  <a:rPr lang="en-US" dirty="0"/>
                  <a:t> (given)</a:t>
                </a:r>
              </a:p>
              <a:p>
                <a:pPr/>
                <a14:m>
                  <m:oMathPara xmlns:m="http://schemas.openxmlformats.org/officeDocument/2006/math">
                    <m:oMathParaPr>
                      <m:jc m:val="centerGroup"/>
                    </m:oMathParaPr>
                    <m:oMath xmlns:m="http://schemas.openxmlformats.org/officeDocument/2006/math">
                      <m:sSubSup>
                        <m:sSubSupPr>
                          <m:ctrlPr>
                            <a:rPr lang="en-US" b="0" i="1" smtClean="0">
                              <a:solidFill>
                                <a:srgbClr val="FF0000"/>
                              </a:solidFill>
                              <a:latin typeface="Cambria Math" panose="02040503050406030204" pitchFamily="18" charset="0"/>
                            </a:rPr>
                          </m:ctrlPr>
                        </m:sSubSupPr>
                        <m:e>
                          <m:r>
                            <a:rPr lang="en-US" b="1" i="1" smtClean="0">
                              <a:solidFill>
                                <a:srgbClr val="FF0000"/>
                              </a:solidFill>
                              <a:latin typeface="Cambria Math" panose="02040503050406030204" pitchFamily="18" charset="0"/>
                            </a:rPr>
                            <m:t>𝒘</m:t>
                          </m:r>
                        </m:e>
                        <m:sub>
                          <m:r>
                            <a:rPr lang="en-US" b="0" i="1" smtClean="0">
                              <a:solidFill>
                                <a:srgbClr val="FF0000"/>
                              </a:solidFill>
                              <a:latin typeface="Cambria Math" panose="02040503050406030204" pitchFamily="18" charset="0"/>
                            </a:rPr>
                            <m:t>1</m:t>
                          </m:r>
                          <m:r>
                            <a:rPr lang="de-DE" b="0" i="1" smtClean="0">
                              <a:solidFill>
                                <a:srgbClr val="FF0000"/>
                              </a:solidFill>
                              <a:latin typeface="Cambria Math" panose="02040503050406030204" pitchFamily="18" charset="0"/>
                            </a:rPr>
                            <m:t>1</m:t>
                          </m:r>
                        </m:sub>
                        <m:sup>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1</m:t>
                              </m:r>
                            </m:e>
                          </m:d>
                        </m:sup>
                      </m:sSubSup>
                      <m:r>
                        <a:rPr lang="en-US" b="0" i="1" smtClean="0">
                          <a:solidFill>
                            <a:srgbClr val="FF0000"/>
                          </a:solidFill>
                          <a:latin typeface="Cambria Math" panose="02040503050406030204" pitchFamily="18" charset="0"/>
                        </a:rPr>
                        <m:t>=</m:t>
                      </m:r>
                      <m:d>
                        <m:dPr>
                          <m:begChr m:val="["/>
                          <m:endChr m:val="]"/>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0, 2, 1</m:t>
                          </m:r>
                        </m:e>
                      </m:d>
                      <m:r>
                        <a:rPr lang="en-US" b="0" i="1" smtClean="0">
                          <a:latin typeface="Cambria Math" panose="02040503050406030204" pitchFamily="18" charset="0"/>
                        </a:rPr>
                        <m:t>, </m:t>
                      </m:r>
                      <m:sSubSup>
                        <m:sSubSupPr>
                          <m:ctrlPr>
                            <a:rPr lang="en-US" b="0" i="1" smtClean="0">
                              <a:solidFill>
                                <a:srgbClr val="FF0000"/>
                              </a:solidFill>
                              <a:latin typeface="Cambria Math" panose="02040503050406030204" pitchFamily="18" charset="0"/>
                            </a:rPr>
                          </m:ctrlPr>
                        </m:sSubSupPr>
                        <m:e>
                          <m:r>
                            <a:rPr lang="en-US" b="1" i="1" smtClean="0">
                              <a:solidFill>
                                <a:srgbClr val="FF0000"/>
                              </a:solidFill>
                              <a:latin typeface="Cambria Math" panose="02040503050406030204" pitchFamily="18" charset="0"/>
                            </a:rPr>
                            <m:t>𝒘</m:t>
                          </m:r>
                        </m:e>
                        <m:sub>
                          <m:r>
                            <a:rPr lang="de-DE" b="0" i="1" smtClean="0">
                              <a:solidFill>
                                <a:srgbClr val="FF0000"/>
                              </a:solidFill>
                              <a:latin typeface="Cambria Math" panose="02040503050406030204" pitchFamily="18" charset="0"/>
                            </a:rPr>
                            <m:t>12</m:t>
                          </m:r>
                        </m:sub>
                        <m:sup>
                          <m:d>
                            <m:dPr>
                              <m:ctrlPr>
                                <a:rPr lang="en-US" b="0" i="1" smtClean="0">
                                  <a:solidFill>
                                    <a:srgbClr val="FF0000"/>
                                  </a:solidFill>
                                  <a:latin typeface="Cambria Math" panose="02040503050406030204" pitchFamily="18" charset="0"/>
                                </a:rPr>
                              </m:ctrlPr>
                            </m:dPr>
                            <m:e>
                              <m:r>
                                <a:rPr lang="de-DE" b="0" i="1" smtClean="0">
                                  <a:solidFill>
                                    <a:srgbClr val="FF0000"/>
                                  </a:solidFill>
                                  <a:latin typeface="Cambria Math" panose="02040503050406030204" pitchFamily="18" charset="0"/>
                                </a:rPr>
                                <m:t>1</m:t>
                              </m:r>
                            </m:e>
                          </m:d>
                        </m:sup>
                      </m:sSubSup>
                      <m:r>
                        <a:rPr lang="en-US" b="0" i="1" smtClean="0">
                          <a:solidFill>
                            <a:srgbClr val="FF0000"/>
                          </a:solidFill>
                          <a:latin typeface="Cambria Math" panose="02040503050406030204" pitchFamily="18" charset="0"/>
                        </a:rPr>
                        <m:t>=[1, 0, 3]</m:t>
                      </m:r>
                    </m:oMath>
                  </m:oMathPara>
                </a14:m>
                <a:endParaRPr lang="en-US" dirty="0"/>
              </a:p>
              <a:p>
                <a:pPr marL="285750" indent="-285750">
                  <a:buFont typeface="Arial" panose="020B0604020202020204" pitchFamily="34" charset="0"/>
                  <a:buChar char="•"/>
                </a:pPr>
                <a:r>
                  <a:rPr lang="en-US" dirty="0"/>
                  <a:t>Forward pass to first hidden layer </a:t>
                </a:r>
                <a14:m>
                  <m:oMath xmlns:m="http://schemas.openxmlformats.org/officeDocument/2006/math">
                    <m:sSubSup>
                      <m:sSubSupPr>
                        <m:ctrlPr>
                          <a:rPr lang="da-DK" b="0" i="1" smtClean="0">
                            <a:latin typeface="Cambria Math" panose="02040503050406030204" pitchFamily="18" charset="0"/>
                          </a:rPr>
                        </m:ctrlPr>
                      </m:sSubSupPr>
                      <m:e>
                        <m:r>
                          <a:rPr lang="da-DK" b="1" i="1" smtClean="0">
                            <a:latin typeface="Cambria Math" panose="02040503050406030204" pitchFamily="18" charset="0"/>
                          </a:rPr>
                          <m:t>𝑯</m:t>
                        </m:r>
                      </m:e>
                      <m:sub>
                        <m:r>
                          <a:rPr lang="da-DK" b="0" i="1" smtClean="0">
                            <a:latin typeface="Cambria Math" panose="02040503050406030204" pitchFamily="18" charset="0"/>
                          </a:rPr>
                          <m:t>𝑗</m:t>
                        </m:r>
                      </m:sub>
                      <m:sup>
                        <m:d>
                          <m:dPr>
                            <m:ctrlPr>
                              <a:rPr lang="da-DK" b="0" i="1" smtClean="0">
                                <a:latin typeface="Cambria Math" panose="02040503050406030204" pitchFamily="18" charset="0"/>
                              </a:rPr>
                            </m:ctrlPr>
                          </m:dPr>
                          <m:e>
                            <m:r>
                              <a:rPr lang="da-DK" b="0" i="1" smtClean="0">
                                <a:latin typeface="Cambria Math" panose="02040503050406030204" pitchFamily="18" charset="0"/>
                              </a:rPr>
                              <m:t>1</m:t>
                            </m:r>
                          </m:e>
                        </m:d>
                      </m:sup>
                    </m:sSubSup>
                    <m:r>
                      <a:rPr lang="da-DK" b="0" i="1" smtClean="0">
                        <a:latin typeface="Cambria Math" panose="02040503050406030204" pitchFamily="18" charset="0"/>
                      </a:rPr>
                      <m:t>=</m:t>
                    </m:r>
                    <m:nary>
                      <m:naryPr>
                        <m:chr m:val="∑"/>
                        <m:limLoc m:val="subSup"/>
                        <m:supHide m:val="on"/>
                        <m:ctrlPr>
                          <a:rPr lang="da-DK" b="0" i="1" smtClean="0">
                            <a:latin typeface="Cambria Math" panose="02040503050406030204" pitchFamily="18" charset="0"/>
                          </a:rPr>
                        </m:ctrlPr>
                      </m:naryPr>
                      <m:sub>
                        <m:r>
                          <m:rPr>
                            <m:brk m:alnAt="9"/>
                          </m:rPr>
                          <a:rPr lang="da-DK" b="0" i="1" smtClean="0">
                            <a:latin typeface="Cambria Math" panose="02040503050406030204" pitchFamily="18" charset="0"/>
                          </a:rPr>
                          <m:t>𝑖</m:t>
                        </m:r>
                      </m:sub>
                      <m:sup/>
                      <m:e>
                        <m:sSub>
                          <m:sSubPr>
                            <m:ctrlPr>
                              <a:rPr lang="da-DK" b="0" i="1" smtClean="0">
                                <a:latin typeface="Cambria Math" panose="02040503050406030204" pitchFamily="18" charset="0"/>
                              </a:rPr>
                            </m:ctrlPr>
                          </m:sSubPr>
                          <m:e>
                            <m:r>
                              <a:rPr lang="da-DK" b="1" i="1" smtClean="0">
                                <a:latin typeface="Cambria Math" panose="02040503050406030204" pitchFamily="18" charset="0"/>
                              </a:rPr>
                              <m:t>𝑰</m:t>
                            </m:r>
                          </m:e>
                          <m:sub>
                            <m:r>
                              <a:rPr lang="da-DK" b="0" i="1" smtClean="0">
                                <a:latin typeface="Cambria Math" panose="02040503050406030204" pitchFamily="18" charset="0"/>
                              </a:rPr>
                              <m:t>𝑖</m:t>
                            </m:r>
                          </m:sub>
                        </m:sSub>
                      </m:e>
                    </m:nary>
                    <m:r>
                      <a:rPr lang="de-DE" b="0" i="1" smtClean="0">
                        <a:latin typeface="Cambria Math" panose="02040503050406030204" pitchFamily="18" charset="0"/>
                      </a:rPr>
                      <m:t>∗</m:t>
                    </m:r>
                    <m:sSubSup>
                      <m:sSubSupPr>
                        <m:ctrlPr>
                          <a:rPr lang="da-DK" b="0" i="1" smtClean="0">
                            <a:latin typeface="Cambria Math" panose="02040503050406030204" pitchFamily="18" charset="0"/>
                          </a:rPr>
                        </m:ctrlPr>
                      </m:sSubSupPr>
                      <m:e>
                        <m:r>
                          <a:rPr lang="de-DE" b="1" i="1" smtClean="0">
                            <a:latin typeface="Cambria Math" panose="02040503050406030204" pitchFamily="18" charset="0"/>
                          </a:rPr>
                          <m:t>𝒘</m:t>
                        </m:r>
                      </m:e>
                      <m:sub>
                        <m:r>
                          <a:rPr lang="de-DE" b="0" i="1" smtClean="0">
                            <a:latin typeface="Cambria Math" panose="02040503050406030204" pitchFamily="18" charset="0"/>
                          </a:rPr>
                          <m:t>𝑖𝑗</m:t>
                        </m:r>
                      </m:sub>
                      <m:sup>
                        <m:d>
                          <m:dPr>
                            <m:ctrlPr>
                              <a:rPr lang="da-DK" b="0" i="1" smtClean="0">
                                <a:latin typeface="Cambria Math" panose="02040503050406030204" pitchFamily="18" charset="0"/>
                              </a:rPr>
                            </m:ctrlPr>
                          </m:dPr>
                          <m:e>
                            <m:r>
                              <a:rPr lang="da-DK" b="0" i="1" smtClean="0">
                                <a:latin typeface="Cambria Math" panose="02040503050406030204" pitchFamily="18" charset="0"/>
                              </a:rPr>
                              <m:t>1</m:t>
                            </m:r>
                          </m:e>
                        </m:d>
                      </m:sup>
                    </m:sSubSup>
                  </m:oMath>
                </a14:m>
                <a:endParaRPr lang="en-US" dirty="0"/>
              </a:p>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1" i="1" smtClean="0">
                              <a:latin typeface="Cambria Math" panose="02040503050406030204" pitchFamily="18" charset="0"/>
                            </a:rPr>
                            <m:t>𝑯</m:t>
                          </m:r>
                        </m:e>
                        <m:sub>
                          <m:r>
                            <a:rPr lang="en-US" b="0" i="1" smtClean="0">
                              <a:latin typeface="Cambria Math" panose="02040503050406030204" pitchFamily="18" charset="0"/>
                            </a:rPr>
                            <m:t>1</m:t>
                          </m:r>
                        </m:sub>
                        <m:sup>
                          <m:d>
                            <m:dPr>
                              <m:ctrlPr>
                                <a:rPr lang="en-US" b="0" i="1" smtClean="0">
                                  <a:latin typeface="Cambria Math" panose="02040503050406030204" pitchFamily="18" charset="0"/>
                                </a:rPr>
                              </m:ctrlPr>
                            </m:dPr>
                            <m:e>
                              <m:r>
                                <a:rPr lang="en-US" b="0" i="1" smtClean="0">
                                  <a:latin typeface="Cambria Math" panose="02040503050406030204" pitchFamily="18" charset="0"/>
                                </a:rPr>
                                <m:t>1</m:t>
                              </m:r>
                            </m:e>
                          </m:d>
                        </m:sup>
                      </m:sSubSup>
                      <m:r>
                        <a:rPr lang="de-DE"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solidFill>
                                <a:srgbClr val="005293"/>
                              </a:solidFill>
                              <a:latin typeface="Cambria Math" panose="02040503050406030204" pitchFamily="18" charset="0"/>
                            </a:rPr>
                            <m:t>0</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0</m:t>
                          </m:r>
                          <m:r>
                            <a:rPr lang="en-US" b="0" i="1" smtClean="0">
                              <a:latin typeface="Cambria Math" panose="02040503050406030204" pitchFamily="18" charset="0"/>
                            </a:rPr>
                            <m:t>+</m:t>
                          </m:r>
                          <m:r>
                            <a:rPr lang="en-US" b="0" i="1" smtClean="0">
                              <a:solidFill>
                                <a:srgbClr val="005293"/>
                              </a:solidFill>
                              <a:latin typeface="Cambria Math" panose="02040503050406030204" pitchFamily="18" charset="0"/>
                            </a:rPr>
                            <m:t>1</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2</m:t>
                          </m:r>
                          <m:r>
                            <a:rPr lang="en-US" b="0" i="1" smtClean="0">
                              <a:latin typeface="Cambria Math" panose="02040503050406030204" pitchFamily="18" charset="0"/>
                            </a:rPr>
                            <m:t>+</m:t>
                          </m:r>
                          <m:r>
                            <a:rPr lang="en-US" b="0" i="1" smtClean="0">
                              <a:solidFill>
                                <a:srgbClr val="005293"/>
                              </a:solidFill>
                              <a:latin typeface="Cambria Math" panose="02040503050406030204" pitchFamily="18" charset="0"/>
                            </a:rPr>
                            <m:t>3</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1</m:t>
                          </m:r>
                          <m:r>
                            <a:rPr lang="en-US" b="0" i="1" smtClean="0">
                              <a:latin typeface="Cambria Math" panose="02040503050406030204" pitchFamily="18" charset="0"/>
                            </a:rPr>
                            <m:t>, </m:t>
                          </m:r>
                          <m:r>
                            <a:rPr lang="en-US" b="0" i="1" smtClean="0">
                              <a:solidFill>
                                <a:srgbClr val="005293"/>
                              </a:solidFill>
                              <a:latin typeface="Cambria Math" panose="02040503050406030204" pitchFamily="18" charset="0"/>
                            </a:rPr>
                            <m:t>1</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0</m:t>
                          </m:r>
                          <m:r>
                            <a:rPr lang="en-US" b="0" i="1" smtClean="0">
                              <a:latin typeface="Cambria Math" panose="02040503050406030204" pitchFamily="18" charset="0"/>
                            </a:rPr>
                            <m:t>+</m:t>
                          </m:r>
                          <m:r>
                            <a:rPr lang="en-US" b="0" i="1" smtClean="0">
                              <a:solidFill>
                                <a:srgbClr val="005293"/>
                              </a:solidFill>
                              <a:latin typeface="Cambria Math" panose="02040503050406030204" pitchFamily="18" charset="0"/>
                            </a:rPr>
                            <m:t>3</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2</m:t>
                          </m:r>
                          <m:r>
                            <a:rPr lang="en-US" b="0" i="1" smtClean="0">
                              <a:latin typeface="Cambria Math" panose="02040503050406030204" pitchFamily="18" charset="0"/>
                            </a:rPr>
                            <m:t>+</m:t>
                          </m:r>
                          <m:r>
                            <a:rPr lang="en-US" b="0" i="1" smtClean="0">
                              <a:solidFill>
                                <a:srgbClr val="005293"/>
                              </a:solidFill>
                              <a:latin typeface="Cambria Math" panose="02040503050406030204" pitchFamily="18" charset="0"/>
                            </a:rPr>
                            <m:t>2</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1</m:t>
                          </m:r>
                          <m:r>
                            <a:rPr lang="en-US" b="0" i="1" smtClean="0">
                              <a:latin typeface="Cambria Math" panose="02040503050406030204" pitchFamily="18" charset="0"/>
                            </a:rPr>
                            <m:t>, </m:t>
                          </m:r>
                          <m:r>
                            <a:rPr lang="en-US" b="0" i="1" smtClean="0">
                              <a:solidFill>
                                <a:srgbClr val="005293"/>
                              </a:solidFill>
                              <a:latin typeface="Cambria Math" panose="02040503050406030204" pitchFamily="18" charset="0"/>
                            </a:rPr>
                            <m:t>3</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0</m:t>
                          </m:r>
                          <m:r>
                            <a:rPr lang="en-US" b="0" i="1" smtClean="0">
                              <a:latin typeface="Cambria Math" panose="02040503050406030204" pitchFamily="18" charset="0"/>
                            </a:rPr>
                            <m:t>+</m:t>
                          </m:r>
                          <m:r>
                            <a:rPr lang="en-US" b="0" i="1" smtClean="0">
                              <a:solidFill>
                                <a:srgbClr val="005293"/>
                              </a:solidFill>
                              <a:latin typeface="Cambria Math" panose="02040503050406030204" pitchFamily="18" charset="0"/>
                            </a:rPr>
                            <m:t>2</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2</m:t>
                          </m:r>
                          <m:r>
                            <a:rPr lang="en-US" b="0" i="1" smtClean="0">
                              <a:latin typeface="Cambria Math" panose="02040503050406030204" pitchFamily="18" charset="0"/>
                            </a:rPr>
                            <m:t>+</m:t>
                          </m:r>
                          <m:r>
                            <a:rPr lang="en-US" b="0" i="1" smtClean="0">
                              <a:solidFill>
                                <a:srgbClr val="005293"/>
                              </a:solidFill>
                              <a:latin typeface="Cambria Math" panose="02040503050406030204" pitchFamily="18" charset="0"/>
                            </a:rPr>
                            <m:t>5</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1</m:t>
                          </m:r>
                        </m:e>
                      </m:d>
                      <m:r>
                        <a:rPr lang="en-US" b="0" i="1" smtClean="0">
                          <a:latin typeface="Cambria Math" panose="02040503050406030204" pitchFamily="18" charset="0"/>
                        </a:rPr>
                        <m:t>=</m:t>
                      </m:r>
                      <m:d>
                        <m:dPr>
                          <m:begChr m:val="["/>
                          <m:endChr m:val="]"/>
                          <m:ctrlPr>
                            <a:rPr lang="en-US" b="0" i="1" smtClean="0">
                              <a:solidFill>
                                <a:srgbClr val="999999"/>
                              </a:solidFill>
                              <a:latin typeface="Cambria Math" panose="02040503050406030204" pitchFamily="18" charset="0"/>
                            </a:rPr>
                          </m:ctrlPr>
                        </m:dPr>
                        <m:e>
                          <m:r>
                            <a:rPr lang="en-US" b="0" i="1" smtClean="0">
                              <a:solidFill>
                                <a:srgbClr val="999999"/>
                              </a:solidFill>
                              <a:latin typeface="Cambria Math" panose="02040503050406030204" pitchFamily="18" charset="0"/>
                            </a:rPr>
                            <m:t>5, 8, 9</m:t>
                          </m:r>
                        </m:e>
                      </m:d>
                    </m:oMath>
                    <m:oMath xmlns:m="http://schemas.openxmlformats.org/officeDocument/2006/math">
                      <m:sSubSup>
                        <m:sSubSupPr>
                          <m:ctrlPr>
                            <a:rPr lang="en-US" b="0" i="1" smtClean="0">
                              <a:latin typeface="Cambria Math" panose="02040503050406030204" pitchFamily="18" charset="0"/>
                            </a:rPr>
                          </m:ctrlPr>
                        </m:sSubSupPr>
                        <m:e>
                          <m:r>
                            <a:rPr lang="en-US" b="1" i="1" smtClean="0">
                              <a:latin typeface="Cambria Math" panose="02040503050406030204" pitchFamily="18" charset="0"/>
                            </a:rPr>
                            <m:t>𝑯</m:t>
                          </m:r>
                        </m:e>
                        <m:sub>
                          <m:r>
                            <a:rPr lang="en-US" b="0" i="1" smtClean="0">
                              <a:latin typeface="Cambria Math" panose="02040503050406030204" pitchFamily="18" charset="0"/>
                            </a:rPr>
                            <m:t>2</m:t>
                          </m:r>
                        </m:sub>
                        <m:sup>
                          <m:d>
                            <m:dPr>
                              <m:ctrlPr>
                                <a:rPr lang="en-US" b="0" i="1" smtClean="0">
                                  <a:latin typeface="Cambria Math" panose="02040503050406030204" pitchFamily="18" charset="0"/>
                                </a:rPr>
                              </m:ctrlPr>
                            </m:dPr>
                            <m:e>
                              <m:r>
                                <a:rPr lang="en-US" b="0" i="1" smtClean="0">
                                  <a:latin typeface="Cambria Math" panose="02040503050406030204" pitchFamily="18" charset="0"/>
                                </a:rPr>
                                <m:t>1</m:t>
                              </m:r>
                            </m:e>
                          </m:d>
                        </m:sup>
                      </m:sSubSup>
                      <m:r>
                        <a:rPr lang="de-DE"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i="1" smtClean="0">
                              <a:solidFill>
                                <a:srgbClr val="005293"/>
                              </a:solidFill>
                              <a:latin typeface="Cambria Math" panose="02040503050406030204" pitchFamily="18" charset="0"/>
                            </a:rPr>
                            <m:t>0</m:t>
                          </m:r>
                          <m:r>
                            <a:rPr lang="en-US" i="1">
                              <a:latin typeface="Cambria Math" panose="02040503050406030204" pitchFamily="18" charset="0"/>
                            </a:rPr>
                            <m:t>⋅</m:t>
                          </m:r>
                          <m:r>
                            <a:rPr lang="en-US" b="0" i="1" smtClean="0">
                              <a:solidFill>
                                <a:srgbClr val="FF0000"/>
                              </a:solidFill>
                              <a:latin typeface="Cambria Math" panose="02040503050406030204" pitchFamily="18" charset="0"/>
                            </a:rPr>
                            <m:t>1</m:t>
                          </m:r>
                          <m:r>
                            <a:rPr lang="en-US" i="1">
                              <a:latin typeface="Cambria Math" panose="02040503050406030204" pitchFamily="18" charset="0"/>
                            </a:rPr>
                            <m:t>+</m:t>
                          </m:r>
                          <m:r>
                            <a:rPr lang="en-US" i="1" smtClean="0">
                              <a:solidFill>
                                <a:srgbClr val="005293"/>
                              </a:solidFill>
                              <a:latin typeface="Cambria Math" panose="02040503050406030204" pitchFamily="18" charset="0"/>
                            </a:rPr>
                            <m:t>1</m:t>
                          </m:r>
                          <m:r>
                            <a:rPr lang="en-US" i="1">
                              <a:latin typeface="Cambria Math" panose="02040503050406030204" pitchFamily="18" charset="0"/>
                            </a:rPr>
                            <m:t>⋅</m:t>
                          </m:r>
                          <m:r>
                            <a:rPr lang="en-US" b="0" i="1" smtClean="0">
                              <a:solidFill>
                                <a:srgbClr val="FF0000"/>
                              </a:solidFill>
                              <a:latin typeface="Cambria Math" panose="02040503050406030204" pitchFamily="18" charset="0"/>
                            </a:rPr>
                            <m:t>0</m:t>
                          </m:r>
                          <m:r>
                            <a:rPr lang="en-US" i="1">
                              <a:latin typeface="Cambria Math" panose="02040503050406030204" pitchFamily="18" charset="0"/>
                            </a:rPr>
                            <m:t>+</m:t>
                          </m:r>
                          <m:r>
                            <a:rPr lang="en-US" i="1" smtClean="0">
                              <a:solidFill>
                                <a:srgbClr val="005293"/>
                              </a:solidFill>
                              <a:latin typeface="Cambria Math" panose="02040503050406030204" pitchFamily="18" charset="0"/>
                            </a:rPr>
                            <m:t>3</m:t>
                          </m:r>
                          <m:r>
                            <a:rPr lang="en-US" i="1">
                              <a:latin typeface="Cambria Math" panose="02040503050406030204" pitchFamily="18" charset="0"/>
                            </a:rPr>
                            <m:t>⋅</m:t>
                          </m:r>
                          <m:r>
                            <a:rPr lang="en-US" b="0" i="1" smtClean="0">
                              <a:solidFill>
                                <a:srgbClr val="FF0000"/>
                              </a:solidFill>
                              <a:latin typeface="Cambria Math" panose="02040503050406030204" pitchFamily="18" charset="0"/>
                            </a:rPr>
                            <m:t>3</m:t>
                          </m:r>
                          <m:r>
                            <a:rPr lang="en-US" i="1">
                              <a:latin typeface="Cambria Math" panose="02040503050406030204" pitchFamily="18" charset="0"/>
                            </a:rPr>
                            <m:t>, </m:t>
                          </m:r>
                          <m:r>
                            <a:rPr lang="en-US" i="1" smtClean="0">
                              <a:solidFill>
                                <a:srgbClr val="005293"/>
                              </a:solidFill>
                              <a:latin typeface="Cambria Math" panose="02040503050406030204" pitchFamily="18" charset="0"/>
                            </a:rPr>
                            <m:t>1</m:t>
                          </m:r>
                          <m:r>
                            <a:rPr lang="en-US" i="1">
                              <a:latin typeface="Cambria Math" panose="02040503050406030204" pitchFamily="18" charset="0"/>
                            </a:rPr>
                            <m:t>⋅</m:t>
                          </m:r>
                          <m:r>
                            <a:rPr lang="en-US" b="0" i="1" smtClean="0">
                              <a:solidFill>
                                <a:srgbClr val="FF0000"/>
                              </a:solidFill>
                              <a:latin typeface="Cambria Math" panose="02040503050406030204" pitchFamily="18" charset="0"/>
                            </a:rPr>
                            <m:t>1</m:t>
                          </m:r>
                          <m:r>
                            <a:rPr lang="en-US" i="1">
                              <a:latin typeface="Cambria Math" panose="02040503050406030204" pitchFamily="18" charset="0"/>
                            </a:rPr>
                            <m:t>+</m:t>
                          </m:r>
                          <m:r>
                            <a:rPr lang="en-US" i="1" smtClean="0">
                              <a:solidFill>
                                <a:srgbClr val="005293"/>
                              </a:solidFill>
                              <a:latin typeface="Cambria Math" panose="02040503050406030204" pitchFamily="18" charset="0"/>
                            </a:rPr>
                            <m:t>3</m:t>
                          </m:r>
                          <m:r>
                            <a:rPr lang="en-US" i="1">
                              <a:latin typeface="Cambria Math" panose="02040503050406030204" pitchFamily="18" charset="0"/>
                            </a:rPr>
                            <m:t>⋅</m:t>
                          </m:r>
                          <m:r>
                            <a:rPr lang="en-US" b="0" i="1" smtClean="0">
                              <a:solidFill>
                                <a:srgbClr val="FF0000"/>
                              </a:solidFill>
                              <a:latin typeface="Cambria Math" panose="02040503050406030204" pitchFamily="18" charset="0"/>
                            </a:rPr>
                            <m:t>0</m:t>
                          </m:r>
                          <m:r>
                            <a:rPr lang="en-US" i="1">
                              <a:latin typeface="Cambria Math" panose="02040503050406030204" pitchFamily="18" charset="0"/>
                            </a:rPr>
                            <m:t>+</m:t>
                          </m:r>
                          <m:r>
                            <a:rPr lang="en-US" i="1" smtClean="0">
                              <a:solidFill>
                                <a:srgbClr val="005293"/>
                              </a:solidFill>
                              <a:latin typeface="Cambria Math" panose="02040503050406030204" pitchFamily="18" charset="0"/>
                            </a:rPr>
                            <m:t>2</m:t>
                          </m:r>
                          <m:r>
                            <a:rPr lang="en-US" i="1">
                              <a:latin typeface="Cambria Math" panose="02040503050406030204" pitchFamily="18" charset="0"/>
                            </a:rPr>
                            <m:t>⋅</m:t>
                          </m:r>
                          <m:r>
                            <a:rPr lang="en-US" b="0" i="1" smtClean="0">
                              <a:solidFill>
                                <a:srgbClr val="FF0000"/>
                              </a:solidFill>
                              <a:latin typeface="Cambria Math" panose="02040503050406030204" pitchFamily="18" charset="0"/>
                            </a:rPr>
                            <m:t>3</m:t>
                          </m:r>
                          <m:r>
                            <a:rPr lang="en-US" i="1" smtClean="0">
                              <a:latin typeface="Cambria Math" panose="02040503050406030204" pitchFamily="18" charset="0"/>
                            </a:rPr>
                            <m:t>,</m:t>
                          </m:r>
                          <m:r>
                            <a:rPr lang="en-US" i="1">
                              <a:latin typeface="Cambria Math" panose="02040503050406030204" pitchFamily="18" charset="0"/>
                            </a:rPr>
                            <m:t> </m:t>
                          </m:r>
                          <m:r>
                            <a:rPr lang="en-US" i="1" smtClean="0">
                              <a:solidFill>
                                <a:srgbClr val="005293"/>
                              </a:solidFill>
                              <a:latin typeface="Cambria Math" panose="02040503050406030204" pitchFamily="18" charset="0"/>
                            </a:rPr>
                            <m:t>3</m:t>
                          </m:r>
                          <m:r>
                            <a:rPr lang="en-US" i="1">
                              <a:latin typeface="Cambria Math" panose="02040503050406030204" pitchFamily="18" charset="0"/>
                            </a:rPr>
                            <m:t>⋅</m:t>
                          </m:r>
                          <m:r>
                            <a:rPr lang="en-US" b="0" i="1" smtClean="0">
                              <a:solidFill>
                                <a:srgbClr val="FF0000"/>
                              </a:solidFill>
                              <a:latin typeface="Cambria Math" panose="02040503050406030204" pitchFamily="18" charset="0"/>
                            </a:rPr>
                            <m:t>1</m:t>
                          </m:r>
                          <m:r>
                            <a:rPr lang="en-US" i="1">
                              <a:latin typeface="Cambria Math" panose="02040503050406030204" pitchFamily="18" charset="0"/>
                            </a:rPr>
                            <m:t>+</m:t>
                          </m:r>
                          <m:r>
                            <a:rPr lang="en-US" i="1" smtClean="0">
                              <a:solidFill>
                                <a:srgbClr val="005293"/>
                              </a:solidFill>
                              <a:latin typeface="Cambria Math" panose="02040503050406030204" pitchFamily="18" charset="0"/>
                            </a:rPr>
                            <m:t>2</m:t>
                          </m:r>
                          <m:r>
                            <a:rPr lang="en-US" i="1">
                              <a:latin typeface="Cambria Math" panose="02040503050406030204" pitchFamily="18" charset="0"/>
                            </a:rPr>
                            <m:t>⋅</m:t>
                          </m:r>
                          <m:r>
                            <a:rPr lang="en-US" b="0" i="1" smtClean="0">
                              <a:solidFill>
                                <a:srgbClr val="FF0000"/>
                              </a:solidFill>
                              <a:latin typeface="Cambria Math" panose="02040503050406030204" pitchFamily="18" charset="0"/>
                            </a:rPr>
                            <m:t>0</m:t>
                          </m:r>
                          <m:r>
                            <a:rPr lang="en-US" i="1">
                              <a:latin typeface="Cambria Math" panose="02040503050406030204" pitchFamily="18" charset="0"/>
                            </a:rPr>
                            <m:t>+</m:t>
                          </m:r>
                          <m:r>
                            <a:rPr lang="en-US" i="1" smtClean="0">
                              <a:solidFill>
                                <a:srgbClr val="005293"/>
                              </a:solidFill>
                              <a:latin typeface="Cambria Math" panose="02040503050406030204" pitchFamily="18" charset="0"/>
                            </a:rPr>
                            <m:t>5</m:t>
                          </m:r>
                          <m:r>
                            <a:rPr lang="en-US" i="1">
                              <a:latin typeface="Cambria Math" panose="02040503050406030204" pitchFamily="18" charset="0"/>
                            </a:rPr>
                            <m:t>⋅</m:t>
                          </m:r>
                          <m:r>
                            <a:rPr lang="en-US" b="0" i="1" smtClean="0">
                              <a:solidFill>
                                <a:srgbClr val="FF0000"/>
                              </a:solidFill>
                              <a:latin typeface="Cambria Math" panose="02040503050406030204" pitchFamily="18" charset="0"/>
                            </a:rPr>
                            <m:t>3</m:t>
                          </m:r>
                        </m:e>
                      </m:d>
                      <m:r>
                        <a:rPr lang="en-US" b="0" i="1" smtClean="0">
                          <a:latin typeface="Cambria Math" panose="02040503050406030204" pitchFamily="18" charset="0"/>
                        </a:rPr>
                        <m:t>=</m:t>
                      </m:r>
                      <m:r>
                        <a:rPr lang="en-US" b="0" i="1" smtClean="0">
                          <a:solidFill>
                            <a:schemeClr val="accent1">
                              <a:lumMod val="75000"/>
                            </a:schemeClr>
                          </a:solidFill>
                          <a:latin typeface="Cambria Math" panose="02040503050406030204" pitchFamily="18" charset="0"/>
                        </a:rPr>
                        <m:t>[9, 7, 18]</m:t>
                      </m:r>
                    </m:oMath>
                  </m:oMathPara>
                </a14:m>
                <a:endParaRPr lang="en-US" dirty="0"/>
              </a:p>
              <a:p>
                <a:endParaRPr lang="en-US" dirty="0"/>
              </a:p>
              <a:p>
                <a:endParaRPr lang="en-US" dirty="0"/>
              </a:p>
            </p:txBody>
          </p:sp>
        </mc:Choice>
        <mc:Fallback xmlns="">
          <p:sp>
            <p:nvSpPr>
              <p:cNvPr id="2" name="Content Placeholder 1">
                <a:extLst>
                  <a:ext uri="{FF2B5EF4-FFF2-40B4-BE49-F238E27FC236}">
                    <a16:creationId xmlns:a16="http://schemas.microsoft.com/office/drawing/2014/main" id="{FE1F2AF0-F8D0-B1D7-BC7B-4F3729E7FEF4}"/>
                  </a:ext>
                </a:extLst>
              </p:cNvPr>
              <p:cNvSpPr>
                <a:spLocks noGrp="1" noRot="1" noChangeAspect="1" noMove="1" noResize="1" noEditPoints="1" noAdjustHandles="1" noChangeArrowheads="1" noChangeShapeType="1" noTextEdit="1"/>
              </p:cNvSpPr>
              <p:nvPr>
                <p:ph idx="1"/>
              </p:nvPr>
            </p:nvSpPr>
            <p:spPr>
              <a:blipFill>
                <a:blip r:embed="rId3"/>
                <a:stretch>
                  <a:fillRect l="-1289" t="-922"/>
                </a:stretch>
              </a:blipFill>
            </p:spPr>
            <p:txBody>
              <a:bodyPr/>
              <a:lstStyle/>
              <a:p>
                <a:r>
                  <a:rPr lang="de-DE">
                    <a:noFill/>
                  </a:rPr>
                  <a:t> </a:t>
                </a:r>
              </a:p>
            </p:txBody>
          </p:sp>
        </mc:Fallback>
      </mc:AlternateContent>
      <p:sp>
        <p:nvSpPr>
          <p:cNvPr id="3" name="Title 2">
            <a:extLst>
              <a:ext uri="{FF2B5EF4-FFF2-40B4-BE49-F238E27FC236}">
                <a16:creationId xmlns:a16="http://schemas.microsoft.com/office/drawing/2014/main" id="{6DE0E436-8494-0E06-5750-F7591EA2B50E}"/>
              </a:ext>
            </a:extLst>
          </p:cNvPr>
          <p:cNvSpPr>
            <a:spLocks noGrp="1"/>
          </p:cNvSpPr>
          <p:nvPr>
            <p:ph type="title"/>
          </p:nvPr>
        </p:nvSpPr>
        <p:spPr/>
        <p:txBody>
          <a:bodyPr/>
          <a:lstStyle/>
          <a:p>
            <a:r>
              <a:rPr lang="de-DE" dirty="0"/>
              <a:t>3.9.1 </a:t>
            </a:r>
            <a:r>
              <a:rPr lang="de-DE" dirty="0" err="1"/>
              <a:t>Convolutional</a:t>
            </a:r>
            <a:r>
              <a:rPr lang="de-DE" dirty="0"/>
              <a:t> </a:t>
            </a:r>
            <a:r>
              <a:rPr lang="de-DE" dirty="0" err="1"/>
              <a:t>Neural</a:t>
            </a:r>
            <a:r>
              <a:rPr lang="de-DE" dirty="0"/>
              <a:t> Networks – </a:t>
            </a:r>
            <a:r>
              <a:rPr lang="de-DE" dirty="0" err="1"/>
              <a:t>Example</a:t>
            </a:r>
            <a:r>
              <a:rPr lang="de-DE" dirty="0"/>
              <a:t> </a:t>
            </a:r>
            <a:endParaRPr lang="en-US" dirty="0"/>
          </a:p>
        </p:txBody>
      </p:sp>
      <p:sp>
        <p:nvSpPr>
          <p:cNvPr id="4" name="Slide Number Placeholder 3">
            <a:extLst>
              <a:ext uri="{FF2B5EF4-FFF2-40B4-BE49-F238E27FC236}">
                <a16:creationId xmlns:a16="http://schemas.microsoft.com/office/drawing/2014/main" id="{2339353A-8C08-06D2-4307-6773C81EE1E3}"/>
              </a:ext>
            </a:extLst>
          </p:cNvPr>
          <p:cNvSpPr>
            <a:spLocks noGrp="1"/>
          </p:cNvSpPr>
          <p:nvPr>
            <p:ph type="sldNum" sz="quarter" idx="11"/>
          </p:nvPr>
        </p:nvSpPr>
        <p:spPr/>
        <p:txBody>
          <a:bodyPr/>
          <a:lstStyle/>
          <a:p>
            <a:fld id="{CE58CB1E-F828-4F11-99E0-327109AF9DA4}" type="slidenum">
              <a:rPr lang="de-DE" smtClean="0"/>
              <a:pPr/>
              <a:t>16</a:t>
            </a:fld>
            <a:endParaRPr lang="de-DE"/>
          </a:p>
        </p:txBody>
      </p:sp>
      <p:sp>
        <p:nvSpPr>
          <p:cNvPr id="5" name="Footer Placeholder 4">
            <a:extLst>
              <a:ext uri="{FF2B5EF4-FFF2-40B4-BE49-F238E27FC236}">
                <a16:creationId xmlns:a16="http://schemas.microsoft.com/office/drawing/2014/main" id="{F6D8D408-EA21-FC1D-F0BB-B2C001175681}"/>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pic>
        <p:nvPicPr>
          <p:cNvPr id="6" name="Picture 5">
            <a:extLst>
              <a:ext uri="{FF2B5EF4-FFF2-40B4-BE49-F238E27FC236}">
                <a16:creationId xmlns:a16="http://schemas.microsoft.com/office/drawing/2014/main" id="{C345454D-F881-CA2F-E128-7433AEBE499B}"/>
              </a:ext>
            </a:extLst>
          </p:cNvPr>
          <p:cNvPicPr>
            <a:picLocks noChangeAspect="1"/>
          </p:cNvPicPr>
          <p:nvPr/>
        </p:nvPicPr>
        <p:blipFill>
          <a:blip r:embed="rId4"/>
          <a:stretch>
            <a:fillRect/>
          </a:stretch>
        </p:blipFill>
        <p:spPr>
          <a:xfrm>
            <a:off x="3445189" y="1099530"/>
            <a:ext cx="5591655" cy="1038190"/>
          </a:xfrm>
          <a:prstGeom prst="rect">
            <a:avLst/>
          </a:prstGeom>
        </p:spPr>
      </p:pic>
      <p:sp>
        <p:nvSpPr>
          <p:cNvPr id="7" name="Textfeld 7">
            <a:extLst>
              <a:ext uri="{FF2B5EF4-FFF2-40B4-BE49-F238E27FC236}">
                <a16:creationId xmlns:a16="http://schemas.microsoft.com/office/drawing/2014/main" id="{0C3D2064-050E-1896-7CF5-A530CF8DF33F}"/>
              </a:ext>
            </a:extLst>
          </p:cNvPr>
          <p:cNvSpPr txBox="1"/>
          <p:nvPr/>
        </p:nvSpPr>
        <p:spPr>
          <a:xfrm>
            <a:off x="6385084" y="825690"/>
            <a:ext cx="1053253" cy="307777"/>
          </a:xfrm>
          <a:prstGeom prst="rect">
            <a:avLst/>
          </a:prstGeom>
          <a:noFill/>
        </p:spPr>
        <p:txBody>
          <a:bodyPr wrap="square">
            <a:spAutoFit/>
          </a:bodyPr>
          <a:lstStyle/>
          <a:p>
            <a:r>
              <a:rPr lang="en-US" sz="1400" dirty="0"/>
              <a:t>2 channels</a:t>
            </a:r>
          </a:p>
        </p:txBody>
      </p:sp>
      <p:sp>
        <p:nvSpPr>
          <p:cNvPr id="8" name="Rechteck 7">
            <a:extLst>
              <a:ext uri="{FF2B5EF4-FFF2-40B4-BE49-F238E27FC236}">
                <a16:creationId xmlns:a16="http://schemas.microsoft.com/office/drawing/2014/main" id="{BAFFDAD3-2E55-9229-641C-C9AB353DC756}"/>
              </a:ext>
            </a:extLst>
          </p:cNvPr>
          <p:cNvSpPr/>
          <p:nvPr/>
        </p:nvSpPr>
        <p:spPr>
          <a:xfrm>
            <a:off x="3471518" y="1551709"/>
            <a:ext cx="354676" cy="5098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10" name="Rechteck 9">
            <a:extLst>
              <a:ext uri="{FF2B5EF4-FFF2-40B4-BE49-F238E27FC236}">
                <a16:creationId xmlns:a16="http://schemas.microsoft.com/office/drawing/2014/main" id="{8485B65F-9DBA-DD14-8E8A-7BFA3957A0B2}"/>
              </a:ext>
            </a:extLst>
          </p:cNvPr>
          <p:cNvSpPr/>
          <p:nvPr/>
        </p:nvSpPr>
        <p:spPr>
          <a:xfrm>
            <a:off x="3776110" y="1133467"/>
            <a:ext cx="3662227" cy="103819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Tree>
    <p:extLst>
      <p:ext uri="{BB962C8B-B14F-4D97-AF65-F5344CB8AC3E}">
        <p14:creationId xmlns:p14="http://schemas.microsoft.com/office/powerpoint/2010/main" val="3351007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1" end="1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1C060-B61D-DB80-5BBE-251165FF7BC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F8E41C53-DFCE-8C83-DBBB-76E1245FDE06}"/>
                  </a:ext>
                </a:extLst>
              </p:cNvPr>
              <p:cNvSpPr>
                <a:spLocks noGrp="1"/>
              </p:cNvSpPr>
              <p:nvPr>
                <p:ph idx="1"/>
              </p:nvPr>
            </p:nvSpPr>
            <p:spPr>
              <a:xfrm>
                <a:off x="319090" y="820148"/>
                <a:ext cx="8508999" cy="3967027"/>
              </a:xfrm>
            </p:spPr>
            <p:txBody>
              <a:bodyPr/>
              <a:lstStyle/>
              <a:p>
                <a:r>
                  <a:rPr lang="en-US" dirty="0"/>
                  <a:t>What if we want two features O from one input?</a:t>
                </a:r>
              </a:p>
              <a:p>
                <a:endParaRPr lang="en-US" dirty="0"/>
              </a:p>
              <a:p>
                <a:r>
                  <a:rPr lang="en-US" dirty="0"/>
                  <a:t>Example with 1D convolutional filters</a:t>
                </a:r>
              </a:p>
              <a:p>
                <a:pPr marL="285750" indent="-285750">
                  <a:buFont typeface="Arial" panose="020B0604020202020204" pitchFamily="34" charset="0"/>
                  <a:buChar char="•"/>
                </a:pPr>
                <a:r>
                  <a:rPr lang="en-US" dirty="0"/>
                  <a:t>Stride length </a:t>
                </a:r>
                <a14:m>
                  <m:oMath xmlns:m="http://schemas.openxmlformats.org/officeDocument/2006/math">
                    <m:r>
                      <a:rPr lang="en-US" b="0" i="1" smtClean="0">
                        <a:latin typeface="Cambria Math" panose="02040503050406030204" pitchFamily="18" charset="0"/>
                      </a:rPr>
                      <m:t>𝑠</m:t>
                    </m:r>
                    <m:r>
                      <a:rPr lang="en-US" b="0" i="1" smtClean="0">
                        <a:latin typeface="Cambria Math" panose="02040503050406030204" pitchFamily="18" charset="0"/>
                      </a:rPr>
                      <m:t>=1</m:t>
                    </m:r>
                  </m:oMath>
                </a14:m>
                <a:endParaRPr lang="en-US" dirty="0"/>
              </a:p>
              <a:p>
                <a:pPr marL="285750" indent="-285750">
                  <a:buFont typeface="Arial" panose="020B0604020202020204" pitchFamily="34" charset="0"/>
                  <a:buChar char="•"/>
                </a:pPr>
                <a:r>
                  <a:rPr lang="en-US" dirty="0"/>
                  <a:t>Without a bias</a:t>
                </a:r>
              </a:p>
              <a:p>
                <a:pPr marL="285750" indent="-285750">
                  <a:buFont typeface="Arial" panose="020B0604020202020204" pitchFamily="34" charset="0"/>
                  <a:buChar char="•"/>
                </a:pPr>
                <a:r>
                  <a:rPr lang="en-US" dirty="0"/>
                  <a:t>Hidden layer </a:t>
                </a:r>
                <a14:m>
                  <m:oMath xmlns:m="http://schemas.openxmlformats.org/officeDocument/2006/math">
                    <m:sSup>
                      <m:sSupPr>
                        <m:ctrlPr>
                          <a:rPr lang="en-US" b="0" i="1" smtClean="0">
                            <a:latin typeface="Cambria Math" panose="02040503050406030204" pitchFamily="18" charset="0"/>
                          </a:rPr>
                        </m:ctrlPr>
                      </m:sSupPr>
                      <m:e>
                        <m:r>
                          <a:rPr lang="en-US" b="1" i="1" smtClean="0">
                            <a:latin typeface="Cambria Math" panose="02040503050406030204" pitchFamily="18" charset="0"/>
                          </a:rPr>
                          <m:t>𝑯</m:t>
                        </m:r>
                      </m:e>
                      <m:sup>
                        <m:d>
                          <m:dPr>
                            <m:ctrlPr>
                              <a:rPr lang="en-US" b="0" i="1" smtClean="0">
                                <a:latin typeface="Cambria Math" panose="02040503050406030204" pitchFamily="18" charset="0"/>
                              </a:rPr>
                            </m:ctrlPr>
                          </m:dPr>
                          <m:e>
                            <m:r>
                              <a:rPr lang="en-US" b="0" i="1" smtClean="0">
                                <a:latin typeface="Cambria Math" panose="02040503050406030204" pitchFamily="18" charset="0"/>
                              </a:rPr>
                              <m:t>1</m:t>
                            </m:r>
                          </m:e>
                        </m:d>
                      </m:sup>
                    </m:sSup>
                  </m:oMath>
                </a14:m>
                <a:r>
                  <a:rPr lang="de-DE" b="0" i="1" dirty="0">
                    <a:latin typeface="Cambria Math" panose="02040503050406030204" pitchFamily="18" charset="0"/>
                  </a:rPr>
                  <a:t> </a:t>
                </a:r>
                <a:r>
                  <a:rPr lang="de-DE" b="0" dirty="0">
                    <a:latin typeface="Cambria Math" panose="02040503050406030204" pitchFamily="18" charset="0"/>
                  </a:rPr>
                  <a:t>(</a:t>
                </a:r>
                <a:r>
                  <a:rPr lang="de-DE" b="0" dirty="0" err="1">
                    <a:latin typeface="Cambria Math" panose="02040503050406030204" pitchFamily="18" charset="0"/>
                  </a:rPr>
                  <a:t>given</a:t>
                </a:r>
                <a:r>
                  <a:rPr lang="de-DE" b="0" dirty="0">
                    <a:latin typeface="Cambria Math" panose="02040503050406030204" pitchFamily="18" charset="0"/>
                  </a:rPr>
                  <a:t>)</a:t>
                </a:r>
              </a:p>
              <a:p>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rPr>
                          </m:ctrlPr>
                        </m:sSubSupPr>
                        <m:e>
                          <m:r>
                            <a:rPr lang="en-US" b="1" i="1" smtClean="0">
                              <a:latin typeface="Cambria Math" panose="02040503050406030204" pitchFamily="18" charset="0"/>
                            </a:rPr>
                            <m:t>𝑯</m:t>
                          </m:r>
                        </m:e>
                        <m:sub>
                          <m:r>
                            <a:rPr lang="en-US" b="0" i="1" smtClean="0">
                              <a:latin typeface="Cambria Math" panose="02040503050406030204" pitchFamily="18" charset="0"/>
                            </a:rPr>
                            <m:t>1</m:t>
                          </m:r>
                        </m:sub>
                        <m:sup>
                          <m:d>
                            <m:dPr>
                              <m:ctrlPr>
                                <a:rPr lang="en-US" b="0" i="1" smtClean="0">
                                  <a:latin typeface="Cambria Math" panose="02040503050406030204" pitchFamily="18" charset="0"/>
                                </a:rPr>
                              </m:ctrlPr>
                            </m:dPr>
                            <m:e>
                              <m:r>
                                <a:rPr lang="en-US" b="0" i="1" smtClean="0">
                                  <a:latin typeface="Cambria Math" panose="02040503050406030204" pitchFamily="18" charset="0"/>
                                </a:rPr>
                                <m:t>1</m:t>
                              </m:r>
                            </m:e>
                          </m:d>
                        </m:sup>
                      </m:sSubSup>
                      <m:r>
                        <a:rPr lang="en-US" b="0" i="1" smtClean="0">
                          <a:latin typeface="Cambria Math" panose="02040503050406030204" pitchFamily="18" charset="0"/>
                        </a:rPr>
                        <m:t>=</m:t>
                      </m:r>
                      <m:d>
                        <m:dPr>
                          <m:begChr m:val="["/>
                          <m:endChr m:val="]"/>
                          <m:ctrlPr>
                            <a:rPr lang="en-US" b="0" i="1" smtClean="0">
                              <a:solidFill>
                                <a:srgbClr val="999999"/>
                              </a:solidFill>
                              <a:latin typeface="Cambria Math" panose="02040503050406030204" pitchFamily="18" charset="0"/>
                            </a:rPr>
                          </m:ctrlPr>
                        </m:dPr>
                        <m:e>
                          <m:r>
                            <a:rPr lang="en-US" b="0" i="1" smtClean="0">
                              <a:solidFill>
                                <a:srgbClr val="999999"/>
                              </a:solidFill>
                              <a:latin typeface="Cambria Math" panose="02040503050406030204" pitchFamily="18" charset="0"/>
                            </a:rPr>
                            <m:t>5, 8, 9</m:t>
                          </m:r>
                        </m:e>
                      </m:d>
                    </m:oMath>
                    <m:oMath xmlns:m="http://schemas.openxmlformats.org/officeDocument/2006/math">
                      <m:sSubSup>
                        <m:sSubSupPr>
                          <m:ctrlPr>
                            <a:rPr lang="en-US" b="0" i="1" smtClean="0">
                              <a:latin typeface="Cambria Math" panose="02040503050406030204" pitchFamily="18" charset="0"/>
                            </a:rPr>
                          </m:ctrlPr>
                        </m:sSubSupPr>
                        <m:e>
                          <m:r>
                            <a:rPr lang="en-US" b="1" i="1" smtClean="0">
                              <a:latin typeface="Cambria Math" panose="02040503050406030204" pitchFamily="18" charset="0"/>
                            </a:rPr>
                            <m:t>𝑯</m:t>
                          </m:r>
                        </m:e>
                        <m:sub>
                          <m:r>
                            <a:rPr lang="en-US" b="0" i="1" smtClean="0">
                              <a:latin typeface="Cambria Math" panose="02040503050406030204" pitchFamily="18" charset="0"/>
                            </a:rPr>
                            <m:t>2</m:t>
                          </m:r>
                        </m:sub>
                        <m:sup>
                          <m:d>
                            <m:dPr>
                              <m:ctrlPr>
                                <a:rPr lang="en-US" b="0" i="1" smtClean="0">
                                  <a:latin typeface="Cambria Math" panose="02040503050406030204" pitchFamily="18" charset="0"/>
                                </a:rPr>
                              </m:ctrlPr>
                            </m:dPr>
                            <m:e>
                              <m:r>
                                <a:rPr lang="en-US" b="0" i="1" smtClean="0">
                                  <a:latin typeface="Cambria Math" panose="02040503050406030204" pitchFamily="18" charset="0"/>
                                </a:rPr>
                                <m:t>1</m:t>
                              </m:r>
                            </m:e>
                          </m:d>
                        </m:sup>
                      </m:sSubSup>
                      <m:r>
                        <a:rPr lang="en-US" b="0" i="1" smtClean="0">
                          <a:latin typeface="Cambria Math" panose="02040503050406030204" pitchFamily="18" charset="0"/>
                        </a:rPr>
                        <m:t>=</m:t>
                      </m:r>
                      <m:r>
                        <a:rPr lang="en-US" b="0" i="1" smtClean="0">
                          <a:solidFill>
                            <a:schemeClr val="accent1">
                              <a:lumMod val="75000"/>
                            </a:schemeClr>
                          </a:solidFill>
                          <a:latin typeface="Cambria Math" panose="02040503050406030204" pitchFamily="18" charset="0"/>
                        </a:rPr>
                        <m:t>[9, 7, 18]</m:t>
                      </m:r>
                    </m:oMath>
                  </m:oMathPara>
                </a14:m>
                <a:endParaRPr lang="en-US" dirty="0"/>
              </a:p>
              <a:p>
                <a:pPr marL="285750" indent="-285750">
                  <a:buFont typeface="Arial" panose="020B0604020202020204" pitchFamily="34" charset="0"/>
                  <a:buChar char="•"/>
                </a:pPr>
                <a:r>
                  <a:rPr lang="en-US" dirty="0"/>
                  <a:t>Weights from first hidden layer </a:t>
                </a:r>
                <a14:m>
                  <m:oMath xmlns:m="http://schemas.openxmlformats.org/officeDocument/2006/math">
                    <m:sSup>
                      <m:sSupPr>
                        <m:ctrlPr>
                          <a:rPr lang="en-US" b="0" i="1" smtClean="0">
                            <a:latin typeface="Cambria Math" panose="02040503050406030204" pitchFamily="18" charset="0"/>
                          </a:rPr>
                        </m:ctrlPr>
                      </m:sSupPr>
                      <m:e>
                        <m:r>
                          <a:rPr lang="en-US" b="1" i="1" smtClean="0">
                            <a:latin typeface="Cambria Math" panose="02040503050406030204" pitchFamily="18" charset="0"/>
                          </a:rPr>
                          <m:t>𝑯</m:t>
                        </m:r>
                      </m:e>
                      <m:sup>
                        <m:d>
                          <m:dPr>
                            <m:ctrlPr>
                              <a:rPr lang="en-US" b="0" i="1" smtClean="0">
                                <a:latin typeface="Cambria Math" panose="02040503050406030204" pitchFamily="18" charset="0"/>
                              </a:rPr>
                            </m:ctrlPr>
                          </m:dPr>
                          <m:e>
                            <m:r>
                              <a:rPr lang="en-US" b="0" i="1" smtClean="0">
                                <a:latin typeface="Cambria Math" panose="02040503050406030204" pitchFamily="18" charset="0"/>
                              </a:rPr>
                              <m:t>1</m:t>
                            </m:r>
                          </m:e>
                        </m:d>
                      </m:sup>
                    </m:sSup>
                    <m:r>
                      <a:rPr lang="en-US" b="0" i="1" smtClean="0">
                        <a:latin typeface="Cambria Math" panose="02040503050406030204" pitchFamily="18" charset="0"/>
                      </a:rPr>
                      <m:t> </m:t>
                    </m:r>
                  </m:oMath>
                </a14:m>
                <a:r>
                  <a:rPr lang="en-US" dirty="0"/>
                  <a:t>to output layer </a:t>
                </a:r>
                <a14:m>
                  <m:oMath xmlns:m="http://schemas.openxmlformats.org/officeDocument/2006/math">
                    <m:sSub>
                      <m:sSubPr>
                        <m:ctrlPr>
                          <a:rPr lang="da-DK" b="1" i="1" smtClean="0">
                            <a:latin typeface="Cambria Math" panose="02040503050406030204" pitchFamily="18" charset="0"/>
                          </a:rPr>
                        </m:ctrlPr>
                      </m:sSubPr>
                      <m:e>
                        <m:r>
                          <a:rPr lang="en-US" b="1" i="1" smtClean="0">
                            <a:latin typeface="Cambria Math" panose="02040503050406030204" pitchFamily="18" charset="0"/>
                          </a:rPr>
                          <m:t>𝑶</m:t>
                        </m:r>
                      </m:e>
                      <m:sub>
                        <m:r>
                          <a:rPr lang="da-DK" b="0" i="1" smtClean="0">
                            <a:latin typeface="Cambria Math" panose="02040503050406030204" pitchFamily="18" charset="0"/>
                          </a:rPr>
                          <m:t>𝑘</m:t>
                        </m:r>
                      </m:sub>
                    </m:sSub>
                    <m:r>
                      <a:rPr lang="da-DK" b="1" i="1" smtClean="0">
                        <a:latin typeface="Cambria Math" panose="02040503050406030204" pitchFamily="18" charset="0"/>
                      </a:rPr>
                      <m:t>=</m:t>
                    </m:r>
                  </m:oMath>
                </a14:m>
                <a:r>
                  <a:rPr lang="en-US" dirty="0"/>
                  <a:t> </a:t>
                </a:r>
                <a14:m>
                  <m:oMath xmlns:m="http://schemas.openxmlformats.org/officeDocument/2006/math">
                    <m:nary>
                      <m:naryPr>
                        <m:chr m:val="∑"/>
                        <m:limLoc m:val="subSup"/>
                        <m:supHide m:val="on"/>
                        <m:ctrlPr>
                          <a:rPr lang="da-DK" i="1">
                            <a:latin typeface="Cambria Math" panose="02040503050406030204" pitchFamily="18" charset="0"/>
                          </a:rPr>
                        </m:ctrlPr>
                      </m:naryPr>
                      <m:sub>
                        <m:r>
                          <m:rPr>
                            <m:brk m:alnAt="9"/>
                          </m:rPr>
                          <a:rPr lang="de-DE" b="0" i="1" smtClean="0">
                            <a:latin typeface="Cambria Math" panose="02040503050406030204" pitchFamily="18" charset="0"/>
                          </a:rPr>
                          <m:t>𝑗</m:t>
                        </m:r>
                      </m:sub>
                      <m:sup/>
                      <m:e>
                        <m:sSubSup>
                          <m:sSubSupPr>
                            <m:ctrlPr>
                              <a:rPr lang="da-DK" b="0" i="1" smtClean="0">
                                <a:latin typeface="Cambria Math" panose="02040503050406030204" pitchFamily="18" charset="0"/>
                              </a:rPr>
                            </m:ctrlPr>
                          </m:sSubSupPr>
                          <m:e>
                            <m:r>
                              <a:rPr lang="de-DE" b="1" i="1" smtClean="0">
                                <a:latin typeface="Cambria Math" panose="02040503050406030204" pitchFamily="18" charset="0"/>
                              </a:rPr>
                              <m:t>𝑯</m:t>
                            </m:r>
                          </m:e>
                          <m:sub>
                            <m:r>
                              <a:rPr lang="de-DE" b="0" i="1" smtClean="0">
                                <a:latin typeface="Cambria Math" panose="02040503050406030204" pitchFamily="18" charset="0"/>
                              </a:rPr>
                              <m:t>𝑗</m:t>
                            </m:r>
                          </m:sub>
                          <m:sup>
                            <m:d>
                              <m:dPr>
                                <m:ctrlPr>
                                  <a:rPr lang="da-DK" b="0" i="1" smtClean="0">
                                    <a:latin typeface="Cambria Math" panose="02040503050406030204" pitchFamily="18" charset="0"/>
                                  </a:rPr>
                                </m:ctrlPr>
                              </m:dPr>
                              <m:e>
                                <m:r>
                                  <a:rPr lang="da-DK" b="0" i="1" smtClean="0">
                                    <a:latin typeface="Cambria Math" panose="02040503050406030204" pitchFamily="18" charset="0"/>
                                  </a:rPr>
                                  <m:t>1</m:t>
                                </m:r>
                              </m:e>
                            </m:d>
                          </m:sup>
                        </m:sSubSup>
                        <m:r>
                          <a:rPr lang="de-DE" b="0" i="1" smtClean="0">
                            <a:latin typeface="Cambria Math" panose="02040503050406030204" pitchFamily="18" charset="0"/>
                          </a:rPr>
                          <m:t>∗</m:t>
                        </m:r>
                        <m:sSubSup>
                          <m:sSubSupPr>
                            <m:ctrlPr>
                              <a:rPr lang="da-DK" b="0" i="1" smtClean="0">
                                <a:latin typeface="Cambria Math" panose="02040503050406030204" pitchFamily="18" charset="0"/>
                              </a:rPr>
                            </m:ctrlPr>
                          </m:sSubSupPr>
                          <m:e>
                            <m:r>
                              <a:rPr lang="de-DE" b="1" i="1" smtClean="0">
                                <a:latin typeface="Cambria Math" panose="02040503050406030204" pitchFamily="18" charset="0"/>
                              </a:rPr>
                              <m:t>𝒘</m:t>
                            </m:r>
                          </m:e>
                          <m:sub>
                            <m:r>
                              <a:rPr lang="de-DE" b="0" i="1" smtClean="0">
                                <a:latin typeface="Cambria Math" panose="02040503050406030204" pitchFamily="18" charset="0"/>
                              </a:rPr>
                              <m:t>𝑗𝑘</m:t>
                            </m:r>
                          </m:sub>
                          <m:sup>
                            <m:d>
                              <m:dPr>
                                <m:ctrlPr>
                                  <a:rPr lang="da-DK" b="0" i="1" smtClean="0">
                                    <a:latin typeface="Cambria Math" panose="02040503050406030204" pitchFamily="18" charset="0"/>
                                  </a:rPr>
                                </m:ctrlPr>
                              </m:dPr>
                              <m:e>
                                <m:r>
                                  <a:rPr lang="da-DK" b="0" i="1" smtClean="0">
                                    <a:latin typeface="Cambria Math" panose="02040503050406030204" pitchFamily="18" charset="0"/>
                                  </a:rPr>
                                  <m:t>2</m:t>
                                </m:r>
                              </m:e>
                            </m:d>
                          </m:sup>
                        </m:sSubSup>
                      </m:e>
                    </m:nary>
                  </m:oMath>
                </a14:m>
                <a:r>
                  <a:rPr lang="en-US" dirty="0"/>
                  <a:t>  (given)</a:t>
                </a:r>
              </a:p>
              <a:p>
                <a:pPr/>
                <a14:m>
                  <m:oMathPara xmlns:m="http://schemas.openxmlformats.org/officeDocument/2006/math">
                    <m:oMathParaPr>
                      <m:jc m:val="centerGroup"/>
                    </m:oMathParaPr>
                    <m:oMath xmlns:m="http://schemas.openxmlformats.org/officeDocument/2006/math">
                      <m:sSubSup>
                        <m:sSubSupPr>
                          <m:ctrlPr>
                            <a:rPr lang="en-US" b="0" i="1" smtClean="0">
                              <a:solidFill>
                                <a:srgbClr val="FF0000"/>
                              </a:solidFill>
                              <a:latin typeface="Cambria Math" panose="02040503050406030204" pitchFamily="18" charset="0"/>
                            </a:rPr>
                          </m:ctrlPr>
                        </m:sSubSupPr>
                        <m:e>
                          <m:r>
                            <a:rPr lang="en-US" b="1" i="1" smtClean="0">
                              <a:solidFill>
                                <a:srgbClr val="FF0000"/>
                              </a:solidFill>
                              <a:latin typeface="Cambria Math" panose="02040503050406030204" pitchFamily="18" charset="0"/>
                            </a:rPr>
                            <m:t>𝒘</m:t>
                          </m:r>
                        </m:e>
                        <m:sub>
                          <m:r>
                            <a:rPr lang="en-US" b="0" i="1" smtClean="0">
                              <a:solidFill>
                                <a:srgbClr val="FF0000"/>
                              </a:solidFill>
                              <a:latin typeface="Cambria Math" panose="02040503050406030204" pitchFamily="18" charset="0"/>
                            </a:rPr>
                            <m:t>1</m:t>
                          </m:r>
                          <m:r>
                            <a:rPr lang="de-DE" b="0" i="1" smtClean="0">
                              <a:solidFill>
                                <a:srgbClr val="FF0000"/>
                              </a:solidFill>
                              <a:latin typeface="Cambria Math" panose="02040503050406030204" pitchFamily="18" charset="0"/>
                            </a:rPr>
                            <m:t>1</m:t>
                          </m:r>
                        </m:sub>
                        <m:sup>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2</m:t>
                              </m:r>
                            </m:e>
                          </m:d>
                        </m:sup>
                      </m:sSubSup>
                      <m:r>
                        <a:rPr lang="en-US" b="0" i="1" smtClean="0">
                          <a:solidFill>
                            <a:srgbClr val="FF0000"/>
                          </a:solidFill>
                          <a:latin typeface="Cambria Math" panose="02040503050406030204" pitchFamily="18" charset="0"/>
                        </a:rPr>
                        <m:t>=</m:t>
                      </m:r>
                      <m:d>
                        <m:dPr>
                          <m:begChr m:val="["/>
                          <m:endChr m:val="]"/>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1, 0, 0</m:t>
                          </m:r>
                        </m:e>
                      </m:d>
                      <m:r>
                        <a:rPr lang="en-US" b="0" i="1" smtClean="0">
                          <a:solidFill>
                            <a:schemeClr val="tx1"/>
                          </a:solidFill>
                          <a:latin typeface="Cambria Math" panose="02040503050406030204" pitchFamily="18" charset="0"/>
                        </a:rPr>
                        <m:t>,</m:t>
                      </m:r>
                      <m:r>
                        <a:rPr lang="en-US" b="0" i="1" smtClean="0">
                          <a:solidFill>
                            <a:srgbClr val="FF0000"/>
                          </a:solidFill>
                          <a:latin typeface="Cambria Math" panose="02040503050406030204" pitchFamily="18" charset="0"/>
                        </a:rPr>
                        <m:t> </m:t>
                      </m:r>
                      <m:sSubSup>
                        <m:sSubSupPr>
                          <m:ctrlPr>
                            <a:rPr lang="en-US" b="0" i="1" smtClean="0">
                              <a:solidFill>
                                <a:srgbClr val="FF0000"/>
                              </a:solidFill>
                              <a:latin typeface="Cambria Math" panose="02040503050406030204" pitchFamily="18" charset="0"/>
                            </a:rPr>
                          </m:ctrlPr>
                        </m:sSubSupPr>
                        <m:e>
                          <m:r>
                            <a:rPr lang="en-US" b="1" i="1" smtClean="0">
                              <a:solidFill>
                                <a:srgbClr val="FF0000"/>
                              </a:solidFill>
                              <a:latin typeface="Cambria Math" panose="02040503050406030204" pitchFamily="18" charset="0"/>
                            </a:rPr>
                            <m:t>𝒘</m:t>
                          </m:r>
                        </m:e>
                        <m:sub>
                          <m:r>
                            <a:rPr lang="en-US" b="0" i="1" smtClean="0">
                              <a:solidFill>
                                <a:srgbClr val="FF0000"/>
                              </a:solidFill>
                              <a:latin typeface="Cambria Math" panose="02040503050406030204" pitchFamily="18" charset="0"/>
                            </a:rPr>
                            <m:t>2</m:t>
                          </m:r>
                          <m:r>
                            <a:rPr lang="de-DE" b="0" i="1" smtClean="0">
                              <a:solidFill>
                                <a:srgbClr val="FF0000"/>
                              </a:solidFill>
                              <a:latin typeface="Cambria Math" panose="02040503050406030204" pitchFamily="18" charset="0"/>
                            </a:rPr>
                            <m:t>1</m:t>
                          </m:r>
                        </m:sub>
                        <m:sup>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2</m:t>
                              </m:r>
                            </m:e>
                          </m:d>
                        </m:sup>
                      </m:sSubSup>
                      <m:r>
                        <a:rPr lang="en-US" b="0" i="1" smtClean="0">
                          <a:solidFill>
                            <a:srgbClr val="FF0000"/>
                          </a:solidFill>
                          <a:latin typeface="Cambria Math" panose="02040503050406030204" pitchFamily="18" charset="0"/>
                        </a:rPr>
                        <m:t>=</m:t>
                      </m:r>
                      <m:d>
                        <m:dPr>
                          <m:begChr m:val="["/>
                          <m:endChr m:val="]"/>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2, 1, 0</m:t>
                          </m:r>
                        </m:e>
                      </m:d>
                    </m:oMath>
                  </m:oMathPara>
                </a14:m>
                <a:endParaRPr lang="en-US" b="0" dirty="0"/>
              </a:p>
              <a:p>
                <a:pPr/>
                <a14:m>
                  <m:oMathPara xmlns:m="http://schemas.openxmlformats.org/officeDocument/2006/math">
                    <m:oMathParaPr>
                      <m:jc m:val="centerGroup"/>
                    </m:oMathParaPr>
                    <m:oMath xmlns:m="http://schemas.openxmlformats.org/officeDocument/2006/math">
                      <m:sSubSup>
                        <m:sSubSupPr>
                          <m:ctrlPr>
                            <a:rPr lang="en-US" b="0" i="1" smtClean="0">
                              <a:solidFill>
                                <a:srgbClr val="FF0000"/>
                              </a:solidFill>
                              <a:latin typeface="Cambria Math" panose="02040503050406030204" pitchFamily="18" charset="0"/>
                            </a:rPr>
                          </m:ctrlPr>
                        </m:sSubSupPr>
                        <m:e>
                          <m:r>
                            <a:rPr lang="en-US" b="1" i="1" smtClean="0">
                              <a:solidFill>
                                <a:srgbClr val="FF0000"/>
                              </a:solidFill>
                              <a:latin typeface="Cambria Math" panose="02040503050406030204" pitchFamily="18" charset="0"/>
                            </a:rPr>
                            <m:t>𝒘</m:t>
                          </m:r>
                        </m:e>
                        <m:sub>
                          <m:r>
                            <a:rPr lang="en-US" b="0" i="1" smtClean="0">
                              <a:solidFill>
                                <a:srgbClr val="FF0000"/>
                              </a:solidFill>
                              <a:latin typeface="Cambria Math" panose="02040503050406030204" pitchFamily="18" charset="0"/>
                            </a:rPr>
                            <m:t>1</m:t>
                          </m:r>
                          <m:r>
                            <a:rPr lang="de-DE" b="0" i="1" smtClean="0">
                              <a:solidFill>
                                <a:srgbClr val="FF0000"/>
                              </a:solidFill>
                              <a:latin typeface="Cambria Math" panose="02040503050406030204" pitchFamily="18" charset="0"/>
                            </a:rPr>
                            <m:t>2</m:t>
                          </m:r>
                        </m:sub>
                        <m:sup>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2</m:t>
                              </m:r>
                            </m:e>
                          </m:d>
                        </m:sup>
                      </m:sSubSup>
                      <m:r>
                        <a:rPr lang="en-US" b="0" i="1" smtClean="0">
                          <a:solidFill>
                            <a:srgbClr val="FF0000"/>
                          </a:solidFill>
                          <a:latin typeface="Cambria Math" panose="02040503050406030204" pitchFamily="18" charset="0"/>
                        </a:rPr>
                        <m:t>=</m:t>
                      </m:r>
                      <m:d>
                        <m:dPr>
                          <m:begChr m:val="["/>
                          <m:endChr m:val="]"/>
                          <m:ctrlPr>
                            <a:rPr lang="en-US" b="0" i="1" smtClean="0">
                              <a:solidFill>
                                <a:srgbClr val="FF0000"/>
                              </a:solidFill>
                              <a:latin typeface="Cambria Math" panose="02040503050406030204" pitchFamily="18" charset="0"/>
                            </a:rPr>
                          </m:ctrlPr>
                        </m:dPr>
                        <m:e>
                          <m:r>
                            <a:rPr lang="de-DE" b="0" i="1" smtClean="0">
                              <a:solidFill>
                                <a:srgbClr val="FF0000"/>
                              </a:solidFill>
                              <a:latin typeface="Cambria Math" panose="02040503050406030204" pitchFamily="18" charset="0"/>
                            </a:rPr>
                            <m:t>0, </m:t>
                          </m:r>
                          <m:r>
                            <a:rPr lang="en-US" b="0" i="1" smtClean="0">
                              <a:solidFill>
                                <a:srgbClr val="FF0000"/>
                              </a:solidFill>
                              <a:latin typeface="Cambria Math" panose="02040503050406030204" pitchFamily="18" charset="0"/>
                            </a:rPr>
                            <m:t>0, </m:t>
                          </m:r>
                          <m:r>
                            <a:rPr lang="de-DE" b="0" i="1" smtClean="0">
                              <a:solidFill>
                                <a:srgbClr val="FF0000"/>
                              </a:solidFill>
                              <a:latin typeface="Cambria Math" panose="02040503050406030204" pitchFamily="18" charset="0"/>
                            </a:rPr>
                            <m:t>3</m:t>
                          </m:r>
                        </m:e>
                      </m:d>
                      <m:r>
                        <a:rPr lang="en-US" b="0" i="1" smtClean="0">
                          <a:solidFill>
                            <a:schemeClr val="tx1"/>
                          </a:solidFill>
                          <a:latin typeface="Cambria Math" panose="02040503050406030204" pitchFamily="18" charset="0"/>
                        </a:rPr>
                        <m:t>,</m:t>
                      </m:r>
                      <m:r>
                        <a:rPr lang="en-US" b="0" i="1" smtClean="0">
                          <a:solidFill>
                            <a:srgbClr val="FF0000"/>
                          </a:solidFill>
                          <a:latin typeface="Cambria Math" panose="02040503050406030204" pitchFamily="18" charset="0"/>
                        </a:rPr>
                        <m:t> </m:t>
                      </m:r>
                      <m:sSubSup>
                        <m:sSubSupPr>
                          <m:ctrlPr>
                            <a:rPr lang="en-US" b="0" i="1" smtClean="0">
                              <a:solidFill>
                                <a:srgbClr val="FF0000"/>
                              </a:solidFill>
                              <a:latin typeface="Cambria Math" panose="02040503050406030204" pitchFamily="18" charset="0"/>
                            </a:rPr>
                          </m:ctrlPr>
                        </m:sSubSupPr>
                        <m:e>
                          <m:r>
                            <a:rPr lang="en-US" b="1" i="1" smtClean="0">
                              <a:solidFill>
                                <a:srgbClr val="FF0000"/>
                              </a:solidFill>
                              <a:latin typeface="Cambria Math" panose="02040503050406030204" pitchFamily="18" charset="0"/>
                            </a:rPr>
                            <m:t>𝒘</m:t>
                          </m:r>
                        </m:e>
                        <m:sub>
                          <m:r>
                            <a:rPr lang="en-US" b="0" i="1" smtClean="0">
                              <a:solidFill>
                                <a:srgbClr val="FF0000"/>
                              </a:solidFill>
                              <a:latin typeface="Cambria Math" panose="02040503050406030204" pitchFamily="18" charset="0"/>
                            </a:rPr>
                            <m:t>2</m:t>
                          </m:r>
                          <m:r>
                            <a:rPr lang="de-DE" b="0" i="1" smtClean="0">
                              <a:solidFill>
                                <a:srgbClr val="FF0000"/>
                              </a:solidFill>
                              <a:latin typeface="Cambria Math" panose="02040503050406030204" pitchFamily="18" charset="0"/>
                            </a:rPr>
                            <m:t>2</m:t>
                          </m:r>
                        </m:sub>
                        <m:sup>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panose="02040503050406030204" pitchFamily="18" charset="0"/>
                                </a:rPr>
                                <m:t>2</m:t>
                              </m:r>
                            </m:e>
                          </m:d>
                        </m:sup>
                      </m:sSubSup>
                      <m:r>
                        <a:rPr lang="en-US" b="0" i="1" smtClean="0">
                          <a:solidFill>
                            <a:srgbClr val="FF0000"/>
                          </a:solidFill>
                          <a:latin typeface="Cambria Math" panose="02040503050406030204" pitchFamily="18" charset="0"/>
                        </a:rPr>
                        <m:t>=</m:t>
                      </m:r>
                      <m:d>
                        <m:dPr>
                          <m:begChr m:val="["/>
                          <m:endChr m:val="]"/>
                          <m:ctrlPr>
                            <a:rPr lang="en-US" b="0" i="1" smtClean="0">
                              <a:solidFill>
                                <a:srgbClr val="FF0000"/>
                              </a:solidFill>
                              <a:latin typeface="Cambria Math" panose="02040503050406030204" pitchFamily="18" charset="0"/>
                            </a:rPr>
                          </m:ctrlPr>
                        </m:dPr>
                        <m:e>
                          <m:r>
                            <a:rPr lang="de-DE" b="0" i="1" smtClean="0">
                              <a:solidFill>
                                <a:srgbClr val="FF0000"/>
                              </a:solidFill>
                              <a:latin typeface="Cambria Math" panose="02040503050406030204" pitchFamily="18" charset="0"/>
                            </a:rPr>
                            <m:t>0, </m:t>
                          </m:r>
                          <m:r>
                            <a:rPr lang="en-US" b="0" i="1" smtClean="0">
                              <a:solidFill>
                                <a:srgbClr val="FF0000"/>
                              </a:solidFill>
                              <a:latin typeface="Cambria Math" panose="02040503050406030204" pitchFamily="18" charset="0"/>
                            </a:rPr>
                            <m:t>1, </m:t>
                          </m:r>
                          <m:r>
                            <a:rPr lang="de-DE" b="0" i="1" smtClean="0">
                              <a:solidFill>
                                <a:srgbClr val="FF0000"/>
                              </a:solidFill>
                              <a:latin typeface="Cambria Math" panose="02040503050406030204" pitchFamily="18" charset="0"/>
                            </a:rPr>
                            <m:t>1</m:t>
                          </m:r>
                        </m:e>
                      </m:d>
                    </m:oMath>
                  </m:oMathPara>
                </a14:m>
                <a:endParaRPr lang="en-US" b="0" dirty="0"/>
              </a:p>
              <a:p>
                <a:pPr marL="285750" indent="-285750">
                  <a:buFont typeface="Arial" panose="020B0604020202020204" pitchFamily="34" charset="0"/>
                  <a:buChar char="•"/>
                </a:pPr>
                <a:r>
                  <a:rPr lang="en-US" b="0" dirty="0"/>
                  <a:t>Forward pass to output layer</a:t>
                </a:r>
              </a:p>
              <a:p>
                <a:pPr/>
                <a14:m>
                  <m:oMathPara xmlns:m="http://schemas.openxmlformats.org/officeDocument/2006/math">
                    <m:oMathParaPr>
                      <m:jc m:val="centerGroup"/>
                    </m:oMathParaPr>
                    <m:oMath xmlns:m="http://schemas.openxmlformats.org/officeDocument/2006/math">
                      <m:sSub>
                        <m:sSubPr>
                          <m:ctrlPr>
                            <a:rPr lang="de-DE" b="1" i="1" smtClean="0">
                              <a:latin typeface="Cambria Math" panose="02040503050406030204" pitchFamily="18" charset="0"/>
                            </a:rPr>
                          </m:ctrlPr>
                        </m:sSubPr>
                        <m:e>
                          <m:r>
                            <a:rPr lang="en-US" b="1" i="1" smtClean="0">
                              <a:latin typeface="Cambria Math" panose="02040503050406030204" pitchFamily="18" charset="0"/>
                            </a:rPr>
                            <m:t>𝑶</m:t>
                          </m:r>
                        </m:e>
                        <m:sub>
                          <m:r>
                            <a:rPr lang="de-DE" b="0" i="1" smtClean="0">
                              <a:latin typeface="Cambria Math" panose="02040503050406030204" pitchFamily="18" charset="0"/>
                            </a:rPr>
                            <m:t>1</m:t>
                          </m:r>
                        </m:sub>
                      </m:sSub>
                      <m:r>
                        <a:rPr lang="en-US" b="0" i="1" smtClean="0">
                          <a:latin typeface="Cambria Math" panose="02040503050406030204" pitchFamily="18" charset="0"/>
                        </a:rPr>
                        <m:t>=</m:t>
                      </m:r>
                      <m:sSubSup>
                        <m:sSubSupPr>
                          <m:ctrlPr>
                            <a:rPr lang="da-DK" i="1">
                              <a:latin typeface="Cambria Math" panose="02040503050406030204" pitchFamily="18" charset="0"/>
                            </a:rPr>
                          </m:ctrlPr>
                        </m:sSubSupPr>
                        <m:e>
                          <m:r>
                            <a:rPr lang="de-DE" b="1" i="1">
                              <a:latin typeface="Cambria Math" panose="02040503050406030204" pitchFamily="18" charset="0"/>
                            </a:rPr>
                            <m:t>𝑯</m:t>
                          </m:r>
                        </m:e>
                        <m:sub>
                          <m:r>
                            <a:rPr lang="de-DE" b="0" i="1" smtClean="0">
                              <a:latin typeface="Cambria Math" panose="02040503050406030204" pitchFamily="18" charset="0"/>
                            </a:rPr>
                            <m:t>1</m:t>
                          </m:r>
                        </m:sub>
                        <m:sup>
                          <m:d>
                            <m:dPr>
                              <m:ctrlPr>
                                <a:rPr lang="da-DK" i="1">
                                  <a:latin typeface="Cambria Math" panose="02040503050406030204" pitchFamily="18" charset="0"/>
                                </a:rPr>
                              </m:ctrlPr>
                            </m:dPr>
                            <m:e>
                              <m:r>
                                <a:rPr lang="da-DK" i="1">
                                  <a:latin typeface="Cambria Math" panose="02040503050406030204" pitchFamily="18" charset="0"/>
                                </a:rPr>
                                <m:t>1</m:t>
                              </m:r>
                            </m:e>
                          </m:d>
                        </m:sup>
                      </m:sSubSup>
                      <m:r>
                        <a:rPr lang="de-DE" i="1">
                          <a:latin typeface="Cambria Math" panose="02040503050406030204" pitchFamily="18" charset="0"/>
                        </a:rPr>
                        <m:t>∗</m:t>
                      </m:r>
                      <m:sSubSup>
                        <m:sSubSupPr>
                          <m:ctrlPr>
                            <a:rPr lang="da-DK" i="1">
                              <a:latin typeface="Cambria Math" panose="02040503050406030204" pitchFamily="18" charset="0"/>
                            </a:rPr>
                          </m:ctrlPr>
                        </m:sSubSupPr>
                        <m:e>
                          <m:r>
                            <a:rPr lang="de-DE" b="1" i="1">
                              <a:latin typeface="Cambria Math" panose="02040503050406030204" pitchFamily="18" charset="0"/>
                            </a:rPr>
                            <m:t>𝒘</m:t>
                          </m:r>
                        </m:e>
                        <m:sub>
                          <m:r>
                            <a:rPr lang="de-DE" b="0" i="1" smtClean="0">
                              <a:latin typeface="Cambria Math" panose="02040503050406030204" pitchFamily="18" charset="0"/>
                            </a:rPr>
                            <m:t>11</m:t>
                          </m:r>
                        </m:sub>
                        <m:sup>
                          <m:d>
                            <m:dPr>
                              <m:ctrlPr>
                                <a:rPr lang="da-DK" i="1">
                                  <a:latin typeface="Cambria Math" panose="02040503050406030204" pitchFamily="18" charset="0"/>
                                </a:rPr>
                              </m:ctrlPr>
                            </m:dPr>
                            <m:e>
                              <m:r>
                                <a:rPr lang="da-DK" i="1">
                                  <a:latin typeface="Cambria Math" panose="02040503050406030204" pitchFamily="18" charset="0"/>
                                </a:rPr>
                                <m:t>2</m:t>
                              </m:r>
                            </m:e>
                          </m:d>
                        </m:sup>
                      </m:sSubSup>
                      <m:r>
                        <a:rPr lang="de-DE" b="0" i="1" smtClean="0">
                          <a:latin typeface="Cambria Math" panose="02040503050406030204" pitchFamily="18" charset="0"/>
                        </a:rPr>
                        <m:t>+</m:t>
                      </m:r>
                      <m:sSubSup>
                        <m:sSubSupPr>
                          <m:ctrlPr>
                            <a:rPr lang="da-DK" i="1">
                              <a:latin typeface="Cambria Math" panose="02040503050406030204" pitchFamily="18" charset="0"/>
                            </a:rPr>
                          </m:ctrlPr>
                        </m:sSubSupPr>
                        <m:e>
                          <m:r>
                            <a:rPr lang="de-DE" b="1" i="1">
                              <a:latin typeface="Cambria Math" panose="02040503050406030204" pitchFamily="18" charset="0"/>
                            </a:rPr>
                            <m:t>𝑯</m:t>
                          </m:r>
                        </m:e>
                        <m:sub>
                          <m:r>
                            <a:rPr lang="de-DE" b="0" i="1" smtClean="0">
                              <a:latin typeface="Cambria Math" panose="02040503050406030204" pitchFamily="18" charset="0"/>
                            </a:rPr>
                            <m:t>2</m:t>
                          </m:r>
                        </m:sub>
                        <m:sup>
                          <m:d>
                            <m:dPr>
                              <m:ctrlPr>
                                <a:rPr lang="da-DK" i="1">
                                  <a:latin typeface="Cambria Math" panose="02040503050406030204" pitchFamily="18" charset="0"/>
                                </a:rPr>
                              </m:ctrlPr>
                            </m:dPr>
                            <m:e>
                              <m:r>
                                <a:rPr lang="da-DK" i="1">
                                  <a:latin typeface="Cambria Math" panose="02040503050406030204" pitchFamily="18" charset="0"/>
                                </a:rPr>
                                <m:t>1</m:t>
                              </m:r>
                            </m:e>
                          </m:d>
                        </m:sup>
                      </m:sSubSup>
                      <m:r>
                        <a:rPr lang="de-DE" i="1">
                          <a:latin typeface="Cambria Math" panose="02040503050406030204" pitchFamily="18" charset="0"/>
                        </a:rPr>
                        <m:t>∗</m:t>
                      </m:r>
                      <m:sSubSup>
                        <m:sSubSupPr>
                          <m:ctrlPr>
                            <a:rPr lang="da-DK" i="1">
                              <a:latin typeface="Cambria Math" panose="02040503050406030204" pitchFamily="18" charset="0"/>
                            </a:rPr>
                          </m:ctrlPr>
                        </m:sSubSupPr>
                        <m:e>
                          <m:r>
                            <a:rPr lang="de-DE" b="1" i="1">
                              <a:latin typeface="Cambria Math" panose="02040503050406030204" pitchFamily="18" charset="0"/>
                            </a:rPr>
                            <m:t>𝒘</m:t>
                          </m:r>
                        </m:e>
                        <m:sub>
                          <m:r>
                            <a:rPr lang="de-DE" b="0" i="1" smtClean="0">
                              <a:latin typeface="Cambria Math" panose="02040503050406030204" pitchFamily="18" charset="0"/>
                            </a:rPr>
                            <m:t>21</m:t>
                          </m:r>
                        </m:sub>
                        <m:sup>
                          <m:d>
                            <m:dPr>
                              <m:ctrlPr>
                                <a:rPr lang="da-DK" i="1">
                                  <a:latin typeface="Cambria Math" panose="02040503050406030204" pitchFamily="18" charset="0"/>
                                </a:rPr>
                              </m:ctrlPr>
                            </m:dPr>
                            <m:e>
                              <m:r>
                                <a:rPr lang="da-DK" i="1">
                                  <a:latin typeface="Cambria Math" panose="02040503050406030204" pitchFamily="18" charset="0"/>
                                </a:rPr>
                                <m:t>2</m:t>
                              </m:r>
                            </m:e>
                          </m:d>
                        </m:sup>
                      </m:sSubSup>
                      <m:r>
                        <a:rPr lang="de-DE"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solidFill>
                                    <a:srgbClr val="999999"/>
                                  </a:solidFill>
                                  <a:latin typeface="Cambria Math" panose="02040503050406030204" pitchFamily="18" charset="0"/>
                                </a:rPr>
                                <m:t>5</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1</m:t>
                              </m:r>
                              <m:r>
                                <a:rPr lang="en-US" b="0" i="1" smtClean="0">
                                  <a:latin typeface="Cambria Math" panose="02040503050406030204" pitchFamily="18" charset="0"/>
                                </a:rPr>
                                <m:t>+</m:t>
                              </m:r>
                              <m:r>
                                <a:rPr lang="en-US" b="0" i="1" smtClean="0">
                                  <a:solidFill>
                                    <a:srgbClr val="999999"/>
                                  </a:solidFill>
                                  <a:latin typeface="Cambria Math" panose="02040503050406030204" pitchFamily="18" charset="0"/>
                                </a:rPr>
                                <m:t>8</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0</m:t>
                              </m:r>
                              <m:r>
                                <a:rPr lang="en-US" b="0" i="1" smtClean="0">
                                  <a:latin typeface="Cambria Math" panose="02040503050406030204" pitchFamily="18" charset="0"/>
                                </a:rPr>
                                <m:t>+</m:t>
                              </m:r>
                              <m:r>
                                <a:rPr lang="en-US" b="0" i="1" smtClean="0">
                                  <a:solidFill>
                                    <a:srgbClr val="999999"/>
                                  </a:solidFill>
                                  <a:latin typeface="Cambria Math" panose="02040503050406030204" pitchFamily="18" charset="0"/>
                                </a:rPr>
                                <m:t>9</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0</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solidFill>
                                    <a:schemeClr val="accent1">
                                      <a:lumMod val="75000"/>
                                    </a:schemeClr>
                                  </a:solidFill>
                                  <a:latin typeface="Cambria Math" panose="02040503050406030204" pitchFamily="18" charset="0"/>
                                </a:rPr>
                                <m:t>9</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2</m:t>
                              </m:r>
                              <m:r>
                                <a:rPr lang="en-US" b="0" i="1" smtClean="0">
                                  <a:latin typeface="Cambria Math" panose="02040503050406030204" pitchFamily="18" charset="0"/>
                                </a:rPr>
                                <m:t>+</m:t>
                              </m:r>
                              <m:r>
                                <a:rPr lang="de-DE" i="1">
                                  <a:solidFill>
                                    <a:schemeClr val="accent1">
                                      <a:lumMod val="75000"/>
                                    </a:schemeClr>
                                  </a:solidFill>
                                  <a:latin typeface="Cambria Math" panose="02040503050406030204" pitchFamily="18" charset="0"/>
                                </a:rPr>
                                <m:t>7</m:t>
                              </m:r>
                              <m:r>
                                <a:rPr lang="en-US" i="1">
                                  <a:latin typeface="Cambria Math" panose="02040503050406030204" pitchFamily="18" charset="0"/>
                                </a:rPr>
                                <m:t>⋅</m:t>
                              </m:r>
                              <m:r>
                                <a:rPr lang="de-DE" i="1">
                                  <a:solidFill>
                                    <a:srgbClr val="FF0000"/>
                                  </a:solidFill>
                                  <a:latin typeface="Cambria Math" panose="02040503050406030204" pitchFamily="18" charset="0"/>
                                </a:rPr>
                                <m:t>1</m:t>
                              </m:r>
                              <m:r>
                                <a:rPr lang="en-US" b="0" i="1" smtClean="0">
                                  <a:latin typeface="Cambria Math" panose="02040503050406030204" pitchFamily="18" charset="0"/>
                                </a:rPr>
                                <m:t>+</m:t>
                              </m:r>
                              <m:r>
                                <a:rPr lang="en-US" b="0" i="1" smtClean="0">
                                  <a:solidFill>
                                    <a:schemeClr val="accent1">
                                      <a:lumMod val="75000"/>
                                    </a:schemeClr>
                                  </a:solidFill>
                                  <a:latin typeface="Cambria Math" panose="02040503050406030204" pitchFamily="18" charset="0"/>
                                </a:rPr>
                                <m:t>18</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0</m:t>
                              </m:r>
                            </m:e>
                          </m:d>
                        </m:e>
                      </m:d>
                      <m:r>
                        <a:rPr lang="en-US" b="0" i="1" smtClean="0">
                          <a:latin typeface="Cambria Math" panose="02040503050406030204" pitchFamily="18" charset="0"/>
                        </a:rPr>
                        <m:t>=30</m:t>
                      </m:r>
                    </m:oMath>
                  </m:oMathPara>
                </a14:m>
                <a:endParaRPr lang="en-US" b="0" dirty="0"/>
              </a:p>
              <a:p>
                <a:pPr/>
                <a14:m>
                  <m:oMathPara xmlns:m="http://schemas.openxmlformats.org/officeDocument/2006/math">
                    <m:oMathParaPr>
                      <m:jc m:val="centerGroup"/>
                    </m:oMathParaPr>
                    <m:oMath xmlns:m="http://schemas.openxmlformats.org/officeDocument/2006/math">
                      <m:sSub>
                        <m:sSubPr>
                          <m:ctrlPr>
                            <a:rPr lang="de-DE" b="1" i="1" smtClean="0">
                              <a:latin typeface="Cambria Math" panose="02040503050406030204" pitchFamily="18" charset="0"/>
                            </a:rPr>
                          </m:ctrlPr>
                        </m:sSubPr>
                        <m:e>
                          <m:r>
                            <a:rPr lang="en-US" b="1" i="1" smtClean="0">
                              <a:latin typeface="Cambria Math" panose="02040503050406030204" pitchFamily="18" charset="0"/>
                            </a:rPr>
                            <m:t>𝑶</m:t>
                          </m:r>
                        </m:e>
                        <m:sub>
                          <m:r>
                            <a:rPr lang="de-DE" b="0" i="1" smtClean="0">
                              <a:latin typeface="Cambria Math" panose="02040503050406030204" pitchFamily="18" charset="0"/>
                            </a:rPr>
                            <m:t>2</m:t>
                          </m:r>
                        </m:sub>
                      </m:sSub>
                      <m:r>
                        <a:rPr lang="de-DE" b="1" i="1" smtClean="0">
                          <a:latin typeface="Cambria Math" panose="02040503050406030204" pitchFamily="18" charset="0"/>
                        </a:rPr>
                        <m:t>=</m:t>
                      </m:r>
                      <m:sSubSup>
                        <m:sSubSupPr>
                          <m:ctrlPr>
                            <a:rPr lang="da-DK" i="1">
                              <a:latin typeface="Cambria Math" panose="02040503050406030204" pitchFamily="18" charset="0"/>
                            </a:rPr>
                          </m:ctrlPr>
                        </m:sSubSupPr>
                        <m:e>
                          <m:r>
                            <a:rPr lang="de-DE" b="1" i="1">
                              <a:latin typeface="Cambria Math" panose="02040503050406030204" pitchFamily="18" charset="0"/>
                            </a:rPr>
                            <m:t>𝑯</m:t>
                          </m:r>
                        </m:e>
                        <m:sub>
                          <m:r>
                            <a:rPr lang="de-DE" b="0" i="1" smtClean="0">
                              <a:latin typeface="Cambria Math" panose="02040503050406030204" pitchFamily="18" charset="0"/>
                            </a:rPr>
                            <m:t>1</m:t>
                          </m:r>
                        </m:sub>
                        <m:sup>
                          <m:d>
                            <m:dPr>
                              <m:ctrlPr>
                                <a:rPr lang="da-DK" i="1">
                                  <a:latin typeface="Cambria Math" panose="02040503050406030204" pitchFamily="18" charset="0"/>
                                </a:rPr>
                              </m:ctrlPr>
                            </m:dPr>
                            <m:e>
                              <m:r>
                                <a:rPr lang="da-DK" i="1">
                                  <a:latin typeface="Cambria Math" panose="02040503050406030204" pitchFamily="18" charset="0"/>
                                </a:rPr>
                                <m:t>1</m:t>
                              </m:r>
                            </m:e>
                          </m:d>
                        </m:sup>
                      </m:sSubSup>
                      <m:r>
                        <a:rPr lang="de-DE" i="1">
                          <a:latin typeface="Cambria Math" panose="02040503050406030204" pitchFamily="18" charset="0"/>
                        </a:rPr>
                        <m:t>∗</m:t>
                      </m:r>
                      <m:sSubSup>
                        <m:sSubSupPr>
                          <m:ctrlPr>
                            <a:rPr lang="da-DK" i="1">
                              <a:latin typeface="Cambria Math" panose="02040503050406030204" pitchFamily="18" charset="0"/>
                            </a:rPr>
                          </m:ctrlPr>
                        </m:sSubSupPr>
                        <m:e>
                          <m:r>
                            <a:rPr lang="de-DE" b="1" i="1">
                              <a:latin typeface="Cambria Math" panose="02040503050406030204" pitchFamily="18" charset="0"/>
                            </a:rPr>
                            <m:t>𝒘</m:t>
                          </m:r>
                        </m:e>
                        <m:sub>
                          <m:r>
                            <a:rPr lang="de-DE" b="0" i="1" smtClean="0">
                              <a:latin typeface="Cambria Math" panose="02040503050406030204" pitchFamily="18" charset="0"/>
                            </a:rPr>
                            <m:t>12</m:t>
                          </m:r>
                        </m:sub>
                        <m:sup>
                          <m:d>
                            <m:dPr>
                              <m:ctrlPr>
                                <a:rPr lang="da-DK" i="1">
                                  <a:latin typeface="Cambria Math" panose="02040503050406030204" pitchFamily="18" charset="0"/>
                                </a:rPr>
                              </m:ctrlPr>
                            </m:dPr>
                            <m:e>
                              <m:r>
                                <a:rPr lang="da-DK" i="1">
                                  <a:latin typeface="Cambria Math" panose="02040503050406030204" pitchFamily="18" charset="0"/>
                                </a:rPr>
                                <m:t>2</m:t>
                              </m:r>
                            </m:e>
                          </m:d>
                        </m:sup>
                      </m:sSubSup>
                      <m:r>
                        <a:rPr lang="de-DE" i="1">
                          <a:latin typeface="Cambria Math" panose="02040503050406030204" pitchFamily="18" charset="0"/>
                        </a:rPr>
                        <m:t>+</m:t>
                      </m:r>
                      <m:sSubSup>
                        <m:sSubSupPr>
                          <m:ctrlPr>
                            <a:rPr lang="da-DK" i="1">
                              <a:latin typeface="Cambria Math" panose="02040503050406030204" pitchFamily="18" charset="0"/>
                            </a:rPr>
                          </m:ctrlPr>
                        </m:sSubSupPr>
                        <m:e>
                          <m:r>
                            <a:rPr lang="de-DE" b="1" i="1">
                              <a:latin typeface="Cambria Math" panose="02040503050406030204" pitchFamily="18" charset="0"/>
                            </a:rPr>
                            <m:t>𝑯</m:t>
                          </m:r>
                        </m:e>
                        <m:sub>
                          <m:r>
                            <a:rPr lang="de-DE" i="1">
                              <a:latin typeface="Cambria Math" panose="02040503050406030204" pitchFamily="18" charset="0"/>
                            </a:rPr>
                            <m:t>2</m:t>
                          </m:r>
                        </m:sub>
                        <m:sup>
                          <m:d>
                            <m:dPr>
                              <m:ctrlPr>
                                <a:rPr lang="da-DK" i="1">
                                  <a:latin typeface="Cambria Math" panose="02040503050406030204" pitchFamily="18" charset="0"/>
                                </a:rPr>
                              </m:ctrlPr>
                            </m:dPr>
                            <m:e>
                              <m:r>
                                <a:rPr lang="da-DK" i="1">
                                  <a:latin typeface="Cambria Math" panose="02040503050406030204" pitchFamily="18" charset="0"/>
                                </a:rPr>
                                <m:t>1</m:t>
                              </m:r>
                            </m:e>
                          </m:d>
                        </m:sup>
                      </m:sSubSup>
                      <m:r>
                        <a:rPr lang="de-DE" i="1">
                          <a:latin typeface="Cambria Math" panose="02040503050406030204" pitchFamily="18" charset="0"/>
                        </a:rPr>
                        <m:t>∗</m:t>
                      </m:r>
                      <m:sSubSup>
                        <m:sSubSupPr>
                          <m:ctrlPr>
                            <a:rPr lang="da-DK" i="1">
                              <a:latin typeface="Cambria Math" panose="02040503050406030204" pitchFamily="18" charset="0"/>
                            </a:rPr>
                          </m:ctrlPr>
                        </m:sSubSupPr>
                        <m:e>
                          <m:r>
                            <a:rPr lang="de-DE" b="1" i="1">
                              <a:latin typeface="Cambria Math" panose="02040503050406030204" pitchFamily="18" charset="0"/>
                            </a:rPr>
                            <m:t>𝒘</m:t>
                          </m:r>
                        </m:e>
                        <m:sub>
                          <m:r>
                            <a:rPr lang="de-DE" i="1">
                              <a:latin typeface="Cambria Math" panose="02040503050406030204" pitchFamily="18" charset="0"/>
                            </a:rPr>
                            <m:t>2</m:t>
                          </m:r>
                          <m:r>
                            <a:rPr lang="de-DE" b="0" i="1" smtClean="0">
                              <a:latin typeface="Cambria Math" panose="02040503050406030204" pitchFamily="18" charset="0"/>
                            </a:rPr>
                            <m:t>2</m:t>
                          </m:r>
                        </m:sub>
                        <m:sup>
                          <m:d>
                            <m:dPr>
                              <m:ctrlPr>
                                <a:rPr lang="da-DK" i="1">
                                  <a:latin typeface="Cambria Math" panose="02040503050406030204" pitchFamily="18" charset="0"/>
                                </a:rPr>
                              </m:ctrlPr>
                            </m:dPr>
                            <m:e>
                              <m:r>
                                <a:rPr lang="da-DK" i="1">
                                  <a:latin typeface="Cambria Math" panose="02040503050406030204" pitchFamily="18" charset="0"/>
                                </a:rPr>
                                <m:t>2</m:t>
                              </m:r>
                            </m:e>
                          </m:d>
                        </m:sup>
                      </m:sSubSup>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solidFill>
                                    <a:srgbClr val="999999"/>
                                  </a:solidFill>
                                  <a:latin typeface="Cambria Math" panose="02040503050406030204" pitchFamily="18" charset="0"/>
                                </a:rPr>
                                <m:t>5</m:t>
                              </m:r>
                              <m:r>
                                <a:rPr lang="en-US" b="0" i="1" smtClean="0">
                                  <a:latin typeface="Cambria Math" panose="02040503050406030204" pitchFamily="18" charset="0"/>
                                </a:rPr>
                                <m:t>⋅</m:t>
                              </m:r>
                              <m:r>
                                <a:rPr lang="de-DE" b="0" i="1" smtClean="0">
                                  <a:solidFill>
                                    <a:srgbClr val="FF0000"/>
                                  </a:solidFill>
                                  <a:latin typeface="Cambria Math" panose="02040503050406030204" pitchFamily="18" charset="0"/>
                                </a:rPr>
                                <m:t>0</m:t>
                              </m:r>
                              <m:r>
                                <a:rPr lang="en-US" b="0" i="1" smtClean="0">
                                  <a:latin typeface="Cambria Math" panose="02040503050406030204" pitchFamily="18" charset="0"/>
                                </a:rPr>
                                <m:t>+</m:t>
                              </m:r>
                              <m:r>
                                <a:rPr lang="en-US" b="0" i="1" smtClean="0">
                                  <a:solidFill>
                                    <a:srgbClr val="999999"/>
                                  </a:solidFill>
                                  <a:latin typeface="Cambria Math" panose="02040503050406030204" pitchFamily="18" charset="0"/>
                                </a:rPr>
                                <m:t>8</m:t>
                              </m:r>
                              <m:r>
                                <a:rPr lang="en-US" b="0" i="1" smtClean="0">
                                  <a:latin typeface="Cambria Math" panose="02040503050406030204" pitchFamily="18" charset="0"/>
                                </a:rPr>
                                <m:t>⋅</m:t>
                              </m:r>
                              <m:r>
                                <a:rPr lang="en-US" b="0" i="1" smtClean="0">
                                  <a:solidFill>
                                    <a:srgbClr val="FF0000"/>
                                  </a:solidFill>
                                  <a:latin typeface="Cambria Math" panose="02040503050406030204" pitchFamily="18" charset="0"/>
                                </a:rPr>
                                <m:t>0</m:t>
                              </m:r>
                              <m:r>
                                <a:rPr lang="en-US" b="0" i="1" smtClean="0">
                                  <a:latin typeface="Cambria Math" panose="02040503050406030204" pitchFamily="18" charset="0"/>
                                </a:rPr>
                                <m:t>+</m:t>
                              </m:r>
                              <m:r>
                                <a:rPr lang="en-US" b="0" i="1" smtClean="0">
                                  <a:solidFill>
                                    <a:srgbClr val="999999"/>
                                  </a:solidFill>
                                  <a:latin typeface="Cambria Math" panose="02040503050406030204" pitchFamily="18" charset="0"/>
                                </a:rPr>
                                <m:t>9</m:t>
                              </m:r>
                              <m:r>
                                <a:rPr lang="en-US" b="0" i="1" smtClean="0">
                                  <a:latin typeface="Cambria Math" panose="02040503050406030204" pitchFamily="18" charset="0"/>
                                </a:rPr>
                                <m:t>⋅</m:t>
                              </m:r>
                              <m:r>
                                <a:rPr lang="de-DE" b="0" i="1" smtClean="0">
                                  <a:solidFill>
                                    <a:srgbClr val="FF0000"/>
                                  </a:solidFill>
                                  <a:latin typeface="Cambria Math" panose="02040503050406030204" pitchFamily="18" charset="0"/>
                                </a:rPr>
                                <m:t>3</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solidFill>
                                    <a:schemeClr val="accent1">
                                      <a:lumMod val="75000"/>
                                    </a:schemeClr>
                                  </a:solidFill>
                                  <a:latin typeface="Cambria Math" panose="02040503050406030204" pitchFamily="18" charset="0"/>
                                </a:rPr>
                                <m:t>9</m:t>
                              </m:r>
                              <m:r>
                                <a:rPr lang="en-US" b="0" i="1" smtClean="0">
                                  <a:latin typeface="Cambria Math" panose="02040503050406030204" pitchFamily="18" charset="0"/>
                                </a:rPr>
                                <m:t>⋅</m:t>
                              </m:r>
                              <m:r>
                                <a:rPr lang="de-DE" b="0" i="1" smtClean="0">
                                  <a:solidFill>
                                    <a:srgbClr val="FF0000"/>
                                  </a:solidFill>
                                  <a:latin typeface="Cambria Math" panose="02040503050406030204" pitchFamily="18" charset="0"/>
                                </a:rPr>
                                <m:t>0</m:t>
                              </m:r>
                              <m:r>
                                <a:rPr lang="en-US" b="0" i="1" smtClean="0">
                                  <a:latin typeface="Cambria Math" panose="02040503050406030204" pitchFamily="18" charset="0"/>
                                </a:rPr>
                                <m:t>+</m:t>
                              </m:r>
                              <m:r>
                                <a:rPr lang="de-DE" b="0" i="1" smtClean="0">
                                  <a:solidFill>
                                    <a:schemeClr val="accent1">
                                      <a:lumMod val="75000"/>
                                    </a:schemeClr>
                                  </a:solidFill>
                                  <a:latin typeface="Cambria Math" panose="02040503050406030204" pitchFamily="18" charset="0"/>
                                </a:rPr>
                                <m:t>7</m:t>
                              </m:r>
                              <m:r>
                                <a:rPr lang="en-US" i="1">
                                  <a:latin typeface="Cambria Math" panose="02040503050406030204" pitchFamily="18" charset="0"/>
                                </a:rPr>
                                <m:t>⋅</m:t>
                              </m:r>
                              <m:r>
                                <a:rPr lang="de-DE" b="0" i="1" smtClean="0">
                                  <a:solidFill>
                                    <a:srgbClr val="FF0000"/>
                                  </a:solidFill>
                                  <a:latin typeface="Cambria Math" panose="02040503050406030204" pitchFamily="18" charset="0"/>
                                </a:rPr>
                                <m:t>1</m:t>
                              </m:r>
                              <m:r>
                                <a:rPr lang="en-US" b="0" i="1" smtClean="0">
                                  <a:latin typeface="Cambria Math" panose="02040503050406030204" pitchFamily="18" charset="0"/>
                                </a:rPr>
                                <m:t>+</m:t>
                              </m:r>
                              <m:r>
                                <a:rPr lang="en-US" b="0" i="1" smtClean="0">
                                  <a:solidFill>
                                    <a:schemeClr val="accent1">
                                      <a:lumMod val="75000"/>
                                    </a:schemeClr>
                                  </a:solidFill>
                                  <a:latin typeface="Cambria Math" panose="02040503050406030204" pitchFamily="18" charset="0"/>
                                </a:rPr>
                                <m:t>18</m:t>
                              </m:r>
                              <m:r>
                                <a:rPr lang="en-US" b="0" i="1" smtClean="0">
                                  <a:latin typeface="Cambria Math" panose="02040503050406030204" pitchFamily="18" charset="0"/>
                                </a:rPr>
                                <m:t>⋅</m:t>
                              </m:r>
                              <m:r>
                                <a:rPr lang="de-DE" b="0" i="1" smtClean="0">
                                  <a:solidFill>
                                    <a:srgbClr val="FF0000"/>
                                  </a:solidFill>
                                  <a:latin typeface="Cambria Math" panose="02040503050406030204" pitchFamily="18" charset="0"/>
                                </a:rPr>
                                <m:t>1</m:t>
                              </m:r>
                            </m:e>
                          </m:d>
                        </m:e>
                      </m:d>
                      <m:r>
                        <a:rPr lang="en-US" b="0" i="1" smtClean="0">
                          <a:latin typeface="Cambria Math" panose="02040503050406030204" pitchFamily="18" charset="0"/>
                        </a:rPr>
                        <m:t>=</m:t>
                      </m:r>
                      <m:r>
                        <a:rPr lang="de-DE" b="0" i="1" smtClean="0">
                          <a:latin typeface="Cambria Math" panose="02040503050406030204" pitchFamily="18" charset="0"/>
                        </a:rPr>
                        <m:t>52</m:t>
                      </m:r>
                    </m:oMath>
                  </m:oMathPara>
                </a14:m>
                <a:endParaRPr lang="en-US" b="0" dirty="0"/>
              </a:p>
              <a:p>
                <a:endParaRPr lang="en-US" b="0" dirty="0"/>
              </a:p>
              <a:p>
                <a:endParaRPr lang="en-US" dirty="0"/>
              </a:p>
            </p:txBody>
          </p:sp>
        </mc:Choice>
        <mc:Fallback xmlns="">
          <p:sp>
            <p:nvSpPr>
              <p:cNvPr id="2" name="Content Placeholder 1">
                <a:extLst>
                  <a:ext uri="{FF2B5EF4-FFF2-40B4-BE49-F238E27FC236}">
                    <a16:creationId xmlns:a16="http://schemas.microsoft.com/office/drawing/2014/main" id="{F8E41C53-DFCE-8C83-DBBB-76E1245FDE06}"/>
                  </a:ext>
                </a:extLst>
              </p:cNvPr>
              <p:cNvSpPr>
                <a:spLocks noGrp="1" noRot="1" noChangeAspect="1" noMove="1" noResize="1" noEditPoints="1" noAdjustHandles="1" noChangeArrowheads="1" noChangeShapeType="1" noTextEdit="1"/>
              </p:cNvSpPr>
              <p:nvPr>
                <p:ph idx="1"/>
              </p:nvPr>
            </p:nvSpPr>
            <p:spPr>
              <a:xfrm>
                <a:off x="319090" y="820148"/>
                <a:ext cx="8508999" cy="3967027"/>
              </a:xfrm>
              <a:blipFill>
                <a:blip r:embed="rId2"/>
                <a:stretch>
                  <a:fillRect l="-1289" t="-1077"/>
                </a:stretch>
              </a:blipFill>
            </p:spPr>
            <p:txBody>
              <a:bodyPr/>
              <a:lstStyle/>
              <a:p>
                <a:r>
                  <a:rPr lang="de-DE">
                    <a:noFill/>
                  </a:rPr>
                  <a:t> </a:t>
                </a:r>
              </a:p>
            </p:txBody>
          </p:sp>
        </mc:Fallback>
      </mc:AlternateContent>
      <p:sp>
        <p:nvSpPr>
          <p:cNvPr id="3" name="Title 2">
            <a:extLst>
              <a:ext uri="{FF2B5EF4-FFF2-40B4-BE49-F238E27FC236}">
                <a16:creationId xmlns:a16="http://schemas.microsoft.com/office/drawing/2014/main" id="{D882E17B-FFB3-6849-CC85-8AFAE29B0886}"/>
              </a:ext>
            </a:extLst>
          </p:cNvPr>
          <p:cNvSpPr>
            <a:spLocks noGrp="1"/>
          </p:cNvSpPr>
          <p:nvPr>
            <p:ph type="title"/>
          </p:nvPr>
        </p:nvSpPr>
        <p:spPr/>
        <p:txBody>
          <a:bodyPr/>
          <a:lstStyle/>
          <a:p>
            <a:r>
              <a:rPr lang="de-DE" dirty="0"/>
              <a:t>3.9.1 </a:t>
            </a:r>
            <a:r>
              <a:rPr lang="de-DE" dirty="0" err="1"/>
              <a:t>Convolutional</a:t>
            </a:r>
            <a:r>
              <a:rPr lang="de-DE" dirty="0"/>
              <a:t> </a:t>
            </a:r>
            <a:r>
              <a:rPr lang="de-DE" dirty="0" err="1"/>
              <a:t>Neural</a:t>
            </a:r>
            <a:r>
              <a:rPr lang="de-DE" dirty="0"/>
              <a:t> Networks – </a:t>
            </a:r>
            <a:r>
              <a:rPr lang="de-DE" dirty="0" err="1"/>
              <a:t>Example</a:t>
            </a:r>
            <a:r>
              <a:rPr lang="de-DE" dirty="0"/>
              <a:t> </a:t>
            </a:r>
            <a:endParaRPr lang="en-US" dirty="0"/>
          </a:p>
        </p:txBody>
      </p:sp>
      <p:sp>
        <p:nvSpPr>
          <p:cNvPr id="4" name="Slide Number Placeholder 3">
            <a:extLst>
              <a:ext uri="{FF2B5EF4-FFF2-40B4-BE49-F238E27FC236}">
                <a16:creationId xmlns:a16="http://schemas.microsoft.com/office/drawing/2014/main" id="{F7D792F4-AC7E-3A51-FF46-78F90DECDAB2}"/>
              </a:ext>
            </a:extLst>
          </p:cNvPr>
          <p:cNvSpPr>
            <a:spLocks noGrp="1"/>
          </p:cNvSpPr>
          <p:nvPr>
            <p:ph type="sldNum" sz="quarter" idx="11"/>
          </p:nvPr>
        </p:nvSpPr>
        <p:spPr/>
        <p:txBody>
          <a:bodyPr/>
          <a:lstStyle/>
          <a:p>
            <a:fld id="{CE58CB1E-F828-4F11-99E0-327109AF9DA4}" type="slidenum">
              <a:rPr lang="de-DE" smtClean="0"/>
              <a:pPr/>
              <a:t>17</a:t>
            </a:fld>
            <a:endParaRPr lang="de-DE"/>
          </a:p>
        </p:txBody>
      </p:sp>
      <p:sp>
        <p:nvSpPr>
          <p:cNvPr id="5" name="Footer Placeholder 4">
            <a:extLst>
              <a:ext uri="{FF2B5EF4-FFF2-40B4-BE49-F238E27FC236}">
                <a16:creationId xmlns:a16="http://schemas.microsoft.com/office/drawing/2014/main" id="{4594BC2F-A634-112E-340B-DDE382B80894}"/>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sp>
        <p:nvSpPr>
          <p:cNvPr id="7" name="Textfeld 7">
            <a:extLst>
              <a:ext uri="{FF2B5EF4-FFF2-40B4-BE49-F238E27FC236}">
                <a16:creationId xmlns:a16="http://schemas.microsoft.com/office/drawing/2014/main" id="{FE88100A-60E7-0E44-B101-EF8D285A6F14}"/>
              </a:ext>
            </a:extLst>
          </p:cNvPr>
          <p:cNvSpPr txBox="1"/>
          <p:nvPr/>
        </p:nvSpPr>
        <p:spPr>
          <a:xfrm>
            <a:off x="6385084" y="825690"/>
            <a:ext cx="1053253" cy="307777"/>
          </a:xfrm>
          <a:prstGeom prst="rect">
            <a:avLst/>
          </a:prstGeom>
          <a:noFill/>
        </p:spPr>
        <p:txBody>
          <a:bodyPr wrap="square">
            <a:spAutoFit/>
          </a:bodyPr>
          <a:lstStyle/>
          <a:p>
            <a:r>
              <a:rPr lang="en-US" sz="1400" dirty="0"/>
              <a:t>2 channels</a:t>
            </a:r>
          </a:p>
        </p:txBody>
      </p:sp>
      <p:sp>
        <p:nvSpPr>
          <p:cNvPr id="8" name="Rechteck 7">
            <a:extLst>
              <a:ext uri="{FF2B5EF4-FFF2-40B4-BE49-F238E27FC236}">
                <a16:creationId xmlns:a16="http://schemas.microsoft.com/office/drawing/2014/main" id="{0F0EED42-4035-F1F7-8EBF-7E52D448AB35}"/>
              </a:ext>
            </a:extLst>
          </p:cNvPr>
          <p:cNvSpPr/>
          <p:nvPr/>
        </p:nvSpPr>
        <p:spPr>
          <a:xfrm>
            <a:off x="3471518" y="1551709"/>
            <a:ext cx="354676" cy="5098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pic>
        <p:nvPicPr>
          <p:cNvPr id="10" name="Picture 5">
            <a:extLst>
              <a:ext uri="{FF2B5EF4-FFF2-40B4-BE49-F238E27FC236}">
                <a16:creationId xmlns:a16="http://schemas.microsoft.com/office/drawing/2014/main" id="{35EB6454-D0C2-44EC-86CA-155506B2129C}"/>
              </a:ext>
            </a:extLst>
          </p:cNvPr>
          <p:cNvPicPr>
            <a:picLocks noChangeAspect="1"/>
          </p:cNvPicPr>
          <p:nvPr/>
        </p:nvPicPr>
        <p:blipFill>
          <a:blip r:embed="rId3"/>
          <a:stretch>
            <a:fillRect/>
          </a:stretch>
        </p:blipFill>
        <p:spPr>
          <a:xfrm>
            <a:off x="3445189" y="1099530"/>
            <a:ext cx="5591655" cy="1038190"/>
          </a:xfrm>
          <a:prstGeom prst="rect">
            <a:avLst/>
          </a:prstGeom>
        </p:spPr>
      </p:pic>
      <p:sp>
        <p:nvSpPr>
          <p:cNvPr id="11" name="Rechteck 10">
            <a:extLst>
              <a:ext uri="{FF2B5EF4-FFF2-40B4-BE49-F238E27FC236}">
                <a16:creationId xmlns:a16="http://schemas.microsoft.com/office/drawing/2014/main" id="{3909A23F-C7CB-4514-A834-5E5E67D136DF}"/>
              </a:ext>
            </a:extLst>
          </p:cNvPr>
          <p:cNvSpPr/>
          <p:nvPr/>
        </p:nvSpPr>
        <p:spPr>
          <a:xfrm>
            <a:off x="3471518" y="1551709"/>
            <a:ext cx="354676" cy="5098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9" name="Rechteck 8">
            <a:extLst>
              <a:ext uri="{FF2B5EF4-FFF2-40B4-BE49-F238E27FC236}">
                <a16:creationId xmlns:a16="http://schemas.microsoft.com/office/drawing/2014/main" id="{C0B637CA-3362-0CDF-5752-D4837B00C635}"/>
              </a:ext>
            </a:extLst>
          </p:cNvPr>
          <p:cNvSpPr/>
          <p:nvPr/>
        </p:nvSpPr>
        <p:spPr>
          <a:xfrm>
            <a:off x="6301046" y="1099530"/>
            <a:ext cx="2807365" cy="103819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Tree>
    <p:extLst>
      <p:ext uri="{BB962C8B-B14F-4D97-AF65-F5344CB8AC3E}">
        <p14:creationId xmlns:p14="http://schemas.microsoft.com/office/powerpoint/2010/main" val="22359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0" end="1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B20597-E085-49C6-EF79-CECDE59FAA56}"/>
              </a:ext>
            </a:extLst>
          </p:cNvPr>
          <p:cNvSpPr>
            <a:spLocks noGrp="1"/>
          </p:cNvSpPr>
          <p:nvPr>
            <p:ph idx="1"/>
          </p:nvPr>
        </p:nvSpPr>
        <p:spPr/>
        <p:txBody>
          <a:bodyPr/>
          <a:lstStyle/>
          <a:p>
            <a:r>
              <a:rPr lang="en-US" dirty="0"/>
              <a:t>Comparison to fully connected neural network</a:t>
            </a:r>
          </a:p>
          <a:p>
            <a:pPr marL="285750" indent="-285750">
              <a:buFont typeface="Arial" panose="020B0604020202020204" pitchFamily="34" charset="0"/>
              <a:buChar char="•"/>
            </a:pPr>
            <a:r>
              <a:rPr lang="en-US" dirty="0"/>
              <a:t>Channels are analogous to neurons</a:t>
            </a:r>
          </a:p>
          <a:p>
            <a:pPr marL="285750" indent="-285750">
              <a:buFont typeface="Arial" panose="020B0604020202020204" pitchFamily="34" charset="0"/>
              <a:buChar char="•"/>
            </a:pPr>
            <a:r>
              <a:rPr lang="en-US" dirty="0"/>
              <a:t>Filters are analogous to linear transformations (connections)</a:t>
            </a:r>
          </a:p>
          <a:p>
            <a:pPr marL="285750" indent="-285750">
              <a:buFont typeface="Arial" panose="020B0604020202020204" pitchFamily="34" charset="0"/>
              <a:buChar char="•"/>
            </a:pPr>
            <a:r>
              <a:rPr lang="en-US" dirty="0"/>
              <a:t>Number of parameters in fully connected neural network:	</a:t>
            </a:r>
            <a:endParaRPr lang="en-US" b="0" dirty="0"/>
          </a:p>
          <a:p>
            <a:pPr marL="285750" indent="-285750">
              <a:buFont typeface="Arial" panose="020B0604020202020204" pitchFamily="34" charset="0"/>
              <a:buChar char="•"/>
            </a:pPr>
            <a:r>
              <a:rPr lang="en-US" dirty="0"/>
              <a:t>Number of parameters in convolutional neural network:	</a:t>
            </a:r>
          </a:p>
        </p:txBody>
      </p:sp>
      <p:sp>
        <p:nvSpPr>
          <p:cNvPr id="3" name="Title 2">
            <a:extLst>
              <a:ext uri="{FF2B5EF4-FFF2-40B4-BE49-F238E27FC236}">
                <a16:creationId xmlns:a16="http://schemas.microsoft.com/office/drawing/2014/main" id="{F343859D-A176-7A76-6F1A-195725FF676E}"/>
              </a:ext>
            </a:extLst>
          </p:cNvPr>
          <p:cNvSpPr>
            <a:spLocks noGrp="1"/>
          </p:cNvSpPr>
          <p:nvPr>
            <p:ph type="title"/>
          </p:nvPr>
        </p:nvSpPr>
        <p:spPr/>
        <p:txBody>
          <a:bodyPr/>
          <a:lstStyle/>
          <a:p>
            <a:r>
              <a:rPr lang="de-DE" dirty="0"/>
              <a:t>3.9.1 </a:t>
            </a:r>
            <a:r>
              <a:rPr lang="de-DE" dirty="0" err="1"/>
              <a:t>Convolutional</a:t>
            </a:r>
            <a:r>
              <a:rPr lang="de-DE" dirty="0"/>
              <a:t> </a:t>
            </a:r>
            <a:r>
              <a:rPr lang="de-DE" dirty="0" err="1"/>
              <a:t>Neural</a:t>
            </a:r>
            <a:r>
              <a:rPr lang="de-DE" dirty="0"/>
              <a:t> Networks – Depth </a:t>
            </a:r>
            <a:endParaRPr lang="en-US" dirty="0"/>
          </a:p>
        </p:txBody>
      </p:sp>
      <p:sp>
        <p:nvSpPr>
          <p:cNvPr id="4" name="Slide Number Placeholder 3">
            <a:extLst>
              <a:ext uri="{FF2B5EF4-FFF2-40B4-BE49-F238E27FC236}">
                <a16:creationId xmlns:a16="http://schemas.microsoft.com/office/drawing/2014/main" id="{81CBA1E1-7B8A-A335-884D-63C551CA588B}"/>
              </a:ext>
            </a:extLst>
          </p:cNvPr>
          <p:cNvSpPr>
            <a:spLocks noGrp="1"/>
          </p:cNvSpPr>
          <p:nvPr>
            <p:ph type="sldNum" sz="quarter" idx="11"/>
          </p:nvPr>
        </p:nvSpPr>
        <p:spPr/>
        <p:txBody>
          <a:bodyPr/>
          <a:lstStyle/>
          <a:p>
            <a:fld id="{CE58CB1E-F828-4F11-99E0-327109AF9DA4}" type="slidenum">
              <a:rPr lang="de-DE" smtClean="0"/>
              <a:pPr/>
              <a:t>18</a:t>
            </a:fld>
            <a:endParaRPr lang="de-DE"/>
          </a:p>
        </p:txBody>
      </p:sp>
      <p:sp>
        <p:nvSpPr>
          <p:cNvPr id="5" name="Footer Placeholder 4">
            <a:extLst>
              <a:ext uri="{FF2B5EF4-FFF2-40B4-BE49-F238E27FC236}">
                <a16:creationId xmlns:a16="http://schemas.microsoft.com/office/drawing/2014/main" id="{487B5027-BF22-8431-3227-B9B1B68B0752}"/>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pic>
        <p:nvPicPr>
          <p:cNvPr id="7" name="Picture 6">
            <a:extLst>
              <a:ext uri="{FF2B5EF4-FFF2-40B4-BE49-F238E27FC236}">
                <a16:creationId xmlns:a16="http://schemas.microsoft.com/office/drawing/2014/main" id="{1132246D-9F3A-444C-9D5F-4C3C6822205F}"/>
              </a:ext>
            </a:extLst>
          </p:cNvPr>
          <p:cNvPicPr>
            <a:picLocks noChangeAspect="1"/>
          </p:cNvPicPr>
          <p:nvPr/>
        </p:nvPicPr>
        <p:blipFill>
          <a:blip r:embed="rId3"/>
          <a:stretch>
            <a:fillRect/>
          </a:stretch>
        </p:blipFill>
        <p:spPr>
          <a:xfrm>
            <a:off x="382501" y="2097750"/>
            <a:ext cx="8378998" cy="2531405"/>
          </a:xfrm>
          <a:prstGeom prst="rect">
            <a:avLst/>
          </a:prstGeom>
        </p:spPr>
      </p:pic>
      <p:sp>
        <p:nvSpPr>
          <p:cNvPr id="8" name="TextBox 7">
            <a:extLst>
              <a:ext uri="{FF2B5EF4-FFF2-40B4-BE49-F238E27FC236}">
                <a16:creationId xmlns:a16="http://schemas.microsoft.com/office/drawing/2014/main" id="{E6CE3DEB-F3A0-1E47-5F3E-8AF073C3C359}"/>
              </a:ext>
            </a:extLst>
          </p:cNvPr>
          <p:cNvSpPr txBox="1"/>
          <p:nvPr/>
        </p:nvSpPr>
        <p:spPr>
          <a:xfrm>
            <a:off x="1192456" y="4662999"/>
            <a:ext cx="2303451" cy="231602"/>
          </a:xfrm>
          <a:prstGeom prst="rect">
            <a:avLst/>
          </a:prstGeom>
          <a:noFill/>
        </p:spPr>
        <p:txBody>
          <a:bodyPr wrap="none" lIns="0" tIns="0" rIns="0" bIns="0" rtlCol="0">
            <a:spAutoFit/>
          </a:bodyPr>
          <a:lstStyle/>
          <a:p>
            <a:pPr>
              <a:lnSpc>
                <a:spcPct val="114000"/>
              </a:lnSpc>
            </a:pPr>
            <a:r>
              <a:rPr lang="de-DE" sz="1400" dirty="0">
                <a:latin typeface="+mn-lt"/>
              </a:rPr>
              <a:t>Fully </a:t>
            </a:r>
            <a:r>
              <a:rPr lang="de-DE" sz="1400" dirty="0" err="1">
                <a:latin typeface="+mn-lt"/>
              </a:rPr>
              <a:t>connected</a:t>
            </a:r>
            <a:r>
              <a:rPr lang="de-DE" sz="1400" dirty="0">
                <a:latin typeface="+mn-lt"/>
              </a:rPr>
              <a:t> </a:t>
            </a:r>
            <a:r>
              <a:rPr lang="de-DE" sz="1400" dirty="0" err="1">
                <a:latin typeface="+mn-lt"/>
              </a:rPr>
              <a:t>neural</a:t>
            </a:r>
            <a:r>
              <a:rPr lang="de-DE" sz="1400" dirty="0">
                <a:latin typeface="+mn-lt"/>
              </a:rPr>
              <a:t> network</a:t>
            </a:r>
            <a:endParaRPr lang="en-DE" sz="1400" dirty="0">
              <a:latin typeface="+mn-lt"/>
            </a:endParaRPr>
          </a:p>
        </p:txBody>
      </p:sp>
      <p:sp>
        <p:nvSpPr>
          <p:cNvPr id="9" name="TextBox 8">
            <a:extLst>
              <a:ext uri="{FF2B5EF4-FFF2-40B4-BE49-F238E27FC236}">
                <a16:creationId xmlns:a16="http://schemas.microsoft.com/office/drawing/2014/main" id="{CC17C686-0CE6-9CEE-4B12-EB8B26AF21D0}"/>
              </a:ext>
            </a:extLst>
          </p:cNvPr>
          <p:cNvSpPr txBox="1"/>
          <p:nvPr/>
        </p:nvSpPr>
        <p:spPr>
          <a:xfrm>
            <a:off x="5690342" y="4662999"/>
            <a:ext cx="2169184" cy="231602"/>
          </a:xfrm>
          <a:prstGeom prst="rect">
            <a:avLst/>
          </a:prstGeom>
          <a:noFill/>
        </p:spPr>
        <p:txBody>
          <a:bodyPr wrap="none" lIns="0" tIns="0" rIns="0" bIns="0" rtlCol="0">
            <a:spAutoFit/>
          </a:bodyPr>
          <a:lstStyle/>
          <a:p>
            <a:pPr>
              <a:lnSpc>
                <a:spcPct val="114000"/>
              </a:lnSpc>
            </a:pPr>
            <a:r>
              <a:rPr lang="de-DE" sz="1400" dirty="0" err="1">
                <a:latin typeface="+mn-lt"/>
              </a:rPr>
              <a:t>Convolutional</a:t>
            </a:r>
            <a:r>
              <a:rPr lang="de-DE" sz="1400" dirty="0">
                <a:latin typeface="+mn-lt"/>
              </a:rPr>
              <a:t> </a:t>
            </a:r>
            <a:r>
              <a:rPr lang="de-DE" sz="1400" dirty="0" err="1">
                <a:latin typeface="+mn-lt"/>
              </a:rPr>
              <a:t>neural</a:t>
            </a:r>
            <a:r>
              <a:rPr lang="de-DE" sz="1400" dirty="0">
                <a:latin typeface="+mn-lt"/>
              </a:rPr>
              <a:t> network</a:t>
            </a:r>
            <a:endParaRPr lang="en-DE" sz="1400" dirty="0">
              <a:latin typeface="+mn-lt"/>
            </a:endParaRPr>
          </a:p>
        </p:txBody>
      </p:sp>
      <p:sp>
        <p:nvSpPr>
          <p:cNvPr id="10" name="TextBox 9">
            <a:extLst>
              <a:ext uri="{FF2B5EF4-FFF2-40B4-BE49-F238E27FC236}">
                <a16:creationId xmlns:a16="http://schemas.microsoft.com/office/drawing/2014/main" id="{FF840B4F-EF86-2CEC-779F-E6A06150A412}"/>
              </a:ext>
            </a:extLst>
          </p:cNvPr>
          <p:cNvSpPr txBox="1"/>
          <p:nvPr/>
        </p:nvSpPr>
        <p:spPr>
          <a:xfrm>
            <a:off x="5195338" y="1110173"/>
            <a:ext cx="2560060" cy="231602"/>
          </a:xfrm>
          <a:prstGeom prst="rect">
            <a:avLst/>
          </a:prstGeom>
          <a:noFill/>
        </p:spPr>
        <p:txBody>
          <a:bodyPr wrap="none" lIns="0" tIns="0" rIns="0" bIns="0" rtlCol="0">
            <a:spAutoFit/>
          </a:bodyPr>
          <a:lstStyle/>
          <a:p>
            <a:pPr>
              <a:lnSpc>
                <a:spcPct val="114000"/>
              </a:lnSpc>
            </a:pPr>
            <a:r>
              <a:rPr lang="de-DE" sz="1400" dirty="0" err="1">
                <a:solidFill>
                  <a:schemeClr val="tx2"/>
                </a:solidFill>
                <a:latin typeface="+mn-lt"/>
              </a:rPr>
              <a:t>Number</a:t>
            </a:r>
            <a:r>
              <a:rPr lang="de-DE" sz="1400" dirty="0">
                <a:solidFill>
                  <a:schemeClr val="tx2"/>
                </a:solidFill>
                <a:latin typeface="+mn-lt"/>
              </a:rPr>
              <a:t> of </a:t>
            </a:r>
            <a:r>
              <a:rPr lang="de-DE" sz="1400" dirty="0" err="1">
                <a:solidFill>
                  <a:schemeClr val="tx2"/>
                </a:solidFill>
                <a:latin typeface="+mn-lt"/>
              </a:rPr>
              <a:t>connections</a:t>
            </a:r>
            <a:r>
              <a:rPr lang="de-DE" sz="1400" dirty="0">
                <a:solidFill>
                  <a:schemeClr val="tx2"/>
                </a:solidFill>
                <a:latin typeface="+mn-lt"/>
              </a:rPr>
              <a:t> (</a:t>
            </a:r>
            <a:r>
              <a:rPr lang="de-DE" sz="1400" dirty="0" err="1">
                <a:solidFill>
                  <a:schemeClr val="tx2"/>
                </a:solidFill>
                <a:latin typeface="+mn-lt"/>
              </a:rPr>
              <a:t>weights</a:t>
            </a:r>
            <a:r>
              <a:rPr lang="de-DE" sz="1400" dirty="0">
                <a:solidFill>
                  <a:schemeClr val="tx2"/>
                </a:solidFill>
                <a:latin typeface="+mn-lt"/>
              </a:rPr>
              <a:t>) +</a:t>
            </a:r>
            <a:endParaRPr lang="en-DE" sz="1400" dirty="0">
              <a:solidFill>
                <a:schemeClr val="tx2"/>
              </a:solidFill>
              <a:latin typeface="+mn-lt"/>
            </a:endParaRPr>
          </a:p>
        </p:txBody>
      </p:sp>
      <p:sp>
        <p:nvSpPr>
          <p:cNvPr id="11" name="TextBox 10">
            <a:extLst>
              <a:ext uri="{FF2B5EF4-FFF2-40B4-BE49-F238E27FC236}">
                <a16:creationId xmlns:a16="http://schemas.microsoft.com/office/drawing/2014/main" id="{8156C1AB-4BED-192F-040C-83DAE7AB0925}"/>
              </a:ext>
            </a:extLst>
          </p:cNvPr>
          <p:cNvSpPr txBox="1"/>
          <p:nvPr/>
        </p:nvSpPr>
        <p:spPr>
          <a:xfrm>
            <a:off x="6384189" y="1321136"/>
            <a:ext cx="1282402" cy="231602"/>
          </a:xfrm>
          <a:prstGeom prst="rect">
            <a:avLst/>
          </a:prstGeom>
          <a:noFill/>
        </p:spPr>
        <p:txBody>
          <a:bodyPr wrap="none" lIns="0" tIns="0" rIns="0" bIns="0" rtlCol="0">
            <a:spAutoFit/>
          </a:bodyPr>
          <a:lstStyle/>
          <a:p>
            <a:pPr>
              <a:lnSpc>
                <a:spcPct val="114000"/>
              </a:lnSpc>
            </a:pPr>
            <a:r>
              <a:rPr lang="de-DE" sz="1400" dirty="0" err="1">
                <a:solidFill>
                  <a:schemeClr val="accent5"/>
                </a:solidFill>
                <a:latin typeface="+mn-lt"/>
              </a:rPr>
              <a:t>Number</a:t>
            </a:r>
            <a:r>
              <a:rPr lang="de-DE" sz="1400" dirty="0">
                <a:solidFill>
                  <a:schemeClr val="accent5"/>
                </a:solidFill>
                <a:latin typeface="+mn-lt"/>
              </a:rPr>
              <a:t> </a:t>
            </a:r>
            <a:r>
              <a:rPr lang="de-DE" sz="1400" dirty="0" err="1">
                <a:solidFill>
                  <a:schemeClr val="accent5"/>
                </a:solidFill>
                <a:latin typeface="+mn-lt"/>
              </a:rPr>
              <a:t>of</a:t>
            </a:r>
            <a:r>
              <a:rPr lang="de-DE" sz="1400" dirty="0">
                <a:solidFill>
                  <a:schemeClr val="accent5"/>
                </a:solidFill>
                <a:latin typeface="+mn-lt"/>
              </a:rPr>
              <a:t> </a:t>
            </a:r>
            <a:r>
              <a:rPr lang="de-DE" sz="1400" dirty="0" err="1">
                <a:solidFill>
                  <a:schemeClr val="accent5"/>
                </a:solidFill>
                <a:latin typeface="+mn-lt"/>
              </a:rPr>
              <a:t>biases</a:t>
            </a:r>
            <a:endParaRPr lang="en-DE" sz="1400" dirty="0">
              <a:solidFill>
                <a:schemeClr val="accent5"/>
              </a:solidFill>
              <a:latin typeface="+mn-lt"/>
            </a:endParaRPr>
          </a:p>
        </p:txBody>
      </p:sp>
      <p:sp>
        <p:nvSpPr>
          <p:cNvPr id="12" name="TextBox 11">
            <a:extLst>
              <a:ext uri="{FF2B5EF4-FFF2-40B4-BE49-F238E27FC236}">
                <a16:creationId xmlns:a16="http://schemas.microsoft.com/office/drawing/2014/main" id="{4D8BBBBD-791D-14E2-BE51-FBD98E9E7DCE}"/>
              </a:ext>
            </a:extLst>
          </p:cNvPr>
          <p:cNvSpPr txBox="1"/>
          <p:nvPr/>
        </p:nvSpPr>
        <p:spPr>
          <a:xfrm>
            <a:off x="4933400" y="905544"/>
            <a:ext cx="3102388" cy="231602"/>
          </a:xfrm>
          <a:prstGeom prst="rect">
            <a:avLst/>
          </a:prstGeom>
          <a:noFill/>
        </p:spPr>
        <p:txBody>
          <a:bodyPr wrap="none" lIns="0" tIns="0" rIns="0" bIns="0" rtlCol="0">
            <a:spAutoFit/>
          </a:bodyPr>
          <a:lstStyle/>
          <a:p>
            <a:pPr>
              <a:lnSpc>
                <a:spcPct val="114000"/>
              </a:lnSpc>
            </a:pPr>
            <a:r>
              <a:rPr lang="de-DE" sz="1400" dirty="0" err="1">
                <a:solidFill>
                  <a:schemeClr val="accent4"/>
                </a:solidFill>
                <a:latin typeface="+mn-lt"/>
              </a:rPr>
              <a:t>Number</a:t>
            </a:r>
            <a:r>
              <a:rPr lang="de-DE" sz="1400" dirty="0">
                <a:solidFill>
                  <a:schemeClr val="accent4"/>
                </a:solidFill>
                <a:latin typeface="+mn-lt"/>
              </a:rPr>
              <a:t> of </a:t>
            </a:r>
            <a:r>
              <a:rPr lang="de-DE" sz="1400" dirty="0" err="1">
                <a:solidFill>
                  <a:schemeClr val="accent4"/>
                </a:solidFill>
                <a:latin typeface="+mn-lt"/>
              </a:rPr>
              <a:t>parameters</a:t>
            </a:r>
            <a:r>
              <a:rPr lang="de-DE" sz="1400" dirty="0">
                <a:solidFill>
                  <a:schemeClr val="accent4"/>
                </a:solidFill>
                <a:latin typeface="+mn-lt"/>
              </a:rPr>
              <a:t> per </a:t>
            </a:r>
            <a:r>
              <a:rPr lang="de-DE" sz="1400" dirty="0" err="1">
                <a:solidFill>
                  <a:schemeClr val="accent4"/>
                </a:solidFill>
                <a:latin typeface="+mn-lt"/>
              </a:rPr>
              <a:t>weight</a:t>
            </a:r>
            <a:r>
              <a:rPr lang="de-DE" sz="1400" dirty="0">
                <a:solidFill>
                  <a:schemeClr val="accent4"/>
                </a:solidFill>
                <a:latin typeface="+mn-lt"/>
              </a:rPr>
              <a:t>/</a:t>
            </a:r>
            <a:r>
              <a:rPr lang="de-DE" sz="1400" dirty="0" err="1">
                <a:solidFill>
                  <a:schemeClr val="accent4"/>
                </a:solidFill>
                <a:latin typeface="+mn-lt"/>
              </a:rPr>
              <a:t>kernel</a:t>
            </a:r>
            <a:endParaRPr lang="en-DE" sz="1400" dirty="0">
              <a:solidFill>
                <a:schemeClr val="accent4"/>
              </a:solidFill>
              <a:latin typeface="+mn-lt"/>
            </a:endParaRPr>
          </a:p>
        </p:txBody>
      </p:sp>
      <p:sp>
        <p:nvSpPr>
          <p:cNvPr id="13" name="TextBox 12">
            <a:extLst>
              <a:ext uri="{FF2B5EF4-FFF2-40B4-BE49-F238E27FC236}">
                <a16:creationId xmlns:a16="http://schemas.microsoft.com/office/drawing/2014/main" id="{2E3DC0DC-1111-540F-F663-96F72E17E8C5}"/>
              </a:ext>
            </a:extLst>
          </p:cNvPr>
          <p:cNvSpPr txBox="1"/>
          <p:nvPr/>
        </p:nvSpPr>
        <p:spPr>
          <a:xfrm>
            <a:off x="3228975" y="651083"/>
            <a:ext cx="6057899" cy="198581"/>
          </a:xfrm>
          <a:prstGeom prst="rect">
            <a:avLst/>
          </a:prstGeom>
          <a:noFill/>
        </p:spPr>
        <p:txBody>
          <a:bodyPr wrap="square" lIns="0" tIns="0" rIns="0" bIns="0" rtlCol="0">
            <a:spAutoFit/>
          </a:bodyPr>
          <a:lstStyle/>
          <a:p>
            <a:pPr>
              <a:lnSpc>
                <a:spcPct val="114000"/>
              </a:lnSpc>
            </a:pPr>
            <a:r>
              <a:rPr lang="da-DK" sz="1200" i="1" dirty="0" err="1">
                <a:solidFill>
                  <a:schemeClr val="accent2"/>
                </a:solidFill>
                <a:latin typeface="+mn-lt"/>
              </a:rPr>
              <a:t>ImageNet</a:t>
            </a:r>
            <a:r>
              <a:rPr lang="da-DK" sz="1200" i="1" dirty="0">
                <a:solidFill>
                  <a:schemeClr val="accent2"/>
                </a:solidFill>
                <a:latin typeface="+mn-lt"/>
              </a:rPr>
              <a:t> </a:t>
            </a:r>
            <a:r>
              <a:rPr lang="da-DK" sz="1200" i="1" dirty="0" err="1">
                <a:solidFill>
                  <a:schemeClr val="accent2"/>
                </a:solidFill>
                <a:latin typeface="+mn-lt"/>
              </a:rPr>
              <a:t>Classification</a:t>
            </a:r>
            <a:r>
              <a:rPr lang="da-DK" sz="1200" i="1" dirty="0">
                <a:solidFill>
                  <a:schemeClr val="accent2"/>
                </a:solidFill>
                <a:latin typeface="+mn-lt"/>
              </a:rPr>
              <a:t> with Deep </a:t>
            </a:r>
            <a:r>
              <a:rPr lang="da-DK" sz="1200" i="1" dirty="0" err="1">
                <a:solidFill>
                  <a:schemeClr val="accent2"/>
                </a:solidFill>
                <a:latin typeface="+mn-lt"/>
              </a:rPr>
              <a:t>Convolutional</a:t>
            </a:r>
            <a:r>
              <a:rPr lang="da-DK" sz="1200" i="1" dirty="0">
                <a:solidFill>
                  <a:schemeClr val="accent2"/>
                </a:solidFill>
                <a:latin typeface="+mn-lt"/>
              </a:rPr>
              <a:t> Neural Networks, (Alex) </a:t>
            </a:r>
            <a:r>
              <a:rPr lang="da-DK" sz="1200" i="1" dirty="0" err="1">
                <a:solidFill>
                  <a:schemeClr val="accent2"/>
                </a:solidFill>
                <a:latin typeface="+mn-lt"/>
              </a:rPr>
              <a:t>Krizhevsky</a:t>
            </a:r>
            <a:r>
              <a:rPr lang="da-DK" sz="1200" i="1" dirty="0">
                <a:solidFill>
                  <a:schemeClr val="accent2"/>
                </a:solidFill>
                <a:latin typeface="+mn-lt"/>
              </a:rPr>
              <a:t> et al. 2012</a:t>
            </a:r>
            <a:endParaRPr lang="en-DE" sz="1200" i="1" dirty="0">
              <a:solidFill>
                <a:schemeClr val="accent2"/>
              </a:solidFill>
              <a:latin typeface="+mn-lt"/>
            </a:endParaRPr>
          </a:p>
        </p:txBody>
      </p:sp>
      <mc:AlternateContent xmlns:mc="http://schemas.openxmlformats.org/markup-compatibility/2006">
        <mc:Choice xmlns:a14="http://schemas.microsoft.com/office/drawing/2010/main" Requires="a14">
          <p:sp>
            <p:nvSpPr>
              <p:cNvPr id="14" name="Textfeld 13">
                <a:extLst>
                  <a:ext uri="{FF2B5EF4-FFF2-40B4-BE49-F238E27FC236}">
                    <a16:creationId xmlns:a16="http://schemas.microsoft.com/office/drawing/2014/main" id="{7E30F6ED-31AC-4C2C-A31E-336718ADED45}"/>
                  </a:ext>
                </a:extLst>
              </p:cNvPr>
              <p:cNvSpPr txBox="1"/>
              <p:nvPr/>
            </p:nvSpPr>
            <p:spPr>
              <a:xfrm>
                <a:off x="4933400" y="1546404"/>
                <a:ext cx="1991183" cy="276999"/>
              </a:xfrm>
              <a:prstGeom prst="rect">
                <a:avLst/>
              </a:prstGeom>
              <a:noFill/>
            </p:spPr>
            <p:txBody>
              <a:bodyPr wrap="square">
                <a:spAutoFit/>
              </a:bodyPr>
              <a:lstStyle/>
              <a:p>
                <a:r>
                  <a:rPr lang="en-US" sz="1200" dirty="0"/>
                  <a:t> </a:t>
                </a:r>
                <a14:m>
                  <m:oMath xmlns:m="http://schemas.openxmlformats.org/officeDocument/2006/math">
                    <m:r>
                      <a:rPr lang="en-US" sz="1200" b="0" i="0" smtClean="0">
                        <a:solidFill>
                          <a:schemeClr val="accent4"/>
                        </a:solidFill>
                        <a:latin typeface="Cambria Math" panose="02040503050406030204" pitchFamily="18" charset="0"/>
                      </a:rPr>
                      <m:t>1</m:t>
                    </m:r>
                    <m:r>
                      <a:rPr lang="en-US" sz="1200" b="0" i="1" smtClean="0">
                        <a:latin typeface="Cambria Math" panose="02040503050406030204" pitchFamily="18" charset="0"/>
                      </a:rPr>
                      <m:t>⋅</m:t>
                    </m:r>
                    <m:d>
                      <m:dPr>
                        <m:ctrlPr>
                          <a:rPr lang="en-US" sz="1200" b="0" i="1" smtClean="0">
                            <a:solidFill>
                              <a:schemeClr val="tx2"/>
                            </a:solidFill>
                            <a:latin typeface="Cambria Math" panose="02040503050406030204" pitchFamily="18" charset="0"/>
                          </a:rPr>
                        </m:ctrlPr>
                      </m:dPr>
                      <m:e>
                        <m:r>
                          <a:rPr lang="en-US" sz="1200" b="0" i="1" smtClean="0">
                            <a:solidFill>
                              <a:schemeClr val="tx2"/>
                            </a:solidFill>
                            <a:latin typeface="Cambria Math" panose="02040503050406030204" pitchFamily="18" charset="0"/>
                          </a:rPr>
                          <m:t>2⋅3+3⋅1</m:t>
                        </m:r>
                      </m:e>
                    </m:d>
                    <m:r>
                      <a:rPr lang="en-US" sz="1200" b="0" i="1" smtClean="0">
                        <a:latin typeface="Cambria Math" panose="02040503050406030204" pitchFamily="18" charset="0"/>
                      </a:rPr>
                      <m:t>+</m:t>
                    </m:r>
                    <m:d>
                      <m:dPr>
                        <m:ctrlPr>
                          <a:rPr lang="en-US" sz="1200" b="0" i="1" smtClean="0">
                            <a:solidFill>
                              <a:schemeClr val="accent5"/>
                            </a:solidFill>
                            <a:latin typeface="Cambria Math" panose="02040503050406030204" pitchFamily="18" charset="0"/>
                          </a:rPr>
                        </m:ctrlPr>
                      </m:dPr>
                      <m:e>
                        <m:r>
                          <a:rPr lang="en-US" sz="1200" b="0" i="1" smtClean="0">
                            <a:solidFill>
                              <a:schemeClr val="accent5"/>
                            </a:solidFill>
                            <a:latin typeface="Cambria Math" panose="02040503050406030204" pitchFamily="18" charset="0"/>
                          </a:rPr>
                          <m:t>3+1</m:t>
                        </m:r>
                      </m:e>
                    </m:d>
                  </m:oMath>
                </a14:m>
                <a:endParaRPr lang="en-US" sz="1200" dirty="0"/>
              </a:p>
            </p:txBody>
          </p:sp>
        </mc:Choice>
        <mc:Fallback>
          <p:sp>
            <p:nvSpPr>
              <p:cNvPr id="14" name="Textfeld 13">
                <a:extLst>
                  <a:ext uri="{FF2B5EF4-FFF2-40B4-BE49-F238E27FC236}">
                    <a16:creationId xmlns:a16="http://schemas.microsoft.com/office/drawing/2014/main" id="{7E30F6ED-31AC-4C2C-A31E-336718ADED45}"/>
                  </a:ext>
                </a:extLst>
              </p:cNvPr>
              <p:cNvSpPr txBox="1">
                <a:spLocks noRot="1" noChangeAspect="1" noMove="1" noResize="1" noEditPoints="1" noAdjustHandles="1" noChangeArrowheads="1" noChangeShapeType="1" noTextEdit="1"/>
              </p:cNvSpPr>
              <p:nvPr/>
            </p:nvSpPr>
            <p:spPr>
              <a:xfrm>
                <a:off x="4933400" y="1546404"/>
                <a:ext cx="1991183" cy="276999"/>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feld 15">
                <a:extLst>
                  <a:ext uri="{FF2B5EF4-FFF2-40B4-BE49-F238E27FC236}">
                    <a16:creationId xmlns:a16="http://schemas.microsoft.com/office/drawing/2014/main" id="{7FC22749-99BA-4416-BC43-CFF3DA25D9CF}"/>
                  </a:ext>
                </a:extLst>
              </p:cNvPr>
              <p:cNvSpPr txBox="1"/>
              <p:nvPr/>
            </p:nvSpPr>
            <p:spPr>
              <a:xfrm>
                <a:off x="4660777" y="1774616"/>
                <a:ext cx="2312633" cy="3007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sz="1200" b="0" i="1" smtClean="0">
                              <a:solidFill>
                                <a:schemeClr val="accent4"/>
                              </a:solidFill>
                              <a:latin typeface="Cambria Math" panose="02040503050406030204" pitchFamily="18" charset="0"/>
                            </a:rPr>
                          </m:ctrlPr>
                        </m:dPr>
                        <m:e>
                          <m:sSup>
                            <m:sSupPr>
                              <m:ctrlPr>
                                <a:rPr lang="en-US" sz="1200" b="0" i="1" smtClean="0">
                                  <a:solidFill>
                                    <a:schemeClr val="accent4"/>
                                  </a:solidFill>
                                  <a:latin typeface="Cambria Math" panose="02040503050406030204" pitchFamily="18" charset="0"/>
                                </a:rPr>
                              </m:ctrlPr>
                            </m:sSupPr>
                            <m:e>
                              <m:r>
                                <a:rPr lang="en-US" sz="1200" b="0" i="1" smtClean="0">
                                  <a:solidFill>
                                    <a:schemeClr val="accent4"/>
                                  </a:solidFill>
                                  <a:latin typeface="Cambria Math" panose="02040503050406030204" pitchFamily="18" charset="0"/>
                                </a:rPr>
                                <m:t>𝐾</m:t>
                              </m:r>
                            </m:e>
                            <m:sup>
                              <m:r>
                                <a:rPr lang="en-US" sz="1200" b="0" i="1" smtClean="0">
                                  <a:solidFill>
                                    <a:schemeClr val="accent4"/>
                                  </a:solidFill>
                                  <a:latin typeface="Cambria Math" panose="02040503050406030204" pitchFamily="18" charset="0"/>
                                </a:rPr>
                                <m:t>𝑑</m:t>
                              </m:r>
                            </m:sup>
                          </m:sSup>
                        </m:e>
                      </m:d>
                      <m:r>
                        <a:rPr lang="en-US" sz="1200" b="0" i="1" smtClean="0">
                          <a:latin typeface="Cambria Math" panose="02040503050406030204" pitchFamily="18" charset="0"/>
                        </a:rPr>
                        <m:t>⋅</m:t>
                      </m:r>
                      <m:d>
                        <m:dPr>
                          <m:ctrlPr>
                            <a:rPr lang="en-US" sz="1200" b="0" i="1" smtClean="0">
                              <a:solidFill>
                                <a:schemeClr val="tx2"/>
                              </a:solidFill>
                              <a:latin typeface="Cambria Math" panose="02040503050406030204" pitchFamily="18" charset="0"/>
                            </a:rPr>
                          </m:ctrlPr>
                        </m:dPr>
                        <m:e>
                          <m:r>
                            <a:rPr lang="en-US" sz="1200" b="0" i="1" smtClean="0">
                              <a:solidFill>
                                <a:schemeClr val="tx2"/>
                              </a:solidFill>
                              <a:latin typeface="Cambria Math" panose="02040503050406030204" pitchFamily="18" charset="0"/>
                            </a:rPr>
                            <m:t>2⋅3+3⋅1</m:t>
                          </m:r>
                        </m:e>
                      </m:d>
                      <m:r>
                        <a:rPr lang="en-US" sz="1200" b="0" i="1" smtClean="0">
                          <a:latin typeface="Cambria Math" panose="02040503050406030204" pitchFamily="18" charset="0"/>
                        </a:rPr>
                        <m:t>+</m:t>
                      </m:r>
                      <m:r>
                        <a:rPr lang="en-US" sz="1200" b="0" i="1" smtClean="0">
                          <a:solidFill>
                            <a:schemeClr val="accent5"/>
                          </a:solidFill>
                          <a:latin typeface="Cambria Math" panose="02040503050406030204" pitchFamily="18" charset="0"/>
                        </a:rPr>
                        <m:t>(3+1)</m:t>
                      </m:r>
                    </m:oMath>
                  </m:oMathPara>
                </a14:m>
                <a:endParaRPr lang="en-US" sz="1200" dirty="0"/>
              </a:p>
            </p:txBody>
          </p:sp>
        </mc:Choice>
        <mc:Fallback>
          <p:sp>
            <p:nvSpPr>
              <p:cNvPr id="16" name="Textfeld 15">
                <a:extLst>
                  <a:ext uri="{FF2B5EF4-FFF2-40B4-BE49-F238E27FC236}">
                    <a16:creationId xmlns:a16="http://schemas.microsoft.com/office/drawing/2014/main" id="{7FC22749-99BA-4416-BC43-CFF3DA25D9CF}"/>
                  </a:ext>
                </a:extLst>
              </p:cNvPr>
              <p:cNvSpPr txBox="1">
                <a:spLocks noRot="1" noChangeAspect="1" noMove="1" noResize="1" noEditPoints="1" noAdjustHandles="1" noChangeArrowheads="1" noChangeShapeType="1" noTextEdit="1"/>
              </p:cNvSpPr>
              <p:nvPr/>
            </p:nvSpPr>
            <p:spPr>
              <a:xfrm>
                <a:off x="4660777" y="1774616"/>
                <a:ext cx="2312633" cy="300788"/>
              </a:xfrm>
              <a:prstGeom prst="rect">
                <a:avLst/>
              </a:prstGeom>
              <a:blipFill>
                <a:blip r:embed="rId5"/>
                <a:stretch>
                  <a:fillRect b="-6122"/>
                </a:stretch>
              </a:blipFill>
            </p:spPr>
            <p:txBody>
              <a:bodyPr/>
              <a:lstStyle/>
              <a:p>
                <a:r>
                  <a:rPr lang="en-US">
                    <a:noFill/>
                  </a:rPr>
                  <a:t> </a:t>
                </a:r>
              </a:p>
            </p:txBody>
          </p:sp>
        </mc:Fallback>
      </mc:AlternateContent>
    </p:spTree>
    <p:extLst>
      <p:ext uri="{BB962C8B-B14F-4D97-AF65-F5344CB8AC3E}">
        <p14:creationId xmlns:p14="http://schemas.microsoft.com/office/powerpoint/2010/main" val="1692562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4" grpId="0"/>
      <p:bldP spid="1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993281FC-9199-55E8-58D8-A7B5298399C3}"/>
                  </a:ext>
                </a:extLst>
              </p:cNvPr>
              <p:cNvSpPr>
                <a:spLocks noGrp="1"/>
              </p:cNvSpPr>
              <p:nvPr>
                <p:ph idx="1"/>
              </p:nvPr>
            </p:nvSpPr>
            <p:spPr/>
            <p:txBody>
              <a:bodyPr/>
              <a:lstStyle/>
              <a:p>
                <a:r>
                  <a:rPr lang="en-US" b="1" dirty="0"/>
                  <a:t>Padding</a:t>
                </a:r>
                <a:r>
                  <a:rPr lang="en-US" dirty="0"/>
                  <a:t> counteracts the shrinking of the output, padding can be used</a:t>
                </a:r>
              </a:p>
              <a:p>
                <a:pPr marL="285750" indent="-285750">
                  <a:buFont typeface="Arial" panose="020B0604020202020204" pitchFamily="34" charset="0"/>
                  <a:buChar char="•"/>
                </a:pPr>
                <a:r>
                  <a:rPr lang="en-US" dirty="0"/>
                  <a:t>Padding types</a:t>
                </a:r>
              </a:p>
              <a:p>
                <a:pPr marL="461963" lvl="1" indent="-285750">
                  <a:buFont typeface="Arial" panose="020B0604020202020204" pitchFamily="34" charset="0"/>
                  <a:buChar char="•"/>
                </a:pPr>
                <a:r>
                  <a:rPr lang="en-US" dirty="0"/>
                  <a:t>Valid padding (No padding)</a:t>
                </a:r>
              </a:p>
              <a:p>
                <a:pPr marL="461963" lvl="1" indent="-285750">
                  <a:buFont typeface="Arial" panose="020B0604020202020204" pitchFamily="34" charset="0"/>
                  <a:buChar char="•"/>
                </a:pPr>
                <a:r>
                  <a:rPr lang="en-US" dirty="0"/>
                  <a:t>Zero padding</a:t>
                </a:r>
              </a:p>
              <a:p>
                <a:pPr marL="461963" lvl="1" indent="-285750">
                  <a:buFont typeface="Arial" panose="020B0604020202020204" pitchFamily="34" charset="0"/>
                  <a:buChar char="•"/>
                </a:pPr>
                <a:r>
                  <a:rPr lang="en-US" dirty="0"/>
                  <a:t>Reflection padding</a:t>
                </a:r>
              </a:p>
              <a:p>
                <a:pPr marL="461963" lvl="1"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output dimension </a:t>
                </a:r>
                <a14:m>
                  <m:oMath xmlns:m="http://schemas.openxmlformats.org/officeDocument/2006/math">
                    <m:r>
                      <a:rPr lang="en-US" b="0" i="1" smtClean="0">
                        <a:latin typeface="Cambria Math" panose="02040503050406030204" pitchFamily="18" charset="0"/>
                      </a:rPr>
                      <m:t>𝑂</m:t>
                    </m:r>
                  </m:oMath>
                </a14:m>
                <a:r>
                  <a:rPr lang="en-US" dirty="0"/>
                  <a:t> after a convolutional layer</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𝐼</m:t>
                              </m:r>
                              <m:r>
                                <a:rPr lang="da-DK"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+2</m:t>
                              </m:r>
                              <m:r>
                                <a:rPr lang="en-US" b="0" i="1" smtClean="0">
                                  <a:latin typeface="Cambria Math" panose="02040503050406030204" pitchFamily="18" charset="0"/>
                                </a:rPr>
                                <m:t>𝑃</m:t>
                              </m:r>
                            </m:num>
                            <m:den>
                              <m:r>
                                <a:rPr lang="en-US" b="0" i="1" smtClean="0">
                                  <a:latin typeface="Cambria Math" panose="02040503050406030204" pitchFamily="18" charset="0"/>
                                </a:rPr>
                                <m:t>𝑠</m:t>
                              </m:r>
                            </m:den>
                          </m:f>
                        </m:e>
                      </m:d>
                      <m:r>
                        <a:rPr lang="en-US" b="0" i="1" smtClean="0">
                          <a:latin typeface="Cambria Math" panose="02040503050406030204" pitchFamily="18" charset="0"/>
                        </a:rPr>
                        <m:t>+1</m:t>
                      </m:r>
                    </m:oMath>
                  </m:oMathPara>
                </a14:m>
                <a:endParaRPr lang="en-US" b="0" dirty="0"/>
              </a:p>
              <a:p>
                <a:pPr marL="285750" indent="-285750">
                  <a:buFont typeface="Arial" panose="020B0604020202020204" pitchFamily="34" charset="0"/>
                  <a:buChar char="•"/>
                </a:pPr>
                <a:r>
                  <a:rPr lang="en-US" dirty="0"/>
                  <a:t>Input dimension </a:t>
                </a:r>
                <a14:m>
                  <m:oMath xmlns:m="http://schemas.openxmlformats.org/officeDocument/2006/math">
                    <m:r>
                      <a:rPr lang="en-US" b="0" i="1" smtClean="0">
                        <a:latin typeface="Cambria Math" panose="02040503050406030204" pitchFamily="18" charset="0"/>
                      </a:rPr>
                      <m:t>𝐼</m:t>
                    </m:r>
                  </m:oMath>
                </a14:m>
                <a:endParaRPr lang="en-US" dirty="0"/>
              </a:p>
              <a:p>
                <a:pPr marL="285750" indent="-285750">
                  <a:buFont typeface="Arial" panose="020B0604020202020204" pitchFamily="34" charset="0"/>
                  <a:buChar char="•"/>
                </a:pPr>
                <a:r>
                  <a:rPr lang="en-US" dirty="0"/>
                  <a:t>Kernel size </a:t>
                </a:r>
                <a14:m>
                  <m:oMath xmlns:m="http://schemas.openxmlformats.org/officeDocument/2006/math">
                    <m:r>
                      <a:rPr lang="en-US" b="0" i="1" smtClean="0">
                        <a:latin typeface="Cambria Math" panose="02040503050406030204" pitchFamily="18" charset="0"/>
                      </a:rPr>
                      <m:t>𝐾</m:t>
                    </m:r>
                  </m:oMath>
                </a14:m>
                <a:endParaRPr lang="en-US" dirty="0"/>
              </a:p>
              <a:p>
                <a:pPr marL="285750" indent="-285750">
                  <a:buFont typeface="Arial" panose="020B0604020202020204" pitchFamily="34" charset="0"/>
                  <a:buChar char="•"/>
                </a:pPr>
                <a:r>
                  <a:rPr lang="en-US" dirty="0"/>
                  <a:t>Padding size </a:t>
                </a:r>
                <a14:m>
                  <m:oMath xmlns:m="http://schemas.openxmlformats.org/officeDocument/2006/math">
                    <m:r>
                      <a:rPr lang="en-US" b="0" i="1" smtClean="0">
                        <a:latin typeface="Cambria Math" panose="02040503050406030204" pitchFamily="18" charset="0"/>
                      </a:rPr>
                      <m:t>𝑃</m:t>
                    </m:r>
                  </m:oMath>
                </a14:m>
                <a:endParaRPr lang="en-US" dirty="0"/>
              </a:p>
              <a:p>
                <a:pPr marL="285750" indent="-285750">
                  <a:buFont typeface="Arial" panose="020B0604020202020204" pitchFamily="34" charset="0"/>
                  <a:buChar char="•"/>
                </a:pPr>
                <a:r>
                  <a:rPr lang="en-US" dirty="0"/>
                  <a:t>Stride length </a:t>
                </a:r>
                <a14:m>
                  <m:oMath xmlns:m="http://schemas.openxmlformats.org/officeDocument/2006/math">
                    <m:r>
                      <a:rPr lang="en-US" b="0" i="1" smtClean="0">
                        <a:latin typeface="Cambria Math" panose="02040503050406030204" pitchFamily="18" charset="0"/>
                      </a:rPr>
                      <m:t>𝑠</m:t>
                    </m:r>
                  </m:oMath>
                </a14:m>
                <a:endParaRPr lang="en-US" dirty="0"/>
              </a:p>
              <a:p>
                <a:pPr lvl="1" indent="0">
                  <a:buNone/>
                </a:pPr>
                <a:endParaRPr lang="en-US" dirty="0"/>
              </a:p>
              <a:p>
                <a:endParaRPr lang="en-US" dirty="0"/>
              </a:p>
            </p:txBody>
          </p:sp>
        </mc:Choice>
        <mc:Fallback xmlns="">
          <p:sp>
            <p:nvSpPr>
              <p:cNvPr id="2" name="Content Placeholder 1">
                <a:extLst>
                  <a:ext uri="{FF2B5EF4-FFF2-40B4-BE49-F238E27FC236}">
                    <a16:creationId xmlns:a16="http://schemas.microsoft.com/office/drawing/2014/main" id="{993281FC-9199-55E8-58D8-A7B5298399C3}"/>
                  </a:ext>
                </a:extLst>
              </p:cNvPr>
              <p:cNvSpPr>
                <a:spLocks noGrp="1" noRot="1" noChangeAspect="1" noMove="1" noResize="1" noEditPoints="1" noAdjustHandles="1" noChangeArrowheads="1" noChangeShapeType="1" noTextEdit="1"/>
              </p:cNvSpPr>
              <p:nvPr>
                <p:ph idx="1"/>
              </p:nvPr>
            </p:nvSpPr>
            <p:spPr>
              <a:blipFill>
                <a:blip r:embed="rId3"/>
                <a:stretch>
                  <a:fillRect l="-1289" t="-92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442522B3-58AD-9928-2B08-6E00463E9716}"/>
              </a:ext>
            </a:extLst>
          </p:cNvPr>
          <p:cNvSpPr>
            <a:spLocks noGrp="1"/>
          </p:cNvSpPr>
          <p:nvPr>
            <p:ph type="title"/>
          </p:nvPr>
        </p:nvSpPr>
        <p:spPr/>
        <p:txBody>
          <a:bodyPr/>
          <a:lstStyle/>
          <a:p>
            <a:r>
              <a:rPr lang="de-DE" dirty="0"/>
              <a:t>3.9.1 </a:t>
            </a:r>
            <a:r>
              <a:rPr lang="de-DE" dirty="0" err="1"/>
              <a:t>Convolutional</a:t>
            </a:r>
            <a:r>
              <a:rPr lang="de-DE" dirty="0"/>
              <a:t> </a:t>
            </a:r>
            <a:r>
              <a:rPr lang="de-DE" dirty="0" err="1"/>
              <a:t>Neural</a:t>
            </a:r>
            <a:r>
              <a:rPr lang="de-DE" dirty="0"/>
              <a:t> Networks – Padding </a:t>
            </a:r>
            <a:endParaRPr lang="en-US" dirty="0"/>
          </a:p>
        </p:txBody>
      </p:sp>
      <p:sp>
        <p:nvSpPr>
          <p:cNvPr id="4" name="Slide Number Placeholder 3">
            <a:extLst>
              <a:ext uri="{FF2B5EF4-FFF2-40B4-BE49-F238E27FC236}">
                <a16:creationId xmlns:a16="http://schemas.microsoft.com/office/drawing/2014/main" id="{FA9E3644-C4DA-FB64-BDB3-F33712CD8CAD}"/>
              </a:ext>
            </a:extLst>
          </p:cNvPr>
          <p:cNvSpPr>
            <a:spLocks noGrp="1"/>
          </p:cNvSpPr>
          <p:nvPr>
            <p:ph type="sldNum" sz="quarter" idx="11"/>
          </p:nvPr>
        </p:nvSpPr>
        <p:spPr/>
        <p:txBody>
          <a:bodyPr/>
          <a:lstStyle/>
          <a:p>
            <a:fld id="{CE58CB1E-F828-4F11-99E0-327109AF9DA4}" type="slidenum">
              <a:rPr lang="de-DE" smtClean="0"/>
              <a:pPr/>
              <a:t>19</a:t>
            </a:fld>
            <a:endParaRPr lang="de-DE"/>
          </a:p>
        </p:txBody>
      </p:sp>
      <p:sp>
        <p:nvSpPr>
          <p:cNvPr id="5" name="Footer Placeholder 4">
            <a:extLst>
              <a:ext uri="{FF2B5EF4-FFF2-40B4-BE49-F238E27FC236}">
                <a16:creationId xmlns:a16="http://schemas.microsoft.com/office/drawing/2014/main" id="{A660802E-9878-ECBB-BC4F-FABBE1210929}"/>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pic>
        <p:nvPicPr>
          <p:cNvPr id="6" name="Picture 5">
            <a:extLst>
              <a:ext uri="{FF2B5EF4-FFF2-40B4-BE49-F238E27FC236}">
                <a16:creationId xmlns:a16="http://schemas.microsoft.com/office/drawing/2014/main" id="{30022803-0BC8-0864-CA75-0F3E9BCD598E}"/>
              </a:ext>
            </a:extLst>
          </p:cNvPr>
          <p:cNvPicPr>
            <a:picLocks noChangeAspect="1"/>
          </p:cNvPicPr>
          <p:nvPr/>
        </p:nvPicPr>
        <p:blipFill>
          <a:blip r:embed="rId4"/>
          <a:stretch>
            <a:fillRect/>
          </a:stretch>
        </p:blipFill>
        <p:spPr>
          <a:xfrm>
            <a:off x="5860473" y="969805"/>
            <a:ext cx="2895599" cy="2794643"/>
          </a:xfrm>
          <a:prstGeom prst="rect">
            <a:avLst/>
          </a:prstGeom>
        </p:spPr>
      </p:pic>
      <p:pic>
        <p:nvPicPr>
          <p:cNvPr id="7" name="Picture 5">
            <a:extLst>
              <a:ext uri="{FF2B5EF4-FFF2-40B4-BE49-F238E27FC236}">
                <a16:creationId xmlns:a16="http://schemas.microsoft.com/office/drawing/2014/main" id="{B54A0D76-7F76-4932-B40C-4B3D01CD0136}"/>
              </a:ext>
            </a:extLst>
          </p:cNvPr>
          <p:cNvPicPr>
            <a:picLocks noChangeAspect="1"/>
          </p:cNvPicPr>
          <p:nvPr/>
        </p:nvPicPr>
        <p:blipFill rotWithShape="1">
          <a:blip r:embed="rId5"/>
          <a:srcRect r="27801"/>
          <a:stretch/>
        </p:blipFill>
        <p:spPr>
          <a:xfrm>
            <a:off x="3888210" y="3764448"/>
            <a:ext cx="1709057" cy="439503"/>
          </a:xfrm>
          <a:prstGeom prst="rect">
            <a:avLst/>
          </a:prstGeom>
        </p:spPr>
      </p:pic>
      <p:pic>
        <p:nvPicPr>
          <p:cNvPr id="8" name="Picture 5">
            <a:extLst>
              <a:ext uri="{FF2B5EF4-FFF2-40B4-BE49-F238E27FC236}">
                <a16:creationId xmlns:a16="http://schemas.microsoft.com/office/drawing/2014/main" id="{D01D5F4D-D187-4A2C-B06C-CEC7061D57FF}"/>
              </a:ext>
            </a:extLst>
          </p:cNvPr>
          <p:cNvPicPr>
            <a:picLocks noChangeAspect="1"/>
          </p:cNvPicPr>
          <p:nvPr/>
        </p:nvPicPr>
        <p:blipFill rotWithShape="1">
          <a:blip r:embed="rId5"/>
          <a:srcRect l="51735" r="1129"/>
          <a:stretch/>
        </p:blipFill>
        <p:spPr>
          <a:xfrm>
            <a:off x="4234239" y="4341535"/>
            <a:ext cx="1115786" cy="439503"/>
          </a:xfrm>
          <a:prstGeom prst="rect">
            <a:avLst/>
          </a:prstGeom>
        </p:spPr>
      </p:pic>
      <mc:AlternateContent xmlns:mc="http://schemas.openxmlformats.org/markup-compatibility/2006">
        <mc:Choice xmlns:a14="http://schemas.microsoft.com/office/drawing/2010/main" Requires="a14">
          <p:sp>
            <p:nvSpPr>
              <p:cNvPr id="11" name="Textfeld 10">
                <a:extLst>
                  <a:ext uri="{FF2B5EF4-FFF2-40B4-BE49-F238E27FC236}">
                    <a16:creationId xmlns:a16="http://schemas.microsoft.com/office/drawing/2014/main" id="{5159B1CB-6405-4C42-9948-4632FF811403}"/>
                  </a:ext>
                </a:extLst>
              </p:cNvPr>
              <p:cNvSpPr txBox="1"/>
              <p:nvPr/>
            </p:nvSpPr>
            <p:spPr>
              <a:xfrm>
                <a:off x="5597267" y="3814595"/>
                <a:ext cx="2401217" cy="5032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𝑂</m:t>
                      </m:r>
                      <m:r>
                        <a:rPr lang="en-US" sz="1200" b="0" i="1" smtClean="0">
                          <a:latin typeface="Cambria Math" panose="02040503050406030204" pitchFamily="18" charset="0"/>
                        </a:rPr>
                        <m:t>=</m:t>
                      </m:r>
                      <m:d>
                        <m:dPr>
                          <m:begChr m:val="⌊"/>
                          <m:endChr m:val="⌋"/>
                          <m:ctrlPr>
                            <a:rPr lang="en-US" sz="1200" b="0" i="1" smtClean="0">
                              <a:latin typeface="Cambria Math" panose="02040503050406030204" pitchFamily="18" charset="0"/>
                            </a:rPr>
                          </m:ctrlPr>
                        </m:dPr>
                        <m:e>
                          <m:f>
                            <m:fPr>
                              <m:ctrlPr>
                                <a:rPr lang="en-US" sz="1200" b="0" i="1" smtClean="0">
                                  <a:latin typeface="Cambria Math" panose="02040503050406030204" pitchFamily="18" charset="0"/>
                                </a:rPr>
                              </m:ctrlPr>
                            </m:fPr>
                            <m:num>
                              <m:r>
                                <a:rPr lang="de-DE" sz="1200" b="0" i="1" smtClean="0">
                                  <a:latin typeface="Cambria Math" panose="02040503050406030204" pitchFamily="18" charset="0"/>
                                </a:rPr>
                                <m:t>5</m:t>
                              </m:r>
                              <m:r>
                                <a:rPr lang="da-DK" sz="1200" b="0" i="1" smtClean="0">
                                  <a:latin typeface="Cambria Math" panose="02040503050406030204" pitchFamily="18" charset="0"/>
                                </a:rPr>
                                <m:t>−</m:t>
                              </m:r>
                              <m:r>
                                <a:rPr lang="de-DE" sz="1200" b="0" i="1" smtClean="0">
                                  <a:latin typeface="Cambria Math" panose="02040503050406030204" pitchFamily="18" charset="0"/>
                                </a:rPr>
                                <m:t>3</m:t>
                              </m:r>
                              <m:r>
                                <a:rPr lang="en-US" sz="1200" b="0" i="1" smtClean="0">
                                  <a:latin typeface="Cambria Math" panose="02040503050406030204" pitchFamily="18" charset="0"/>
                                </a:rPr>
                                <m:t>+2</m:t>
                              </m:r>
                              <m:r>
                                <a:rPr lang="de-DE" sz="1200" b="0" i="1" smtClean="0">
                                  <a:latin typeface="Cambria Math" panose="02040503050406030204" pitchFamily="18" charset="0"/>
                                </a:rPr>
                                <m:t>⋅0</m:t>
                              </m:r>
                            </m:num>
                            <m:den>
                              <m:r>
                                <a:rPr lang="de-DE" sz="1200" b="0" i="1" smtClean="0">
                                  <a:latin typeface="Cambria Math" panose="02040503050406030204" pitchFamily="18" charset="0"/>
                                </a:rPr>
                                <m:t>1</m:t>
                              </m:r>
                            </m:den>
                          </m:f>
                        </m:e>
                      </m:d>
                      <m:r>
                        <a:rPr lang="en-US" sz="1200" b="0" i="1" smtClean="0">
                          <a:latin typeface="Cambria Math" panose="02040503050406030204" pitchFamily="18" charset="0"/>
                        </a:rPr>
                        <m:t>+1</m:t>
                      </m:r>
                      <m:r>
                        <a:rPr lang="de-DE" sz="1200" b="0" i="1" smtClean="0">
                          <a:latin typeface="Cambria Math" panose="02040503050406030204" pitchFamily="18" charset="0"/>
                        </a:rPr>
                        <m:t>=3</m:t>
                      </m:r>
                    </m:oMath>
                  </m:oMathPara>
                </a14:m>
                <a:endParaRPr lang="en-US" sz="1200" b="0" dirty="0"/>
              </a:p>
            </p:txBody>
          </p:sp>
        </mc:Choice>
        <mc:Fallback>
          <p:sp>
            <p:nvSpPr>
              <p:cNvPr id="11" name="Textfeld 10">
                <a:extLst>
                  <a:ext uri="{FF2B5EF4-FFF2-40B4-BE49-F238E27FC236}">
                    <a16:creationId xmlns:a16="http://schemas.microsoft.com/office/drawing/2014/main" id="{5159B1CB-6405-4C42-9948-4632FF811403}"/>
                  </a:ext>
                </a:extLst>
              </p:cNvPr>
              <p:cNvSpPr txBox="1">
                <a:spLocks noRot="1" noChangeAspect="1" noMove="1" noResize="1" noEditPoints="1" noAdjustHandles="1" noChangeArrowheads="1" noChangeShapeType="1" noTextEdit="1"/>
              </p:cNvSpPr>
              <p:nvPr/>
            </p:nvSpPr>
            <p:spPr>
              <a:xfrm>
                <a:off x="5597267" y="3814595"/>
                <a:ext cx="2401217" cy="50321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feld 11">
                <a:extLst>
                  <a:ext uri="{FF2B5EF4-FFF2-40B4-BE49-F238E27FC236}">
                    <a16:creationId xmlns:a16="http://schemas.microsoft.com/office/drawing/2014/main" id="{C400850B-7113-450B-9B62-0AAFFB319D2E}"/>
                  </a:ext>
                </a:extLst>
              </p:cNvPr>
              <p:cNvSpPr txBox="1"/>
              <p:nvPr/>
            </p:nvSpPr>
            <p:spPr>
              <a:xfrm>
                <a:off x="5597267" y="4334014"/>
                <a:ext cx="2401217" cy="5032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200" b="0" i="1" smtClean="0">
                          <a:latin typeface="Cambria Math" panose="02040503050406030204" pitchFamily="18" charset="0"/>
                        </a:rPr>
                        <m:t>𝑂</m:t>
                      </m:r>
                      <m:r>
                        <a:rPr lang="en-US" sz="1200" b="0" i="1" smtClean="0">
                          <a:latin typeface="Cambria Math" panose="02040503050406030204" pitchFamily="18" charset="0"/>
                        </a:rPr>
                        <m:t>=</m:t>
                      </m:r>
                      <m:d>
                        <m:dPr>
                          <m:begChr m:val="⌊"/>
                          <m:endChr m:val="⌋"/>
                          <m:ctrlPr>
                            <a:rPr lang="en-US" sz="1200" b="0" i="1" smtClean="0">
                              <a:latin typeface="Cambria Math" panose="02040503050406030204" pitchFamily="18" charset="0"/>
                            </a:rPr>
                          </m:ctrlPr>
                        </m:dPr>
                        <m:e>
                          <m:f>
                            <m:fPr>
                              <m:ctrlPr>
                                <a:rPr lang="en-US" sz="1200" b="0" i="1" smtClean="0">
                                  <a:latin typeface="Cambria Math" panose="02040503050406030204" pitchFamily="18" charset="0"/>
                                </a:rPr>
                              </m:ctrlPr>
                            </m:fPr>
                            <m:num>
                              <m:r>
                                <a:rPr lang="de-DE" sz="1200" b="0" i="1" smtClean="0">
                                  <a:latin typeface="Cambria Math" panose="02040503050406030204" pitchFamily="18" charset="0"/>
                                </a:rPr>
                                <m:t>3</m:t>
                              </m:r>
                              <m:r>
                                <a:rPr lang="da-DK" sz="1200" b="0" i="1" smtClean="0">
                                  <a:latin typeface="Cambria Math" panose="02040503050406030204" pitchFamily="18" charset="0"/>
                                </a:rPr>
                                <m:t>−</m:t>
                              </m:r>
                              <m:r>
                                <a:rPr lang="de-DE" sz="1200" b="0" i="1" smtClean="0">
                                  <a:latin typeface="Cambria Math" panose="02040503050406030204" pitchFamily="18" charset="0"/>
                                </a:rPr>
                                <m:t>3</m:t>
                              </m:r>
                              <m:r>
                                <a:rPr lang="en-US" sz="1200" b="0" i="1" smtClean="0">
                                  <a:latin typeface="Cambria Math" panose="02040503050406030204" pitchFamily="18" charset="0"/>
                                </a:rPr>
                                <m:t>+2</m:t>
                              </m:r>
                              <m:r>
                                <a:rPr lang="de-DE" sz="1200" b="0" i="1" smtClean="0">
                                  <a:latin typeface="Cambria Math" panose="02040503050406030204" pitchFamily="18" charset="0"/>
                                </a:rPr>
                                <m:t>⋅0</m:t>
                              </m:r>
                            </m:num>
                            <m:den>
                              <m:r>
                                <a:rPr lang="de-DE" sz="1200" b="0" i="1" smtClean="0">
                                  <a:latin typeface="Cambria Math" panose="02040503050406030204" pitchFamily="18" charset="0"/>
                                </a:rPr>
                                <m:t>1</m:t>
                              </m:r>
                            </m:den>
                          </m:f>
                        </m:e>
                      </m:d>
                      <m:r>
                        <a:rPr lang="en-US" sz="1200" b="0" i="1" smtClean="0">
                          <a:latin typeface="Cambria Math" panose="02040503050406030204" pitchFamily="18" charset="0"/>
                        </a:rPr>
                        <m:t>+1</m:t>
                      </m:r>
                      <m:r>
                        <a:rPr lang="de-DE" sz="1200" b="0" i="1" smtClean="0">
                          <a:latin typeface="Cambria Math" panose="02040503050406030204" pitchFamily="18" charset="0"/>
                        </a:rPr>
                        <m:t>=1</m:t>
                      </m:r>
                    </m:oMath>
                  </m:oMathPara>
                </a14:m>
                <a:endParaRPr lang="en-US" sz="1200" b="0" dirty="0"/>
              </a:p>
            </p:txBody>
          </p:sp>
        </mc:Choice>
        <mc:Fallback>
          <p:sp>
            <p:nvSpPr>
              <p:cNvPr id="12" name="Textfeld 11">
                <a:extLst>
                  <a:ext uri="{FF2B5EF4-FFF2-40B4-BE49-F238E27FC236}">
                    <a16:creationId xmlns:a16="http://schemas.microsoft.com/office/drawing/2014/main" id="{C400850B-7113-450B-9B62-0AAFFB319D2E}"/>
                  </a:ext>
                </a:extLst>
              </p:cNvPr>
              <p:cNvSpPr txBox="1">
                <a:spLocks noRot="1" noChangeAspect="1" noMove="1" noResize="1" noEditPoints="1" noAdjustHandles="1" noChangeArrowheads="1" noChangeShapeType="1" noTextEdit="1"/>
              </p:cNvSpPr>
              <p:nvPr/>
            </p:nvSpPr>
            <p:spPr>
              <a:xfrm>
                <a:off x="5597267" y="4334014"/>
                <a:ext cx="2401217" cy="503215"/>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406612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120D88A-DF90-1651-8005-D5AA28959441}"/>
              </a:ext>
            </a:extLst>
          </p:cNvPr>
          <p:cNvSpPr>
            <a:spLocks noGrp="1"/>
          </p:cNvSpPr>
          <p:nvPr>
            <p:ph idx="1"/>
          </p:nvPr>
        </p:nvSpPr>
        <p:spPr/>
        <p:txBody>
          <a:bodyPr/>
          <a:lstStyle/>
          <a:p>
            <a:pPr>
              <a:lnSpc>
                <a:spcPts val="1425"/>
              </a:lnSpc>
            </a:pP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CNN(</a:t>
            </a:r>
            <a:r>
              <a:rPr lang="en-US" b="0" dirty="0" err="1">
                <a:solidFill>
                  <a:srgbClr val="000000"/>
                </a:solidFill>
                <a:effectLst/>
                <a:latin typeface="Consolas" panose="020B0609020204030204" pitchFamily="49" charset="0"/>
              </a:rPr>
              <a:t>torch.nn.Module</a:t>
            </a:r>
            <a:r>
              <a:rPr lang="en-US" b="0" dirty="0">
                <a:solidFill>
                  <a:srgbClr val="000000"/>
                </a:solidFill>
                <a:effectLst/>
                <a:latin typeface="Consolas" panose="020B0609020204030204" pitchFamily="49" charset="0"/>
              </a:rPr>
              <a:t>):</a:t>
            </a:r>
          </a:p>
          <a:p>
            <a:pPr>
              <a:lnSpc>
                <a:spcPts val="1425"/>
              </a:lnSpc>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t>
            </a:r>
            <a:r>
              <a:rPr lang="en-US" b="0" dirty="0">
                <a:solidFill>
                  <a:srgbClr val="000000"/>
                </a:solidFill>
                <a:effectLst/>
                <a:latin typeface="Consolas" panose="020B0609020204030204" pitchFamily="49" charset="0"/>
              </a:rPr>
              <a:t> __</a:t>
            </a:r>
            <a:r>
              <a:rPr lang="en-US" b="0" dirty="0" err="1">
                <a:solidFill>
                  <a:srgbClr val="000000"/>
                </a:solidFill>
                <a:effectLst/>
                <a:latin typeface="Consolas" panose="020B0609020204030204" pitchFamily="49" charset="0"/>
              </a:rPr>
              <a:t>init</a:t>
            </a:r>
            <a:r>
              <a:rPr lang="en-US" b="0" dirty="0">
                <a:solidFill>
                  <a:srgbClr val="000000"/>
                </a:solidFill>
                <a:effectLst/>
                <a:latin typeface="Consolas" panose="020B0609020204030204" pitchFamily="49" charset="0"/>
              </a:rPr>
              <a:t>__(self, </a:t>
            </a:r>
            <a:r>
              <a:rPr lang="en-US" b="0" dirty="0" err="1">
                <a:solidFill>
                  <a:srgbClr val="000000"/>
                </a:solidFill>
                <a:effectLst/>
                <a:latin typeface="Consolas" panose="020B0609020204030204" pitchFamily="49" charset="0"/>
              </a:rPr>
              <a:t>inputImages</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hiddenImages</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outputImages</a:t>
            </a:r>
            <a:r>
              <a:rPr lang="en-US" b="0" dirty="0">
                <a:solidFill>
                  <a:srgbClr val="000000"/>
                </a:solidFill>
                <a:effectLst/>
                <a:latin typeface="Consolas" panose="020B0609020204030204" pitchFamily="49" charset="0"/>
              </a:rPr>
              <a:t>):</a:t>
            </a:r>
          </a:p>
          <a:p>
            <a:pPr>
              <a:lnSpc>
                <a:spcPts val="1425"/>
              </a:lnSpc>
            </a:pPr>
            <a:r>
              <a:rPr lang="en-US" b="0" dirty="0">
                <a:solidFill>
                  <a:srgbClr val="000000"/>
                </a:solidFill>
                <a:effectLst/>
                <a:latin typeface="Consolas" panose="020B0609020204030204" pitchFamily="49" charset="0"/>
              </a:rPr>
              <a:t>        super(CNN, </a:t>
            </a:r>
            <a:r>
              <a:rPr lang="en-US" b="0" dirty="0">
                <a:solidFill>
                  <a:srgbClr val="0000FF"/>
                </a:solidFill>
                <a:effectLst/>
                <a:latin typeface="Consolas" panose="020B0609020204030204" pitchFamily="49" charset="0"/>
              </a:rPr>
              <a:t>self</a:t>
            </a:r>
            <a:r>
              <a:rPr lang="en-US" b="0" dirty="0">
                <a:solidFill>
                  <a:srgbClr val="000000"/>
                </a:solidFill>
                <a:effectLst/>
                <a:latin typeface="Consolas" panose="020B0609020204030204" pitchFamily="49" charset="0"/>
              </a:rPr>
              <a:t>).__</a:t>
            </a:r>
            <a:r>
              <a:rPr lang="en-US" b="0" dirty="0" err="1">
                <a:solidFill>
                  <a:srgbClr val="000000"/>
                </a:solidFill>
                <a:effectLst/>
                <a:latin typeface="Consolas" panose="020B0609020204030204" pitchFamily="49" charset="0"/>
              </a:rPr>
              <a:t>init</a:t>
            </a:r>
            <a:r>
              <a:rPr lang="en-US" b="0" dirty="0">
                <a:solidFill>
                  <a:srgbClr val="000000"/>
                </a:solidFill>
                <a:effectLst/>
                <a:latin typeface="Consolas" panose="020B0609020204030204" pitchFamily="49" charset="0"/>
              </a:rPr>
              <a:t>__()</a:t>
            </a:r>
          </a:p>
          <a:p>
            <a:pPr>
              <a:lnSpc>
                <a:spcPts val="1425"/>
              </a:lnSpc>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self</a:t>
            </a:r>
            <a:r>
              <a:rPr lang="en-US" b="0" dirty="0">
                <a:solidFill>
                  <a:srgbClr val="000000"/>
                </a:solidFill>
                <a:effectLst/>
                <a:latin typeface="Consolas" panose="020B0609020204030204" pitchFamily="49" charset="0"/>
              </a:rPr>
              <a:t>.cnn1 = torch.nn.Conv2d(</a:t>
            </a:r>
            <a:r>
              <a:rPr lang="en-US" b="0" dirty="0" err="1">
                <a:solidFill>
                  <a:srgbClr val="000000"/>
                </a:solidFill>
                <a:effectLst/>
                <a:latin typeface="Consolas" panose="020B0609020204030204" pitchFamily="49" charset="0"/>
              </a:rPr>
              <a:t>inputImages</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hiddenImages</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kernel_size</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 </a:t>
            </a:r>
          </a:p>
          <a:p>
            <a:pPr>
              <a:lnSpc>
                <a:spcPts val="1425"/>
              </a:lnSpc>
            </a:pPr>
            <a:r>
              <a:rPr lang="en-US" b="0" dirty="0">
                <a:solidFill>
                  <a:srgbClr val="000000"/>
                </a:solidFill>
                <a:effectLst/>
                <a:latin typeface="Consolas" panose="020B0609020204030204" pitchFamily="49" charset="0"/>
              </a:rPr>
              <a:t>                                    stride=</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padding=</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pPr>
              <a:lnSpc>
                <a:spcPts val="1425"/>
              </a:lnSpc>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self</a:t>
            </a:r>
            <a:r>
              <a:rPr lang="en-US" b="0" dirty="0">
                <a:solidFill>
                  <a:srgbClr val="000000"/>
                </a:solidFill>
                <a:effectLst/>
                <a:latin typeface="Consolas" panose="020B0609020204030204" pitchFamily="49" charset="0"/>
              </a:rPr>
              <a:t>.cnn2 = torch.nn.Conv2d(</a:t>
            </a:r>
            <a:r>
              <a:rPr lang="en-US" b="0" dirty="0" err="1">
                <a:solidFill>
                  <a:srgbClr val="000000"/>
                </a:solidFill>
                <a:effectLst/>
                <a:latin typeface="Consolas" panose="020B0609020204030204" pitchFamily="49" charset="0"/>
              </a:rPr>
              <a:t>hiddenImages</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outputImages</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kernel_size</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 </a:t>
            </a:r>
          </a:p>
          <a:p>
            <a:pPr>
              <a:lnSpc>
                <a:spcPts val="1425"/>
              </a:lnSpc>
            </a:pPr>
            <a:r>
              <a:rPr lang="en-US" b="0" dirty="0">
                <a:solidFill>
                  <a:srgbClr val="000000"/>
                </a:solidFill>
                <a:effectLst/>
                <a:latin typeface="Consolas" panose="020B0609020204030204" pitchFamily="49" charset="0"/>
              </a:rPr>
              <a:t>                                    stride=</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padding=</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pPr>
              <a:lnSpc>
                <a:spcPts val="1425"/>
              </a:lnSpc>
            </a:pP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self</a:t>
            </a:r>
            <a:r>
              <a:rPr lang="en-US" b="0" dirty="0" err="1">
                <a:solidFill>
                  <a:srgbClr val="000000"/>
                </a:solidFill>
                <a:effectLst/>
                <a:latin typeface="Consolas" panose="020B0609020204030204" pitchFamily="49" charset="0"/>
              </a:rPr>
              <a:t>.activation</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torch.nn.ReLU</a:t>
            </a:r>
            <a:r>
              <a:rPr lang="en-US" b="0" dirty="0">
                <a:solidFill>
                  <a:srgbClr val="000000"/>
                </a:solidFill>
                <a:effectLst/>
                <a:latin typeface="Consolas" panose="020B0609020204030204" pitchFamily="49" charset="0"/>
              </a:rPr>
              <a:t>()</a:t>
            </a:r>
          </a:p>
          <a:p>
            <a:pPr>
              <a:lnSpc>
                <a:spcPts val="1425"/>
              </a:lnSpc>
            </a:pPr>
            <a:r>
              <a:rPr lang="en-US" b="0" dirty="0">
                <a:solidFill>
                  <a:srgbClr val="000000"/>
                </a:solidFill>
                <a:effectLst/>
                <a:latin typeface="Consolas" panose="020B0609020204030204" pitchFamily="49" charset="0"/>
              </a:rPr>
              <a:t>   </a:t>
            </a:r>
          </a:p>
          <a:p>
            <a:pPr>
              <a:lnSpc>
                <a:spcPts val="1425"/>
              </a:lnSpc>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t>
            </a:r>
            <a:r>
              <a:rPr lang="en-US" b="0" dirty="0">
                <a:solidFill>
                  <a:srgbClr val="000000"/>
                </a:solidFill>
                <a:effectLst/>
                <a:latin typeface="Consolas" panose="020B0609020204030204" pitchFamily="49" charset="0"/>
              </a:rPr>
              <a:t> forward(self, x):</a:t>
            </a:r>
          </a:p>
          <a:p>
            <a:pPr>
              <a:lnSpc>
                <a:spcPts val="1425"/>
              </a:lnSpc>
            </a:pPr>
            <a:r>
              <a:rPr lang="en-US" b="0" dirty="0">
                <a:solidFill>
                  <a:srgbClr val="000000"/>
                </a:solidFill>
                <a:effectLst/>
                <a:latin typeface="Consolas" panose="020B0609020204030204" pitchFamily="49" charset="0"/>
              </a:rPr>
              <a:t>        y = </a:t>
            </a:r>
            <a:r>
              <a:rPr lang="en-US" b="0" dirty="0" err="1">
                <a:solidFill>
                  <a:srgbClr val="0000FF"/>
                </a:solidFill>
                <a:effectLst/>
                <a:latin typeface="Consolas" panose="020B0609020204030204" pitchFamily="49" charset="0"/>
              </a:rPr>
              <a:t>self</a:t>
            </a:r>
            <a:r>
              <a:rPr lang="en-US" b="0" dirty="0" err="1">
                <a:solidFill>
                  <a:srgbClr val="000000"/>
                </a:solidFill>
                <a:effectLst/>
                <a:latin typeface="Consolas" panose="020B0609020204030204" pitchFamily="49" charset="0"/>
              </a:rPr>
              <a:t>.activation</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self</a:t>
            </a:r>
            <a:r>
              <a:rPr lang="en-US" b="0" dirty="0">
                <a:solidFill>
                  <a:srgbClr val="000000"/>
                </a:solidFill>
                <a:effectLst/>
                <a:latin typeface="Consolas" panose="020B0609020204030204" pitchFamily="49" charset="0"/>
              </a:rPr>
              <a:t>.cnn1(x))</a:t>
            </a:r>
          </a:p>
          <a:p>
            <a:pPr>
              <a:lnSpc>
                <a:spcPts val="1425"/>
              </a:lnSpc>
            </a:pPr>
            <a:r>
              <a:rPr lang="en-US" b="0" dirty="0">
                <a:solidFill>
                  <a:srgbClr val="000000"/>
                </a:solidFill>
                <a:effectLst/>
                <a:latin typeface="Consolas" panose="020B0609020204030204" pitchFamily="49" charset="0"/>
              </a:rPr>
              <a:t>        y = </a:t>
            </a:r>
            <a:r>
              <a:rPr lang="en-US" b="0" dirty="0">
                <a:solidFill>
                  <a:srgbClr val="0000FF"/>
                </a:solidFill>
                <a:effectLst/>
                <a:latin typeface="Consolas" panose="020B0609020204030204" pitchFamily="49" charset="0"/>
              </a:rPr>
              <a:t>self</a:t>
            </a:r>
            <a:r>
              <a:rPr lang="en-US" b="0" dirty="0">
                <a:solidFill>
                  <a:srgbClr val="000000"/>
                </a:solidFill>
                <a:effectLst/>
                <a:latin typeface="Consolas" panose="020B0609020204030204" pitchFamily="49" charset="0"/>
              </a:rPr>
              <a:t>.cnn2(y)</a:t>
            </a:r>
          </a:p>
          <a:p>
            <a:pPr>
              <a:lnSpc>
                <a:spcPts val="1425"/>
              </a:lnSpc>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y</a:t>
            </a:r>
          </a:p>
          <a:p>
            <a:endParaRPr lang="da-DK" dirty="0">
              <a:latin typeface="DejaVu Sans Mono" panose="020B0609030804020204" pitchFamily="49" charset="0"/>
              <a:ea typeface="DejaVu Sans Mono" panose="020B0609030804020204" pitchFamily="49" charset="0"/>
              <a:cs typeface="DejaVu Sans Mono" panose="020B0609030804020204" pitchFamily="49" charset="0"/>
            </a:endParaRPr>
          </a:p>
          <a:p>
            <a:endParaRPr lang="da-DK" dirty="0">
              <a:latin typeface="DejaVu Sans Mono" panose="020B0609030804020204" pitchFamily="49" charset="0"/>
              <a:ea typeface="DejaVu Sans Mono" panose="020B0609030804020204" pitchFamily="49" charset="0"/>
              <a:cs typeface="DejaVu Sans Mono" panose="020B0609030804020204" pitchFamily="49" charset="0"/>
            </a:endParaRPr>
          </a:p>
          <a:p>
            <a:r>
              <a:rPr lang="en-US" b="0" dirty="0">
                <a:solidFill>
                  <a:srgbClr val="000000"/>
                </a:solidFill>
                <a:effectLst/>
                <a:latin typeface="Consolas" panose="020B0609020204030204" pitchFamily="49" charset="0"/>
              </a:rPr>
              <a:t>model = CNN(</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3</a:t>
            </a:r>
            <a:r>
              <a:rPr lang="en-US" b="0" dirty="0">
                <a:solidFill>
                  <a:srgbClr val="000000"/>
                </a:solidFill>
                <a:effectLst/>
                <a:latin typeface="Consolas" panose="020B0609020204030204" pitchFamily="49" charset="0"/>
              </a:rPr>
              <a:t>, </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input has size </a:t>
            </a:r>
            <a:br>
              <a:rPr lang="en-US" b="0" dirty="0">
                <a:solidFill>
                  <a:srgbClr val="008000"/>
                </a:solidFill>
                <a:effectLst/>
                <a:latin typeface="Consolas" panose="020B0609020204030204" pitchFamily="49" charset="0"/>
              </a:rPr>
            </a:br>
            <a:r>
              <a:rPr lang="en-US" b="0" dirty="0">
                <a:solidFill>
                  <a:srgbClr val="008000"/>
                </a:solidFill>
                <a:effectLst/>
                <a:latin typeface="Consolas" panose="020B0609020204030204" pitchFamily="49" charset="0"/>
              </a:rPr>
              <a:t>		  (1, 2, </a:t>
            </a:r>
            <a:r>
              <a:rPr lang="en-US" b="0" dirty="0" err="1">
                <a:solidFill>
                  <a:srgbClr val="008000"/>
                </a:solidFill>
                <a:effectLst/>
                <a:latin typeface="Consolas" panose="020B0609020204030204" pitchFamily="49" charset="0"/>
              </a:rPr>
              <a:t>imageSize</a:t>
            </a:r>
            <a:r>
              <a:rPr lang="en-US" b="0" dirty="0">
                <a:solidFill>
                  <a:srgbClr val="008000"/>
                </a:solidFill>
                <a:effectLst/>
                <a:latin typeface="Consolas" panose="020B0609020204030204" pitchFamily="49" charset="0"/>
              </a:rPr>
              <a:t>, </a:t>
            </a:r>
            <a:r>
              <a:rPr lang="en-US" b="0" dirty="0" err="1">
                <a:solidFill>
                  <a:srgbClr val="008000"/>
                </a:solidFill>
                <a:effectLst/>
                <a:latin typeface="Consolas" panose="020B0609020204030204" pitchFamily="49" charset="0"/>
              </a:rPr>
              <a:t>imageSize</a:t>
            </a:r>
            <a:r>
              <a:rPr lang="en-US" b="0" dirty="0">
                <a:solidFill>
                  <a:srgbClr val="008000"/>
                </a:solidFill>
                <a:effectLst/>
                <a:latin typeface="Consolas" panose="020B0609020204030204" pitchFamily="49" charset="0"/>
              </a:rPr>
              <a:t>)</a:t>
            </a:r>
            <a:endParaRPr lang="en-US" b="0" dirty="0">
              <a:solidFill>
                <a:srgbClr val="000000"/>
              </a:solidFill>
              <a:effectLst/>
              <a:latin typeface="Consolas" panose="020B0609020204030204" pitchFamily="49" charset="0"/>
            </a:endParaRPr>
          </a:p>
          <a:p>
            <a:endParaRPr lang="da-DK" dirty="0">
              <a:latin typeface="+mj-lt"/>
              <a:ea typeface="DejaVu Sans Mono" panose="020B0609030804020204" pitchFamily="49" charset="0"/>
              <a:cs typeface="DejaVu Sans Mono" panose="020B0609030804020204" pitchFamily="49" charset="0"/>
            </a:endParaRPr>
          </a:p>
        </p:txBody>
      </p:sp>
      <p:sp>
        <p:nvSpPr>
          <p:cNvPr id="3" name="Title 2">
            <a:extLst>
              <a:ext uri="{FF2B5EF4-FFF2-40B4-BE49-F238E27FC236}">
                <a16:creationId xmlns:a16="http://schemas.microsoft.com/office/drawing/2014/main" id="{4F6D928A-655A-1E69-3A44-4A70BB23DF46}"/>
              </a:ext>
            </a:extLst>
          </p:cNvPr>
          <p:cNvSpPr>
            <a:spLocks noGrp="1"/>
          </p:cNvSpPr>
          <p:nvPr>
            <p:ph type="title"/>
          </p:nvPr>
        </p:nvSpPr>
        <p:spPr/>
        <p:txBody>
          <a:bodyPr/>
          <a:lstStyle/>
          <a:p>
            <a:r>
              <a:rPr lang="de-DE" dirty="0"/>
              <a:t>3.9.1 </a:t>
            </a:r>
            <a:r>
              <a:rPr lang="de-DE" dirty="0" err="1"/>
              <a:t>Convolutional</a:t>
            </a:r>
            <a:r>
              <a:rPr lang="de-DE" dirty="0"/>
              <a:t> </a:t>
            </a:r>
            <a:r>
              <a:rPr lang="de-DE" dirty="0" err="1"/>
              <a:t>Neural</a:t>
            </a:r>
            <a:r>
              <a:rPr lang="de-DE" dirty="0"/>
              <a:t> Networks – </a:t>
            </a:r>
            <a:r>
              <a:rPr lang="de-DE" dirty="0" err="1"/>
              <a:t>PyTorch</a:t>
            </a:r>
            <a:r>
              <a:rPr lang="de-DE" dirty="0"/>
              <a:t> </a:t>
            </a:r>
            <a:endParaRPr lang="en-US" dirty="0"/>
          </a:p>
        </p:txBody>
      </p:sp>
      <p:sp>
        <p:nvSpPr>
          <p:cNvPr id="4" name="Slide Number Placeholder 3">
            <a:extLst>
              <a:ext uri="{FF2B5EF4-FFF2-40B4-BE49-F238E27FC236}">
                <a16:creationId xmlns:a16="http://schemas.microsoft.com/office/drawing/2014/main" id="{E1ACEE40-CEEE-5EDF-9D1A-F69D0B270AC2}"/>
              </a:ext>
            </a:extLst>
          </p:cNvPr>
          <p:cNvSpPr>
            <a:spLocks noGrp="1"/>
          </p:cNvSpPr>
          <p:nvPr>
            <p:ph type="sldNum" sz="quarter" idx="11"/>
          </p:nvPr>
        </p:nvSpPr>
        <p:spPr/>
        <p:txBody>
          <a:bodyPr/>
          <a:lstStyle/>
          <a:p>
            <a:fld id="{CE58CB1E-F828-4F11-99E0-327109AF9DA4}" type="slidenum">
              <a:rPr lang="de-DE" smtClean="0"/>
              <a:pPr/>
              <a:t>20</a:t>
            </a:fld>
            <a:endParaRPr lang="de-DE"/>
          </a:p>
        </p:txBody>
      </p:sp>
      <p:sp>
        <p:nvSpPr>
          <p:cNvPr id="5" name="Footer Placeholder 4">
            <a:extLst>
              <a:ext uri="{FF2B5EF4-FFF2-40B4-BE49-F238E27FC236}">
                <a16:creationId xmlns:a16="http://schemas.microsoft.com/office/drawing/2014/main" id="{A24185E7-6561-C509-7888-6B3DFFBFC530}"/>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pic>
        <p:nvPicPr>
          <p:cNvPr id="6" name="Picture 5">
            <a:extLst>
              <a:ext uri="{FF2B5EF4-FFF2-40B4-BE49-F238E27FC236}">
                <a16:creationId xmlns:a16="http://schemas.microsoft.com/office/drawing/2014/main" id="{434F4080-2BD6-0502-C3B3-8E0172BAC116}"/>
              </a:ext>
            </a:extLst>
          </p:cNvPr>
          <p:cNvPicPr>
            <a:picLocks noChangeAspect="1"/>
          </p:cNvPicPr>
          <p:nvPr/>
        </p:nvPicPr>
        <p:blipFill>
          <a:blip r:embed="rId3"/>
          <a:srcRect l="50597"/>
          <a:stretch/>
        </p:blipFill>
        <p:spPr>
          <a:xfrm>
            <a:off x="5165962" y="2702540"/>
            <a:ext cx="3417973" cy="2090177"/>
          </a:xfrm>
          <a:prstGeom prst="rect">
            <a:avLst/>
          </a:prstGeom>
        </p:spPr>
      </p:pic>
    </p:spTree>
    <p:extLst>
      <p:ext uri="{BB962C8B-B14F-4D97-AF65-F5344CB8AC3E}">
        <p14:creationId xmlns:p14="http://schemas.microsoft.com/office/powerpoint/2010/main" val="19614104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F4090-83C7-B298-4969-D4E4F254B87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9197F36-551F-FEF6-2828-3844E4CFB361}"/>
              </a:ext>
            </a:extLst>
          </p:cNvPr>
          <p:cNvSpPr>
            <a:spLocks noGrp="1"/>
          </p:cNvSpPr>
          <p:nvPr>
            <p:ph idx="1"/>
          </p:nvPr>
        </p:nvSpPr>
        <p:spPr/>
        <p:txBody>
          <a:bodyPr/>
          <a:lstStyle/>
          <a:p>
            <a:r>
              <a:rPr lang="en-US" dirty="0"/>
              <a:t>E.11 Convolutional Neural Network (P &amp; C)</a:t>
            </a:r>
          </a:p>
          <a:p>
            <a:pPr marL="285750" indent="-285750">
              <a:buFont typeface="Arial" panose="020B0604020202020204" pitchFamily="34" charset="0"/>
              <a:buChar char="•"/>
            </a:pPr>
            <a:r>
              <a:rPr lang="en-US" dirty="0"/>
              <a:t>Familiarize yourself with convolutional neural networks through pen-and-paper forward propagation and through the application of different convolutional filters to images (using </a:t>
            </a:r>
            <a:r>
              <a:rPr lang="en-US" dirty="0" err="1"/>
              <a:t>PyTorch</a:t>
            </a:r>
            <a:r>
              <a:rPr lang="en-US" dirty="0"/>
              <a:t>).</a:t>
            </a:r>
          </a:p>
        </p:txBody>
      </p:sp>
      <p:sp>
        <p:nvSpPr>
          <p:cNvPr id="3" name="Title 2">
            <a:extLst>
              <a:ext uri="{FF2B5EF4-FFF2-40B4-BE49-F238E27FC236}">
                <a16:creationId xmlns:a16="http://schemas.microsoft.com/office/drawing/2014/main" id="{6AB53DF7-1054-6071-AC12-DE9482CDFAEB}"/>
              </a:ext>
            </a:extLst>
          </p:cNvPr>
          <p:cNvSpPr>
            <a:spLocks noGrp="1"/>
          </p:cNvSpPr>
          <p:nvPr>
            <p:ph type="title"/>
          </p:nvPr>
        </p:nvSpPr>
        <p:spPr/>
        <p:txBody>
          <a:bodyPr/>
          <a:lstStyle/>
          <a:p>
            <a:r>
              <a:rPr lang="de-DE" dirty="0" err="1">
                <a:solidFill>
                  <a:schemeClr val="bg2"/>
                </a:solidFill>
              </a:rPr>
              <a:t>Exercises</a:t>
            </a:r>
            <a:endParaRPr lang="en-US" dirty="0">
              <a:solidFill>
                <a:schemeClr val="bg2"/>
              </a:solidFill>
            </a:endParaRPr>
          </a:p>
        </p:txBody>
      </p:sp>
      <p:sp>
        <p:nvSpPr>
          <p:cNvPr id="4" name="Slide Number Placeholder 3">
            <a:extLst>
              <a:ext uri="{FF2B5EF4-FFF2-40B4-BE49-F238E27FC236}">
                <a16:creationId xmlns:a16="http://schemas.microsoft.com/office/drawing/2014/main" id="{C98A3EAB-75E9-B368-DED0-12BE14B3F86C}"/>
              </a:ext>
            </a:extLst>
          </p:cNvPr>
          <p:cNvSpPr>
            <a:spLocks noGrp="1"/>
          </p:cNvSpPr>
          <p:nvPr>
            <p:ph type="sldNum" sz="quarter" idx="11"/>
          </p:nvPr>
        </p:nvSpPr>
        <p:spPr/>
        <p:txBody>
          <a:bodyPr/>
          <a:lstStyle/>
          <a:p>
            <a:fld id="{CE58CB1E-F828-4F11-99E0-327109AF9DA4}" type="slidenum">
              <a:rPr lang="de-DE" smtClean="0"/>
              <a:pPr/>
              <a:t>21</a:t>
            </a:fld>
            <a:endParaRPr lang="de-DE"/>
          </a:p>
        </p:txBody>
      </p:sp>
      <p:sp>
        <p:nvSpPr>
          <p:cNvPr id="5" name="Footer Placeholder 4">
            <a:extLst>
              <a:ext uri="{FF2B5EF4-FFF2-40B4-BE49-F238E27FC236}">
                <a16:creationId xmlns:a16="http://schemas.microsoft.com/office/drawing/2014/main" id="{FBF49995-812C-D296-02AB-2EBAAE388132}"/>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spTree>
    <p:extLst>
      <p:ext uri="{BB962C8B-B14F-4D97-AF65-F5344CB8AC3E}">
        <p14:creationId xmlns:p14="http://schemas.microsoft.com/office/powerpoint/2010/main" val="35132369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EB2C225-D042-EAA0-5B2E-43855351F52B}"/>
              </a:ext>
            </a:extLst>
          </p:cNvPr>
          <p:cNvPicPr>
            <a:picLocks noChangeAspect="1"/>
          </p:cNvPicPr>
          <p:nvPr/>
        </p:nvPicPr>
        <p:blipFill>
          <a:blip r:embed="rId2"/>
          <a:stretch>
            <a:fillRect/>
          </a:stretch>
        </p:blipFill>
        <p:spPr>
          <a:xfrm>
            <a:off x="1089561" y="1908277"/>
            <a:ext cx="6775708" cy="3053105"/>
          </a:xfrm>
          <a:prstGeom prst="rect">
            <a:avLst/>
          </a:prstGeom>
        </p:spPr>
      </p:pic>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4C3627E4-732E-08C9-6DCC-DBC3446AFB23}"/>
                  </a:ext>
                </a:extLst>
              </p:cNvPr>
              <p:cNvSpPr>
                <a:spLocks noGrp="1"/>
              </p:cNvSpPr>
              <p:nvPr>
                <p:ph idx="1"/>
              </p:nvPr>
            </p:nvSpPr>
            <p:spPr/>
            <p:txBody>
              <a:bodyPr/>
              <a:lstStyle/>
              <a:p>
                <a:r>
                  <a:rPr lang="de-DE" b="1" dirty="0"/>
                  <a:t>Learning </a:t>
                </a:r>
                <a:r>
                  <a:rPr lang="de-DE" b="1" dirty="0" err="1"/>
                  <a:t>strain</a:t>
                </a:r>
                <a:r>
                  <a:rPr lang="de-DE" b="1" dirty="0"/>
                  <a:t> </a:t>
                </a:r>
                <a:r>
                  <a:rPr lang="de-DE" b="1" dirty="0" err="1"/>
                  <a:t>distributions</a:t>
                </a:r>
                <a:r>
                  <a:rPr lang="de-DE" b="1" dirty="0"/>
                  <a:t> </a:t>
                </a:r>
                <a:r>
                  <a:rPr lang="de-DE" b="1" dirty="0" err="1"/>
                  <a:t>from</a:t>
                </a:r>
                <a:r>
                  <a:rPr lang="de-DE" b="1" dirty="0"/>
                  <a:t> </a:t>
                </a:r>
                <a:r>
                  <a:rPr lang="de-DE" b="1" dirty="0" err="1"/>
                  <a:t>data</a:t>
                </a:r>
                <a:endParaRPr lang="de-DE" b="1" dirty="0"/>
              </a:p>
              <a:p>
                <a:pPr marL="285750" indent="-285750">
                  <a:buFont typeface="Arial" panose="020B0604020202020204" pitchFamily="34" charset="0"/>
                  <a:buChar char="•"/>
                </a:pPr>
                <a:r>
                  <a:rPr lang="de-DE" dirty="0"/>
                  <a:t>Goal </a:t>
                </a:r>
                <a:r>
                  <a:rPr lang="de-DE" dirty="0" err="1"/>
                  <a:t>is</a:t>
                </a:r>
                <a:r>
                  <a:rPr lang="de-DE" dirty="0"/>
                  <a:t> </a:t>
                </a:r>
                <a:r>
                  <a:rPr lang="de-DE" dirty="0" err="1"/>
                  <a:t>to</a:t>
                </a:r>
                <a:r>
                  <a:rPr lang="de-DE" dirty="0"/>
                  <a:t> </a:t>
                </a:r>
                <a:r>
                  <a:rPr lang="de-DE" dirty="0" err="1"/>
                  <a:t>make</a:t>
                </a:r>
                <a:r>
                  <a:rPr lang="de-DE" dirty="0"/>
                  <a:t> </a:t>
                </a:r>
                <a:r>
                  <a:rPr lang="de-DE" dirty="0" err="1"/>
                  <a:t>the</a:t>
                </a:r>
                <a:r>
                  <a:rPr lang="de-DE" dirty="0"/>
                  <a:t> </a:t>
                </a:r>
                <a:r>
                  <a:rPr lang="de-DE" dirty="0" err="1"/>
                  <a:t>neural</a:t>
                </a:r>
                <a:r>
                  <a:rPr lang="de-DE" dirty="0"/>
                  <a:t> network </a:t>
                </a:r>
                <a:r>
                  <a:rPr lang="de-DE" dirty="0" err="1"/>
                  <a:t>predict</a:t>
                </a:r>
                <a:r>
                  <a:rPr lang="de-DE" dirty="0"/>
                  <a:t> </a:t>
                </a:r>
                <a:r>
                  <a:rPr lang="de-DE" dirty="0" err="1"/>
                  <a:t>the</a:t>
                </a:r>
                <a:r>
                  <a:rPr lang="de-DE" dirty="0"/>
                  <a:t> </a:t>
                </a:r>
                <a:r>
                  <a:rPr lang="de-DE" dirty="0" err="1"/>
                  <a:t>strain</a:t>
                </a:r>
                <a:r>
                  <a:rPr lang="de-DE" dirty="0"/>
                  <a:t> </a:t>
                </a:r>
                <a:r>
                  <a:rPr lang="de-DE" dirty="0" err="1"/>
                  <a:t>of</a:t>
                </a:r>
                <a:r>
                  <a:rPr lang="de-DE" dirty="0"/>
                  <a:t> a 2D </a:t>
                </a:r>
                <a:r>
                  <a:rPr lang="de-DE" dirty="0" err="1"/>
                  <a:t>domain</a:t>
                </a:r>
                <a:r>
                  <a:rPr lang="de-DE" dirty="0"/>
                  <a:t> </a:t>
                </a:r>
                <a:r>
                  <a:rPr lang="de-DE" dirty="0" err="1"/>
                  <a:t>under</a:t>
                </a:r>
                <a:r>
                  <a:rPr lang="de-DE" dirty="0"/>
                  <a:t> a uni-axial </a:t>
                </a:r>
                <a:r>
                  <a:rPr lang="de-DE" dirty="0" err="1"/>
                  <a:t>load</a:t>
                </a:r>
                <a:endParaRPr lang="de-DE" dirty="0"/>
              </a:p>
              <a:p>
                <a:pPr marL="285750" indent="-285750">
                  <a:buFont typeface="Arial" panose="020B0604020202020204" pitchFamily="34" charset="0"/>
                  <a:buChar char="•"/>
                </a:pPr>
                <a:r>
                  <a:rPr lang="de-DE" dirty="0"/>
                  <a:t>Domain </a:t>
                </a:r>
                <a:r>
                  <a:rPr lang="de-DE" dirty="0" err="1"/>
                  <a:t>is</a:t>
                </a:r>
                <a:r>
                  <a:rPr lang="de-DE" dirty="0"/>
                  <a:t> </a:t>
                </a:r>
                <a:r>
                  <a:rPr lang="de-DE" dirty="0" err="1"/>
                  <a:t>defined</a:t>
                </a:r>
                <a:r>
                  <a:rPr lang="de-DE" dirty="0"/>
                  <a:t> </a:t>
                </a:r>
                <a:r>
                  <a:rPr lang="de-DE" dirty="0" err="1"/>
                  <a:t>by</a:t>
                </a:r>
                <a:r>
                  <a:rPr lang="de-DE" dirty="0"/>
                  <a:t> </a:t>
                </a:r>
                <a:r>
                  <a:rPr lang="de-DE" dirty="0" err="1"/>
                  <a:t>fiber</a:t>
                </a:r>
                <a:r>
                  <a:rPr lang="de-DE" dirty="0"/>
                  <a:t> material (</a:t>
                </a:r>
                <a:r>
                  <a:rPr lang="de-DE" dirty="0" err="1"/>
                  <a:t>red</a:t>
                </a:r>
                <a:r>
                  <a:rPr lang="de-DE" dirty="0"/>
                  <a:t>) and </a:t>
                </a:r>
                <a:r>
                  <a:rPr lang="de-DE" dirty="0" err="1"/>
                  <a:t>matrix</a:t>
                </a:r>
                <a:r>
                  <a:rPr lang="de-DE" dirty="0"/>
                  <a:t> material (</a:t>
                </a:r>
                <a:r>
                  <a:rPr lang="de-DE" dirty="0" err="1"/>
                  <a:t>white</a:t>
                </a:r>
                <a:r>
                  <a:rPr lang="de-DE" dirty="0"/>
                  <a:t>) </a:t>
                </a:r>
                <a:r>
                  <a:rPr lang="de-DE" dirty="0" err="1"/>
                  <a:t>with</a:t>
                </a:r>
                <a:r>
                  <a:rPr lang="de-DE" dirty="0"/>
                  <a:t> </a:t>
                </a:r>
                <a:r>
                  <a:rPr lang="de-DE" dirty="0" err="1"/>
                  <a:t>the</a:t>
                </a:r>
                <a:r>
                  <a:rPr lang="de-DE" dirty="0"/>
                  <a:t> </a:t>
                </a:r>
                <a:r>
                  <a:rPr lang="de-DE" dirty="0" err="1"/>
                  <a:t>elastic</a:t>
                </a:r>
                <a:r>
                  <a:rPr lang="de-DE" dirty="0"/>
                  <a:t> </a:t>
                </a:r>
                <a:r>
                  <a:rPr lang="de-DE" dirty="0" err="1"/>
                  <a:t>properties</a:t>
                </a:r>
                <a:endParaRPr lang="de-DE" dirty="0"/>
              </a:p>
              <a:p>
                <a:pPr/>
                <a14:m>
                  <m:oMathPara xmlns:m="http://schemas.openxmlformats.org/officeDocument/2006/math">
                    <m:oMathParaPr>
                      <m:jc m:val="centerGroup"/>
                    </m:oMathParaPr>
                    <m:oMath xmlns:m="http://schemas.openxmlformats.org/officeDocument/2006/math">
                      <m:sSub>
                        <m:sSubPr>
                          <m:ctrlPr>
                            <a:rPr lang="de-DE" b="0" i="1" smtClean="0">
                              <a:latin typeface="Cambria Math" panose="02040503050406030204" pitchFamily="18" charset="0"/>
                            </a:rPr>
                          </m:ctrlPr>
                        </m:sSubPr>
                        <m:e>
                          <m:r>
                            <a:rPr lang="de-DE" b="0" i="1" smtClean="0">
                              <a:latin typeface="Cambria Math" panose="02040503050406030204" pitchFamily="18" charset="0"/>
                            </a:rPr>
                            <m:t>𝐸</m:t>
                          </m:r>
                        </m:e>
                        <m:sub>
                          <m:r>
                            <a:rPr lang="de-DE" b="0" i="1" smtClean="0">
                              <a:latin typeface="Cambria Math" panose="02040503050406030204" pitchFamily="18" charset="0"/>
                            </a:rPr>
                            <m:t>𝑓</m:t>
                          </m:r>
                        </m:sub>
                      </m:sSub>
                      <m:r>
                        <a:rPr lang="de-DE" b="0" i="1" smtClean="0">
                          <a:latin typeface="Cambria Math" panose="02040503050406030204" pitchFamily="18" charset="0"/>
                        </a:rPr>
                        <m:t>=</m:t>
                      </m:r>
                      <m:sSup>
                        <m:sSupPr>
                          <m:ctrlPr>
                            <a:rPr lang="de-DE" b="0" i="1" smtClean="0">
                              <a:latin typeface="Cambria Math" panose="02040503050406030204" pitchFamily="18" charset="0"/>
                            </a:rPr>
                          </m:ctrlPr>
                        </m:sSupPr>
                        <m:e>
                          <m:r>
                            <a:rPr lang="de-DE" b="0" i="1" smtClean="0">
                              <a:latin typeface="Cambria Math" panose="02040503050406030204" pitchFamily="18" charset="0"/>
                            </a:rPr>
                            <m:t>85</m:t>
                          </m:r>
                        </m:e>
                        <m:sup>
                          <m:r>
                            <a:rPr lang="de-DE" b="0" i="1" smtClean="0">
                              <a:latin typeface="Cambria Math" panose="02040503050406030204" pitchFamily="18" charset="0"/>
                            </a:rPr>
                            <m:t>′</m:t>
                          </m:r>
                        </m:sup>
                      </m:sSup>
                      <m:r>
                        <a:rPr lang="de-DE" b="0" i="1" smtClean="0">
                          <a:latin typeface="Cambria Math" panose="02040503050406030204" pitchFamily="18" charset="0"/>
                        </a:rPr>
                        <m:t>000, </m:t>
                      </m:r>
                      <m:sSub>
                        <m:sSubPr>
                          <m:ctrlPr>
                            <a:rPr lang="de-DE" b="0" i="1" smtClean="0">
                              <a:latin typeface="Cambria Math" panose="02040503050406030204" pitchFamily="18" charset="0"/>
                            </a:rPr>
                          </m:ctrlPr>
                        </m:sSubPr>
                        <m:e>
                          <m:r>
                            <a:rPr lang="de-DE" b="0" i="1" smtClean="0">
                              <a:latin typeface="Cambria Math" panose="02040503050406030204" pitchFamily="18" charset="0"/>
                            </a:rPr>
                            <m:t>𝜈</m:t>
                          </m:r>
                        </m:e>
                        <m:sub>
                          <m:r>
                            <a:rPr lang="de-DE" b="0" i="1" smtClean="0">
                              <a:latin typeface="Cambria Math" panose="02040503050406030204" pitchFamily="18" charset="0"/>
                            </a:rPr>
                            <m:t>𝑓</m:t>
                          </m:r>
                        </m:sub>
                      </m:sSub>
                      <m:r>
                        <a:rPr lang="de-DE" b="0" i="1" smtClean="0">
                          <a:latin typeface="Cambria Math" panose="02040503050406030204" pitchFamily="18" charset="0"/>
                        </a:rPr>
                        <m:t>=0.22</m:t>
                      </m:r>
                    </m:oMath>
                    <m:oMath xmlns:m="http://schemas.openxmlformats.org/officeDocument/2006/math">
                      <m:sSub>
                        <m:sSubPr>
                          <m:ctrlPr>
                            <a:rPr lang="de-DE" b="0" i="1" smtClean="0">
                              <a:latin typeface="Cambria Math" panose="02040503050406030204" pitchFamily="18" charset="0"/>
                            </a:rPr>
                          </m:ctrlPr>
                        </m:sSubPr>
                        <m:e>
                          <m:r>
                            <a:rPr lang="de-DE" b="0" i="1" smtClean="0">
                              <a:latin typeface="Cambria Math" panose="02040503050406030204" pitchFamily="18" charset="0"/>
                            </a:rPr>
                            <m:t>𝐸</m:t>
                          </m:r>
                        </m:e>
                        <m:sub>
                          <m:r>
                            <a:rPr lang="de-DE" b="0" i="1" smtClean="0">
                              <a:latin typeface="Cambria Math" panose="02040503050406030204" pitchFamily="18" charset="0"/>
                            </a:rPr>
                            <m:t>𝑚</m:t>
                          </m:r>
                        </m:sub>
                      </m:sSub>
                      <m:r>
                        <a:rPr lang="de-DE" b="0" i="1" smtClean="0">
                          <a:latin typeface="Cambria Math" panose="02040503050406030204" pitchFamily="18" charset="0"/>
                        </a:rPr>
                        <m:t>=</m:t>
                      </m:r>
                      <m:sSup>
                        <m:sSupPr>
                          <m:ctrlPr>
                            <a:rPr lang="de-DE" b="0" i="1" smtClean="0">
                              <a:latin typeface="Cambria Math" panose="02040503050406030204" pitchFamily="18" charset="0"/>
                            </a:rPr>
                          </m:ctrlPr>
                        </m:sSupPr>
                        <m:e>
                          <m:r>
                            <a:rPr lang="de-DE" b="0" i="1" smtClean="0">
                              <a:latin typeface="Cambria Math" panose="02040503050406030204" pitchFamily="18" charset="0"/>
                            </a:rPr>
                            <m:t>3</m:t>
                          </m:r>
                        </m:e>
                        <m:sup>
                          <m:r>
                            <a:rPr lang="de-DE" b="0" i="1" smtClean="0">
                              <a:latin typeface="Cambria Math" panose="02040503050406030204" pitchFamily="18" charset="0"/>
                            </a:rPr>
                            <m:t>′</m:t>
                          </m:r>
                        </m:sup>
                      </m:sSup>
                      <m:r>
                        <a:rPr lang="de-DE" b="0" i="1" smtClean="0">
                          <a:latin typeface="Cambria Math" panose="02040503050406030204" pitchFamily="18" charset="0"/>
                        </a:rPr>
                        <m:t>000, </m:t>
                      </m:r>
                      <m:sSub>
                        <m:sSubPr>
                          <m:ctrlPr>
                            <a:rPr lang="de-DE" b="0" i="1" smtClean="0">
                              <a:latin typeface="Cambria Math" panose="02040503050406030204" pitchFamily="18" charset="0"/>
                            </a:rPr>
                          </m:ctrlPr>
                        </m:sSubPr>
                        <m:e>
                          <m:r>
                            <a:rPr lang="de-DE" b="0" i="1" smtClean="0">
                              <a:latin typeface="Cambria Math" panose="02040503050406030204" pitchFamily="18" charset="0"/>
                            </a:rPr>
                            <m:t>𝜈</m:t>
                          </m:r>
                        </m:e>
                        <m:sub>
                          <m:r>
                            <a:rPr lang="de-DE" b="0" i="1" smtClean="0">
                              <a:latin typeface="Cambria Math" panose="02040503050406030204" pitchFamily="18" charset="0"/>
                            </a:rPr>
                            <m:t>𝑚</m:t>
                          </m:r>
                        </m:sub>
                      </m:sSub>
                      <m:r>
                        <a:rPr lang="de-DE" b="0" i="1" smtClean="0">
                          <a:latin typeface="Cambria Math" panose="02040503050406030204" pitchFamily="18" charset="0"/>
                        </a:rPr>
                        <m:t>=0.4</m:t>
                      </m:r>
                    </m:oMath>
                  </m:oMathPara>
                </a14:m>
                <a:endParaRPr lang="en-US" dirty="0"/>
              </a:p>
            </p:txBody>
          </p:sp>
        </mc:Choice>
        <mc:Fallback xmlns="">
          <p:sp>
            <p:nvSpPr>
              <p:cNvPr id="2" name="Content Placeholder 1">
                <a:extLst>
                  <a:ext uri="{FF2B5EF4-FFF2-40B4-BE49-F238E27FC236}">
                    <a16:creationId xmlns:a16="http://schemas.microsoft.com/office/drawing/2014/main" id="{4C3627E4-732E-08C9-6DCC-DBC3446AFB23}"/>
                  </a:ext>
                </a:extLst>
              </p:cNvPr>
              <p:cNvSpPr>
                <a:spLocks noGrp="1" noRot="1" noChangeAspect="1" noMove="1" noResize="1" noEditPoints="1" noAdjustHandles="1" noChangeArrowheads="1" noChangeShapeType="1" noTextEdit="1"/>
              </p:cNvSpPr>
              <p:nvPr>
                <p:ph idx="1"/>
              </p:nvPr>
            </p:nvSpPr>
            <p:spPr>
              <a:blipFill>
                <a:blip r:embed="rId3"/>
                <a:stretch>
                  <a:fillRect l="-1289" t="-92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54656279-4C62-3427-3F65-09BC4E0340F7}"/>
              </a:ext>
            </a:extLst>
          </p:cNvPr>
          <p:cNvSpPr>
            <a:spLocks noGrp="1"/>
          </p:cNvSpPr>
          <p:nvPr>
            <p:ph type="title"/>
          </p:nvPr>
        </p:nvSpPr>
        <p:spPr/>
        <p:txBody>
          <a:bodyPr/>
          <a:lstStyle/>
          <a:p>
            <a:r>
              <a:rPr lang="de-DE" dirty="0"/>
              <a:t>3.9.1 </a:t>
            </a:r>
            <a:r>
              <a:rPr lang="de-DE" dirty="0" err="1"/>
              <a:t>Convolutional</a:t>
            </a:r>
            <a:r>
              <a:rPr lang="de-DE" dirty="0"/>
              <a:t> </a:t>
            </a:r>
            <a:r>
              <a:rPr lang="de-DE" dirty="0" err="1"/>
              <a:t>Neural</a:t>
            </a:r>
            <a:r>
              <a:rPr lang="de-DE" dirty="0"/>
              <a:t> Networks – </a:t>
            </a:r>
            <a:r>
              <a:rPr lang="de-DE" dirty="0" err="1"/>
              <a:t>Example</a:t>
            </a:r>
            <a:r>
              <a:rPr lang="de-DE" dirty="0"/>
              <a:t> </a:t>
            </a:r>
            <a:endParaRPr lang="en-US" dirty="0"/>
          </a:p>
        </p:txBody>
      </p:sp>
      <p:sp>
        <p:nvSpPr>
          <p:cNvPr id="4" name="Slide Number Placeholder 3">
            <a:extLst>
              <a:ext uri="{FF2B5EF4-FFF2-40B4-BE49-F238E27FC236}">
                <a16:creationId xmlns:a16="http://schemas.microsoft.com/office/drawing/2014/main" id="{61466F4C-2DB7-8F13-2867-20014BACE738}"/>
              </a:ext>
            </a:extLst>
          </p:cNvPr>
          <p:cNvSpPr>
            <a:spLocks noGrp="1"/>
          </p:cNvSpPr>
          <p:nvPr>
            <p:ph type="sldNum" sz="quarter" idx="11"/>
          </p:nvPr>
        </p:nvSpPr>
        <p:spPr/>
        <p:txBody>
          <a:bodyPr/>
          <a:lstStyle/>
          <a:p>
            <a:fld id="{CE58CB1E-F828-4F11-99E0-327109AF9DA4}" type="slidenum">
              <a:rPr lang="de-DE" smtClean="0"/>
              <a:pPr/>
              <a:t>22</a:t>
            </a:fld>
            <a:endParaRPr lang="de-DE"/>
          </a:p>
        </p:txBody>
      </p:sp>
      <p:sp>
        <p:nvSpPr>
          <p:cNvPr id="5" name="Footer Placeholder 4">
            <a:extLst>
              <a:ext uri="{FF2B5EF4-FFF2-40B4-BE49-F238E27FC236}">
                <a16:creationId xmlns:a16="http://schemas.microsoft.com/office/drawing/2014/main" id="{8B072DA9-AC79-596D-66A7-F3D3AD6E32F5}"/>
              </a:ext>
            </a:extLst>
          </p:cNvPr>
          <p:cNvSpPr>
            <a:spLocks noGrp="1"/>
          </p:cNvSpPr>
          <p:nvPr>
            <p:ph type="ftr" sz="quarter" idx="12"/>
          </p:nvPr>
        </p:nvSpPr>
        <p:spPr/>
        <p:txBody>
          <a:bodyPr/>
          <a:lstStyle/>
          <a:p>
            <a:r>
              <a:rPr lang="de-DE" dirty="0"/>
              <a:t>Leon Herrmann &amp; Stefan Kollmannsberger || Deep Learning in Computational Mechanics || Bauhaus-Universität Weimar</a:t>
            </a:r>
            <a:endParaRPr lang="en-US" dirty="0"/>
          </a:p>
        </p:txBody>
      </p:sp>
    </p:spTree>
    <p:extLst>
      <p:ext uri="{BB962C8B-B14F-4D97-AF65-F5344CB8AC3E}">
        <p14:creationId xmlns:p14="http://schemas.microsoft.com/office/powerpoint/2010/main" val="3965524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C3AE690-C63F-49E3-B303-C0AF13C33FC3}"/>
              </a:ext>
            </a:extLst>
          </p:cNvPr>
          <p:cNvPicPr>
            <a:picLocks noChangeAspect="1"/>
          </p:cNvPicPr>
          <p:nvPr/>
        </p:nvPicPr>
        <p:blipFill>
          <a:blip r:embed="rId3"/>
          <a:stretch>
            <a:fillRect/>
          </a:stretch>
        </p:blipFill>
        <p:spPr>
          <a:xfrm>
            <a:off x="4149901" y="790555"/>
            <a:ext cx="4708878" cy="3804812"/>
          </a:xfrm>
          <a:prstGeom prst="rect">
            <a:avLst/>
          </a:prstGeom>
        </p:spPr>
      </p:pic>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06AF0E8B-C969-ECC7-D534-7D4D360D17D1}"/>
                  </a:ext>
                </a:extLst>
              </p:cNvPr>
              <p:cNvSpPr>
                <a:spLocks noGrp="1"/>
              </p:cNvSpPr>
              <p:nvPr>
                <p:ph idx="1"/>
              </p:nvPr>
            </p:nvSpPr>
            <p:spPr/>
            <p:txBody>
              <a:bodyPr/>
              <a:lstStyle/>
              <a:p>
                <a:pPr marL="285750" indent="-285750">
                  <a:buFont typeface="Arial" panose="020B0604020202020204" pitchFamily="34" charset="0"/>
                  <a:buChar char="•"/>
                </a:pPr>
                <a:r>
                  <a:rPr lang="de-DE" dirty="0"/>
                  <a:t>To </a:t>
                </a:r>
                <a:r>
                  <a:rPr lang="de-DE" dirty="0" err="1"/>
                  <a:t>reduce</a:t>
                </a:r>
                <a:r>
                  <a:rPr lang="de-DE" dirty="0"/>
                  <a:t> </a:t>
                </a:r>
                <a:r>
                  <a:rPr lang="de-DE" dirty="0" err="1"/>
                  <a:t>the</a:t>
                </a:r>
                <a:r>
                  <a:rPr lang="de-DE" dirty="0"/>
                  <a:t> </a:t>
                </a:r>
                <a:r>
                  <a:rPr lang="de-DE" dirty="0" err="1"/>
                  <a:t>complexity</a:t>
                </a:r>
                <a:r>
                  <a:rPr lang="de-DE" dirty="0"/>
                  <a:t> </a:t>
                </a:r>
                <a:r>
                  <a:rPr lang="de-DE" dirty="0" err="1"/>
                  <a:t>of</a:t>
                </a:r>
                <a:r>
                  <a:rPr lang="de-DE" dirty="0"/>
                  <a:t> </a:t>
                </a:r>
                <a:r>
                  <a:rPr lang="de-DE" dirty="0" err="1"/>
                  <a:t>the</a:t>
                </a:r>
                <a:r>
                  <a:rPr lang="de-DE" dirty="0"/>
                  <a:t> </a:t>
                </a:r>
                <a:r>
                  <a:rPr lang="de-DE" dirty="0" err="1"/>
                  <a:t>task</a:t>
                </a:r>
                <a:r>
                  <a:rPr lang="de-DE" dirty="0"/>
                  <a:t>, </a:t>
                </a:r>
                <a:r>
                  <a:rPr lang="de-DE" dirty="0" err="1"/>
                  <a:t>the</a:t>
                </a:r>
                <a:r>
                  <a:rPr lang="de-DE" dirty="0"/>
                  <a:t> </a:t>
                </a:r>
                <a:r>
                  <a:rPr lang="de-DE" dirty="0" err="1"/>
                  <a:t>domain</a:t>
                </a:r>
                <a:r>
                  <a:rPr lang="de-DE" dirty="0"/>
                  <a:t> </a:t>
                </a:r>
                <a:r>
                  <a:rPr lang="de-DE" dirty="0" err="1"/>
                  <a:t>is</a:t>
                </a:r>
                <a:r>
                  <a:rPr lang="de-DE" dirty="0"/>
                  <a:t> </a:t>
                </a:r>
                <a:r>
                  <a:rPr lang="de-DE" dirty="0" err="1"/>
                  <a:t>discretized</a:t>
                </a:r>
                <a:r>
                  <a:rPr lang="de-DE" dirty="0"/>
                  <a:t> in </a:t>
                </a:r>
                <a14:m>
                  <m:oMath xmlns:m="http://schemas.openxmlformats.org/officeDocument/2006/math">
                    <m:r>
                      <a:rPr lang="de-DE" b="0" i="1" smtClean="0">
                        <a:latin typeface="Cambria Math" panose="02040503050406030204" pitchFamily="18" charset="0"/>
                      </a:rPr>
                      <m:t>32×32</m:t>
                    </m:r>
                  </m:oMath>
                </a14:m>
                <a:r>
                  <a:rPr lang="da-DK" dirty="0"/>
                  <a:t> grid</a:t>
                </a:r>
              </a:p>
              <a:p>
                <a:pPr marL="285750" indent="-285750">
                  <a:buFont typeface="Arial" panose="020B0604020202020204" pitchFamily="34" charset="0"/>
                  <a:buChar char="•"/>
                </a:pPr>
                <a:r>
                  <a:rPr lang="da-DK" dirty="0" err="1"/>
                  <a:t>Strain</a:t>
                </a:r>
                <a:r>
                  <a:rPr lang="da-DK" dirty="0"/>
                  <a:t> </a:t>
                </a:r>
                <a:r>
                  <a:rPr lang="da-DK" dirty="0" err="1"/>
                  <a:t>prediction</a:t>
                </a:r>
                <a:r>
                  <a:rPr lang="da-DK" dirty="0"/>
                  <a:t> from the </a:t>
                </a:r>
                <a:r>
                  <a:rPr lang="da-DK" dirty="0" err="1"/>
                  <a:t>underlying</a:t>
                </a:r>
                <a:r>
                  <a:rPr lang="da-DK" dirty="0"/>
                  <a:t> </a:t>
                </a:r>
                <a:r>
                  <a:rPr lang="da-DK" dirty="0" err="1"/>
                  <a:t>material</a:t>
                </a:r>
                <a:r>
                  <a:rPr lang="da-DK" dirty="0"/>
                  <a:t> distribution</a:t>
                </a:r>
              </a:p>
              <a:p>
                <a:pPr marL="285750" indent="-285750">
                  <a:buFont typeface="Arial" panose="020B0604020202020204" pitchFamily="34" charset="0"/>
                  <a:buChar char="•"/>
                </a:pPr>
                <a:r>
                  <a:rPr lang="da-DK" dirty="0"/>
                  <a:t>A U-Net (see Chapter 8) is used as neural network architecture </a:t>
                </a:r>
              </a:p>
              <a:p>
                <a:pPr marL="285750" indent="-285750">
                  <a:buFont typeface="Arial" panose="020B0604020202020204" pitchFamily="34" charset="0"/>
                  <a:buChar char="•"/>
                </a:pPr>
                <a:endParaRPr lang="da-DK" dirty="0"/>
              </a:p>
              <a:p>
                <a:pPr marL="285750" indent="-285750">
                  <a:buFont typeface="Arial" panose="020B0604020202020204" pitchFamily="34" charset="0"/>
                  <a:buChar char="•"/>
                </a:pPr>
                <a:endParaRPr lang="da-DK" dirty="0"/>
              </a:p>
              <a:p>
                <a:endParaRPr lang="da-DK" dirty="0"/>
              </a:p>
              <a:p>
                <a:r>
                  <a:rPr lang="da-DK" dirty="0"/>
                  <a:t>To estimate the efficiency of the approach, </a:t>
                </a:r>
                <a:br>
                  <a:rPr lang="da-DK" dirty="0"/>
                </a:br>
                <a:r>
                  <a:rPr lang="da-DK" dirty="0"/>
                  <a:t>the </a:t>
                </a:r>
                <a:r>
                  <a:rPr lang="da-DK" dirty="0">
                    <a:solidFill>
                      <a:schemeClr val="bg2"/>
                    </a:solidFill>
                  </a:rPr>
                  <a:t>breakeven threshold </a:t>
                </a:r>
                <a14:m>
                  <m:oMath xmlns:m="http://schemas.openxmlformats.org/officeDocument/2006/math">
                    <m:r>
                      <a:rPr lang="de-DE" b="0" i="1" smtClean="0">
                        <a:latin typeface="Cambria Math" panose="02040503050406030204" pitchFamily="18" charset="0"/>
                      </a:rPr>
                      <m:t>𝜏</m:t>
                    </m:r>
                    <m:r>
                      <a:rPr lang="de-DE" b="0" i="1" smtClean="0">
                        <a:latin typeface="Cambria Math" panose="02040503050406030204" pitchFamily="18" charset="0"/>
                      </a:rPr>
                      <m:t> </m:t>
                    </m:r>
                  </m:oMath>
                </a14:m>
                <a:r>
                  <a:rPr lang="da-DK" dirty="0"/>
                  <a:t>must </a:t>
                </a:r>
                <a:r>
                  <a:rPr lang="da-DK" dirty="0" err="1"/>
                  <a:t>be</a:t>
                </a:r>
                <a:r>
                  <a:rPr lang="da-DK" dirty="0"/>
                  <a:t> </a:t>
                </a:r>
                <a:r>
                  <a:rPr lang="da-DK" dirty="0" err="1"/>
                  <a:t>considered</a:t>
                </a:r>
                <a:endParaRPr lang="da-DK" dirty="0"/>
              </a:p>
              <a:p>
                <a:pPr marL="357188" indent="-357188"/>
                <a14:m>
                  <m:oMathPara xmlns:m="http://schemas.openxmlformats.org/officeDocument/2006/math">
                    <m:oMathParaPr>
                      <m:jc m:val="left"/>
                    </m:oMathParaPr>
                    <m:oMath xmlns:m="http://schemas.openxmlformats.org/officeDocument/2006/math">
                      <m:r>
                        <a:rPr lang="de-DE" b="0" i="1" smtClean="0">
                          <a:latin typeface="Cambria Math" panose="02040503050406030204" pitchFamily="18" charset="0"/>
                        </a:rPr>
                        <m:t>𝜏</m:t>
                      </m:r>
                      <m:r>
                        <a:rPr lang="de-DE" b="0" i="1" smtClean="0">
                          <a:latin typeface="Cambria Math" panose="02040503050406030204" pitchFamily="18" charset="0"/>
                        </a:rPr>
                        <m:t>=</m:t>
                      </m:r>
                      <m:f>
                        <m:fPr>
                          <m:ctrlPr>
                            <a:rPr lang="de-DE" b="0" i="1" smtClean="0">
                              <a:latin typeface="Cambria Math" panose="02040503050406030204" pitchFamily="18" charset="0"/>
                            </a:rPr>
                          </m:ctrlPr>
                        </m:fPr>
                        <m:num>
                          <m:sSub>
                            <m:sSubPr>
                              <m:ctrlPr>
                                <a:rPr lang="de-DE" b="0" i="1" smtClean="0">
                                  <a:latin typeface="Cambria Math" panose="02040503050406030204" pitchFamily="18" charset="0"/>
                                </a:rPr>
                              </m:ctrlPr>
                            </m:sSubPr>
                            <m:e>
                              <m:r>
                                <a:rPr lang="de-DE" b="0" i="1" smtClean="0">
                                  <a:latin typeface="Cambria Math" panose="02040503050406030204" pitchFamily="18" charset="0"/>
                                </a:rPr>
                                <m:t>𝑇</m:t>
                              </m:r>
                            </m:e>
                            <m:sub>
                              <m:r>
                                <m:rPr>
                                  <m:sty m:val="p"/>
                                </m:rPr>
                                <a:rPr lang="de-DE" b="0" i="0" smtClean="0">
                                  <a:latin typeface="Cambria Math" panose="02040503050406030204" pitchFamily="18" charset="0"/>
                                </a:rPr>
                                <m:t>data</m:t>
                              </m:r>
                            </m:sub>
                          </m:sSub>
                          <m:r>
                            <a:rPr lang="de-DE" b="0" i="1" smtClean="0">
                              <a:latin typeface="Cambria Math" panose="02040503050406030204" pitchFamily="18" charset="0"/>
                            </a:rPr>
                            <m:t>+</m:t>
                          </m:r>
                          <m:sSub>
                            <m:sSubPr>
                              <m:ctrlPr>
                                <a:rPr lang="de-DE" b="0" i="1" smtClean="0">
                                  <a:latin typeface="Cambria Math" panose="02040503050406030204" pitchFamily="18" charset="0"/>
                                </a:rPr>
                              </m:ctrlPr>
                            </m:sSubPr>
                            <m:e>
                              <m:r>
                                <a:rPr lang="de-DE" b="0" i="1" smtClean="0">
                                  <a:latin typeface="Cambria Math" panose="02040503050406030204" pitchFamily="18" charset="0"/>
                                </a:rPr>
                                <m:t>𝑇</m:t>
                              </m:r>
                            </m:e>
                            <m:sub>
                              <m:r>
                                <m:rPr>
                                  <m:sty m:val="p"/>
                                </m:rPr>
                                <a:rPr lang="de-DE" b="0" i="0" smtClean="0">
                                  <a:latin typeface="Cambria Math" panose="02040503050406030204" pitchFamily="18" charset="0"/>
                                </a:rPr>
                                <m:t>train</m:t>
                              </m:r>
                            </m:sub>
                          </m:sSub>
                        </m:num>
                        <m:den>
                          <m:sSub>
                            <m:sSubPr>
                              <m:ctrlPr>
                                <a:rPr lang="de-DE" b="0" i="1" smtClean="0">
                                  <a:latin typeface="Cambria Math" panose="02040503050406030204" pitchFamily="18" charset="0"/>
                                </a:rPr>
                              </m:ctrlPr>
                            </m:sSubPr>
                            <m:e>
                              <m:r>
                                <a:rPr lang="de-DE" b="0" i="1" smtClean="0">
                                  <a:latin typeface="Cambria Math" panose="02040503050406030204" pitchFamily="18" charset="0"/>
                                </a:rPr>
                                <m:t>𝑇</m:t>
                              </m:r>
                            </m:e>
                            <m:sub>
                              <m:r>
                                <m:rPr>
                                  <m:sty m:val="p"/>
                                </m:rPr>
                                <a:rPr lang="de-DE" b="0" i="0" smtClean="0">
                                  <a:latin typeface="Cambria Math" panose="02040503050406030204" pitchFamily="18" charset="0"/>
                                </a:rPr>
                                <m:t>simulation</m:t>
                              </m:r>
                            </m:sub>
                          </m:sSub>
                          <m:r>
                            <a:rPr lang="de-DE" b="0" i="1" smtClean="0">
                              <a:latin typeface="Cambria Math" panose="02040503050406030204" pitchFamily="18" charset="0"/>
                            </a:rPr>
                            <m:t>+</m:t>
                          </m:r>
                          <m:sSub>
                            <m:sSubPr>
                              <m:ctrlPr>
                                <a:rPr lang="de-DE" b="0" i="1" smtClean="0">
                                  <a:latin typeface="Cambria Math" panose="02040503050406030204" pitchFamily="18" charset="0"/>
                                </a:rPr>
                              </m:ctrlPr>
                            </m:sSubPr>
                            <m:e>
                              <m:r>
                                <a:rPr lang="de-DE" b="0" i="1" smtClean="0">
                                  <a:latin typeface="Cambria Math" panose="02040503050406030204" pitchFamily="18" charset="0"/>
                                </a:rPr>
                                <m:t>𝑇</m:t>
                              </m:r>
                            </m:e>
                            <m:sub>
                              <m:r>
                                <m:rPr>
                                  <m:sty m:val="p"/>
                                </m:rPr>
                                <a:rPr lang="de-DE" b="0" i="0" smtClean="0">
                                  <a:latin typeface="Cambria Math" panose="02040503050406030204" pitchFamily="18" charset="0"/>
                                </a:rPr>
                                <m:t>surrogate</m:t>
                              </m:r>
                            </m:sub>
                          </m:sSub>
                        </m:den>
                      </m:f>
                    </m:oMath>
                  </m:oMathPara>
                </a14:m>
                <a:endParaRPr lang="da-DK" dirty="0"/>
              </a:p>
              <a:p>
                <a:pPr marL="285750" indent="-285750">
                  <a:buFont typeface="Arial" panose="020B0604020202020204" pitchFamily="34" charset="0"/>
                  <a:buChar char="•"/>
                </a:pPr>
                <a14:m>
                  <m:oMath xmlns:m="http://schemas.openxmlformats.org/officeDocument/2006/math">
                    <m:r>
                      <a:rPr lang="de-DE" i="1">
                        <a:latin typeface="Cambria Math" panose="02040503050406030204" pitchFamily="18" charset="0"/>
                      </a:rPr>
                      <m:t>𝜏</m:t>
                    </m:r>
                    <m:r>
                      <a:rPr lang="de-DE" i="1">
                        <a:latin typeface="Cambria Math" panose="02040503050406030204" pitchFamily="18" charset="0"/>
                      </a:rPr>
                      <m:t> </m:t>
                    </m:r>
                  </m:oMath>
                </a14:m>
                <a:r>
                  <a:rPr lang="da-DK" dirty="0"/>
                  <a:t>represents the number of surrogate evaluations to make training worth the effort</a:t>
                </a:r>
              </a:p>
              <a:p>
                <a:pPr marL="628650" lvl="2" indent="-180975">
                  <a:lnSpc>
                    <a:spcPct val="100000"/>
                  </a:lnSpc>
                  <a:buFont typeface="Arial" panose="020B0604020202020204" pitchFamily="34" charset="0"/>
                  <a:buChar char="•"/>
                </a:pPr>
                <a14:m>
                  <m:oMath xmlns:m="http://schemas.openxmlformats.org/officeDocument/2006/math">
                    <m:r>
                      <a:rPr lang="de-DE" b="0" i="1" smtClean="0">
                        <a:latin typeface="Cambria Math" panose="02040503050406030204" pitchFamily="18" charset="0"/>
                      </a:rPr>
                      <m:t>𝑇</m:t>
                    </m:r>
                  </m:oMath>
                </a14:m>
                <a:r>
                  <a:rPr lang="da-DK" dirty="0"/>
                  <a:t> is the time of </a:t>
                </a:r>
              </a:p>
              <a:p>
                <a:pPr marL="628650" lvl="3" indent="-180975">
                  <a:lnSpc>
                    <a:spcPct val="100000"/>
                  </a:lnSpc>
                  <a:buFont typeface="Arial" panose="020B0604020202020204" pitchFamily="34" charset="0"/>
                  <a:buChar char="•"/>
                </a:pPr>
                <a:r>
                  <a:rPr lang="da-DK" dirty="0"/>
                  <a:t>data collection (</a:t>
                </a:r>
                <a14:m>
                  <m:oMath xmlns:m="http://schemas.openxmlformats.org/officeDocument/2006/math">
                    <m:sSub>
                      <m:sSubPr>
                        <m:ctrlPr>
                          <a:rPr lang="de-DE" b="0" i="1" smtClean="0">
                            <a:latin typeface="Cambria Math" panose="02040503050406030204" pitchFamily="18" charset="0"/>
                          </a:rPr>
                        </m:ctrlPr>
                      </m:sSubPr>
                      <m:e>
                        <m:r>
                          <a:rPr lang="de-DE" b="0" i="1" smtClean="0">
                            <a:latin typeface="Cambria Math" panose="02040503050406030204" pitchFamily="18" charset="0"/>
                          </a:rPr>
                          <m:t>𝑇</m:t>
                        </m:r>
                      </m:e>
                      <m:sub>
                        <m:r>
                          <m:rPr>
                            <m:sty m:val="p"/>
                          </m:rPr>
                          <a:rPr lang="de-DE" b="0" i="0" smtClean="0">
                            <a:latin typeface="Cambria Math" panose="02040503050406030204" pitchFamily="18" charset="0"/>
                          </a:rPr>
                          <m:t>data</m:t>
                        </m:r>
                      </m:sub>
                    </m:sSub>
                  </m:oMath>
                </a14:m>
                <a:r>
                  <a:rPr lang="de-DE" b="0" dirty="0"/>
                  <a:t>)</a:t>
                </a:r>
              </a:p>
              <a:p>
                <a:pPr marL="628650" lvl="3" indent="-180975">
                  <a:lnSpc>
                    <a:spcPct val="100000"/>
                  </a:lnSpc>
                  <a:buFont typeface="Arial" panose="020B0604020202020204" pitchFamily="34" charset="0"/>
                  <a:buChar char="•"/>
                </a:pPr>
                <a:r>
                  <a:rPr lang="da-DK" dirty="0"/>
                  <a:t>training (</a:t>
                </a:r>
                <a14:m>
                  <m:oMath xmlns:m="http://schemas.openxmlformats.org/officeDocument/2006/math">
                    <m:sSub>
                      <m:sSubPr>
                        <m:ctrlPr>
                          <a:rPr lang="de-DE" b="0" i="1" smtClean="0">
                            <a:latin typeface="Cambria Math" panose="02040503050406030204" pitchFamily="18" charset="0"/>
                          </a:rPr>
                        </m:ctrlPr>
                      </m:sSubPr>
                      <m:e>
                        <m:r>
                          <a:rPr lang="de-DE" b="0" i="1" smtClean="0">
                            <a:latin typeface="Cambria Math" panose="02040503050406030204" pitchFamily="18" charset="0"/>
                          </a:rPr>
                          <m:t>𝑇</m:t>
                        </m:r>
                      </m:e>
                      <m:sub>
                        <m:r>
                          <m:rPr>
                            <m:sty m:val="p"/>
                          </m:rPr>
                          <a:rPr lang="de-DE" b="0" i="0" smtClean="0">
                            <a:latin typeface="Cambria Math" panose="02040503050406030204" pitchFamily="18" charset="0"/>
                          </a:rPr>
                          <m:t>train</m:t>
                        </m:r>
                      </m:sub>
                    </m:sSub>
                  </m:oMath>
                </a14:m>
                <a:r>
                  <a:rPr lang="da-DK" dirty="0"/>
                  <a:t>)</a:t>
                </a:r>
              </a:p>
              <a:p>
                <a:pPr marL="628650" lvl="3" indent="-180975">
                  <a:lnSpc>
                    <a:spcPct val="100000"/>
                  </a:lnSpc>
                  <a:buFont typeface="Arial" panose="020B0604020202020204" pitchFamily="34" charset="0"/>
                  <a:buChar char="•"/>
                </a:pPr>
                <a:r>
                  <a:rPr lang="da-DK" dirty="0"/>
                  <a:t>1 simulation (</a:t>
                </a:r>
                <a14:m>
                  <m:oMath xmlns:m="http://schemas.openxmlformats.org/officeDocument/2006/math">
                    <m:sSub>
                      <m:sSubPr>
                        <m:ctrlPr>
                          <a:rPr lang="de-DE" b="0" i="1" smtClean="0">
                            <a:latin typeface="Cambria Math" panose="02040503050406030204" pitchFamily="18" charset="0"/>
                          </a:rPr>
                        </m:ctrlPr>
                      </m:sSubPr>
                      <m:e>
                        <m:r>
                          <a:rPr lang="de-DE" b="0" i="1" smtClean="0">
                            <a:latin typeface="Cambria Math" panose="02040503050406030204" pitchFamily="18" charset="0"/>
                          </a:rPr>
                          <m:t>𝑇</m:t>
                        </m:r>
                      </m:e>
                      <m:sub>
                        <m:r>
                          <m:rPr>
                            <m:sty m:val="p"/>
                          </m:rPr>
                          <a:rPr lang="de-DE" b="0" i="0" smtClean="0">
                            <a:latin typeface="Cambria Math" panose="02040503050406030204" pitchFamily="18" charset="0"/>
                          </a:rPr>
                          <m:t>simulation</m:t>
                        </m:r>
                      </m:sub>
                    </m:sSub>
                    <m:r>
                      <a:rPr lang="de-DE" b="0" i="1" smtClean="0">
                        <a:latin typeface="Cambria Math" panose="02040503050406030204" pitchFamily="18" charset="0"/>
                      </a:rPr>
                      <m:t>)</m:t>
                    </m:r>
                  </m:oMath>
                </a14:m>
                <a:endParaRPr lang="da-DK" dirty="0"/>
              </a:p>
              <a:p>
                <a:pPr marL="628650" lvl="3" indent="-180975">
                  <a:lnSpc>
                    <a:spcPct val="100000"/>
                  </a:lnSpc>
                  <a:buFont typeface="Arial" panose="020B0604020202020204" pitchFamily="34" charset="0"/>
                  <a:buChar char="•"/>
                </a:pPr>
                <a:r>
                  <a:rPr lang="da-DK" dirty="0"/>
                  <a:t>1 surrogate evaluation</a:t>
                </a:r>
                <a:br>
                  <a:rPr lang="da-DK" dirty="0"/>
                </a:br>
                <a:r>
                  <a:rPr lang="da-DK" dirty="0"/>
                  <a:t>(</a:t>
                </a:r>
                <a14:m>
                  <m:oMath xmlns:m="http://schemas.openxmlformats.org/officeDocument/2006/math">
                    <m:sSub>
                      <m:sSubPr>
                        <m:ctrlPr>
                          <a:rPr lang="de-DE" b="0" i="1" smtClean="0">
                            <a:latin typeface="Cambria Math" panose="02040503050406030204" pitchFamily="18" charset="0"/>
                          </a:rPr>
                        </m:ctrlPr>
                      </m:sSubPr>
                      <m:e>
                        <m:r>
                          <a:rPr lang="de-DE" b="0" i="1" smtClean="0">
                            <a:latin typeface="Cambria Math" panose="02040503050406030204" pitchFamily="18" charset="0"/>
                          </a:rPr>
                          <m:t>𝑇</m:t>
                        </m:r>
                      </m:e>
                      <m:sub>
                        <m:r>
                          <m:rPr>
                            <m:sty m:val="p"/>
                          </m:rPr>
                          <a:rPr lang="de-DE" b="0" i="0" smtClean="0">
                            <a:latin typeface="Cambria Math" panose="02040503050406030204" pitchFamily="18" charset="0"/>
                          </a:rPr>
                          <m:t>surrogate</m:t>
                        </m:r>
                      </m:sub>
                    </m:sSub>
                  </m:oMath>
                </a14:m>
                <a:r>
                  <a:rPr lang="da-DK" dirty="0"/>
                  <a:t>)</a:t>
                </a:r>
                <a:endParaRPr lang="en-US" dirty="0"/>
              </a:p>
            </p:txBody>
          </p:sp>
        </mc:Choice>
        <mc:Fallback xmlns="">
          <p:sp>
            <p:nvSpPr>
              <p:cNvPr id="2" name="Content Placeholder 1">
                <a:extLst>
                  <a:ext uri="{FF2B5EF4-FFF2-40B4-BE49-F238E27FC236}">
                    <a16:creationId xmlns:a16="http://schemas.microsoft.com/office/drawing/2014/main" id="{06AF0E8B-C969-ECC7-D534-7D4D360D17D1}"/>
                  </a:ext>
                </a:extLst>
              </p:cNvPr>
              <p:cNvSpPr>
                <a:spLocks noGrp="1" noRot="1" noChangeAspect="1" noMove="1" noResize="1" noEditPoints="1" noAdjustHandles="1" noChangeArrowheads="1" noChangeShapeType="1" noTextEdit="1"/>
              </p:cNvSpPr>
              <p:nvPr>
                <p:ph idx="1"/>
              </p:nvPr>
            </p:nvSpPr>
            <p:spPr>
              <a:blipFill>
                <a:blip r:embed="rId4"/>
                <a:stretch>
                  <a:fillRect l="-1289" t="-922" b="-3533"/>
                </a:stretch>
              </a:blipFill>
            </p:spPr>
            <p:txBody>
              <a:bodyPr/>
              <a:lstStyle/>
              <a:p>
                <a:r>
                  <a:rPr lang="de-DE">
                    <a:noFill/>
                  </a:rPr>
                  <a:t> </a:t>
                </a:r>
              </a:p>
            </p:txBody>
          </p:sp>
        </mc:Fallback>
      </mc:AlternateContent>
      <p:sp>
        <p:nvSpPr>
          <p:cNvPr id="3" name="Title 2">
            <a:extLst>
              <a:ext uri="{FF2B5EF4-FFF2-40B4-BE49-F238E27FC236}">
                <a16:creationId xmlns:a16="http://schemas.microsoft.com/office/drawing/2014/main" id="{6DCAFAB2-20C9-943A-8E4C-951D229573B5}"/>
              </a:ext>
            </a:extLst>
          </p:cNvPr>
          <p:cNvSpPr>
            <a:spLocks noGrp="1"/>
          </p:cNvSpPr>
          <p:nvPr>
            <p:ph type="title"/>
          </p:nvPr>
        </p:nvSpPr>
        <p:spPr>
          <a:xfrm>
            <a:off x="311162" y="295691"/>
            <a:ext cx="6929897" cy="392415"/>
          </a:xfrm>
        </p:spPr>
        <p:txBody>
          <a:bodyPr/>
          <a:lstStyle/>
          <a:p>
            <a:r>
              <a:rPr lang="de-DE" dirty="0"/>
              <a:t>3.9.1 </a:t>
            </a:r>
            <a:r>
              <a:rPr lang="de-DE" dirty="0" err="1"/>
              <a:t>Convolutional</a:t>
            </a:r>
            <a:r>
              <a:rPr lang="de-DE" dirty="0"/>
              <a:t> </a:t>
            </a:r>
            <a:r>
              <a:rPr lang="de-DE" dirty="0" err="1"/>
              <a:t>Neural</a:t>
            </a:r>
            <a:r>
              <a:rPr lang="de-DE" dirty="0"/>
              <a:t> Networks – </a:t>
            </a:r>
            <a:r>
              <a:rPr lang="de-DE" dirty="0" err="1"/>
              <a:t>Example</a:t>
            </a:r>
            <a:r>
              <a:rPr lang="de-DE" dirty="0"/>
              <a:t> </a:t>
            </a:r>
            <a:endParaRPr lang="en-US" dirty="0"/>
          </a:p>
        </p:txBody>
      </p:sp>
      <p:sp>
        <p:nvSpPr>
          <p:cNvPr id="4" name="Slide Number Placeholder 3">
            <a:extLst>
              <a:ext uri="{FF2B5EF4-FFF2-40B4-BE49-F238E27FC236}">
                <a16:creationId xmlns:a16="http://schemas.microsoft.com/office/drawing/2014/main" id="{48019A22-481D-C2B2-F50F-B175DAA018A0}"/>
              </a:ext>
            </a:extLst>
          </p:cNvPr>
          <p:cNvSpPr>
            <a:spLocks noGrp="1"/>
          </p:cNvSpPr>
          <p:nvPr>
            <p:ph type="sldNum" sz="quarter" idx="11"/>
          </p:nvPr>
        </p:nvSpPr>
        <p:spPr/>
        <p:txBody>
          <a:bodyPr/>
          <a:lstStyle/>
          <a:p>
            <a:fld id="{CE58CB1E-F828-4F11-99E0-327109AF9DA4}" type="slidenum">
              <a:rPr lang="de-DE" smtClean="0"/>
              <a:pPr/>
              <a:t>23</a:t>
            </a:fld>
            <a:endParaRPr lang="de-DE"/>
          </a:p>
        </p:txBody>
      </p:sp>
      <p:sp>
        <p:nvSpPr>
          <p:cNvPr id="5" name="Footer Placeholder 4">
            <a:extLst>
              <a:ext uri="{FF2B5EF4-FFF2-40B4-BE49-F238E27FC236}">
                <a16:creationId xmlns:a16="http://schemas.microsoft.com/office/drawing/2014/main" id="{B59E32EB-06CC-A4BC-F852-F5AB0C294116}"/>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sp>
        <p:nvSpPr>
          <p:cNvPr id="7" name="TextBox 6">
            <a:extLst>
              <a:ext uri="{FF2B5EF4-FFF2-40B4-BE49-F238E27FC236}">
                <a16:creationId xmlns:a16="http://schemas.microsoft.com/office/drawing/2014/main" id="{F2824DA9-5A10-86F0-708C-5DCAC7704E77}"/>
              </a:ext>
            </a:extLst>
          </p:cNvPr>
          <p:cNvSpPr txBox="1"/>
          <p:nvPr/>
        </p:nvSpPr>
        <p:spPr>
          <a:xfrm>
            <a:off x="606425" y="1517907"/>
            <a:ext cx="5781675" cy="198581"/>
          </a:xfrm>
          <a:prstGeom prst="rect">
            <a:avLst/>
          </a:prstGeom>
          <a:noFill/>
        </p:spPr>
        <p:txBody>
          <a:bodyPr wrap="square" lIns="0" tIns="0" rIns="0" bIns="0" rtlCol="0">
            <a:spAutoFit/>
          </a:bodyPr>
          <a:lstStyle/>
          <a:p>
            <a:pPr>
              <a:lnSpc>
                <a:spcPct val="114000"/>
              </a:lnSpc>
            </a:pPr>
            <a:r>
              <a:rPr lang="da-DK" sz="1200" i="1" dirty="0">
                <a:solidFill>
                  <a:schemeClr val="accent2"/>
                </a:solidFill>
                <a:latin typeface="+mn-lt"/>
              </a:rPr>
              <a:t>U-Net: </a:t>
            </a:r>
            <a:r>
              <a:rPr lang="da-DK" sz="1200" i="1" dirty="0" err="1">
                <a:solidFill>
                  <a:schemeClr val="accent2"/>
                </a:solidFill>
                <a:latin typeface="+mn-lt"/>
              </a:rPr>
              <a:t>Convolutional</a:t>
            </a:r>
            <a:r>
              <a:rPr lang="da-DK" sz="1200" i="1" dirty="0">
                <a:solidFill>
                  <a:schemeClr val="accent2"/>
                </a:solidFill>
                <a:latin typeface="+mn-lt"/>
              </a:rPr>
              <a:t> Networks for </a:t>
            </a:r>
            <a:r>
              <a:rPr lang="da-DK" sz="1200" i="1" dirty="0" err="1">
                <a:solidFill>
                  <a:schemeClr val="accent2"/>
                </a:solidFill>
                <a:latin typeface="+mn-lt"/>
              </a:rPr>
              <a:t>Biomedical</a:t>
            </a:r>
            <a:r>
              <a:rPr lang="da-DK" sz="1200" i="1" dirty="0">
                <a:solidFill>
                  <a:schemeClr val="accent2"/>
                </a:solidFill>
                <a:latin typeface="+mn-lt"/>
              </a:rPr>
              <a:t> Image </a:t>
            </a:r>
            <a:r>
              <a:rPr lang="da-DK" sz="1200" i="1" dirty="0" err="1">
                <a:solidFill>
                  <a:schemeClr val="accent2"/>
                </a:solidFill>
                <a:latin typeface="+mn-lt"/>
              </a:rPr>
              <a:t>Segmentation</a:t>
            </a:r>
            <a:r>
              <a:rPr lang="da-DK" sz="1200" i="1" dirty="0">
                <a:solidFill>
                  <a:schemeClr val="accent2"/>
                </a:solidFill>
                <a:latin typeface="+mn-lt"/>
              </a:rPr>
              <a:t>, </a:t>
            </a:r>
            <a:r>
              <a:rPr lang="da-DK" sz="1200" i="1" dirty="0" err="1">
                <a:solidFill>
                  <a:schemeClr val="accent2"/>
                </a:solidFill>
                <a:latin typeface="+mn-lt"/>
              </a:rPr>
              <a:t>Ronneberger</a:t>
            </a:r>
            <a:r>
              <a:rPr lang="da-DK" sz="1200" i="1" dirty="0">
                <a:solidFill>
                  <a:schemeClr val="accent2"/>
                </a:solidFill>
                <a:latin typeface="+mn-lt"/>
              </a:rPr>
              <a:t> et al. 2015</a:t>
            </a:r>
            <a:endParaRPr lang="en-DE" sz="1200" i="1" dirty="0">
              <a:solidFill>
                <a:schemeClr val="accent2"/>
              </a:solidFill>
              <a:latin typeface="+mn-lt"/>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80963744-E6F6-9474-79B1-8BD364B5993C}"/>
                  </a:ext>
                </a:extLst>
              </p:cNvPr>
              <p:cNvSpPr txBox="1"/>
              <p:nvPr/>
            </p:nvSpPr>
            <p:spPr>
              <a:xfrm>
                <a:off x="5100639" y="4186281"/>
                <a:ext cx="2109595" cy="409086"/>
              </a:xfrm>
              <a:prstGeom prst="rect">
                <a:avLst/>
              </a:prstGeom>
              <a:solidFill>
                <a:schemeClr val="accent6"/>
              </a:solidFill>
            </p:spPr>
            <p:txBody>
              <a:bodyPr wrap="square" lIns="0" tIns="0" rIns="0" bIns="0" rtlCol="0">
                <a:spAutoFit/>
              </a:bodyPr>
              <a:lstStyle/>
              <a:p>
                <a:pPr>
                  <a:lnSpc>
                    <a:spcPct val="114000"/>
                  </a:lnSpc>
                </a:pPr>
                <a:r>
                  <a:rPr lang="de-DE" sz="1200" dirty="0">
                    <a:latin typeface="+mn-lt"/>
                  </a:rPr>
                  <a:t>Assuming </a:t>
                </a:r>
                <a14:m>
                  <m:oMath xmlns:m="http://schemas.openxmlformats.org/officeDocument/2006/math">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𝑇</m:t>
                        </m:r>
                      </m:e>
                      <m:sub>
                        <m:r>
                          <m:rPr>
                            <m:sty m:val="p"/>
                          </m:rPr>
                          <a:rPr lang="de-DE" sz="1200" b="0" i="0" smtClean="0">
                            <a:latin typeface="Cambria Math" panose="02040503050406030204" pitchFamily="18" charset="0"/>
                          </a:rPr>
                          <m:t>data</m:t>
                        </m:r>
                      </m:sub>
                    </m:sSub>
                    <m:r>
                      <a:rPr lang="de-DE" sz="1200" b="0" i="1" smtClean="0">
                        <a:latin typeface="Cambria Math" panose="02040503050406030204" pitchFamily="18" charset="0"/>
                      </a:rPr>
                      <m:t>=</m:t>
                    </m:r>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𝑇</m:t>
                        </m:r>
                      </m:e>
                      <m:sub>
                        <m:r>
                          <m:rPr>
                            <m:sty m:val="p"/>
                          </m:rPr>
                          <a:rPr lang="de-DE" sz="1200" b="0" i="0" smtClean="0">
                            <a:latin typeface="Cambria Math" panose="02040503050406030204" pitchFamily="18" charset="0"/>
                          </a:rPr>
                          <m:t>simulation</m:t>
                        </m:r>
                      </m:sub>
                    </m:sSub>
                    <m:r>
                      <a:rPr lang="de-DE" sz="1200" b="0" i="1" smtClean="0">
                        <a:latin typeface="Cambria Math" panose="02040503050406030204" pitchFamily="18" charset="0"/>
                      </a:rPr>
                      <m:t>⋅</m:t>
                    </m:r>
                    <m:r>
                      <a:rPr lang="de-DE" sz="1200" b="0" i="1" smtClean="0">
                        <a:latin typeface="Cambria Math" panose="02040503050406030204" pitchFamily="18" charset="0"/>
                      </a:rPr>
                      <m:t>𝑚</m:t>
                    </m:r>
                  </m:oMath>
                </a14:m>
                <a:r>
                  <a:rPr lang="en-US" sz="1200" dirty="0">
                    <a:latin typeface="+mn-lt"/>
                  </a:rPr>
                  <a:t> </a:t>
                </a:r>
                <a:br>
                  <a:rPr lang="en-US" sz="1200" dirty="0">
                    <a:latin typeface="+mn-lt"/>
                  </a:rPr>
                </a:br>
                <a:r>
                  <a:rPr lang="en-US" sz="1200" dirty="0">
                    <a:latin typeface="+mn-lt"/>
                  </a:rPr>
                  <a:t>and </a:t>
                </a:r>
                <a14:m>
                  <m:oMath xmlns:m="http://schemas.openxmlformats.org/officeDocument/2006/math">
                    <m:sSub>
                      <m:sSubPr>
                        <m:ctrlPr>
                          <a:rPr lang="de-DE" sz="1200" b="0" i="1" smtClean="0">
                            <a:latin typeface="Cambria Math" panose="02040503050406030204" pitchFamily="18" charset="0"/>
                          </a:rPr>
                        </m:ctrlPr>
                      </m:sSubPr>
                      <m:e>
                        <m:r>
                          <a:rPr lang="de-DE" sz="1200" b="0" i="1" smtClean="0">
                            <a:latin typeface="Cambria Math" panose="02040503050406030204" pitchFamily="18" charset="0"/>
                          </a:rPr>
                          <m:t>𝑇</m:t>
                        </m:r>
                      </m:e>
                      <m:sub>
                        <m:r>
                          <m:rPr>
                            <m:sty m:val="p"/>
                          </m:rPr>
                          <a:rPr lang="de-DE" sz="1200" b="0" i="0" smtClean="0">
                            <a:latin typeface="Cambria Math" panose="02040503050406030204" pitchFamily="18" charset="0"/>
                          </a:rPr>
                          <m:t>train</m:t>
                        </m:r>
                      </m:sub>
                    </m:sSub>
                    <m:r>
                      <a:rPr lang="de-DE" sz="1200" b="0" i="1" smtClean="0">
                        <a:latin typeface="Cambria Math" panose="02040503050406030204" pitchFamily="18" charset="0"/>
                      </a:rPr>
                      <m:t>≈0</m:t>
                    </m:r>
                  </m:oMath>
                </a14:m>
                <a:endParaRPr lang="en-US" sz="1200" dirty="0" err="1">
                  <a:latin typeface="+mn-lt"/>
                </a:endParaRPr>
              </a:p>
            </p:txBody>
          </p:sp>
        </mc:Choice>
        <mc:Fallback xmlns="">
          <p:sp>
            <p:nvSpPr>
              <p:cNvPr id="12" name="TextBox 11">
                <a:extLst>
                  <a:ext uri="{FF2B5EF4-FFF2-40B4-BE49-F238E27FC236}">
                    <a16:creationId xmlns:a16="http://schemas.microsoft.com/office/drawing/2014/main" id="{80963744-E6F6-9474-79B1-8BD364B5993C}"/>
                  </a:ext>
                </a:extLst>
              </p:cNvPr>
              <p:cNvSpPr txBox="1">
                <a:spLocks noRot="1" noChangeAspect="1" noMove="1" noResize="1" noEditPoints="1" noAdjustHandles="1" noChangeArrowheads="1" noChangeShapeType="1" noTextEdit="1"/>
              </p:cNvSpPr>
              <p:nvPr/>
            </p:nvSpPr>
            <p:spPr>
              <a:xfrm>
                <a:off x="5100639" y="4186281"/>
                <a:ext cx="2109595" cy="409086"/>
              </a:xfrm>
              <a:prstGeom prst="rect">
                <a:avLst/>
              </a:prstGeom>
              <a:blipFill>
                <a:blip r:embed="rId5"/>
                <a:stretch>
                  <a:fillRect l="-4624" t="-7463" b="-22388"/>
                </a:stretch>
              </a:blipFill>
            </p:spPr>
            <p:txBody>
              <a:bodyPr/>
              <a:lstStyle/>
              <a:p>
                <a:r>
                  <a:rPr lang="en-US">
                    <a:noFill/>
                  </a:rPr>
                  <a:t> </a:t>
                </a:r>
              </a:p>
            </p:txBody>
          </p:sp>
        </mc:Fallback>
      </mc:AlternateContent>
      <p:pic>
        <p:nvPicPr>
          <p:cNvPr id="11" name="Picture 10" descr="A graph with a red line and blue line&#10;&#10;Description automatically generated">
            <a:extLst>
              <a:ext uri="{FF2B5EF4-FFF2-40B4-BE49-F238E27FC236}">
                <a16:creationId xmlns:a16="http://schemas.microsoft.com/office/drawing/2014/main" id="{9767D720-D5AA-B74B-6E8E-FC9EBE201178}"/>
              </a:ext>
            </a:extLst>
          </p:cNvPr>
          <p:cNvPicPr>
            <a:picLocks noChangeAspect="1"/>
          </p:cNvPicPr>
          <p:nvPr/>
        </p:nvPicPr>
        <p:blipFill>
          <a:blip r:embed="rId6"/>
          <a:stretch>
            <a:fillRect/>
          </a:stretch>
        </p:blipFill>
        <p:spPr>
          <a:xfrm>
            <a:off x="3328370" y="3526302"/>
            <a:ext cx="1772269" cy="1417815"/>
          </a:xfrm>
          <a:prstGeom prst="rect">
            <a:avLst/>
          </a:prstGeom>
        </p:spPr>
      </p:pic>
    </p:spTree>
    <p:extLst>
      <p:ext uri="{BB962C8B-B14F-4D97-AF65-F5344CB8AC3E}">
        <p14:creationId xmlns:p14="http://schemas.microsoft.com/office/powerpoint/2010/main" val="3539410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12" end="1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D3D8D40-7973-3CC7-D801-112A4BA7255C}"/>
              </a:ext>
            </a:extLst>
          </p:cNvPr>
          <p:cNvPicPr>
            <a:picLocks noChangeAspect="1"/>
          </p:cNvPicPr>
          <p:nvPr/>
        </p:nvPicPr>
        <p:blipFill>
          <a:blip r:embed="rId3"/>
          <a:stretch>
            <a:fillRect/>
          </a:stretch>
        </p:blipFill>
        <p:spPr>
          <a:xfrm>
            <a:off x="1561978" y="1821612"/>
            <a:ext cx="7424859" cy="2900407"/>
          </a:xfrm>
          <a:prstGeom prst="rect">
            <a:avLst/>
          </a:prstGeom>
        </p:spPr>
      </p:pic>
      <p:sp>
        <p:nvSpPr>
          <p:cNvPr id="2" name="Content Placeholder 1">
            <a:extLst>
              <a:ext uri="{FF2B5EF4-FFF2-40B4-BE49-F238E27FC236}">
                <a16:creationId xmlns:a16="http://schemas.microsoft.com/office/drawing/2014/main" id="{41162177-5F41-996F-326B-B4CA20D89D95}"/>
              </a:ext>
            </a:extLst>
          </p:cNvPr>
          <p:cNvSpPr>
            <a:spLocks noGrp="1"/>
          </p:cNvSpPr>
          <p:nvPr>
            <p:ph idx="1"/>
          </p:nvPr>
        </p:nvSpPr>
        <p:spPr/>
        <p:txBody>
          <a:bodyPr/>
          <a:lstStyle/>
          <a:p>
            <a:r>
              <a:rPr lang="en-US" dirty="0">
                <a:solidFill>
                  <a:schemeClr val="bg2"/>
                </a:solidFill>
              </a:rPr>
              <a:t>Model selection </a:t>
            </a:r>
            <a:r>
              <a:rPr lang="en-US" dirty="0"/>
              <a:t>(make sure that model can learn the training data by heart)</a:t>
            </a:r>
            <a:endParaRPr lang="en-US" dirty="0">
              <a:solidFill>
                <a:schemeClr val="bg1">
                  <a:lumMod val="50000"/>
                </a:schemeClr>
              </a:solidFill>
            </a:endParaRPr>
          </a:p>
          <a:p>
            <a:pPr marL="285750" indent="-285750">
              <a:buFont typeface="Arial" panose="020B0604020202020204" pitchFamily="34" charset="0"/>
              <a:buChar char="•"/>
            </a:pPr>
            <a:r>
              <a:rPr lang="en-US" dirty="0"/>
              <a:t>NN 1: U-net with 5 convolutional layers: 94‘978 parameters</a:t>
            </a:r>
          </a:p>
          <a:p>
            <a:pPr marL="285750" indent="-285750">
              <a:buFont typeface="Arial" panose="020B0604020202020204" pitchFamily="34" charset="0"/>
              <a:buChar char="•"/>
            </a:pPr>
            <a:r>
              <a:rPr lang="en-US" dirty="0"/>
              <a:t>NN 2: feed-forward convolutional neural network with 4 layers: 38‘405 parameters</a:t>
            </a:r>
          </a:p>
          <a:p>
            <a:pPr marL="285750" indent="-285750">
              <a:buFont typeface="Arial" panose="020B0604020202020204" pitchFamily="34" charset="0"/>
              <a:buChar char="•"/>
            </a:pPr>
            <a:r>
              <a:rPr lang="en-US" dirty="0"/>
              <a:t>NN 3: U-net followed by 3 convolutional layers: 154‘471 parameters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Training with 1</a:t>
            </a:r>
            <a:br>
              <a:rPr lang="en-US" dirty="0"/>
            </a:br>
            <a:r>
              <a:rPr lang="en-US" dirty="0"/>
              <a:t>datapoint</a:t>
            </a:r>
          </a:p>
        </p:txBody>
      </p:sp>
      <p:sp>
        <p:nvSpPr>
          <p:cNvPr id="3" name="Title 2">
            <a:extLst>
              <a:ext uri="{FF2B5EF4-FFF2-40B4-BE49-F238E27FC236}">
                <a16:creationId xmlns:a16="http://schemas.microsoft.com/office/drawing/2014/main" id="{8DB92AD6-3184-1FD3-10EB-65CC7AE6E51E}"/>
              </a:ext>
            </a:extLst>
          </p:cNvPr>
          <p:cNvSpPr>
            <a:spLocks noGrp="1"/>
          </p:cNvSpPr>
          <p:nvPr>
            <p:ph type="title"/>
          </p:nvPr>
        </p:nvSpPr>
        <p:spPr/>
        <p:txBody>
          <a:bodyPr/>
          <a:lstStyle/>
          <a:p>
            <a:r>
              <a:rPr lang="de-DE" dirty="0"/>
              <a:t>3.9.1 </a:t>
            </a:r>
            <a:r>
              <a:rPr lang="de-DE" dirty="0" err="1"/>
              <a:t>Convolutional</a:t>
            </a:r>
            <a:r>
              <a:rPr lang="de-DE" dirty="0"/>
              <a:t> </a:t>
            </a:r>
            <a:r>
              <a:rPr lang="de-DE" dirty="0" err="1"/>
              <a:t>Neural</a:t>
            </a:r>
            <a:r>
              <a:rPr lang="de-DE" dirty="0"/>
              <a:t> Networks – </a:t>
            </a:r>
            <a:r>
              <a:rPr lang="de-DE" dirty="0" err="1"/>
              <a:t>Example</a:t>
            </a:r>
            <a:r>
              <a:rPr lang="de-DE" dirty="0"/>
              <a:t> </a:t>
            </a:r>
            <a:endParaRPr lang="en-US" dirty="0"/>
          </a:p>
        </p:txBody>
      </p:sp>
      <p:sp>
        <p:nvSpPr>
          <p:cNvPr id="4" name="Slide Number Placeholder 3">
            <a:extLst>
              <a:ext uri="{FF2B5EF4-FFF2-40B4-BE49-F238E27FC236}">
                <a16:creationId xmlns:a16="http://schemas.microsoft.com/office/drawing/2014/main" id="{B47685FA-5138-A96E-393A-EDACB7A893C9}"/>
              </a:ext>
            </a:extLst>
          </p:cNvPr>
          <p:cNvSpPr>
            <a:spLocks noGrp="1"/>
          </p:cNvSpPr>
          <p:nvPr>
            <p:ph type="sldNum" sz="quarter" idx="11"/>
          </p:nvPr>
        </p:nvSpPr>
        <p:spPr/>
        <p:txBody>
          <a:bodyPr/>
          <a:lstStyle/>
          <a:p>
            <a:fld id="{CE58CB1E-F828-4F11-99E0-327109AF9DA4}" type="slidenum">
              <a:rPr lang="de-DE" smtClean="0"/>
              <a:pPr/>
              <a:t>24</a:t>
            </a:fld>
            <a:endParaRPr lang="de-DE"/>
          </a:p>
        </p:txBody>
      </p:sp>
      <p:sp>
        <p:nvSpPr>
          <p:cNvPr id="5" name="Footer Placeholder 4">
            <a:extLst>
              <a:ext uri="{FF2B5EF4-FFF2-40B4-BE49-F238E27FC236}">
                <a16:creationId xmlns:a16="http://schemas.microsoft.com/office/drawing/2014/main" id="{2BF78124-D8FC-C14B-9CB3-937CFCE25ADE}"/>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sp>
        <p:nvSpPr>
          <p:cNvPr id="8" name="TextBox 7">
            <a:extLst>
              <a:ext uri="{FF2B5EF4-FFF2-40B4-BE49-F238E27FC236}">
                <a16:creationId xmlns:a16="http://schemas.microsoft.com/office/drawing/2014/main" id="{DC2EC595-15FE-741C-4E5E-E58A73DE8CED}"/>
              </a:ext>
            </a:extLst>
          </p:cNvPr>
          <p:cNvSpPr txBox="1"/>
          <p:nvPr/>
        </p:nvSpPr>
        <p:spPr>
          <a:xfrm>
            <a:off x="4639421" y="4627598"/>
            <a:ext cx="1514069" cy="231602"/>
          </a:xfrm>
          <a:prstGeom prst="rect">
            <a:avLst/>
          </a:prstGeom>
          <a:noFill/>
        </p:spPr>
        <p:txBody>
          <a:bodyPr wrap="none" lIns="0" tIns="0" rIns="0" bIns="0" rtlCol="0">
            <a:spAutoFit/>
          </a:bodyPr>
          <a:lstStyle/>
          <a:p>
            <a:pPr>
              <a:lnSpc>
                <a:spcPct val="114000"/>
              </a:lnSpc>
            </a:pPr>
            <a:r>
              <a:rPr lang="de-DE" sz="1400" dirty="0" err="1">
                <a:latin typeface="+mn-lt"/>
              </a:rPr>
              <a:t>Prediction</a:t>
            </a:r>
            <a:r>
              <a:rPr lang="de-DE" sz="1400" dirty="0">
                <a:latin typeface="+mn-lt"/>
              </a:rPr>
              <a:t> </a:t>
            </a:r>
            <a:r>
              <a:rPr lang="de-DE" sz="1400" dirty="0" err="1">
                <a:latin typeface="+mn-lt"/>
              </a:rPr>
              <a:t>with</a:t>
            </a:r>
            <a:r>
              <a:rPr lang="de-DE" sz="1400" dirty="0">
                <a:latin typeface="+mn-lt"/>
              </a:rPr>
              <a:t> NN 2</a:t>
            </a:r>
            <a:endParaRPr lang="en-DE" sz="1400" dirty="0">
              <a:latin typeface="+mn-lt"/>
            </a:endParaRPr>
          </a:p>
        </p:txBody>
      </p:sp>
      <p:sp>
        <p:nvSpPr>
          <p:cNvPr id="9" name="TextBox 8">
            <a:extLst>
              <a:ext uri="{FF2B5EF4-FFF2-40B4-BE49-F238E27FC236}">
                <a16:creationId xmlns:a16="http://schemas.microsoft.com/office/drawing/2014/main" id="{A47FA815-8141-736A-E57C-F35E782CBECB}"/>
              </a:ext>
            </a:extLst>
          </p:cNvPr>
          <p:cNvSpPr txBox="1"/>
          <p:nvPr/>
        </p:nvSpPr>
        <p:spPr>
          <a:xfrm>
            <a:off x="7396378" y="4620618"/>
            <a:ext cx="965329" cy="231602"/>
          </a:xfrm>
          <a:prstGeom prst="rect">
            <a:avLst/>
          </a:prstGeom>
          <a:noFill/>
        </p:spPr>
        <p:txBody>
          <a:bodyPr wrap="none" lIns="0" tIns="0" rIns="0" bIns="0" rtlCol="0">
            <a:spAutoFit/>
          </a:bodyPr>
          <a:lstStyle/>
          <a:p>
            <a:pPr>
              <a:lnSpc>
                <a:spcPct val="114000"/>
              </a:lnSpc>
            </a:pPr>
            <a:r>
              <a:rPr lang="de-DE" sz="1400" dirty="0">
                <a:latin typeface="+mn-lt"/>
              </a:rPr>
              <a:t>Ground </a:t>
            </a:r>
            <a:r>
              <a:rPr lang="de-DE" sz="1400" dirty="0" err="1">
                <a:latin typeface="+mn-lt"/>
              </a:rPr>
              <a:t>truth</a:t>
            </a:r>
            <a:endParaRPr lang="en-DE" sz="1400" dirty="0">
              <a:latin typeface="+mn-lt"/>
            </a:endParaRPr>
          </a:p>
        </p:txBody>
      </p:sp>
    </p:spTree>
    <p:extLst>
      <p:ext uri="{BB962C8B-B14F-4D97-AF65-F5344CB8AC3E}">
        <p14:creationId xmlns:p14="http://schemas.microsoft.com/office/powerpoint/2010/main" val="3970725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1B5501-02E7-0890-2497-8A1954C23BCE}"/>
              </a:ext>
            </a:extLst>
          </p:cNvPr>
          <p:cNvSpPr>
            <a:spLocks noGrp="1"/>
          </p:cNvSpPr>
          <p:nvPr>
            <p:ph idx="1"/>
          </p:nvPr>
        </p:nvSpPr>
        <p:spPr/>
        <p:txBody>
          <a:bodyPr/>
          <a:lstStyle/>
          <a:p>
            <a:r>
              <a:rPr lang="de-DE" dirty="0"/>
              <a:t>With </a:t>
            </a:r>
            <a:r>
              <a:rPr lang="de-DE" dirty="0" err="1"/>
              <a:t>selected</a:t>
            </a:r>
            <a:r>
              <a:rPr lang="de-DE" dirty="0"/>
              <a:t> </a:t>
            </a:r>
            <a:r>
              <a:rPr lang="de-DE" dirty="0" err="1"/>
              <a:t>model</a:t>
            </a:r>
            <a:r>
              <a:rPr lang="de-DE" dirty="0"/>
              <a:t> (NN 3), </a:t>
            </a:r>
            <a:r>
              <a:rPr lang="de-DE" dirty="0" err="1"/>
              <a:t>increase</a:t>
            </a:r>
            <a:r>
              <a:rPr lang="de-DE" dirty="0"/>
              <a:t> </a:t>
            </a:r>
            <a:r>
              <a:rPr lang="de-DE" dirty="0" err="1"/>
              <a:t>the</a:t>
            </a:r>
            <a:r>
              <a:rPr lang="de-DE" dirty="0"/>
              <a:t> </a:t>
            </a:r>
            <a:r>
              <a:rPr lang="de-DE" dirty="0" err="1"/>
              <a:t>training</a:t>
            </a:r>
            <a:r>
              <a:rPr lang="de-DE" dirty="0"/>
              <a:t> </a:t>
            </a:r>
            <a:r>
              <a:rPr lang="de-DE" dirty="0" err="1"/>
              <a:t>data</a:t>
            </a:r>
            <a:r>
              <a:rPr lang="de-DE" dirty="0"/>
              <a:t> (and </a:t>
            </a:r>
            <a:r>
              <a:rPr lang="de-DE" dirty="0" err="1"/>
              <a:t>potentially</a:t>
            </a:r>
            <a:r>
              <a:rPr lang="de-DE" dirty="0"/>
              <a:t> tune </a:t>
            </a:r>
            <a:r>
              <a:rPr lang="de-DE" dirty="0" err="1"/>
              <a:t>the</a:t>
            </a:r>
            <a:r>
              <a:rPr lang="de-DE" dirty="0"/>
              <a:t> </a:t>
            </a:r>
            <a:r>
              <a:rPr lang="de-DE" dirty="0" err="1"/>
              <a:t>architecture</a:t>
            </a:r>
            <a:r>
              <a:rPr lang="de-DE" dirty="0"/>
              <a:t> &amp; </a:t>
            </a:r>
            <a:r>
              <a:rPr lang="de-DE" dirty="0" err="1"/>
              <a:t>optimizer</a:t>
            </a:r>
            <a:r>
              <a:rPr lang="de-DE" dirty="0"/>
              <a:t>)</a:t>
            </a:r>
            <a:endParaRPr lang="en-US" dirty="0"/>
          </a:p>
        </p:txBody>
      </p:sp>
      <p:sp>
        <p:nvSpPr>
          <p:cNvPr id="3" name="Title 2">
            <a:extLst>
              <a:ext uri="{FF2B5EF4-FFF2-40B4-BE49-F238E27FC236}">
                <a16:creationId xmlns:a16="http://schemas.microsoft.com/office/drawing/2014/main" id="{087B28A5-DCCB-91E6-2E96-7A47DB00319C}"/>
              </a:ext>
            </a:extLst>
          </p:cNvPr>
          <p:cNvSpPr>
            <a:spLocks noGrp="1"/>
          </p:cNvSpPr>
          <p:nvPr>
            <p:ph type="title"/>
          </p:nvPr>
        </p:nvSpPr>
        <p:spPr/>
        <p:txBody>
          <a:bodyPr/>
          <a:lstStyle/>
          <a:p>
            <a:r>
              <a:rPr lang="de-DE" dirty="0"/>
              <a:t>3.9.1 </a:t>
            </a:r>
            <a:r>
              <a:rPr lang="de-DE" dirty="0" err="1"/>
              <a:t>Convolutional</a:t>
            </a:r>
            <a:r>
              <a:rPr lang="de-DE" dirty="0"/>
              <a:t> </a:t>
            </a:r>
            <a:r>
              <a:rPr lang="de-DE" dirty="0" err="1"/>
              <a:t>Neural</a:t>
            </a:r>
            <a:r>
              <a:rPr lang="de-DE" dirty="0"/>
              <a:t> Networks – </a:t>
            </a:r>
            <a:r>
              <a:rPr lang="de-DE" dirty="0" err="1"/>
              <a:t>Example</a:t>
            </a:r>
            <a:r>
              <a:rPr lang="de-DE" dirty="0"/>
              <a:t> </a:t>
            </a:r>
            <a:endParaRPr lang="en-US" dirty="0"/>
          </a:p>
        </p:txBody>
      </p:sp>
      <p:sp>
        <p:nvSpPr>
          <p:cNvPr id="4" name="Slide Number Placeholder 3">
            <a:extLst>
              <a:ext uri="{FF2B5EF4-FFF2-40B4-BE49-F238E27FC236}">
                <a16:creationId xmlns:a16="http://schemas.microsoft.com/office/drawing/2014/main" id="{0EA172EA-4EE1-489E-830A-ACA1B68D5517}"/>
              </a:ext>
            </a:extLst>
          </p:cNvPr>
          <p:cNvSpPr>
            <a:spLocks noGrp="1"/>
          </p:cNvSpPr>
          <p:nvPr>
            <p:ph type="sldNum" sz="quarter" idx="11"/>
          </p:nvPr>
        </p:nvSpPr>
        <p:spPr/>
        <p:txBody>
          <a:bodyPr/>
          <a:lstStyle/>
          <a:p>
            <a:fld id="{CE58CB1E-F828-4F11-99E0-327109AF9DA4}" type="slidenum">
              <a:rPr lang="de-DE" smtClean="0"/>
              <a:pPr/>
              <a:t>25</a:t>
            </a:fld>
            <a:endParaRPr lang="de-DE"/>
          </a:p>
        </p:txBody>
      </p:sp>
      <p:sp>
        <p:nvSpPr>
          <p:cNvPr id="5" name="Footer Placeholder 4">
            <a:extLst>
              <a:ext uri="{FF2B5EF4-FFF2-40B4-BE49-F238E27FC236}">
                <a16:creationId xmlns:a16="http://schemas.microsoft.com/office/drawing/2014/main" id="{B854E779-5104-E91B-5CAD-1EE03EA6F6A7}"/>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pic>
        <p:nvPicPr>
          <p:cNvPr id="7" name="Picture 6">
            <a:extLst>
              <a:ext uri="{FF2B5EF4-FFF2-40B4-BE49-F238E27FC236}">
                <a16:creationId xmlns:a16="http://schemas.microsoft.com/office/drawing/2014/main" id="{746B3192-468E-EC4F-181F-4AC462A41922}"/>
              </a:ext>
            </a:extLst>
          </p:cNvPr>
          <p:cNvPicPr>
            <a:picLocks noChangeAspect="1"/>
          </p:cNvPicPr>
          <p:nvPr/>
        </p:nvPicPr>
        <p:blipFill>
          <a:blip r:embed="rId3"/>
          <a:stretch>
            <a:fillRect/>
          </a:stretch>
        </p:blipFill>
        <p:spPr>
          <a:xfrm>
            <a:off x="617316" y="1117453"/>
            <a:ext cx="7065169" cy="3200357"/>
          </a:xfrm>
          <a:prstGeom prst="rect">
            <a:avLst/>
          </a:prstGeom>
        </p:spPr>
      </p:pic>
      <p:sp>
        <p:nvSpPr>
          <p:cNvPr id="8" name="TextBox 7">
            <a:extLst>
              <a:ext uri="{FF2B5EF4-FFF2-40B4-BE49-F238E27FC236}">
                <a16:creationId xmlns:a16="http://schemas.microsoft.com/office/drawing/2014/main" id="{082B5097-BF6E-B36E-8390-5BD5722D7B2B}"/>
              </a:ext>
            </a:extLst>
          </p:cNvPr>
          <p:cNvSpPr txBox="1"/>
          <p:nvPr/>
        </p:nvSpPr>
        <p:spPr>
          <a:xfrm>
            <a:off x="1881934" y="4380078"/>
            <a:ext cx="1653722" cy="231602"/>
          </a:xfrm>
          <a:prstGeom prst="rect">
            <a:avLst/>
          </a:prstGeom>
          <a:noFill/>
        </p:spPr>
        <p:txBody>
          <a:bodyPr wrap="none" lIns="0" tIns="0" rIns="0" bIns="0" rtlCol="0">
            <a:spAutoFit/>
          </a:bodyPr>
          <a:lstStyle/>
          <a:p>
            <a:pPr>
              <a:lnSpc>
                <a:spcPct val="114000"/>
              </a:lnSpc>
            </a:pPr>
            <a:r>
              <a:rPr lang="de-DE" sz="1400" dirty="0" err="1">
                <a:latin typeface="+mn-lt"/>
              </a:rPr>
              <a:t>Without</a:t>
            </a:r>
            <a:r>
              <a:rPr lang="de-DE" sz="1400" dirty="0">
                <a:latin typeface="+mn-lt"/>
              </a:rPr>
              <a:t> </a:t>
            </a:r>
            <a:r>
              <a:rPr lang="de-DE" sz="1400" dirty="0" err="1">
                <a:latin typeface="+mn-lt"/>
              </a:rPr>
              <a:t>regularization</a:t>
            </a:r>
            <a:endParaRPr lang="en-DE" sz="1400" dirty="0">
              <a:latin typeface="+mn-lt"/>
            </a:endParaRPr>
          </a:p>
        </p:txBody>
      </p:sp>
      <p:sp>
        <p:nvSpPr>
          <p:cNvPr id="9" name="TextBox 8">
            <a:extLst>
              <a:ext uri="{FF2B5EF4-FFF2-40B4-BE49-F238E27FC236}">
                <a16:creationId xmlns:a16="http://schemas.microsoft.com/office/drawing/2014/main" id="{E187DEF3-CBA8-8F55-506F-09C2C4081B8C}"/>
              </a:ext>
            </a:extLst>
          </p:cNvPr>
          <p:cNvSpPr txBox="1"/>
          <p:nvPr/>
        </p:nvSpPr>
        <p:spPr>
          <a:xfrm>
            <a:off x="5480045" y="4377971"/>
            <a:ext cx="1403654" cy="231602"/>
          </a:xfrm>
          <a:prstGeom prst="rect">
            <a:avLst/>
          </a:prstGeom>
          <a:noFill/>
        </p:spPr>
        <p:txBody>
          <a:bodyPr wrap="none" lIns="0" tIns="0" rIns="0" bIns="0" rtlCol="0">
            <a:spAutoFit/>
          </a:bodyPr>
          <a:lstStyle/>
          <a:p>
            <a:pPr>
              <a:lnSpc>
                <a:spcPct val="114000"/>
              </a:lnSpc>
            </a:pPr>
            <a:r>
              <a:rPr lang="de-DE" sz="1400" dirty="0">
                <a:latin typeface="+mn-lt"/>
              </a:rPr>
              <a:t>With </a:t>
            </a:r>
            <a:r>
              <a:rPr lang="de-DE" sz="1400" dirty="0" err="1">
                <a:latin typeface="+mn-lt"/>
              </a:rPr>
              <a:t>regularization</a:t>
            </a:r>
            <a:endParaRPr lang="en-DE" sz="1400" dirty="0">
              <a:latin typeface="+mn-lt"/>
            </a:endParaRPr>
          </a:p>
        </p:txBody>
      </p:sp>
    </p:spTree>
    <p:extLst>
      <p:ext uri="{BB962C8B-B14F-4D97-AF65-F5344CB8AC3E}">
        <p14:creationId xmlns:p14="http://schemas.microsoft.com/office/powerpoint/2010/main" val="34308010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86F42-79E2-ECF0-6865-9737D67B662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7CB3DF3-D1E4-69C1-5A02-BDB9F8314C3F}"/>
              </a:ext>
            </a:extLst>
          </p:cNvPr>
          <p:cNvSpPr>
            <a:spLocks noGrp="1"/>
          </p:cNvSpPr>
          <p:nvPr>
            <p:ph idx="1"/>
          </p:nvPr>
        </p:nvSpPr>
        <p:spPr/>
        <p:txBody>
          <a:bodyPr/>
          <a:lstStyle/>
          <a:p>
            <a:r>
              <a:rPr lang="de-DE" dirty="0" err="1"/>
              <a:t>Prediction</a:t>
            </a:r>
            <a:r>
              <a:rPr lang="de-DE" dirty="0"/>
              <a:t> on </a:t>
            </a:r>
            <a:r>
              <a:rPr lang="de-DE" dirty="0" err="1"/>
              <a:t>unseen</a:t>
            </a:r>
            <a:r>
              <a:rPr lang="de-DE" dirty="0"/>
              <a:t> </a:t>
            </a:r>
            <a:r>
              <a:rPr lang="de-DE" dirty="0" err="1"/>
              <a:t>data</a:t>
            </a:r>
            <a:r>
              <a:rPr lang="de-DE" dirty="0"/>
              <a:t> (i.e., </a:t>
            </a:r>
            <a:r>
              <a:rPr lang="de-DE" dirty="0" err="1"/>
              <a:t>validation</a:t>
            </a:r>
            <a:r>
              <a:rPr lang="de-DE" dirty="0"/>
              <a:t> </a:t>
            </a:r>
            <a:r>
              <a:rPr lang="de-DE" dirty="0" err="1"/>
              <a:t>data</a:t>
            </a:r>
            <a:r>
              <a:rPr lang="de-DE" dirty="0"/>
              <a:t>)</a:t>
            </a:r>
            <a:endParaRPr lang="en-US" dirty="0"/>
          </a:p>
        </p:txBody>
      </p:sp>
      <p:sp>
        <p:nvSpPr>
          <p:cNvPr id="3" name="Title 2">
            <a:extLst>
              <a:ext uri="{FF2B5EF4-FFF2-40B4-BE49-F238E27FC236}">
                <a16:creationId xmlns:a16="http://schemas.microsoft.com/office/drawing/2014/main" id="{4E627D4E-5DF5-6011-2952-3E13F29BC82A}"/>
              </a:ext>
            </a:extLst>
          </p:cNvPr>
          <p:cNvSpPr>
            <a:spLocks noGrp="1"/>
          </p:cNvSpPr>
          <p:nvPr>
            <p:ph type="title"/>
          </p:nvPr>
        </p:nvSpPr>
        <p:spPr/>
        <p:txBody>
          <a:bodyPr/>
          <a:lstStyle/>
          <a:p>
            <a:r>
              <a:rPr lang="de-DE" dirty="0"/>
              <a:t>3.9.1 </a:t>
            </a:r>
            <a:r>
              <a:rPr lang="de-DE" dirty="0" err="1"/>
              <a:t>Convolutional</a:t>
            </a:r>
            <a:r>
              <a:rPr lang="de-DE" dirty="0"/>
              <a:t> </a:t>
            </a:r>
            <a:r>
              <a:rPr lang="de-DE" dirty="0" err="1"/>
              <a:t>Neural</a:t>
            </a:r>
            <a:r>
              <a:rPr lang="de-DE" dirty="0"/>
              <a:t> Networks – </a:t>
            </a:r>
            <a:r>
              <a:rPr lang="de-DE" dirty="0" err="1"/>
              <a:t>Example</a:t>
            </a:r>
            <a:r>
              <a:rPr lang="de-DE" dirty="0"/>
              <a:t> </a:t>
            </a:r>
            <a:endParaRPr lang="en-US" dirty="0"/>
          </a:p>
        </p:txBody>
      </p:sp>
      <p:sp>
        <p:nvSpPr>
          <p:cNvPr id="4" name="Slide Number Placeholder 3">
            <a:extLst>
              <a:ext uri="{FF2B5EF4-FFF2-40B4-BE49-F238E27FC236}">
                <a16:creationId xmlns:a16="http://schemas.microsoft.com/office/drawing/2014/main" id="{58007683-FD31-1854-BCE2-B5368F436BD5}"/>
              </a:ext>
            </a:extLst>
          </p:cNvPr>
          <p:cNvSpPr>
            <a:spLocks noGrp="1"/>
          </p:cNvSpPr>
          <p:nvPr>
            <p:ph type="sldNum" sz="quarter" idx="11"/>
          </p:nvPr>
        </p:nvSpPr>
        <p:spPr/>
        <p:txBody>
          <a:bodyPr/>
          <a:lstStyle/>
          <a:p>
            <a:fld id="{CE58CB1E-F828-4F11-99E0-327109AF9DA4}" type="slidenum">
              <a:rPr lang="de-DE" smtClean="0"/>
              <a:pPr/>
              <a:t>26</a:t>
            </a:fld>
            <a:endParaRPr lang="de-DE"/>
          </a:p>
        </p:txBody>
      </p:sp>
      <p:sp>
        <p:nvSpPr>
          <p:cNvPr id="5" name="Footer Placeholder 4">
            <a:extLst>
              <a:ext uri="{FF2B5EF4-FFF2-40B4-BE49-F238E27FC236}">
                <a16:creationId xmlns:a16="http://schemas.microsoft.com/office/drawing/2014/main" id="{B04E33D4-0B8E-73BF-F8DF-F62EFD11681C}"/>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sp>
        <p:nvSpPr>
          <p:cNvPr id="8" name="TextBox 7">
            <a:extLst>
              <a:ext uri="{FF2B5EF4-FFF2-40B4-BE49-F238E27FC236}">
                <a16:creationId xmlns:a16="http://schemas.microsoft.com/office/drawing/2014/main" id="{B4C5E168-03C6-A8C7-C032-EDE5534A1FCA}"/>
              </a:ext>
            </a:extLst>
          </p:cNvPr>
          <p:cNvSpPr txBox="1"/>
          <p:nvPr/>
        </p:nvSpPr>
        <p:spPr>
          <a:xfrm>
            <a:off x="1174702" y="4442515"/>
            <a:ext cx="746230" cy="231602"/>
          </a:xfrm>
          <a:prstGeom prst="rect">
            <a:avLst/>
          </a:prstGeom>
          <a:noFill/>
        </p:spPr>
        <p:txBody>
          <a:bodyPr wrap="none" lIns="0" tIns="0" rIns="0" bIns="0" rtlCol="0">
            <a:spAutoFit/>
          </a:bodyPr>
          <a:lstStyle/>
          <a:p>
            <a:pPr>
              <a:lnSpc>
                <a:spcPct val="114000"/>
              </a:lnSpc>
            </a:pPr>
            <a:r>
              <a:rPr lang="de-DE" sz="1400" dirty="0" err="1">
                <a:latin typeface="+mn-lt"/>
              </a:rPr>
              <a:t>Prediction</a:t>
            </a:r>
            <a:endParaRPr lang="en-DE" sz="1400" dirty="0">
              <a:latin typeface="+mn-lt"/>
            </a:endParaRPr>
          </a:p>
        </p:txBody>
      </p:sp>
      <p:sp>
        <p:nvSpPr>
          <p:cNvPr id="9" name="TextBox 8">
            <a:extLst>
              <a:ext uri="{FF2B5EF4-FFF2-40B4-BE49-F238E27FC236}">
                <a16:creationId xmlns:a16="http://schemas.microsoft.com/office/drawing/2014/main" id="{2274696B-6491-97F8-00C7-CD0E44B2949E}"/>
              </a:ext>
            </a:extLst>
          </p:cNvPr>
          <p:cNvSpPr txBox="1"/>
          <p:nvPr/>
        </p:nvSpPr>
        <p:spPr>
          <a:xfrm>
            <a:off x="6897431" y="4447240"/>
            <a:ext cx="1173783" cy="231602"/>
          </a:xfrm>
          <a:prstGeom prst="rect">
            <a:avLst/>
          </a:prstGeom>
          <a:noFill/>
        </p:spPr>
        <p:txBody>
          <a:bodyPr wrap="none" lIns="0" tIns="0" rIns="0" bIns="0" rtlCol="0">
            <a:spAutoFit/>
          </a:bodyPr>
          <a:lstStyle/>
          <a:p>
            <a:pPr>
              <a:lnSpc>
                <a:spcPct val="114000"/>
              </a:lnSpc>
            </a:pPr>
            <a:r>
              <a:rPr lang="de-DE" sz="1400" dirty="0">
                <a:latin typeface="+mn-lt"/>
              </a:rPr>
              <a:t>Learning </a:t>
            </a:r>
            <a:r>
              <a:rPr lang="de-DE" sz="1400" dirty="0" err="1">
                <a:latin typeface="+mn-lt"/>
              </a:rPr>
              <a:t>history</a:t>
            </a:r>
            <a:endParaRPr lang="en-DE" sz="1400" dirty="0">
              <a:latin typeface="+mn-lt"/>
            </a:endParaRPr>
          </a:p>
        </p:txBody>
      </p:sp>
      <p:pic>
        <p:nvPicPr>
          <p:cNvPr id="10" name="Picture 9">
            <a:extLst>
              <a:ext uri="{FF2B5EF4-FFF2-40B4-BE49-F238E27FC236}">
                <a16:creationId xmlns:a16="http://schemas.microsoft.com/office/drawing/2014/main" id="{E4EB2E0A-E8E9-80FA-29F5-A398D0F262AF}"/>
              </a:ext>
            </a:extLst>
          </p:cNvPr>
          <p:cNvPicPr>
            <a:picLocks noChangeAspect="1"/>
          </p:cNvPicPr>
          <p:nvPr/>
        </p:nvPicPr>
        <p:blipFill>
          <a:blip r:embed="rId3"/>
          <a:stretch>
            <a:fillRect/>
          </a:stretch>
        </p:blipFill>
        <p:spPr>
          <a:xfrm>
            <a:off x="311161" y="1124034"/>
            <a:ext cx="8331012" cy="3261503"/>
          </a:xfrm>
          <a:prstGeom prst="rect">
            <a:avLst/>
          </a:prstGeom>
        </p:spPr>
      </p:pic>
      <p:sp>
        <p:nvSpPr>
          <p:cNvPr id="13" name="TextBox 12">
            <a:extLst>
              <a:ext uri="{FF2B5EF4-FFF2-40B4-BE49-F238E27FC236}">
                <a16:creationId xmlns:a16="http://schemas.microsoft.com/office/drawing/2014/main" id="{8B545F2C-D2DF-C3FB-5C95-5F8694963433}"/>
              </a:ext>
            </a:extLst>
          </p:cNvPr>
          <p:cNvSpPr txBox="1"/>
          <p:nvPr/>
        </p:nvSpPr>
        <p:spPr>
          <a:xfrm>
            <a:off x="3926517" y="4442515"/>
            <a:ext cx="965329" cy="231602"/>
          </a:xfrm>
          <a:prstGeom prst="rect">
            <a:avLst/>
          </a:prstGeom>
          <a:noFill/>
        </p:spPr>
        <p:txBody>
          <a:bodyPr wrap="none" lIns="0" tIns="0" rIns="0" bIns="0" rtlCol="0">
            <a:spAutoFit/>
          </a:bodyPr>
          <a:lstStyle/>
          <a:p>
            <a:pPr>
              <a:lnSpc>
                <a:spcPct val="114000"/>
              </a:lnSpc>
            </a:pPr>
            <a:r>
              <a:rPr lang="de-DE" sz="1400" dirty="0">
                <a:latin typeface="+mn-lt"/>
              </a:rPr>
              <a:t>Ground </a:t>
            </a:r>
            <a:r>
              <a:rPr lang="de-DE" sz="1400" dirty="0" err="1">
                <a:latin typeface="+mn-lt"/>
              </a:rPr>
              <a:t>truth</a:t>
            </a:r>
            <a:endParaRPr lang="en-DE" sz="1400" dirty="0">
              <a:latin typeface="+mn-lt"/>
            </a:endParaRPr>
          </a:p>
        </p:txBody>
      </p:sp>
      <p:pic>
        <p:nvPicPr>
          <p:cNvPr id="7" name="Grafik 6">
            <a:extLst>
              <a:ext uri="{FF2B5EF4-FFF2-40B4-BE49-F238E27FC236}">
                <a16:creationId xmlns:a16="http://schemas.microsoft.com/office/drawing/2014/main" id="{F038D1DE-FE09-654A-3DC1-EA4FFE1D42A7}"/>
              </a:ext>
            </a:extLst>
          </p:cNvPr>
          <p:cNvPicPr>
            <a:picLocks noChangeAspect="1"/>
          </p:cNvPicPr>
          <p:nvPr/>
        </p:nvPicPr>
        <p:blipFill>
          <a:blip r:embed="rId4"/>
          <a:stretch>
            <a:fillRect/>
          </a:stretch>
        </p:blipFill>
        <p:spPr>
          <a:xfrm>
            <a:off x="9497785" y="917773"/>
            <a:ext cx="7459116" cy="3524742"/>
          </a:xfrm>
          <a:prstGeom prst="rect">
            <a:avLst/>
          </a:prstGeom>
        </p:spPr>
      </p:pic>
    </p:spTree>
    <p:extLst>
      <p:ext uri="{BB962C8B-B14F-4D97-AF65-F5344CB8AC3E}">
        <p14:creationId xmlns:p14="http://schemas.microsoft.com/office/powerpoint/2010/main" val="46754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3122061-C7F3-3056-1A11-298982384ED6}"/>
              </a:ext>
            </a:extLst>
          </p:cNvPr>
          <p:cNvSpPr>
            <a:spLocks noGrp="1"/>
          </p:cNvSpPr>
          <p:nvPr>
            <p:ph idx="1"/>
          </p:nvPr>
        </p:nvSpPr>
        <p:spPr/>
        <p:txBody>
          <a:bodyPr/>
          <a:lstStyle/>
          <a:p>
            <a:r>
              <a:rPr lang="de-DE" dirty="0" err="1"/>
              <a:t>TensorBoard</a:t>
            </a:r>
            <a:r>
              <a:rPr lang="de-DE" dirty="0"/>
              <a:t> </a:t>
            </a:r>
            <a:r>
              <a:rPr lang="de-DE" dirty="0" err="1"/>
              <a:t>is</a:t>
            </a:r>
            <a:r>
              <a:rPr lang="de-DE" dirty="0"/>
              <a:t> a </a:t>
            </a:r>
            <a:r>
              <a:rPr lang="de-DE" dirty="0" err="1">
                <a:solidFill>
                  <a:schemeClr val="bg2"/>
                </a:solidFill>
              </a:rPr>
              <a:t>visualization</a:t>
            </a:r>
            <a:r>
              <a:rPr lang="de-DE" dirty="0">
                <a:solidFill>
                  <a:schemeClr val="bg2"/>
                </a:solidFill>
              </a:rPr>
              <a:t> </a:t>
            </a:r>
            <a:r>
              <a:rPr lang="de-DE" dirty="0" err="1">
                <a:solidFill>
                  <a:schemeClr val="bg2"/>
                </a:solidFill>
              </a:rPr>
              <a:t>tool</a:t>
            </a:r>
            <a:r>
              <a:rPr lang="de-DE" dirty="0">
                <a:solidFill>
                  <a:schemeClr val="bg2"/>
                </a:solidFill>
              </a:rPr>
              <a:t> </a:t>
            </a:r>
            <a:r>
              <a:rPr lang="de-DE" dirty="0" err="1"/>
              <a:t>for</a:t>
            </a:r>
            <a:r>
              <a:rPr lang="de-DE" dirty="0"/>
              <a:t> </a:t>
            </a:r>
            <a:r>
              <a:rPr lang="de-DE" dirty="0" err="1"/>
              <a:t>TensorFlow</a:t>
            </a:r>
            <a:r>
              <a:rPr lang="de-DE" dirty="0"/>
              <a:t> (&amp; </a:t>
            </a:r>
            <a:r>
              <a:rPr lang="de-DE" dirty="0" err="1"/>
              <a:t>other</a:t>
            </a:r>
            <a:r>
              <a:rPr lang="de-DE" dirty="0"/>
              <a:t> </a:t>
            </a:r>
            <a:r>
              <a:rPr lang="de-DE" dirty="0" err="1"/>
              <a:t>machine</a:t>
            </a:r>
            <a:r>
              <a:rPr lang="de-DE" dirty="0"/>
              <a:t> </a:t>
            </a:r>
            <a:r>
              <a:rPr lang="de-DE" dirty="0" err="1"/>
              <a:t>learning</a:t>
            </a:r>
            <a:r>
              <a:rPr lang="de-DE" dirty="0"/>
              <a:t> </a:t>
            </a:r>
            <a:r>
              <a:rPr lang="de-DE" dirty="0" err="1"/>
              <a:t>libraries</a:t>
            </a:r>
            <a:r>
              <a:rPr lang="de-DE" dirty="0"/>
              <a:t>, e.g., </a:t>
            </a:r>
            <a:r>
              <a:rPr lang="de-DE" dirty="0" err="1"/>
              <a:t>PyTorch</a:t>
            </a:r>
            <a:r>
              <a:rPr lang="de-DE" dirty="0"/>
              <a:t>)</a:t>
            </a:r>
          </a:p>
          <a:p>
            <a:pPr marL="285750" indent="-285750">
              <a:buFont typeface="Arial" panose="020B0604020202020204" pitchFamily="34" charset="0"/>
              <a:buChar char="•"/>
            </a:pPr>
            <a:r>
              <a:rPr lang="en-US" dirty="0"/>
              <a:t>Beneficial for </a:t>
            </a:r>
            <a:r>
              <a:rPr lang="en-US" dirty="0">
                <a:solidFill>
                  <a:schemeClr val="bg2"/>
                </a:solidFill>
              </a:rPr>
              <a:t>debugging</a:t>
            </a:r>
            <a:r>
              <a:rPr lang="en-US" dirty="0"/>
              <a:t> and </a:t>
            </a:r>
            <a:r>
              <a:rPr lang="en-US" dirty="0">
                <a:solidFill>
                  <a:schemeClr val="bg2"/>
                </a:solidFill>
              </a:rPr>
              <a:t>hyperparameter tuning</a:t>
            </a:r>
            <a:r>
              <a:rPr lang="en-US" dirty="0"/>
              <a:t>/</a:t>
            </a:r>
            <a:r>
              <a:rPr lang="en-US" dirty="0">
                <a:solidFill>
                  <a:schemeClr val="bg2"/>
                </a:solidFill>
              </a:rPr>
              <a:t>model selection</a:t>
            </a:r>
          </a:p>
          <a:p>
            <a:pPr marL="285750" indent="-285750">
              <a:buFont typeface="Arial" panose="020B0604020202020204" pitchFamily="34" charset="0"/>
              <a:buChar char="•"/>
            </a:pPr>
            <a:r>
              <a:rPr lang="en-US" dirty="0"/>
              <a:t>Includes features such as </a:t>
            </a:r>
            <a:r>
              <a:rPr lang="en-US" dirty="0">
                <a:solidFill>
                  <a:schemeClr val="bg2"/>
                </a:solidFill>
              </a:rPr>
              <a:t>graphs</a:t>
            </a:r>
            <a:r>
              <a:rPr lang="en-US" dirty="0"/>
              <a:t>, </a:t>
            </a:r>
            <a:r>
              <a:rPr lang="en-US" dirty="0">
                <a:solidFill>
                  <a:schemeClr val="bg2"/>
                </a:solidFill>
              </a:rPr>
              <a:t>histograms</a:t>
            </a:r>
            <a:r>
              <a:rPr lang="en-US" dirty="0"/>
              <a:t>, </a:t>
            </a:r>
            <a:r>
              <a:rPr lang="en-US" dirty="0">
                <a:solidFill>
                  <a:schemeClr val="bg2"/>
                </a:solidFill>
              </a:rPr>
              <a:t>output visualization</a:t>
            </a:r>
            <a:endParaRPr lang="de-DE" dirty="0">
              <a:solidFill>
                <a:schemeClr val="bg2"/>
              </a:solidFill>
            </a:endParaRPr>
          </a:p>
        </p:txBody>
      </p:sp>
      <p:sp>
        <p:nvSpPr>
          <p:cNvPr id="3" name="Title 2">
            <a:extLst>
              <a:ext uri="{FF2B5EF4-FFF2-40B4-BE49-F238E27FC236}">
                <a16:creationId xmlns:a16="http://schemas.microsoft.com/office/drawing/2014/main" id="{D291EC1D-20AD-8DC8-048B-0FA7E86D54F9}"/>
              </a:ext>
            </a:extLst>
          </p:cNvPr>
          <p:cNvSpPr>
            <a:spLocks noGrp="1"/>
          </p:cNvSpPr>
          <p:nvPr>
            <p:ph type="title"/>
          </p:nvPr>
        </p:nvSpPr>
        <p:spPr/>
        <p:txBody>
          <a:bodyPr/>
          <a:lstStyle/>
          <a:p>
            <a:r>
              <a:rPr lang="de-DE" dirty="0"/>
              <a:t>3.9.1 </a:t>
            </a:r>
            <a:r>
              <a:rPr lang="de-DE" dirty="0" err="1"/>
              <a:t>Convolutional</a:t>
            </a:r>
            <a:r>
              <a:rPr lang="de-DE" dirty="0"/>
              <a:t> </a:t>
            </a:r>
            <a:r>
              <a:rPr lang="de-DE" dirty="0" err="1"/>
              <a:t>Neural</a:t>
            </a:r>
            <a:r>
              <a:rPr lang="de-DE" dirty="0"/>
              <a:t> Networks – </a:t>
            </a:r>
            <a:r>
              <a:rPr lang="de-DE" dirty="0" err="1"/>
              <a:t>TensorBoard</a:t>
            </a:r>
            <a:endParaRPr lang="en-US" dirty="0"/>
          </a:p>
        </p:txBody>
      </p:sp>
      <p:sp>
        <p:nvSpPr>
          <p:cNvPr id="4" name="Slide Number Placeholder 3">
            <a:extLst>
              <a:ext uri="{FF2B5EF4-FFF2-40B4-BE49-F238E27FC236}">
                <a16:creationId xmlns:a16="http://schemas.microsoft.com/office/drawing/2014/main" id="{5823ABA9-F5F0-0ADC-6B29-0B1C9F3A96F6}"/>
              </a:ext>
            </a:extLst>
          </p:cNvPr>
          <p:cNvSpPr>
            <a:spLocks noGrp="1"/>
          </p:cNvSpPr>
          <p:nvPr>
            <p:ph type="sldNum" sz="quarter" idx="11"/>
          </p:nvPr>
        </p:nvSpPr>
        <p:spPr/>
        <p:txBody>
          <a:bodyPr/>
          <a:lstStyle/>
          <a:p>
            <a:fld id="{CE58CB1E-F828-4F11-99E0-327109AF9DA4}" type="slidenum">
              <a:rPr lang="de-DE" smtClean="0"/>
              <a:pPr/>
              <a:t>27</a:t>
            </a:fld>
            <a:endParaRPr lang="de-DE"/>
          </a:p>
        </p:txBody>
      </p:sp>
      <p:sp>
        <p:nvSpPr>
          <p:cNvPr id="5" name="Footer Placeholder 4">
            <a:extLst>
              <a:ext uri="{FF2B5EF4-FFF2-40B4-BE49-F238E27FC236}">
                <a16:creationId xmlns:a16="http://schemas.microsoft.com/office/drawing/2014/main" id="{CB43B5B9-5D47-58C0-E162-685B19437FE6}"/>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pic>
        <p:nvPicPr>
          <p:cNvPr id="8" name="Content Placeholder 6" descr="A logo of a company&#10;&#10;Description automatically generated">
            <a:extLst>
              <a:ext uri="{FF2B5EF4-FFF2-40B4-BE49-F238E27FC236}">
                <a16:creationId xmlns:a16="http://schemas.microsoft.com/office/drawing/2014/main" id="{8BDFF1D5-55A4-7CA5-AD89-67AC1592BC41}"/>
              </a:ext>
            </a:extLst>
          </p:cNvPr>
          <p:cNvPicPr>
            <a:picLocks noChangeAspect="1"/>
          </p:cNvPicPr>
          <p:nvPr/>
        </p:nvPicPr>
        <p:blipFill>
          <a:blip r:embed="rId2"/>
          <a:stretch>
            <a:fillRect/>
          </a:stretch>
        </p:blipFill>
        <p:spPr>
          <a:xfrm>
            <a:off x="6820947" y="688106"/>
            <a:ext cx="2335390" cy="1313657"/>
          </a:xfrm>
          <a:prstGeom prst="rect">
            <a:avLst/>
          </a:prstGeom>
          <a:noFill/>
          <a:ln w="9525">
            <a:noFill/>
            <a:miter lim="800000"/>
            <a:headEnd/>
            <a:tailEnd/>
          </a:ln>
        </p:spPr>
      </p:pic>
      <p:pic>
        <p:nvPicPr>
          <p:cNvPr id="10" name="Picture 9" descr="A screenshot of a computer&#10;&#10;Description automatically generated">
            <a:extLst>
              <a:ext uri="{FF2B5EF4-FFF2-40B4-BE49-F238E27FC236}">
                <a16:creationId xmlns:a16="http://schemas.microsoft.com/office/drawing/2014/main" id="{55688E30-B791-E442-4C32-995DEDF53386}"/>
              </a:ext>
            </a:extLst>
          </p:cNvPr>
          <p:cNvPicPr>
            <a:picLocks noChangeAspect="1"/>
          </p:cNvPicPr>
          <p:nvPr/>
        </p:nvPicPr>
        <p:blipFill>
          <a:blip r:embed="rId3"/>
          <a:stretch>
            <a:fillRect/>
          </a:stretch>
        </p:blipFill>
        <p:spPr>
          <a:xfrm>
            <a:off x="311161" y="1631712"/>
            <a:ext cx="6136481" cy="2986665"/>
          </a:xfrm>
          <a:prstGeom prst="rect">
            <a:avLst/>
          </a:prstGeom>
        </p:spPr>
      </p:pic>
    </p:spTree>
    <p:extLst>
      <p:ext uri="{BB962C8B-B14F-4D97-AF65-F5344CB8AC3E}">
        <p14:creationId xmlns:p14="http://schemas.microsoft.com/office/powerpoint/2010/main" val="926160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9947211-E8AD-976F-ED14-4974C9068536}"/>
              </a:ext>
            </a:extLst>
          </p:cNvPr>
          <p:cNvSpPr>
            <a:spLocks noGrp="1"/>
          </p:cNvSpPr>
          <p:nvPr>
            <p:ph idx="1"/>
          </p:nvPr>
        </p:nvSpPr>
        <p:spPr/>
        <p:txBody>
          <a:bodyPr/>
          <a:lstStyle/>
          <a:p>
            <a:r>
              <a:rPr lang="de-DE" dirty="0"/>
              <a:t>Track </a:t>
            </a:r>
            <a:r>
              <a:rPr lang="de-DE" dirty="0" err="1"/>
              <a:t>the</a:t>
            </a:r>
            <a:r>
              <a:rPr lang="de-DE" dirty="0"/>
              <a:t> </a:t>
            </a:r>
            <a:r>
              <a:rPr lang="de-DE" dirty="0" err="1"/>
              <a:t>progress</a:t>
            </a:r>
            <a:r>
              <a:rPr lang="de-DE" dirty="0"/>
              <a:t> in </a:t>
            </a:r>
            <a:r>
              <a:rPr lang="de-DE" dirty="0" err="1"/>
              <a:t>prediction</a:t>
            </a:r>
            <a:r>
              <a:rPr lang="de-DE" dirty="0"/>
              <a:t> </a:t>
            </a:r>
            <a:r>
              <a:rPr lang="de-DE" dirty="0" err="1"/>
              <a:t>quality</a:t>
            </a:r>
            <a:r>
              <a:rPr lang="de-DE" dirty="0"/>
              <a:t> </a:t>
            </a:r>
            <a:r>
              <a:rPr lang="de-DE" dirty="0" err="1"/>
              <a:t>by</a:t>
            </a:r>
            <a:r>
              <a:rPr lang="de-DE" dirty="0"/>
              <a:t> </a:t>
            </a:r>
            <a:r>
              <a:rPr lang="de-DE" dirty="0" err="1"/>
              <a:t>comparing</a:t>
            </a:r>
            <a:r>
              <a:rPr lang="de-DE" dirty="0"/>
              <a:t> </a:t>
            </a:r>
            <a:r>
              <a:rPr lang="de-DE" dirty="0" err="1"/>
              <a:t>outputs</a:t>
            </a:r>
            <a:r>
              <a:rPr lang="de-DE" dirty="0"/>
              <a:t> </a:t>
            </a:r>
            <a:r>
              <a:rPr lang="de-DE" dirty="0" err="1"/>
              <a:t>with</a:t>
            </a:r>
            <a:r>
              <a:rPr lang="de-DE" dirty="0"/>
              <a:t> </a:t>
            </a:r>
            <a:r>
              <a:rPr lang="de-DE" dirty="0" err="1"/>
              <a:t>labels</a:t>
            </a:r>
            <a:endParaRPr lang="en-US" dirty="0"/>
          </a:p>
        </p:txBody>
      </p:sp>
      <p:sp>
        <p:nvSpPr>
          <p:cNvPr id="3" name="Title 2">
            <a:extLst>
              <a:ext uri="{FF2B5EF4-FFF2-40B4-BE49-F238E27FC236}">
                <a16:creationId xmlns:a16="http://schemas.microsoft.com/office/drawing/2014/main" id="{66906633-16ED-F52A-22B6-E16480D7286F}"/>
              </a:ext>
            </a:extLst>
          </p:cNvPr>
          <p:cNvSpPr>
            <a:spLocks noGrp="1"/>
          </p:cNvSpPr>
          <p:nvPr>
            <p:ph type="title"/>
          </p:nvPr>
        </p:nvSpPr>
        <p:spPr/>
        <p:txBody>
          <a:bodyPr/>
          <a:lstStyle/>
          <a:p>
            <a:r>
              <a:rPr lang="de-DE" dirty="0"/>
              <a:t>3.9.1 </a:t>
            </a:r>
            <a:r>
              <a:rPr lang="de-DE" dirty="0" err="1"/>
              <a:t>Convolutional</a:t>
            </a:r>
            <a:r>
              <a:rPr lang="de-DE" dirty="0"/>
              <a:t> </a:t>
            </a:r>
            <a:r>
              <a:rPr lang="de-DE" dirty="0" err="1"/>
              <a:t>Neural</a:t>
            </a:r>
            <a:r>
              <a:rPr lang="de-DE" dirty="0"/>
              <a:t> Networks – </a:t>
            </a:r>
            <a:r>
              <a:rPr lang="de-DE" dirty="0" err="1"/>
              <a:t>TensorBoard</a:t>
            </a:r>
            <a:endParaRPr lang="en-US" dirty="0"/>
          </a:p>
        </p:txBody>
      </p:sp>
      <p:sp>
        <p:nvSpPr>
          <p:cNvPr id="4" name="Slide Number Placeholder 3">
            <a:extLst>
              <a:ext uri="{FF2B5EF4-FFF2-40B4-BE49-F238E27FC236}">
                <a16:creationId xmlns:a16="http://schemas.microsoft.com/office/drawing/2014/main" id="{27332216-4BB5-8DAB-631F-BBF05011D486}"/>
              </a:ext>
            </a:extLst>
          </p:cNvPr>
          <p:cNvSpPr>
            <a:spLocks noGrp="1"/>
          </p:cNvSpPr>
          <p:nvPr>
            <p:ph type="sldNum" sz="quarter" idx="11"/>
          </p:nvPr>
        </p:nvSpPr>
        <p:spPr/>
        <p:txBody>
          <a:bodyPr/>
          <a:lstStyle/>
          <a:p>
            <a:fld id="{CE58CB1E-F828-4F11-99E0-327109AF9DA4}" type="slidenum">
              <a:rPr lang="de-DE" smtClean="0"/>
              <a:pPr/>
              <a:t>28</a:t>
            </a:fld>
            <a:endParaRPr lang="de-DE"/>
          </a:p>
        </p:txBody>
      </p:sp>
      <p:sp>
        <p:nvSpPr>
          <p:cNvPr id="5" name="Footer Placeholder 4">
            <a:extLst>
              <a:ext uri="{FF2B5EF4-FFF2-40B4-BE49-F238E27FC236}">
                <a16:creationId xmlns:a16="http://schemas.microsoft.com/office/drawing/2014/main" id="{2799F0EE-11AC-DCBA-807D-89916595A849}"/>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pic>
        <p:nvPicPr>
          <p:cNvPr id="7" name="Picture 6" descr="A screenshot of a computer&#10;&#10;Description automatically generated">
            <a:extLst>
              <a:ext uri="{FF2B5EF4-FFF2-40B4-BE49-F238E27FC236}">
                <a16:creationId xmlns:a16="http://schemas.microsoft.com/office/drawing/2014/main" id="{B9DC3725-59EF-9828-7886-9415CA912E2A}"/>
              </a:ext>
            </a:extLst>
          </p:cNvPr>
          <p:cNvPicPr>
            <a:picLocks noChangeAspect="1"/>
          </p:cNvPicPr>
          <p:nvPr/>
        </p:nvPicPr>
        <p:blipFill>
          <a:blip r:embed="rId2"/>
          <a:stretch>
            <a:fillRect/>
          </a:stretch>
        </p:blipFill>
        <p:spPr>
          <a:xfrm>
            <a:off x="951470" y="1083615"/>
            <a:ext cx="7241059" cy="3803822"/>
          </a:xfrm>
          <a:prstGeom prst="rect">
            <a:avLst/>
          </a:prstGeom>
        </p:spPr>
      </p:pic>
    </p:spTree>
    <p:extLst>
      <p:ext uri="{BB962C8B-B14F-4D97-AF65-F5344CB8AC3E}">
        <p14:creationId xmlns:p14="http://schemas.microsoft.com/office/powerpoint/2010/main" val="33305699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07F2D0-68DD-FB65-5D8B-76172A310A7E}"/>
              </a:ext>
            </a:extLst>
          </p:cNvPr>
          <p:cNvSpPr>
            <a:spLocks noGrp="1"/>
          </p:cNvSpPr>
          <p:nvPr>
            <p:ph idx="1"/>
          </p:nvPr>
        </p:nvSpPr>
        <p:spPr/>
        <p:txBody>
          <a:bodyPr/>
          <a:lstStyle/>
          <a:p>
            <a:r>
              <a:rPr lang="de-DE" dirty="0" err="1"/>
              <a:t>Compare</a:t>
            </a:r>
            <a:r>
              <a:rPr lang="de-DE" dirty="0"/>
              <a:t> different </a:t>
            </a:r>
            <a:r>
              <a:rPr lang="de-DE" dirty="0" err="1"/>
              <a:t>architectures</a:t>
            </a:r>
            <a:r>
              <a:rPr lang="de-DE" dirty="0"/>
              <a:t> and </a:t>
            </a:r>
            <a:r>
              <a:rPr lang="de-DE" dirty="0" err="1"/>
              <a:t>hyperparameters</a:t>
            </a:r>
            <a:r>
              <a:rPr lang="de-DE" dirty="0"/>
              <a:t> </a:t>
            </a:r>
            <a:r>
              <a:rPr lang="de-DE" dirty="0" err="1"/>
              <a:t>through</a:t>
            </a:r>
            <a:r>
              <a:rPr lang="de-DE" dirty="0"/>
              <a:t> different </a:t>
            </a:r>
            <a:r>
              <a:rPr lang="de-DE" dirty="0" err="1"/>
              <a:t>training</a:t>
            </a:r>
            <a:r>
              <a:rPr lang="de-DE" dirty="0"/>
              <a:t> </a:t>
            </a:r>
            <a:r>
              <a:rPr lang="de-DE" dirty="0" err="1"/>
              <a:t>runs</a:t>
            </a:r>
            <a:endParaRPr lang="en-US" dirty="0"/>
          </a:p>
        </p:txBody>
      </p:sp>
      <p:sp>
        <p:nvSpPr>
          <p:cNvPr id="3" name="Title 2">
            <a:extLst>
              <a:ext uri="{FF2B5EF4-FFF2-40B4-BE49-F238E27FC236}">
                <a16:creationId xmlns:a16="http://schemas.microsoft.com/office/drawing/2014/main" id="{71326C56-A71F-1400-75C0-F05C228F9186}"/>
              </a:ext>
            </a:extLst>
          </p:cNvPr>
          <p:cNvSpPr>
            <a:spLocks noGrp="1"/>
          </p:cNvSpPr>
          <p:nvPr>
            <p:ph type="title"/>
          </p:nvPr>
        </p:nvSpPr>
        <p:spPr/>
        <p:txBody>
          <a:bodyPr/>
          <a:lstStyle/>
          <a:p>
            <a:r>
              <a:rPr lang="de-DE" dirty="0"/>
              <a:t>3.9.1 </a:t>
            </a:r>
            <a:r>
              <a:rPr lang="de-DE" dirty="0" err="1"/>
              <a:t>Convolutional</a:t>
            </a:r>
            <a:r>
              <a:rPr lang="de-DE" dirty="0"/>
              <a:t> </a:t>
            </a:r>
            <a:r>
              <a:rPr lang="de-DE" dirty="0" err="1"/>
              <a:t>Neural</a:t>
            </a:r>
            <a:r>
              <a:rPr lang="de-DE" dirty="0"/>
              <a:t> Networks – </a:t>
            </a:r>
            <a:r>
              <a:rPr lang="de-DE" dirty="0" err="1"/>
              <a:t>TensorBoard</a:t>
            </a:r>
            <a:endParaRPr lang="en-US" dirty="0"/>
          </a:p>
        </p:txBody>
      </p:sp>
      <p:sp>
        <p:nvSpPr>
          <p:cNvPr id="4" name="Slide Number Placeholder 3">
            <a:extLst>
              <a:ext uri="{FF2B5EF4-FFF2-40B4-BE49-F238E27FC236}">
                <a16:creationId xmlns:a16="http://schemas.microsoft.com/office/drawing/2014/main" id="{2D07D8EA-D32C-85BF-D6C8-8D8E00833CD6}"/>
              </a:ext>
            </a:extLst>
          </p:cNvPr>
          <p:cNvSpPr>
            <a:spLocks noGrp="1"/>
          </p:cNvSpPr>
          <p:nvPr>
            <p:ph type="sldNum" sz="quarter" idx="11"/>
          </p:nvPr>
        </p:nvSpPr>
        <p:spPr/>
        <p:txBody>
          <a:bodyPr/>
          <a:lstStyle/>
          <a:p>
            <a:fld id="{CE58CB1E-F828-4F11-99E0-327109AF9DA4}" type="slidenum">
              <a:rPr lang="de-DE" smtClean="0"/>
              <a:pPr/>
              <a:t>29</a:t>
            </a:fld>
            <a:endParaRPr lang="de-DE"/>
          </a:p>
        </p:txBody>
      </p:sp>
      <p:sp>
        <p:nvSpPr>
          <p:cNvPr id="5" name="Footer Placeholder 4">
            <a:extLst>
              <a:ext uri="{FF2B5EF4-FFF2-40B4-BE49-F238E27FC236}">
                <a16:creationId xmlns:a16="http://schemas.microsoft.com/office/drawing/2014/main" id="{844DAD94-3E9F-F651-C941-D32F789F23E2}"/>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pic>
        <p:nvPicPr>
          <p:cNvPr id="7" name="Picture 6" descr="A screenshot of a computer&#10;&#10;Description automatically generated">
            <a:extLst>
              <a:ext uri="{FF2B5EF4-FFF2-40B4-BE49-F238E27FC236}">
                <a16:creationId xmlns:a16="http://schemas.microsoft.com/office/drawing/2014/main" id="{54873A12-B8B3-EB96-8985-890D266580B0}"/>
              </a:ext>
            </a:extLst>
          </p:cNvPr>
          <p:cNvPicPr>
            <a:picLocks noChangeAspect="1"/>
          </p:cNvPicPr>
          <p:nvPr/>
        </p:nvPicPr>
        <p:blipFill>
          <a:blip r:embed="rId2"/>
          <a:stretch>
            <a:fillRect/>
          </a:stretch>
        </p:blipFill>
        <p:spPr>
          <a:xfrm>
            <a:off x="921544" y="1095115"/>
            <a:ext cx="7300912" cy="3759870"/>
          </a:xfrm>
          <a:prstGeom prst="rect">
            <a:avLst/>
          </a:prstGeom>
        </p:spPr>
      </p:pic>
    </p:spTree>
    <p:extLst>
      <p:ext uri="{BB962C8B-B14F-4D97-AF65-F5344CB8AC3E}">
        <p14:creationId xmlns:p14="http://schemas.microsoft.com/office/powerpoint/2010/main" val="32262617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FA9DE-A7BE-19C4-4D13-3F06A5A48B0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C633E2-7830-0B18-55E2-9BA98ACA9F25}"/>
              </a:ext>
            </a:extLst>
          </p:cNvPr>
          <p:cNvSpPr>
            <a:spLocks noGrp="1"/>
          </p:cNvSpPr>
          <p:nvPr>
            <p:ph idx="1"/>
          </p:nvPr>
        </p:nvSpPr>
        <p:spPr/>
        <p:txBody>
          <a:bodyPr/>
          <a:lstStyle/>
          <a:p>
            <a:r>
              <a:rPr lang="de-DE" dirty="0"/>
              <a:t>E.12 Learning Strain </a:t>
            </a:r>
            <a:r>
              <a:rPr lang="de-DE" dirty="0" err="1"/>
              <a:t>Distributions</a:t>
            </a:r>
            <a:r>
              <a:rPr lang="de-DE" dirty="0"/>
              <a:t> (C)</a:t>
            </a:r>
          </a:p>
          <a:p>
            <a:pPr marL="285750" indent="-285750">
              <a:buFont typeface="Arial" panose="020B0604020202020204" pitchFamily="34" charset="0"/>
              <a:buChar char="•"/>
            </a:pPr>
            <a:r>
              <a:rPr lang="de-DE" dirty="0"/>
              <a:t>Train a </a:t>
            </a:r>
            <a:r>
              <a:rPr lang="de-DE" dirty="0" err="1"/>
              <a:t>convolutional</a:t>
            </a:r>
            <a:r>
              <a:rPr lang="de-DE" dirty="0"/>
              <a:t> </a:t>
            </a:r>
            <a:r>
              <a:rPr lang="de-DE" dirty="0" err="1"/>
              <a:t>neural</a:t>
            </a:r>
            <a:r>
              <a:rPr lang="de-DE" dirty="0"/>
              <a:t> network </a:t>
            </a:r>
            <a:r>
              <a:rPr lang="de-DE" dirty="0" err="1"/>
              <a:t>as</a:t>
            </a:r>
            <a:r>
              <a:rPr lang="de-DE" dirty="0"/>
              <a:t> a </a:t>
            </a:r>
            <a:r>
              <a:rPr lang="de-DE" dirty="0" err="1"/>
              <a:t>surrogate</a:t>
            </a:r>
            <a:r>
              <a:rPr lang="de-DE" dirty="0"/>
              <a:t>, </a:t>
            </a:r>
            <a:r>
              <a:rPr lang="de-DE" dirty="0" err="1"/>
              <a:t>that</a:t>
            </a:r>
            <a:r>
              <a:rPr lang="de-DE" dirty="0"/>
              <a:t> </a:t>
            </a:r>
            <a:r>
              <a:rPr lang="de-DE" dirty="0" err="1"/>
              <a:t>maps</a:t>
            </a:r>
            <a:r>
              <a:rPr lang="de-DE" dirty="0"/>
              <a:t> </a:t>
            </a:r>
            <a:r>
              <a:rPr lang="de-DE" dirty="0" err="1"/>
              <a:t>the</a:t>
            </a:r>
            <a:r>
              <a:rPr lang="de-DE" dirty="0"/>
              <a:t> </a:t>
            </a:r>
            <a:r>
              <a:rPr lang="de-DE" dirty="0" err="1"/>
              <a:t>Young‘s</a:t>
            </a:r>
            <a:r>
              <a:rPr lang="de-DE" dirty="0"/>
              <a:t> </a:t>
            </a:r>
            <a:r>
              <a:rPr lang="de-DE" dirty="0" err="1"/>
              <a:t>modulus</a:t>
            </a:r>
            <a:r>
              <a:rPr lang="de-DE" dirty="0"/>
              <a:t> </a:t>
            </a:r>
            <a:r>
              <a:rPr lang="de-DE" dirty="0" err="1"/>
              <a:t>distribution</a:t>
            </a:r>
            <a:r>
              <a:rPr lang="de-DE" dirty="0"/>
              <a:t> </a:t>
            </a:r>
            <a:r>
              <a:rPr lang="de-DE" dirty="0" err="1"/>
              <a:t>to</a:t>
            </a:r>
            <a:r>
              <a:rPr lang="de-DE" dirty="0"/>
              <a:t> </a:t>
            </a:r>
            <a:r>
              <a:rPr lang="de-DE" dirty="0" err="1"/>
              <a:t>strain</a:t>
            </a:r>
            <a:r>
              <a:rPr lang="de-DE" dirty="0"/>
              <a:t> </a:t>
            </a:r>
            <a:r>
              <a:rPr lang="de-DE" dirty="0" err="1"/>
              <a:t>distributions</a:t>
            </a:r>
            <a:r>
              <a:rPr lang="de-DE" dirty="0"/>
              <a:t>. Experiment </a:t>
            </a:r>
            <a:r>
              <a:rPr lang="de-DE" dirty="0" err="1"/>
              <a:t>with</a:t>
            </a:r>
            <a:r>
              <a:rPr lang="de-DE" dirty="0"/>
              <a:t> different </a:t>
            </a:r>
            <a:r>
              <a:rPr lang="de-DE" dirty="0" err="1"/>
              <a:t>hyperparameters</a:t>
            </a:r>
            <a:r>
              <a:rPr lang="de-DE" dirty="0"/>
              <a:t> and different network </a:t>
            </a:r>
            <a:r>
              <a:rPr lang="de-DE" dirty="0" err="1"/>
              <a:t>architectures</a:t>
            </a:r>
            <a:r>
              <a:rPr lang="de-DE" dirty="0"/>
              <a:t>. </a:t>
            </a:r>
            <a:r>
              <a:rPr lang="de-DE" dirty="0" err="1"/>
              <a:t>For</a:t>
            </a:r>
            <a:r>
              <a:rPr lang="de-DE" dirty="0"/>
              <a:t> </a:t>
            </a:r>
            <a:r>
              <a:rPr lang="de-DE" dirty="0" err="1"/>
              <a:t>this</a:t>
            </a:r>
            <a:r>
              <a:rPr lang="de-DE" dirty="0"/>
              <a:t>, </a:t>
            </a:r>
            <a:r>
              <a:rPr lang="de-DE" dirty="0" err="1"/>
              <a:t>use</a:t>
            </a:r>
            <a:r>
              <a:rPr lang="de-DE" dirty="0"/>
              <a:t> </a:t>
            </a:r>
            <a:r>
              <a:rPr lang="de-DE" dirty="0" err="1"/>
              <a:t>TensorBoard</a:t>
            </a:r>
            <a:r>
              <a:rPr lang="de-DE" dirty="0"/>
              <a:t>.</a:t>
            </a:r>
          </a:p>
        </p:txBody>
      </p:sp>
      <p:sp>
        <p:nvSpPr>
          <p:cNvPr id="3" name="Title 2">
            <a:extLst>
              <a:ext uri="{FF2B5EF4-FFF2-40B4-BE49-F238E27FC236}">
                <a16:creationId xmlns:a16="http://schemas.microsoft.com/office/drawing/2014/main" id="{7FBDE86E-DF47-063A-0D18-E1A07E8641A7}"/>
              </a:ext>
            </a:extLst>
          </p:cNvPr>
          <p:cNvSpPr>
            <a:spLocks noGrp="1"/>
          </p:cNvSpPr>
          <p:nvPr>
            <p:ph type="title"/>
          </p:nvPr>
        </p:nvSpPr>
        <p:spPr/>
        <p:txBody>
          <a:bodyPr/>
          <a:lstStyle/>
          <a:p>
            <a:r>
              <a:rPr lang="de-DE" dirty="0" err="1">
                <a:solidFill>
                  <a:schemeClr val="bg2"/>
                </a:solidFill>
              </a:rPr>
              <a:t>Exercises</a:t>
            </a:r>
            <a:endParaRPr lang="en-US" dirty="0">
              <a:solidFill>
                <a:schemeClr val="bg2"/>
              </a:solidFill>
            </a:endParaRPr>
          </a:p>
        </p:txBody>
      </p:sp>
      <p:sp>
        <p:nvSpPr>
          <p:cNvPr id="4" name="Slide Number Placeholder 3">
            <a:extLst>
              <a:ext uri="{FF2B5EF4-FFF2-40B4-BE49-F238E27FC236}">
                <a16:creationId xmlns:a16="http://schemas.microsoft.com/office/drawing/2014/main" id="{04C287FD-F5D2-7D77-55C6-690FAB8E39BF}"/>
              </a:ext>
            </a:extLst>
          </p:cNvPr>
          <p:cNvSpPr>
            <a:spLocks noGrp="1"/>
          </p:cNvSpPr>
          <p:nvPr>
            <p:ph type="sldNum" sz="quarter" idx="11"/>
          </p:nvPr>
        </p:nvSpPr>
        <p:spPr/>
        <p:txBody>
          <a:bodyPr/>
          <a:lstStyle/>
          <a:p>
            <a:fld id="{CE58CB1E-F828-4F11-99E0-327109AF9DA4}" type="slidenum">
              <a:rPr lang="de-DE" smtClean="0"/>
              <a:pPr/>
              <a:t>30</a:t>
            </a:fld>
            <a:endParaRPr lang="de-DE"/>
          </a:p>
        </p:txBody>
      </p:sp>
      <p:sp>
        <p:nvSpPr>
          <p:cNvPr id="5" name="Footer Placeholder 4">
            <a:extLst>
              <a:ext uri="{FF2B5EF4-FFF2-40B4-BE49-F238E27FC236}">
                <a16:creationId xmlns:a16="http://schemas.microsoft.com/office/drawing/2014/main" id="{3F4DE192-F24D-8C6C-0D2A-BEBAF561822F}"/>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spTree>
    <p:extLst>
      <p:ext uri="{BB962C8B-B14F-4D97-AF65-F5344CB8AC3E}">
        <p14:creationId xmlns:p14="http://schemas.microsoft.com/office/powerpoint/2010/main" val="17452142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18ED09EF-0FAA-170A-A47A-C69C8DD8B336}"/>
                  </a:ext>
                </a:extLst>
              </p:cNvPr>
              <p:cNvSpPr>
                <a:spLocks noGrp="1"/>
              </p:cNvSpPr>
              <p:nvPr>
                <p:ph idx="1"/>
              </p:nvPr>
            </p:nvSpPr>
            <p:spPr/>
            <p:txBody>
              <a:bodyPr/>
              <a:lstStyle/>
              <a:p>
                <a:r>
                  <a:rPr lang="en-US" dirty="0">
                    <a:solidFill>
                      <a:schemeClr val="bg2"/>
                    </a:solidFill>
                  </a:rPr>
                  <a:t>Normalization</a:t>
                </a:r>
                <a:r>
                  <a:rPr lang="en-US" dirty="0"/>
                  <a:t> helps the optimization procedure</a:t>
                </a:r>
              </a:p>
              <a:p>
                <a:pPr marL="285750" indent="-285750">
                  <a:buFont typeface="Arial" panose="020B0604020202020204" pitchFamily="34" charset="0"/>
                  <a:buChar char="•"/>
                </a:pPr>
                <a:r>
                  <a:rPr lang="en-US" dirty="0"/>
                  <a:t>Ensures, that features have similar scales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solidFill>
                      <a:schemeClr val="bg2"/>
                    </a:solidFill>
                  </a:rPr>
                  <a:t>Input normalization </a:t>
                </a:r>
                <a:r>
                  <a:rPr lang="en-US" dirty="0"/>
                  <a:t>centering the mean to zero and establishing a unit standard deviation </a:t>
                </a:r>
                <a14:m>
                  <m:oMath xmlns:m="http://schemas.openxmlformats.org/officeDocument/2006/math">
                    <m:r>
                      <a:rPr lang="en-US" i="1">
                        <a:latin typeface="Cambria Math" panose="02040503050406030204" pitchFamily="18" charset="0"/>
                      </a:rPr>
                      <m:t>𝜎</m:t>
                    </m:r>
                    <m:r>
                      <a:rPr lang="de-DE" b="0" i="1" smtClean="0">
                        <a:latin typeface="Cambria Math" panose="02040503050406030204" pitchFamily="18" charset="0"/>
                      </a:rPr>
                      <m:t>=1</m:t>
                    </m:r>
                  </m:oMath>
                </a14:m>
                <a:endParaRPr lang="en-US" dirty="0"/>
              </a:p>
              <a:p>
                <a:pPr/>
                <a14:m>
                  <m:oMathPara xmlns:m="http://schemas.openxmlformats.org/officeDocument/2006/math">
                    <m:oMathParaPr>
                      <m:jc m:val="centerGroup"/>
                    </m:oMathParaPr>
                    <m:oMath xmlns:m="http://schemas.openxmlformats.org/officeDocument/2006/math">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acc>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𝜇</m:t>
                          </m:r>
                        </m:num>
                        <m:den>
                          <m:r>
                            <a:rPr lang="en-US" b="0" i="1" smtClean="0">
                              <a:latin typeface="Cambria Math" panose="02040503050406030204" pitchFamily="18" charset="0"/>
                            </a:rPr>
                            <m:t>𝜎</m:t>
                          </m:r>
                        </m:den>
                      </m:f>
                    </m:oMath>
                  </m:oMathPara>
                </a14:m>
                <a:endParaRPr lang="en-US" b="0" dirty="0"/>
              </a:p>
              <a:p>
                <a:pPr marL="285750" indent="-285750">
                  <a:buFont typeface="Arial" panose="020B0604020202020204" pitchFamily="34" charset="0"/>
                  <a:buChar char="•"/>
                </a:pPr>
                <a:r>
                  <a:rPr lang="en-US" dirty="0"/>
                  <a:t>where </a:t>
                </a:r>
                <a14:m>
                  <m:oMath xmlns:m="http://schemas.openxmlformats.org/officeDocument/2006/math">
                    <m:r>
                      <a:rPr lang="en-US" i="1">
                        <a:latin typeface="Cambria Math" panose="02040503050406030204" pitchFamily="18" charset="0"/>
                      </a:rPr>
                      <m:t>𝜇</m:t>
                    </m:r>
                  </m:oMath>
                </a14:m>
                <a:r>
                  <a:rPr lang="en-US" dirty="0"/>
                  <a:t> is the mean of all features </a:t>
                </a:r>
                <a14:m>
                  <m:oMath xmlns:m="http://schemas.openxmlformats.org/officeDocument/2006/math">
                    <m:r>
                      <a:rPr lang="de-DE" b="0" i="1" smtClean="0">
                        <a:latin typeface="Cambria Math" panose="02040503050406030204" pitchFamily="18" charset="0"/>
                      </a:rPr>
                      <m:t>𝑥</m:t>
                    </m:r>
                  </m:oMath>
                </a14:m>
                <a:r>
                  <a:rPr lang="en-US" dirty="0"/>
                  <a:t> and </a:t>
                </a:r>
                <a14:m>
                  <m:oMath xmlns:m="http://schemas.openxmlformats.org/officeDocument/2006/math">
                    <m:r>
                      <a:rPr lang="en-US" i="1">
                        <a:latin typeface="Cambria Math" panose="02040503050406030204" pitchFamily="18" charset="0"/>
                      </a:rPr>
                      <m:t>𝜎</m:t>
                    </m:r>
                  </m:oMath>
                </a14:m>
                <a:r>
                  <a:rPr lang="en-US" dirty="0"/>
                  <a:t> is the standard deviation: </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𝜇</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e>
                      </m:nary>
                      <m:r>
                        <a:rPr lang="en-US" b="0" i="1" smtClean="0">
                          <a:latin typeface="Cambria Math" panose="02040503050406030204" pitchFamily="18" charset="0"/>
                        </a:rPr>
                        <m:t>, </m:t>
                      </m:r>
                      <m:r>
                        <a:rPr lang="en-US" b="0" i="1" smtClean="0">
                          <a:latin typeface="Cambria Math" panose="02040503050406030204" pitchFamily="18" charset="0"/>
                        </a:rPr>
                        <m:t>𝜎</m:t>
                      </m:r>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=1</m:t>
                              </m:r>
                            </m:sub>
                            <m:sup>
                              <m:r>
                                <a:rPr lang="en-US" b="0" i="1" smtClean="0">
                                  <a:latin typeface="Cambria Math" panose="02040503050406030204" pitchFamily="18" charset="0"/>
                                </a:rPr>
                                <m:t>𝑛</m:t>
                              </m:r>
                            </m:sup>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𝑖</m:t>
                                          </m:r>
                                        </m:sub>
                                      </m:sSub>
                                      <m:r>
                                        <a:rPr lang="en-US" b="0" i="1" smtClean="0">
                                          <a:latin typeface="Cambria Math" panose="02040503050406030204" pitchFamily="18" charset="0"/>
                                        </a:rPr>
                                        <m:t>−</m:t>
                                      </m:r>
                                      <m:r>
                                        <a:rPr lang="en-US" b="0" i="1" smtClean="0">
                                          <a:latin typeface="Cambria Math" panose="02040503050406030204" pitchFamily="18" charset="0"/>
                                        </a:rPr>
                                        <m:t>𝜇</m:t>
                                      </m:r>
                                    </m:e>
                                  </m:d>
                                </m:e>
                                <m:sup>
                                  <m:r>
                                    <a:rPr lang="en-US" b="0" i="1" smtClean="0">
                                      <a:latin typeface="Cambria Math" panose="02040503050406030204" pitchFamily="18" charset="0"/>
                                    </a:rPr>
                                    <m:t>2</m:t>
                                  </m:r>
                                </m:sup>
                              </m:sSup>
                            </m:e>
                          </m:nary>
                        </m:e>
                      </m:rad>
                    </m:oMath>
                  </m:oMathPara>
                </a14:m>
                <a:endParaRPr lang="en-US" dirty="0"/>
              </a:p>
              <a:p>
                <a:endParaRPr lang="en-US" dirty="0"/>
              </a:p>
              <a:p>
                <a:endParaRPr lang="en-US" dirty="0"/>
              </a:p>
            </p:txBody>
          </p:sp>
        </mc:Choice>
        <mc:Fallback xmlns="">
          <p:sp>
            <p:nvSpPr>
              <p:cNvPr id="2" name="Content Placeholder 1">
                <a:extLst>
                  <a:ext uri="{FF2B5EF4-FFF2-40B4-BE49-F238E27FC236}">
                    <a16:creationId xmlns:a16="http://schemas.microsoft.com/office/drawing/2014/main" id="{18ED09EF-0FAA-170A-A47A-C69C8DD8B336}"/>
                  </a:ext>
                </a:extLst>
              </p:cNvPr>
              <p:cNvSpPr>
                <a:spLocks noGrp="1" noRot="1" noChangeAspect="1" noMove="1" noResize="1" noEditPoints="1" noAdjustHandles="1" noChangeArrowheads="1" noChangeShapeType="1" noTextEdit="1"/>
              </p:cNvSpPr>
              <p:nvPr>
                <p:ph idx="1"/>
              </p:nvPr>
            </p:nvSpPr>
            <p:spPr>
              <a:blipFill>
                <a:blip r:embed="rId2"/>
                <a:stretch>
                  <a:fillRect l="-1289" t="-922"/>
                </a:stretch>
              </a:blipFill>
            </p:spPr>
            <p:txBody>
              <a:bodyPr/>
              <a:lstStyle/>
              <a:p>
                <a:r>
                  <a:rPr lang="de-DE">
                    <a:noFill/>
                  </a:rPr>
                  <a:t> </a:t>
                </a:r>
              </a:p>
            </p:txBody>
          </p:sp>
        </mc:Fallback>
      </mc:AlternateContent>
      <p:sp>
        <p:nvSpPr>
          <p:cNvPr id="3" name="Title 2">
            <a:extLst>
              <a:ext uri="{FF2B5EF4-FFF2-40B4-BE49-F238E27FC236}">
                <a16:creationId xmlns:a16="http://schemas.microsoft.com/office/drawing/2014/main" id="{E72B2E15-40B3-553E-3A01-7DA34EEAC965}"/>
              </a:ext>
            </a:extLst>
          </p:cNvPr>
          <p:cNvSpPr>
            <a:spLocks noGrp="1"/>
          </p:cNvSpPr>
          <p:nvPr>
            <p:ph type="title"/>
          </p:nvPr>
        </p:nvSpPr>
        <p:spPr/>
        <p:txBody>
          <a:bodyPr/>
          <a:lstStyle/>
          <a:p>
            <a:r>
              <a:rPr lang="de-DE" dirty="0" err="1"/>
              <a:t>Normalization</a:t>
            </a:r>
            <a:endParaRPr lang="en-US" dirty="0"/>
          </a:p>
        </p:txBody>
      </p:sp>
      <p:sp>
        <p:nvSpPr>
          <p:cNvPr id="4" name="Slide Number Placeholder 3">
            <a:extLst>
              <a:ext uri="{FF2B5EF4-FFF2-40B4-BE49-F238E27FC236}">
                <a16:creationId xmlns:a16="http://schemas.microsoft.com/office/drawing/2014/main" id="{76C59C99-B5A2-BCA7-243A-12F5A48099BA}"/>
              </a:ext>
            </a:extLst>
          </p:cNvPr>
          <p:cNvSpPr>
            <a:spLocks noGrp="1"/>
          </p:cNvSpPr>
          <p:nvPr>
            <p:ph type="sldNum" sz="quarter" idx="11"/>
          </p:nvPr>
        </p:nvSpPr>
        <p:spPr/>
        <p:txBody>
          <a:bodyPr/>
          <a:lstStyle/>
          <a:p>
            <a:fld id="{CE58CB1E-F828-4F11-99E0-327109AF9DA4}" type="slidenum">
              <a:rPr lang="de-DE" smtClean="0"/>
              <a:pPr/>
              <a:t>31</a:t>
            </a:fld>
            <a:endParaRPr lang="de-DE"/>
          </a:p>
        </p:txBody>
      </p:sp>
      <p:sp>
        <p:nvSpPr>
          <p:cNvPr id="5" name="Footer Placeholder 4">
            <a:extLst>
              <a:ext uri="{FF2B5EF4-FFF2-40B4-BE49-F238E27FC236}">
                <a16:creationId xmlns:a16="http://schemas.microsoft.com/office/drawing/2014/main" id="{2698447E-DE31-44EE-220A-1E38C8B89F34}"/>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pic>
        <p:nvPicPr>
          <p:cNvPr id="6" name="Picture 5">
            <a:extLst>
              <a:ext uri="{FF2B5EF4-FFF2-40B4-BE49-F238E27FC236}">
                <a16:creationId xmlns:a16="http://schemas.microsoft.com/office/drawing/2014/main" id="{D4AF6993-B7A6-AEBF-9CCE-BEFEE7D906F5}"/>
              </a:ext>
            </a:extLst>
          </p:cNvPr>
          <p:cNvPicPr>
            <a:picLocks noChangeAspect="1"/>
          </p:cNvPicPr>
          <p:nvPr/>
        </p:nvPicPr>
        <p:blipFill>
          <a:blip r:embed="rId3"/>
          <a:stretch>
            <a:fillRect/>
          </a:stretch>
        </p:blipFill>
        <p:spPr>
          <a:xfrm>
            <a:off x="1230953" y="1266247"/>
            <a:ext cx="6254496" cy="1447500"/>
          </a:xfrm>
          <a:prstGeom prst="rect">
            <a:avLst/>
          </a:prstGeom>
        </p:spPr>
      </p:pic>
    </p:spTree>
    <p:extLst>
      <p:ext uri="{BB962C8B-B14F-4D97-AF65-F5344CB8AC3E}">
        <p14:creationId xmlns:p14="http://schemas.microsoft.com/office/powerpoint/2010/main" val="16809539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9C27BA8D-DBF5-866C-4A3D-C39D92673B2D}"/>
                  </a:ext>
                </a:extLst>
              </p:cNvPr>
              <p:cNvSpPr>
                <a:spLocks noGrp="1"/>
              </p:cNvSpPr>
              <p:nvPr>
                <p:ph idx="1"/>
              </p:nvPr>
            </p:nvSpPr>
            <p:spPr/>
            <p:txBody>
              <a:bodyPr/>
              <a:lstStyle/>
              <a:p>
                <a:r>
                  <a:rPr lang="en-US" dirty="0">
                    <a:solidFill>
                      <a:schemeClr val="bg2"/>
                    </a:solidFill>
                  </a:rPr>
                  <a:t>Batch Normalization </a:t>
                </a:r>
                <a:r>
                  <a:rPr lang="en-US" dirty="0"/>
                  <a:t>normalizes the activations between the layers to help the optimization</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𝜇</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num>
                        <m:den>
                          <m:r>
                            <a:rPr lang="en-US" b="0" i="1" smtClean="0">
                              <a:latin typeface="Cambria Math" panose="02040503050406030204" pitchFamily="18" charset="0"/>
                            </a:rPr>
                            <m:t>𝜎</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𝜖</m:t>
                          </m:r>
                        </m:den>
                      </m:f>
                      <m:r>
                        <a:rPr lang="en-US" b="0" i="1" smtClean="0">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m:t>
                      </m:r>
                      <m:r>
                        <a:rPr lang="en-US" b="0" i="1" smtClean="0">
                          <a:latin typeface="Cambria Math" panose="02040503050406030204" pitchFamily="18" charset="0"/>
                        </a:rPr>
                        <m:t>𝛽</m:t>
                      </m:r>
                    </m:oMath>
                  </m:oMathPara>
                </a14:m>
                <a:endParaRPr lang="en-US" dirty="0"/>
              </a:p>
              <a:p>
                <a:r>
                  <a:rPr lang="en-US" dirty="0"/>
                  <a:t>Batch Normalization is composed of two parts</a:t>
                </a:r>
              </a:p>
              <a:p>
                <a:pPr lvl="1" indent="0">
                  <a:buNone/>
                </a:pPr>
                <a:r>
                  <a:rPr lang="en-US" dirty="0"/>
                  <a:t>a) Centering the mean around zero and normalizing the standard deviation to a unit standard deviation</a:t>
                </a:r>
              </a:p>
              <a:p>
                <a:pPr lvl="1" indent="0">
                  <a:buNone/>
                </a:pPr>
                <a14:m>
                  <m:oMathPara xmlns:m="http://schemas.openxmlformats.org/officeDocument/2006/math">
                    <m:oMathParaPr>
                      <m:jc m:val="centerGroup"/>
                    </m:oMathParaPr>
                    <m:oMath xmlns:m="http://schemas.openxmlformats.org/officeDocument/2006/math">
                      <m:acc>
                        <m:accPr>
                          <m:chr m:val="̃"/>
                          <m:ctrlPr>
                            <a:rPr lang="de-DE" b="0" i="1" smtClean="0">
                              <a:solidFill>
                                <a:schemeClr val="tx1"/>
                              </a:solidFill>
                              <a:latin typeface="Cambria Math" panose="02040503050406030204" pitchFamily="18" charset="0"/>
                            </a:rPr>
                          </m:ctrlPr>
                        </m:accPr>
                        <m:e>
                          <m:r>
                            <a:rPr lang="de-DE" b="0" i="1" smtClean="0">
                              <a:solidFill>
                                <a:schemeClr val="tx1"/>
                              </a:solidFill>
                              <a:latin typeface="Cambria Math" panose="02040503050406030204" pitchFamily="18" charset="0"/>
                            </a:rPr>
                            <m:t>𝑥</m:t>
                          </m:r>
                        </m:e>
                      </m:ac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𝜇</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num>
                        <m:den>
                          <m:r>
                            <a:rPr lang="en-US" b="0" i="1" smtClean="0">
                              <a:latin typeface="Cambria Math" panose="02040503050406030204" pitchFamily="18" charset="0"/>
                            </a:rPr>
                            <m:t>𝜎</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𝜖</m:t>
                          </m:r>
                        </m:den>
                      </m:f>
                    </m:oMath>
                  </m:oMathPara>
                </a14:m>
                <a:endParaRPr lang="en-US" b="0" dirty="0"/>
              </a:p>
              <a:p>
                <a:pPr lvl="1" indent="0">
                  <a:buNone/>
                </a:pPr>
                <a:r>
                  <a:rPr lang="en-US" dirty="0"/>
                  <a:t>b) scaling and shifting by an element-wise modification with the trainable parameters </a:t>
                </a:r>
                <a14:m>
                  <m:oMath xmlns:m="http://schemas.openxmlformats.org/officeDocument/2006/math">
                    <m:r>
                      <a:rPr lang="en-US" b="0" i="1" smtClean="0">
                        <a:latin typeface="Cambria Math" panose="02040503050406030204" pitchFamily="18" charset="0"/>
                      </a:rPr>
                      <m:t>𝛾</m:t>
                    </m:r>
                    <m:r>
                      <a:rPr lang="en-US" b="0" i="1" smtClean="0">
                        <a:latin typeface="Cambria Math" panose="02040503050406030204" pitchFamily="18" charset="0"/>
                      </a:rPr>
                      <m:t>, </m:t>
                    </m:r>
                    <m:r>
                      <a:rPr lang="en-US" b="0" i="1" smtClean="0">
                        <a:latin typeface="Cambria Math" panose="02040503050406030204" pitchFamily="18" charset="0"/>
                      </a:rPr>
                      <m:t>𝛽</m:t>
                    </m:r>
                  </m:oMath>
                </a14:m>
                <a:endParaRPr lang="en-US" dirty="0"/>
              </a:p>
              <a:p>
                <a:pPr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𝑦</m:t>
                      </m:r>
                      <m:r>
                        <a:rPr lang="en-US" b="0" i="1" smtClean="0">
                          <a:latin typeface="Cambria Math" panose="02040503050406030204" pitchFamily="18" charset="0"/>
                        </a:rPr>
                        <m:t>=</m:t>
                      </m:r>
                      <m:acc>
                        <m:accPr>
                          <m:chr m:val="̃"/>
                          <m:ctrlPr>
                            <a:rPr lang="de-DE" b="0" i="1" smtClean="0">
                              <a:latin typeface="Cambria Math" panose="02040503050406030204" pitchFamily="18" charset="0"/>
                            </a:rPr>
                          </m:ctrlPr>
                        </m:accPr>
                        <m:e>
                          <m:r>
                            <a:rPr lang="de-DE" b="0" i="1" smtClean="0">
                              <a:latin typeface="Cambria Math" panose="02040503050406030204" pitchFamily="18" charset="0"/>
                            </a:rPr>
                            <m:t>𝑥</m:t>
                          </m:r>
                        </m:e>
                      </m:acc>
                      <m:r>
                        <a:rPr lang="en-US" b="0" i="1" smtClean="0">
                          <a:latin typeface="Cambria Math" panose="02040503050406030204" pitchFamily="18" charset="0"/>
                        </a:rPr>
                        <m:t>⋅</m:t>
                      </m:r>
                      <m:r>
                        <a:rPr lang="en-US" b="0" i="1" smtClean="0">
                          <a:latin typeface="Cambria Math" panose="02040503050406030204" pitchFamily="18" charset="0"/>
                        </a:rPr>
                        <m:t>𝛾</m:t>
                      </m:r>
                      <m:r>
                        <a:rPr lang="en-US" b="0" i="1" smtClean="0">
                          <a:latin typeface="Cambria Math" panose="02040503050406030204" pitchFamily="18" charset="0"/>
                        </a:rPr>
                        <m:t>+</m:t>
                      </m:r>
                      <m:r>
                        <a:rPr lang="en-US" b="0" i="1" smtClean="0">
                          <a:latin typeface="Cambria Math" panose="02040503050406030204" pitchFamily="18" charset="0"/>
                        </a:rPr>
                        <m:t>𝛽</m:t>
                      </m:r>
                    </m:oMath>
                  </m:oMathPara>
                </a14:m>
                <a:endParaRPr lang="en-US" dirty="0"/>
              </a:p>
              <a:p>
                <a:pPr marL="461963" lvl="1" indent="-285750">
                  <a:buFont typeface="Arial" panose="020B0604020202020204" pitchFamily="34" charset="0"/>
                  <a:buChar char="•"/>
                </a:pPr>
                <a:r>
                  <a:rPr lang="en-US" dirty="0"/>
                  <a:t>This increases the model capacity further and makes it possible for the network to learn an optimal normalization</a:t>
                </a:r>
              </a:p>
              <a:p>
                <a:pPr marL="3175" lvl="1" indent="-3175">
                  <a:buNone/>
                </a:pPr>
                <a:r>
                  <a:rPr lang="en-US" dirty="0"/>
                  <a:t>Batch normalization is:</a:t>
                </a:r>
              </a:p>
              <a:p>
                <a:pPr marL="461963" lvl="1" indent="-285750">
                  <a:buFont typeface="Arial" panose="020B0604020202020204" pitchFamily="34" charset="0"/>
                  <a:buChar char="•"/>
                </a:pPr>
                <a:r>
                  <a:rPr lang="en-US" dirty="0"/>
                  <a:t>typically applied after the activation function, but before is also possible</a:t>
                </a:r>
              </a:p>
              <a:p>
                <a:pPr marL="461963" lvl="1" indent="-285750">
                  <a:buFont typeface="Arial" panose="020B0604020202020204" pitchFamily="34" charset="0"/>
                  <a:buChar char="•"/>
                </a:pPr>
                <a:r>
                  <a:rPr lang="en-US" dirty="0"/>
                  <a:t>Almost always encountered when using convolutional neural networks (alternate normalizations possible)</a:t>
                </a:r>
              </a:p>
              <a:p>
                <a:endParaRPr lang="en-US" dirty="0"/>
              </a:p>
              <a:p>
                <a:r>
                  <a:rPr lang="en-US" dirty="0"/>
                  <a:t>In </a:t>
                </a:r>
                <a:r>
                  <a:rPr lang="en-US" dirty="0" err="1"/>
                  <a:t>PyTorch</a:t>
                </a:r>
                <a:r>
                  <a:rPr lang="en-US" dirty="0"/>
                  <a:t> it can be defined with torch.nn.BatchNorm1d </a:t>
                </a:r>
                <a:r>
                  <a:rPr lang="en-US" dirty="0">
                    <a:latin typeface="DejaVu Sans Mono" panose="020B0609030804020204" pitchFamily="49" charset="0"/>
                    <a:ea typeface="DejaVu Sans Mono" panose="020B0609030804020204" pitchFamily="49" charset="0"/>
                    <a:cs typeface="DejaVu Sans Mono" panose="020B0609030804020204" pitchFamily="49" charset="0"/>
                  </a:rPr>
                  <a:t>or </a:t>
                </a:r>
                <a:r>
                  <a:rPr lang="en-US" dirty="0"/>
                  <a:t>torch.nn.BatchNorm2d</a:t>
                </a:r>
              </a:p>
              <a:p>
                <a:br>
                  <a:rPr lang="en-US" dirty="0"/>
                </a:br>
                <a:endParaRPr lang="en-US" dirty="0"/>
              </a:p>
              <a:p>
                <a:pPr lvl="1" indent="0">
                  <a:buNone/>
                </a:pPr>
                <a:endParaRPr lang="en-US" dirty="0"/>
              </a:p>
              <a:p>
                <a:endParaRPr lang="en-US" dirty="0"/>
              </a:p>
            </p:txBody>
          </p:sp>
        </mc:Choice>
        <mc:Fallback>
          <p:sp>
            <p:nvSpPr>
              <p:cNvPr id="2" name="Content Placeholder 1">
                <a:extLst>
                  <a:ext uri="{FF2B5EF4-FFF2-40B4-BE49-F238E27FC236}">
                    <a16:creationId xmlns:a16="http://schemas.microsoft.com/office/drawing/2014/main" id="{9C27BA8D-DBF5-866C-4A3D-C39D92673B2D}"/>
                  </a:ext>
                </a:extLst>
              </p:cNvPr>
              <p:cNvSpPr>
                <a:spLocks noGrp="1" noRot="1" noChangeAspect="1" noMove="1" noResize="1" noEditPoints="1" noAdjustHandles="1" noChangeArrowheads="1" noChangeShapeType="1" noTextEdit="1"/>
              </p:cNvSpPr>
              <p:nvPr>
                <p:ph idx="1"/>
              </p:nvPr>
            </p:nvSpPr>
            <p:spPr>
              <a:blipFill>
                <a:blip r:embed="rId2"/>
                <a:stretch>
                  <a:fillRect l="-1289" t="-922" b="-1536"/>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F8176CBA-5C35-4335-649B-D35C06B363EF}"/>
              </a:ext>
            </a:extLst>
          </p:cNvPr>
          <p:cNvSpPr>
            <a:spLocks noGrp="1"/>
          </p:cNvSpPr>
          <p:nvPr>
            <p:ph type="title"/>
          </p:nvPr>
        </p:nvSpPr>
        <p:spPr/>
        <p:txBody>
          <a:bodyPr/>
          <a:lstStyle/>
          <a:p>
            <a:r>
              <a:rPr lang="de-DE" dirty="0"/>
              <a:t>Batch </a:t>
            </a:r>
            <a:r>
              <a:rPr lang="de-DE" dirty="0" err="1"/>
              <a:t>Normalization</a:t>
            </a:r>
            <a:endParaRPr lang="en-US" dirty="0"/>
          </a:p>
        </p:txBody>
      </p:sp>
      <p:sp>
        <p:nvSpPr>
          <p:cNvPr id="4" name="Slide Number Placeholder 3">
            <a:extLst>
              <a:ext uri="{FF2B5EF4-FFF2-40B4-BE49-F238E27FC236}">
                <a16:creationId xmlns:a16="http://schemas.microsoft.com/office/drawing/2014/main" id="{74FE7243-6A3D-DE31-D6B2-C09CE2893229}"/>
              </a:ext>
            </a:extLst>
          </p:cNvPr>
          <p:cNvSpPr>
            <a:spLocks noGrp="1"/>
          </p:cNvSpPr>
          <p:nvPr>
            <p:ph type="sldNum" sz="quarter" idx="11"/>
          </p:nvPr>
        </p:nvSpPr>
        <p:spPr/>
        <p:txBody>
          <a:bodyPr/>
          <a:lstStyle/>
          <a:p>
            <a:fld id="{CE58CB1E-F828-4F11-99E0-327109AF9DA4}" type="slidenum">
              <a:rPr lang="de-DE" smtClean="0"/>
              <a:pPr/>
              <a:t>32</a:t>
            </a:fld>
            <a:endParaRPr lang="de-DE"/>
          </a:p>
        </p:txBody>
      </p:sp>
      <p:sp>
        <p:nvSpPr>
          <p:cNvPr id="5" name="Footer Placeholder 4">
            <a:extLst>
              <a:ext uri="{FF2B5EF4-FFF2-40B4-BE49-F238E27FC236}">
                <a16:creationId xmlns:a16="http://schemas.microsoft.com/office/drawing/2014/main" id="{40688974-9C15-69A5-CBEB-2A2BCC078923}"/>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spTree>
    <p:extLst>
      <p:ext uri="{BB962C8B-B14F-4D97-AF65-F5344CB8AC3E}">
        <p14:creationId xmlns:p14="http://schemas.microsoft.com/office/powerpoint/2010/main" val="3529149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DE4B2C1B-9E6E-281D-88DC-6A80F5F2B813}"/>
                  </a:ext>
                </a:extLst>
              </p:cNvPr>
              <p:cNvSpPr>
                <a:spLocks noGrp="1"/>
              </p:cNvSpPr>
              <p:nvPr>
                <p:ph idx="1"/>
              </p:nvPr>
            </p:nvSpPr>
            <p:spPr>
              <a:xfrm>
                <a:off x="319090" y="825690"/>
                <a:ext cx="8746329" cy="3967027"/>
              </a:xfrm>
            </p:spPr>
            <p:txBody>
              <a:bodyPr/>
              <a:lstStyle/>
              <a:p>
                <a:pPr marL="285750" indent="-285750">
                  <a:buFont typeface="Arial" panose="020B0604020202020204" pitchFamily="34" charset="0"/>
                  <a:buChar char="•"/>
                </a:pPr>
                <a:r>
                  <a:rPr lang="en-US" dirty="0"/>
                  <a:t>Convolutional neural networks are limited to data aligned on rectangular &amp; uniform grids</a:t>
                </a:r>
              </a:p>
              <a:p>
                <a:pPr marL="285750" indent="-285750">
                  <a:buFont typeface="Arial" panose="020B0604020202020204" pitchFamily="34" charset="0"/>
                  <a:buChar char="•"/>
                </a:pPr>
                <a:r>
                  <a:rPr lang="en-US" b="1" dirty="0"/>
                  <a:t>Graph neural networks </a:t>
                </a:r>
                <a:r>
                  <a:rPr lang="en-US" dirty="0"/>
                  <a:t>are a generalization to general graphs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Graph</a:t>
                </a:r>
              </a:p>
              <a:p>
                <a:pPr marL="461963" lvl="1" indent="-285750">
                  <a:buFont typeface="Arial" panose="020B0604020202020204" pitchFamily="34" charset="0"/>
                  <a:buChar char="•"/>
                </a:pPr>
                <a:r>
                  <a:rPr lang="en-US" dirty="0"/>
                  <a:t>Nodes/vertices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oMath>
                </a14:m>
                <a:endParaRPr lang="en-US" dirty="0"/>
              </a:p>
              <a:p>
                <a:pPr marL="461963" lvl="1" indent="-285750">
                  <a:buFont typeface="Arial" panose="020B0604020202020204" pitchFamily="34" charset="0"/>
                  <a:buChar char="•"/>
                </a:pPr>
                <a:r>
                  <a:rPr lang="en-US" dirty="0"/>
                  <a:t>Edges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m:t>
                        </m:r>
                      </m:sub>
                    </m:sSub>
                  </m:oMath>
                </a14:m>
                <a:endParaRPr lang="en-US" dirty="0"/>
              </a:p>
              <a:p>
                <a:pPr marL="461963" lvl="1" indent="-285750">
                  <a:buFont typeface="Arial" panose="020B0604020202020204" pitchFamily="34" charset="0"/>
                  <a:buChar char="•"/>
                </a:pPr>
                <a:r>
                  <a:rPr lang="en-US" dirty="0"/>
                  <a:t>Global attribute </a:t>
                </a:r>
                <a14:m>
                  <m:oMath xmlns:m="http://schemas.openxmlformats.org/officeDocument/2006/math">
                    <m:r>
                      <a:rPr lang="en-US" b="0" i="1" smtClean="0">
                        <a:latin typeface="Cambria Math" panose="02040503050406030204" pitchFamily="18" charset="0"/>
                      </a:rPr>
                      <m:t>𝑢</m:t>
                    </m:r>
                  </m:oMath>
                </a14:m>
                <a:endParaRPr lang="en-US" dirty="0"/>
              </a:p>
              <a:p>
                <a:pPr marL="461963" lvl="1" indent="-285750">
                  <a:buFont typeface="Arial" panose="020B0604020202020204" pitchFamily="34" charset="0"/>
                  <a:buChar char="•"/>
                </a:pPr>
                <a:endParaRPr lang="en-US" dirty="0"/>
              </a:p>
              <a:p>
                <a:pPr marL="461963" lvl="1" indent="-285750">
                  <a:buFont typeface="Arial" panose="020B0604020202020204" pitchFamily="34" charset="0"/>
                  <a:buChar char="•"/>
                </a:pPr>
                <a:endParaRPr lang="en-US" dirty="0"/>
              </a:p>
              <a:p>
                <a:pPr marL="461963" lvl="1" indent="-285750">
                  <a:buFont typeface="Arial" panose="020B0604020202020204" pitchFamily="34" charset="0"/>
                  <a:buChar char="•"/>
                </a:pPr>
                <a:endParaRPr lang="en-US" dirty="0"/>
              </a:p>
              <a:p>
                <a:pPr marL="461963" lvl="1"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Many different architectures exist, (</a:t>
                </a:r>
                <a:r>
                  <a:rPr lang="en-US" dirty="0">
                    <a:solidFill>
                      <a:schemeClr val="bg2"/>
                    </a:solidFill>
                  </a:rPr>
                  <a:t>message passing networks, graph convolutional networks, graph transformers</a:t>
                </a:r>
                <a:r>
                  <a:rPr lang="en-US" dirty="0"/>
                  <a:t>…)</a:t>
                </a:r>
              </a:p>
              <a:p>
                <a:pPr marL="285750" indent="-285750">
                  <a:buFont typeface="Arial" panose="020B0604020202020204" pitchFamily="34" charset="0"/>
                  <a:buChar char="•"/>
                </a:pPr>
                <a:r>
                  <a:rPr lang="en-US" dirty="0"/>
                  <a:t>We will focus on </a:t>
                </a:r>
                <a:r>
                  <a:rPr lang="en-US" b="1" dirty="0"/>
                  <a:t>message passing networks</a:t>
                </a:r>
                <a:r>
                  <a:rPr lang="en-US" dirty="0"/>
                  <a:t>, which consider the following invariant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Each edge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𝑒</m:t>
                        </m:r>
                      </m:e>
                      <m:sub>
                        <m:r>
                          <a:rPr lang="en-US" b="0" i="1" smtClean="0">
                            <a:latin typeface="Cambria Math" panose="02040503050406030204" pitchFamily="18" charset="0"/>
                          </a:rPr>
                          <m:t>𝑖</m:t>
                        </m:r>
                      </m:sub>
                    </m:sSub>
                  </m:oMath>
                </a14:m>
                <a:r>
                  <a:rPr lang="en-US" dirty="0"/>
                  <a:t> has a sender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𝑣</m:t>
                        </m:r>
                      </m:e>
                      <m:sub>
                        <m:r>
                          <a:rPr lang="en-US" b="0" i="1" smtClean="0">
                            <a:latin typeface="Cambria Math" panose="02040503050406030204" pitchFamily="18" charset="0"/>
                          </a:rPr>
                          <m:t>𝑖</m:t>
                        </m:r>
                      </m:sub>
                      <m:sup>
                        <m:r>
                          <a:rPr lang="en-US" b="0" i="1" smtClean="0">
                            <a:latin typeface="Cambria Math" panose="02040503050406030204" pitchFamily="18" charset="0"/>
                          </a:rPr>
                          <m:t>𝑠</m:t>
                        </m:r>
                      </m:sup>
                    </m:sSubSup>
                  </m:oMath>
                </a14:m>
                <a:r>
                  <a:rPr lang="en-US" dirty="0"/>
                  <a:t> and receiver node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𝑣</m:t>
                        </m:r>
                      </m:e>
                      <m:sub>
                        <m:r>
                          <a:rPr lang="en-US" b="0" i="1" smtClean="0">
                            <a:latin typeface="Cambria Math" panose="02040503050406030204" pitchFamily="18" charset="0"/>
                          </a:rPr>
                          <m:t>𝑖</m:t>
                        </m:r>
                      </m:sub>
                      <m:sup>
                        <m:r>
                          <a:rPr lang="en-US" b="0" i="1" smtClean="0">
                            <a:latin typeface="Cambria Math" panose="02040503050406030204" pitchFamily="18" charset="0"/>
                          </a:rPr>
                          <m:t>𝑟</m:t>
                        </m:r>
                      </m:sup>
                    </m:sSubSup>
                  </m:oMath>
                </a14:m>
                <a:endParaRPr lang="en-US" dirty="0"/>
              </a:p>
            </p:txBody>
          </p:sp>
        </mc:Choice>
        <mc:Fallback>
          <p:sp>
            <p:nvSpPr>
              <p:cNvPr id="2" name="Content Placeholder 1">
                <a:extLst>
                  <a:ext uri="{FF2B5EF4-FFF2-40B4-BE49-F238E27FC236}">
                    <a16:creationId xmlns:a16="http://schemas.microsoft.com/office/drawing/2014/main" id="{DE4B2C1B-9E6E-281D-88DC-6A80F5F2B813}"/>
                  </a:ext>
                </a:extLst>
              </p:cNvPr>
              <p:cNvSpPr>
                <a:spLocks noGrp="1" noRot="1" noChangeAspect="1" noMove="1" noResize="1" noEditPoints="1" noAdjustHandles="1" noChangeArrowheads="1" noChangeShapeType="1" noTextEdit="1"/>
              </p:cNvSpPr>
              <p:nvPr>
                <p:ph idx="1"/>
              </p:nvPr>
            </p:nvSpPr>
            <p:spPr>
              <a:xfrm>
                <a:off x="319090" y="825690"/>
                <a:ext cx="8746329" cy="3967027"/>
              </a:xfrm>
              <a:blipFill>
                <a:blip r:embed="rId3"/>
                <a:stretch>
                  <a:fillRect l="-1115" t="-922" r="-70" b="-461"/>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479499BD-B449-FB41-4E5B-F778880921C7}"/>
              </a:ext>
            </a:extLst>
          </p:cNvPr>
          <p:cNvPicPr>
            <a:picLocks noChangeAspect="1"/>
          </p:cNvPicPr>
          <p:nvPr/>
        </p:nvPicPr>
        <p:blipFill>
          <a:blip r:embed="rId4"/>
          <a:stretch>
            <a:fillRect/>
          </a:stretch>
        </p:blipFill>
        <p:spPr>
          <a:xfrm>
            <a:off x="3524251" y="3964592"/>
            <a:ext cx="1754981" cy="561741"/>
          </a:xfrm>
          <a:prstGeom prst="rect">
            <a:avLst/>
          </a:prstGeom>
        </p:spPr>
      </p:pic>
      <p:sp>
        <p:nvSpPr>
          <p:cNvPr id="3" name="Title 2">
            <a:extLst>
              <a:ext uri="{FF2B5EF4-FFF2-40B4-BE49-F238E27FC236}">
                <a16:creationId xmlns:a16="http://schemas.microsoft.com/office/drawing/2014/main" id="{48ACDEB7-0618-47DF-FD31-7021EA3D48CD}"/>
              </a:ext>
            </a:extLst>
          </p:cNvPr>
          <p:cNvSpPr>
            <a:spLocks noGrp="1"/>
          </p:cNvSpPr>
          <p:nvPr>
            <p:ph type="title"/>
          </p:nvPr>
        </p:nvSpPr>
        <p:spPr/>
        <p:txBody>
          <a:bodyPr/>
          <a:lstStyle/>
          <a:p>
            <a:r>
              <a:rPr lang="de-DE" dirty="0"/>
              <a:t>3.9.2 Graph </a:t>
            </a:r>
            <a:r>
              <a:rPr lang="de-DE" dirty="0" err="1"/>
              <a:t>Neural</a:t>
            </a:r>
            <a:r>
              <a:rPr lang="de-DE" dirty="0"/>
              <a:t> Networks</a:t>
            </a:r>
            <a:endParaRPr lang="en-US" dirty="0"/>
          </a:p>
        </p:txBody>
      </p:sp>
      <p:sp>
        <p:nvSpPr>
          <p:cNvPr id="4" name="Slide Number Placeholder 3">
            <a:extLst>
              <a:ext uri="{FF2B5EF4-FFF2-40B4-BE49-F238E27FC236}">
                <a16:creationId xmlns:a16="http://schemas.microsoft.com/office/drawing/2014/main" id="{A20695C9-EDFF-0B51-89BB-0F7FAE816604}"/>
              </a:ext>
            </a:extLst>
          </p:cNvPr>
          <p:cNvSpPr>
            <a:spLocks noGrp="1"/>
          </p:cNvSpPr>
          <p:nvPr>
            <p:ph type="sldNum" sz="quarter" idx="11"/>
          </p:nvPr>
        </p:nvSpPr>
        <p:spPr/>
        <p:txBody>
          <a:bodyPr/>
          <a:lstStyle/>
          <a:p>
            <a:fld id="{CE58CB1E-F828-4F11-99E0-327109AF9DA4}" type="slidenum">
              <a:rPr lang="de-DE" smtClean="0"/>
              <a:pPr/>
              <a:t>33</a:t>
            </a:fld>
            <a:endParaRPr lang="de-DE"/>
          </a:p>
        </p:txBody>
      </p:sp>
      <p:sp>
        <p:nvSpPr>
          <p:cNvPr id="5" name="Footer Placeholder 4">
            <a:extLst>
              <a:ext uri="{FF2B5EF4-FFF2-40B4-BE49-F238E27FC236}">
                <a16:creationId xmlns:a16="http://schemas.microsoft.com/office/drawing/2014/main" id="{9AAF0D2F-CAAE-1806-6C46-76551FF6600B}"/>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pic>
        <p:nvPicPr>
          <p:cNvPr id="7" name="Picture 6">
            <a:extLst>
              <a:ext uri="{FF2B5EF4-FFF2-40B4-BE49-F238E27FC236}">
                <a16:creationId xmlns:a16="http://schemas.microsoft.com/office/drawing/2014/main" id="{38E7102C-E002-E6AE-8E13-8674C6C7BA66}"/>
              </a:ext>
            </a:extLst>
          </p:cNvPr>
          <p:cNvPicPr>
            <a:picLocks noChangeAspect="1"/>
          </p:cNvPicPr>
          <p:nvPr/>
        </p:nvPicPr>
        <p:blipFill>
          <a:blip r:embed="rId5"/>
          <a:stretch>
            <a:fillRect/>
          </a:stretch>
        </p:blipFill>
        <p:spPr>
          <a:xfrm>
            <a:off x="3136348" y="1378744"/>
            <a:ext cx="2827332" cy="2143125"/>
          </a:xfrm>
          <a:prstGeom prst="rect">
            <a:avLst/>
          </a:prstGeom>
        </p:spPr>
      </p:pic>
      <p:sp>
        <p:nvSpPr>
          <p:cNvPr id="10" name="TextBox 9">
            <a:extLst>
              <a:ext uri="{FF2B5EF4-FFF2-40B4-BE49-F238E27FC236}">
                <a16:creationId xmlns:a16="http://schemas.microsoft.com/office/drawing/2014/main" id="{8EA4856F-77CF-9901-943B-56F60B48718F}"/>
              </a:ext>
            </a:extLst>
          </p:cNvPr>
          <p:cNvSpPr txBox="1"/>
          <p:nvPr/>
        </p:nvSpPr>
        <p:spPr>
          <a:xfrm>
            <a:off x="5893362" y="4074923"/>
            <a:ext cx="2695394" cy="409086"/>
          </a:xfrm>
          <a:prstGeom prst="rect">
            <a:avLst/>
          </a:prstGeom>
          <a:noFill/>
        </p:spPr>
        <p:txBody>
          <a:bodyPr wrap="square" lIns="0" tIns="0" rIns="0" bIns="0" rtlCol="0">
            <a:spAutoFit/>
          </a:bodyPr>
          <a:lstStyle/>
          <a:p>
            <a:pPr>
              <a:lnSpc>
                <a:spcPct val="114000"/>
              </a:lnSpc>
            </a:pPr>
            <a:r>
              <a:rPr lang="da-DK" sz="1200" i="1" dirty="0" err="1">
                <a:solidFill>
                  <a:schemeClr val="accent2"/>
                </a:solidFill>
                <a:latin typeface="+mn-lt"/>
              </a:rPr>
              <a:t>Relational</a:t>
            </a:r>
            <a:r>
              <a:rPr lang="da-DK" sz="1200" i="1" dirty="0">
                <a:solidFill>
                  <a:schemeClr val="accent2"/>
                </a:solidFill>
                <a:latin typeface="+mn-lt"/>
              </a:rPr>
              <a:t> </a:t>
            </a:r>
            <a:r>
              <a:rPr lang="da-DK" sz="1200" i="1" dirty="0" err="1">
                <a:solidFill>
                  <a:schemeClr val="accent2"/>
                </a:solidFill>
                <a:latin typeface="+mn-lt"/>
              </a:rPr>
              <a:t>inductive</a:t>
            </a:r>
            <a:r>
              <a:rPr lang="da-DK" sz="1200" i="1" dirty="0">
                <a:solidFill>
                  <a:schemeClr val="accent2"/>
                </a:solidFill>
                <a:latin typeface="+mn-lt"/>
              </a:rPr>
              <a:t> </a:t>
            </a:r>
            <a:r>
              <a:rPr lang="da-DK" sz="1200" i="1" dirty="0" err="1">
                <a:solidFill>
                  <a:schemeClr val="accent2"/>
                </a:solidFill>
                <a:latin typeface="+mn-lt"/>
              </a:rPr>
              <a:t>biases</a:t>
            </a:r>
            <a:r>
              <a:rPr lang="da-DK" sz="1200" i="1" dirty="0">
                <a:solidFill>
                  <a:schemeClr val="accent2"/>
                </a:solidFill>
                <a:latin typeface="+mn-lt"/>
              </a:rPr>
              <a:t>, </a:t>
            </a:r>
            <a:r>
              <a:rPr lang="da-DK" sz="1200" i="1" dirty="0" err="1">
                <a:solidFill>
                  <a:schemeClr val="accent2"/>
                </a:solidFill>
                <a:latin typeface="+mn-lt"/>
              </a:rPr>
              <a:t>deep</a:t>
            </a:r>
            <a:r>
              <a:rPr lang="da-DK" sz="1200" i="1" dirty="0">
                <a:solidFill>
                  <a:schemeClr val="accent2"/>
                </a:solidFill>
                <a:latin typeface="+mn-lt"/>
              </a:rPr>
              <a:t> learning, and </a:t>
            </a:r>
            <a:r>
              <a:rPr lang="da-DK" sz="1200" i="1" dirty="0" err="1">
                <a:solidFill>
                  <a:schemeClr val="accent2"/>
                </a:solidFill>
                <a:latin typeface="+mn-lt"/>
              </a:rPr>
              <a:t>graph</a:t>
            </a:r>
            <a:r>
              <a:rPr lang="da-DK" sz="1200" i="1" dirty="0">
                <a:solidFill>
                  <a:schemeClr val="accent2"/>
                </a:solidFill>
                <a:latin typeface="+mn-lt"/>
              </a:rPr>
              <a:t> </a:t>
            </a:r>
            <a:r>
              <a:rPr lang="da-DK" sz="1200" i="1" dirty="0" err="1">
                <a:solidFill>
                  <a:schemeClr val="accent2"/>
                </a:solidFill>
                <a:latin typeface="+mn-lt"/>
              </a:rPr>
              <a:t>networks</a:t>
            </a:r>
            <a:r>
              <a:rPr lang="da-DK" sz="1200" i="1" dirty="0">
                <a:solidFill>
                  <a:schemeClr val="accent2"/>
                </a:solidFill>
                <a:latin typeface="+mn-lt"/>
              </a:rPr>
              <a:t>, </a:t>
            </a:r>
            <a:r>
              <a:rPr lang="da-DK" sz="1200" i="1" dirty="0" err="1">
                <a:solidFill>
                  <a:schemeClr val="accent2"/>
                </a:solidFill>
                <a:latin typeface="+mn-lt"/>
              </a:rPr>
              <a:t>Battaglia</a:t>
            </a:r>
            <a:r>
              <a:rPr lang="da-DK" sz="1200" i="1" dirty="0">
                <a:solidFill>
                  <a:schemeClr val="accent2"/>
                </a:solidFill>
                <a:latin typeface="+mn-lt"/>
              </a:rPr>
              <a:t> et al. 2018</a:t>
            </a:r>
            <a:endParaRPr lang="en-DE" sz="1200" i="1" dirty="0">
              <a:solidFill>
                <a:schemeClr val="accent2"/>
              </a:solidFill>
              <a:latin typeface="+mn-lt"/>
            </a:endParaRPr>
          </a:p>
        </p:txBody>
      </p:sp>
    </p:spTree>
    <p:extLst>
      <p:ext uri="{BB962C8B-B14F-4D97-AF65-F5344CB8AC3E}">
        <p14:creationId xmlns:p14="http://schemas.microsoft.com/office/powerpoint/2010/main" val="1259010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15" end="1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4381A406-60A8-9BC6-5D7E-FBD1384F9CED}"/>
                  </a:ext>
                </a:extLst>
              </p:cNvPr>
              <p:cNvSpPr>
                <a:spLocks noGrp="1"/>
              </p:cNvSpPr>
              <p:nvPr>
                <p:ph idx="1"/>
              </p:nvPr>
            </p:nvSpPr>
            <p:spPr/>
            <p:txBody>
              <a:bodyPr/>
              <a:lstStyle/>
              <a:p>
                <a:pPr marL="285750" indent="-285750">
                  <a:buFont typeface="Arial" panose="020B0604020202020204" pitchFamily="34" charset="0"/>
                  <a:buChar char="•"/>
                </a:pPr>
                <a:r>
                  <a:rPr lang="de-DE" dirty="0"/>
                  <a:t>Edges </a:t>
                </a:r>
                <a:r>
                  <a:rPr lang="de-DE" dirty="0" err="1"/>
                  <a:t>are</a:t>
                </a:r>
                <a:r>
                  <a:rPr lang="de-DE" dirty="0"/>
                  <a:t> </a:t>
                </a:r>
                <a:r>
                  <a:rPr lang="de-DE" dirty="0" err="1"/>
                  <a:t>updated</a:t>
                </a:r>
                <a:r>
                  <a:rPr lang="de-DE" dirty="0"/>
                  <a:t> </a:t>
                </a:r>
                <a:r>
                  <a:rPr lang="de-DE" dirty="0" err="1"/>
                  <a:t>through</a:t>
                </a:r>
                <a:r>
                  <a:rPr lang="de-DE" dirty="0"/>
                  <a:t> </a:t>
                </a:r>
                <a:r>
                  <a:rPr lang="de-DE" dirty="0" err="1"/>
                  <a:t>the</a:t>
                </a:r>
                <a:r>
                  <a:rPr lang="de-DE" dirty="0"/>
                  <a:t> </a:t>
                </a:r>
                <a:r>
                  <a:rPr lang="de-DE" b="1" dirty="0" err="1"/>
                  <a:t>first</a:t>
                </a:r>
                <a:r>
                  <a:rPr lang="de-DE" dirty="0"/>
                  <a:t> fully </a:t>
                </a:r>
                <a:r>
                  <a:rPr lang="de-DE" dirty="0" err="1"/>
                  <a:t>connected</a:t>
                </a:r>
                <a:r>
                  <a:rPr lang="de-DE" dirty="0"/>
                  <a:t> </a:t>
                </a:r>
                <a:r>
                  <a:rPr lang="de-DE" dirty="0" err="1"/>
                  <a:t>neural</a:t>
                </a:r>
                <a:r>
                  <a:rPr lang="de-DE" dirty="0"/>
                  <a:t> network </a:t>
                </a:r>
                <a14:m>
                  <m:oMath xmlns:m="http://schemas.openxmlformats.org/officeDocument/2006/math">
                    <m:sSup>
                      <m:sSupPr>
                        <m:ctrlPr>
                          <a:rPr lang="de-DE" b="0" i="1" smtClean="0">
                            <a:latin typeface="Cambria Math" panose="02040503050406030204" pitchFamily="18" charset="0"/>
                          </a:rPr>
                        </m:ctrlPr>
                      </m:sSupPr>
                      <m:e>
                        <m:sSubSup>
                          <m:sSubSupPr>
                            <m:ctrlPr>
                              <a:rPr lang="de-DE" b="0" i="1" smtClean="0">
                                <a:latin typeface="Cambria Math" panose="02040503050406030204" pitchFamily="18" charset="0"/>
                              </a:rPr>
                            </m:ctrlPr>
                          </m:sSubSupPr>
                          <m:e>
                            <m:r>
                              <a:rPr lang="de-DE" b="0" i="1" smtClean="0">
                                <a:latin typeface="Cambria Math" panose="02040503050406030204" pitchFamily="18" charset="0"/>
                              </a:rPr>
                              <m:t>𝑒</m:t>
                            </m:r>
                          </m:e>
                          <m:sub>
                            <m:r>
                              <a:rPr lang="de-DE" b="0" i="1" smtClean="0">
                                <a:latin typeface="Cambria Math" panose="02040503050406030204" pitchFamily="18" charset="0"/>
                              </a:rPr>
                              <m:t>𝑖</m:t>
                            </m:r>
                          </m:sub>
                          <m:sup>
                            <m:r>
                              <a:rPr lang="de-DE" b="0" i="1" smtClean="0">
                                <a:latin typeface="Cambria Math" panose="02040503050406030204" pitchFamily="18" charset="0"/>
                              </a:rPr>
                              <m:t>′</m:t>
                            </m:r>
                          </m:sup>
                        </m:sSubSup>
                        <m:r>
                          <a:rPr lang="de-DE" b="0" i="1" smtClean="0">
                            <a:latin typeface="Cambria Math" panose="02040503050406030204" pitchFamily="18" charset="0"/>
                          </a:rPr>
                          <m:t>=</m:t>
                        </m:r>
                        <m:r>
                          <a:rPr lang="de-DE" b="0" i="1" smtClean="0">
                            <a:latin typeface="Cambria Math" panose="02040503050406030204" pitchFamily="18" charset="0"/>
                          </a:rPr>
                          <m:t>𝑓</m:t>
                        </m:r>
                      </m:e>
                      <m:sup>
                        <m:r>
                          <a:rPr lang="de-DE" b="0" i="1" smtClean="0">
                            <a:latin typeface="Cambria Math" panose="02040503050406030204" pitchFamily="18" charset="0"/>
                          </a:rPr>
                          <m:t>𝑒</m:t>
                        </m:r>
                      </m:sup>
                    </m:sSup>
                    <m:r>
                      <a:rPr lang="de-DE" b="0" i="1" smtClean="0">
                        <a:latin typeface="Cambria Math" panose="02040503050406030204" pitchFamily="18" charset="0"/>
                      </a:rPr>
                      <m:t>(</m:t>
                    </m:r>
                    <m:sSub>
                      <m:sSubPr>
                        <m:ctrlPr>
                          <a:rPr lang="de-DE" b="0" i="1" smtClean="0">
                            <a:latin typeface="Cambria Math" panose="02040503050406030204" pitchFamily="18" charset="0"/>
                          </a:rPr>
                        </m:ctrlPr>
                      </m:sSubPr>
                      <m:e>
                        <m:r>
                          <a:rPr lang="de-DE" b="0" i="1" smtClean="0">
                            <a:latin typeface="Cambria Math" panose="02040503050406030204" pitchFamily="18" charset="0"/>
                          </a:rPr>
                          <m:t>𝑒</m:t>
                        </m:r>
                      </m:e>
                      <m:sub>
                        <m:r>
                          <a:rPr lang="de-DE" b="0" i="1" smtClean="0">
                            <a:latin typeface="Cambria Math" panose="02040503050406030204" pitchFamily="18" charset="0"/>
                          </a:rPr>
                          <m:t>𝑖</m:t>
                        </m:r>
                      </m:sub>
                    </m:sSub>
                    <m:r>
                      <a:rPr lang="de-DE" b="0" i="1" smtClean="0">
                        <a:latin typeface="Cambria Math" panose="02040503050406030204" pitchFamily="18" charset="0"/>
                      </a:rPr>
                      <m:t>, </m:t>
                    </m:r>
                    <m:sSubSup>
                      <m:sSubSupPr>
                        <m:ctrlPr>
                          <a:rPr lang="de-DE" b="0" i="1" smtClean="0">
                            <a:latin typeface="Cambria Math" panose="02040503050406030204" pitchFamily="18" charset="0"/>
                          </a:rPr>
                        </m:ctrlPr>
                      </m:sSubSupPr>
                      <m:e>
                        <m:r>
                          <a:rPr lang="de-DE" b="0" i="1" smtClean="0">
                            <a:latin typeface="Cambria Math" panose="02040503050406030204" pitchFamily="18" charset="0"/>
                          </a:rPr>
                          <m:t>𝑣</m:t>
                        </m:r>
                      </m:e>
                      <m:sub>
                        <m:r>
                          <a:rPr lang="de-DE" b="0" i="1" smtClean="0">
                            <a:latin typeface="Cambria Math" panose="02040503050406030204" pitchFamily="18" charset="0"/>
                          </a:rPr>
                          <m:t>𝑖</m:t>
                        </m:r>
                      </m:sub>
                      <m:sup>
                        <m:r>
                          <a:rPr lang="de-DE" b="0" i="1" smtClean="0">
                            <a:latin typeface="Cambria Math" panose="02040503050406030204" pitchFamily="18" charset="0"/>
                          </a:rPr>
                          <m:t>𝑠</m:t>
                        </m:r>
                      </m:sup>
                    </m:sSubSup>
                    <m:r>
                      <a:rPr lang="de-DE" b="0" i="1" smtClean="0">
                        <a:latin typeface="Cambria Math" panose="02040503050406030204" pitchFamily="18" charset="0"/>
                      </a:rPr>
                      <m:t>, </m:t>
                    </m:r>
                    <m:sSubSup>
                      <m:sSubSupPr>
                        <m:ctrlPr>
                          <a:rPr lang="de-DE" b="0" i="1" smtClean="0">
                            <a:latin typeface="Cambria Math" panose="02040503050406030204" pitchFamily="18" charset="0"/>
                          </a:rPr>
                        </m:ctrlPr>
                      </m:sSubSupPr>
                      <m:e>
                        <m:r>
                          <a:rPr lang="de-DE" b="0" i="1" smtClean="0">
                            <a:latin typeface="Cambria Math" panose="02040503050406030204" pitchFamily="18" charset="0"/>
                          </a:rPr>
                          <m:t>𝑣</m:t>
                        </m:r>
                      </m:e>
                      <m:sub>
                        <m:r>
                          <a:rPr lang="de-DE" b="0" i="1" smtClean="0">
                            <a:latin typeface="Cambria Math" panose="02040503050406030204" pitchFamily="18" charset="0"/>
                          </a:rPr>
                          <m:t>𝑖</m:t>
                        </m:r>
                      </m:sub>
                      <m:sup>
                        <m:r>
                          <a:rPr lang="de-DE" b="0" i="1" smtClean="0">
                            <a:latin typeface="Cambria Math" panose="02040503050406030204" pitchFamily="18" charset="0"/>
                          </a:rPr>
                          <m:t>𝑟</m:t>
                        </m:r>
                      </m:sup>
                    </m:sSubSup>
                    <m:r>
                      <a:rPr lang="de-DE" b="0" i="1" smtClean="0">
                        <a:latin typeface="Cambria Math" panose="02040503050406030204" pitchFamily="18" charset="0"/>
                      </a:rPr>
                      <m:t>, </m:t>
                    </m:r>
                    <m:r>
                      <a:rPr lang="de-DE" b="0" i="1" smtClean="0">
                        <a:latin typeface="Cambria Math" panose="02040503050406030204" pitchFamily="18" charset="0"/>
                      </a:rPr>
                      <m:t>𝑢</m:t>
                    </m:r>
                    <m:r>
                      <a:rPr lang="de-DE" b="0" i="1" smtClean="0">
                        <a:latin typeface="Cambria Math" panose="02040503050406030204" pitchFamily="18" charset="0"/>
                      </a:rPr>
                      <m:t>)</m:t>
                    </m:r>
                  </m:oMath>
                </a14:m>
                <a:endParaRPr lang="en-US" dirty="0"/>
              </a:p>
              <a:p>
                <a:pPr marL="285750" indent="-285750">
                  <a:buFont typeface="Arial" panose="020B0604020202020204" pitchFamily="34" charset="0"/>
                  <a:buChar char="•"/>
                </a:pPr>
                <a:r>
                  <a:rPr lang="en-US" dirty="0">
                    <a:solidFill>
                      <a:schemeClr val="bg2"/>
                    </a:solidFill>
                  </a:rPr>
                  <a:t>aggregating</a:t>
                </a:r>
                <a:r>
                  <a:rPr lang="en-US" dirty="0"/>
                  <a:t> connecting edges </a:t>
                </a:r>
                <a14:m>
                  <m:oMath xmlns:m="http://schemas.openxmlformats.org/officeDocument/2006/math">
                    <m:sSub>
                      <m:sSubPr>
                        <m:ctrlPr>
                          <a:rPr lang="de-DE" b="0" i="1" dirty="0" smtClean="0">
                            <a:latin typeface="Cambria Math" panose="02040503050406030204" pitchFamily="18" charset="0"/>
                          </a:rPr>
                        </m:ctrlPr>
                      </m:sSubPr>
                      <m:e>
                        <m:acc>
                          <m:accPr>
                            <m:chr m:val="̅"/>
                            <m:ctrlPr>
                              <a:rPr lang="de-DE" b="0" i="1" smtClean="0">
                                <a:latin typeface="Cambria Math" panose="02040503050406030204" pitchFamily="18" charset="0"/>
                              </a:rPr>
                            </m:ctrlPr>
                          </m:accPr>
                          <m:e>
                            <m:r>
                              <a:rPr lang="de-DE" b="0" i="1" smtClean="0">
                                <a:latin typeface="Cambria Math" panose="02040503050406030204" pitchFamily="18" charset="0"/>
                              </a:rPr>
                              <m:t>𝑒</m:t>
                            </m:r>
                          </m:e>
                        </m:acc>
                      </m:e>
                      <m:sub>
                        <m:r>
                          <a:rPr lang="de-DE" b="0" i="1" dirty="0" smtClean="0">
                            <a:latin typeface="Cambria Math" panose="02040503050406030204" pitchFamily="18" charset="0"/>
                          </a:rPr>
                          <m:t>𝑖</m:t>
                        </m:r>
                      </m:sub>
                    </m:sSub>
                  </m:oMath>
                </a14:m>
                <a:r>
                  <a:rPr lang="en-US" dirty="0"/>
                  <a:t> (e.g., max or sum) as </a:t>
                </a:r>
                <a14:m>
                  <m:oMath xmlns:m="http://schemas.openxmlformats.org/officeDocument/2006/math">
                    <m:sSup>
                      <m:sSupPr>
                        <m:ctrlPr>
                          <a:rPr lang="de-DE" i="1">
                            <a:latin typeface="Cambria Math" panose="02040503050406030204" pitchFamily="18" charset="0"/>
                          </a:rPr>
                        </m:ctrlPr>
                      </m:sSupPr>
                      <m:e>
                        <m:sSub>
                          <m:sSubPr>
                            <m:ctrlPr>
                              <a:rPr lang="de-DE" b="0" i="1" smtClean="0">
                                <a:latin typeface="Cambria Math" panose="02040503050406030204" pitchFamily="18" charset="0"/>
                              </a:rPr>
                            </m:ctrlPr>
                          </m:sSubPr>
                          <m:e>
                            <m:acc>
                              <m:accPr>
                                <m:chr m:val="̅"/>
                                <m:ctrlPr>
                                  <a:rPr lang="de-DE" i="1">
                                    <a:latin typeface="Cambria Math" panose="02040503050406030204" pitchFamily="18" charset="0"/>
                                  </a:rPr>
                                </m:ctrlPr>
                              </m:accPr>
                              <m:e>
                                <m:r>
                                  <a:rPr lang="de-DE" i="1">
                                    <a:latin typeface="Cambria Math" panose="02040503050406030204" pitchFamily="18" charset="0"/>
                                  </a:rPr>
                                  <m:t>𝑒</m:t>
                                </m:r>
                              </m:e>
                            </m:acc>
                          </m:e>
                          <m:sub>
                            <m:r>
                              <a:rPr lang="de-DE" b="0" i="1" smtClean="0">
                                <a:latin typeface="Cambria Math" panose="02040503050406030204" pitchFamily="18" charset="0"/>
                              </a:rPr>
                              <m:t>𝑖</m:t>
                            </m:r>
                          </m:sub>
                        </m:sSub>
                      </m:e>
                      <m:sup>
                        <m:r>
                          <a:rPr lang="de-DE" i="1">
                            <a:latin typeface="Cambria Math" panose="02040503050406030204" pitchFamily="18" charset="0"/>
                          </a:rPr>
                          <m:t>′</m:t>
                        </m:r>
                      </m:sup>
                    </m:sSup>
                    <m:r>
                      <a:rPr lang="de-DE" b="0" i="1" smtClean="0">
                        <a:latin typeface="Cambria Math" panose="02040503050406030204" pitchFamily="18" charset="0"/>
                      </a:rPr>
                      <m:t>=</m:t>
                    </m:r>
                    <m:sSup>
                      <m:sSupPr>
                        <m:ctrlPr>
                          <a:rPr lang="de-DE" b="0" i="1" smtClean="0">
                            <a:latin typeface="Cambria Math" panose="02040503050406030204" pitchFamily="18" charset="0"/>
                          </a:rPr>
                        </m:ctrlPr>
                      </m:sSupPr>
                      <m:e>
                        <m:r>
                          <a:rPr lang="de-DE" b="0" i="1" smtClean="0">
                            <a:latin typeface="Cambria Math" panose="02040503050406030204" pitchFamily="18" charset="0"/>
                          </a:rPr>
                          <m:t>𝜌</m:t>
                        </m:r>
                      </m:e>
                      <m:sup>
                        <m:r>
                          <a:rPr lang="de-DE" b="0" i="1" smtClean="0">
                            <a:latin typeface="Cambria Math" panose="02040503050406030204" pitchFamily="18" charset="0"/>
                          </a:rPr>
                          <m:t>𝑒</m:t>
                        </m:r>
                        <m:r>
                          <a:rPr lang="de-DE" b="0" i="1" smtClean="0">
                            <a:latin typeface="Cambria Math" panose="02040503050406030204" pitchFamily="18" charset="0"/>
                          </a:rPr>
                          <m:t>→</m:t>
                        </m:r>
                        <m:r>
                          <a:rPr lang="de-DE" b="0" i="1" smtClean="0">
                            <a:latin typeface="Cambria Math" panose="02040503050406030204" pitchFamily="18" charset="0"/>
                          </a:rPr>
                          <m:t>𝑣</m:t>
                        </m:r>
                      </m:sup>
                    </m:sSup>
                    <m:d>
                      <m:dPr>
                        <m:ctrlPr>
                          <a:rPr lang="de-DE" b="0" i="1" smtClean="0">
                            <a:latin typeface="Cambria Math" panose="02040503050406030204" pitchFamily="18" charset="0"/>
                          </a:rPr>
                        </m:ctrlPr>
                      </m:dPr>
                      <m:e>
                        <m:sSubSup>
                          <m:sSubSupPr>
                            <m:ctrlPr>
                              <a:rPr lang="de-DE" b="0" i="1" smtClean="0">
                                <a:latin typeface="Cambria Math" panose="02040503050406030204" pitchFamily="18" charset="0"/>
                              </a:rPr>
                            </m:ctrlPr>
                          </m:sSubSupPr>
                          <m:e>
                            <m:r>
                              <a:rPr lang="de-DE" b="1" i="1" smtClean="0">
                                <a:latin typeface="Cambria Math" panose="02040503050406030204" pitchFamily="18" charset="0"/>
                              </a:rPr>
                              <m:t>𝒆</m:t>
                            </m:r>
                          </m:e>
                          <m:sub>
                            <m:r>
                              <a:rPr lang="de-DE" b="0" i="1" smtClean="0">
                                <a:latin typeface="Cambria Math" panose="02040503050406030204" pitchFamily="18" charset="0"/>
                              </a:rPr>
                              <m:t>𝑖</m:t>
                            </m:r>
                          </m:sub>
                          <m:sup>
                            <m:r>
                              <a:rPr lang="de-DE" b="0" i="1" smtClean="0">
                                <a:latin typeface="Cambria Math" panose="02040503050406030204" pitchFamily="18" charset="0"/>
                              </a:rPr>
                              <m:t>′</m:t>
                            </m:r>
                          </m:sup>
                        </m:sSubSup>
                      </m:e>
                    </m:d>
                  </m:oMath>
                </a14:m>
                <a:endParaRPr lang="en-US" dirty="0"/>
              </a:p>
              <a:p>
                <a:pPr marL="285750" indent="-285750">
                  <a:buFont typeface="Arial" panose="020B0604020202020204" pitchFamily="34" charset="0"/>
                  <a:buChar char="•"/>
                </a:pPr>
                <a:r>
                  <a:rPr lang="en-US" dirty="0"/>
                  <a:t>Nodes are updated by </a:t>
                </a:r>
                <a:r>
                  <a:rPr lang="en-US" b="1" dirty="0"/>
                  <a:t>second</a:t>
                </a:r>
                <a:r>
                  <a:rPr lang="en-US" dirty="0"/>
                  <a:t> fully connected neural network </a:t>
                </a:r>
                <a14:m>
                  <m:oMath xmlns:m="http://schemas.openxmlformats.org/officeDocument/2006/math">
                    <m:sSup>
                      <m:sSupPr>
                        <m:ctrlPr>
                          <a:rPr lang="de-DE" b="0" i="1" smtClean="0">
                            <a:latin typeface="Cambria Math" panose="02040503050406030204" pitchFamily="18" charset="0"/>
                          </a:rPr>
                        </m:ctrlPr>
                      </m:sSupPr>
                      <m:e>
                        <m:sSubSup>
                          <m:sSubSupPr>
                            <m:ctrlPr>
                              <a:rPr lang="de-DE" b="0" i="1" smtClean="0">
                                <a:latin typeface="Cambria Math" panose="02040503050406030204" pitchFamily="18" charset="0"/>
                              </a:rPr>
                            </m:ctrlPr>
                          </m:sSubSupPr>
                          <m:e>
                            <m:r>
                              <a:rPr lang="de-DE" b="0" i="1" smtClean="0">
                                <a:latin typeface="Cambria Math" panose="02040503050406030204" pitchFamily="18" charset="0"/>
                              </a:rPr>
                              <m:t>𝑣</m:t>
                            </m:r>
                          </m:e>
                          <m:sub>
                            <m:r>
                              <a:rPr lang="de-DE" b="0" i="1" smtClean="0">
                                <a:latin typeface="Cambria Math" panose="02040503050406030204" pitchFamily="18" charset="0"/>
                              </a:rPr>
                              <m:t>𝑖</m:t>
                            </m:r>
                          </m:sub>
                          <m:sup>
                            <m:r>
                              <a:rPr lang="de-DE" b="0" i="1" smtClean="0">
                                <a:latin typeface="Cambria Math" panose="02040503050406030204" pitchFamily="18" charset="0"/>
                              </a:rPr>
                              <m:t>′</m:t>
                            </m:r>
                          </m:sup>
                        </m:sSubSup>
                        <m:r>
                          <a:rPr lang="de-DE" b="0" i="1" smtClean="0">
                            <a:latin typeface="Cambria Math" panose="02040503050406030204" pitchFamily="18" charset="0"/>
                          </a:rPr>
                          <m:t>=</m:t>
                        </m:r>
                        <m:r>
                          <a:rPr lang="de-DE" b="0" i="1" smtClean="0">
                            <a:latin typeface="Cambria Math" panose="02040503050406030204" pitchFamily="18" charset="0"/>
                          </a:rPr>
                          <m:t>𝑓</m:t>
                        </m:r>
                      </m:e>
                      <m:sup>
                        <m:r>
                          <a:rPr lang="de-DE" b="0" i="1" smtClean="0">
                            <a:latin typeface="Cambria Math" panose="02040503050406030204" pitchFamily="18" charset="0"/>
                          </a:rPr>
                          <m:t>𝑣</m:t>
                        </m:r>
                      </m:sup>
                    </m:sSup>
                    <m:r>
                      <a:rPr lang="de-DE" b="0" i="1" smtClean="0">
                        <a:latin typeface="Cambria Math" panose="02040503050406030204" pitchFamily="18" charset="0"/>
                      </a:rPr>
                      <m:t>(</m:t>
                    </m:r>
                    <m:sSup>
                      <m:sSupPr>
                        <m:ctrlPr>
                          <a:rPr lang="de-DE" b="0" i="1" smtClean="0">
                            <a:latin typeface="Cambria Math" panose="02040503050406030204" pitchFamily="18" charset="0"/>
                          </a:rPr>
                        </m:ctrlPr>
                      </m:sSupPr>
                      <m:e>
                        <m:sSub>
                          <m:sSubPr>
                            <m:ctrlPr>
                              <a:rPr lang="de-DE" b="0" i="1" smtClean="0">
                                <a:latin typeface="Cambria Math" panose="02040503050406030204" pitchFamily="18" charset="0"/>
                              </a:rPr>
                            </m:ctrlPr>
                          </m:sSubPr>
                          <m:e>
                            <m:acc>
                              <m:accPr>
                                <m:chr m:val="̅"/>
                                <m:ctrlPr>
                                  <a:rPr lang="de-DE" b="0" i="1" smtClean="0">
                                    <a:latin typeface="Cambria Math" panose="02040503050406030204" pitchFamily="18" charset="0"/>
                                  </a:rPr>
                                </m:ctrlPr>
                              </m:accPr>
                              <m:e>
                                <m:r>
                                  <a:rPr lang="de-DE" b="0" i="1" smtClean="0">
                                    <a:latin typeface="Cambria Math" panose="02040503050406030204" pitchFamily="18" charset="0"/>
                                  </a:rPr>
                                  <m:t>𝑒</m:t>
                                </m:r>
                              </m:e>
                            </m:acc>
                          </m:e>
                          <m:sub>
                            <m:r>
                              <a:rPr lang="de-DE" b="0" i="1" smtClean="0">
                                <a:latin typeface="Cambria Math" panose="02040503050406030204" pitchFamily="18" charset="0"/>
                              </a:rPr>
                              <m:t>𝑖</m:t>
                            </m:r>
                          </m:sub>
                        </m:sSub>
                      </m:e>
                      <m:sup>
                        <m:r>
                          <a:rPr lang="de-DE" b="0" i="1" smtClean="0">
                            <a:latin typeface="Cambria Math" panose="02040503050406030204" pitchFamily="18" charset="0"/>
                          </a:rPr>
                          <m:t>′</m:t>
                        </m:r>
                      </m:sup>
                    </m:sSup>
                    <m:r>
                      <a:rPr lang="de-DE" b="0" i="1" smtClean="0">
                        <a:latin typeface="Cambria Math" panose="02040503050406030204" pitchFamily="18" charset="0"/>
                      </a:rPr>
                      <m:t>, </m:t>
                    </m:r>
                    <m:sSub>
                      <m:sSubPr>
                        <m:ctrlPr>
                          <a:rPr lang="de-DE" b="0" i="1" smtClean="0">
                            <a:latin typeface="Cambria Math" panose="02040503050406030204" pitchFamily="18" charset="0"/>
                          </a:rPr>
                        </m:ctrlPr>
                      </m:sSubPr>
                      <m:e>
                        <m:r>
                          <a:rPr lang="de-DE" b="0" i="1" smtClean="0">
                            <a:latin typeface="Cambria Math" panose="02040503050406030204" pitchFamily="18" charset="0"/>
                          </a:rPr>
                          <m:t>𝑣</m:t>
                        </m:r>
                      </m:e>
                      <m:sub>
                        <m:r>
                          <a:rPr lang="de-DE" b="0" i="1" smtClean="0">
                            <a:latin typeface="Cambria Math" panose="02040503050406030204" pitchFamily="18" charset="0"/>
                          </a:rPr>
                          <m:t>𝑖</m:t>
                        </m:r>
                      </m:sub>
                    </m:sSub>
                    <m:r>
                      <a:rPr lang="de-DE" b="0" i="1" smtClean="0">
                        <a:latin typeface="Cambria Math" panose="02040503050406030204" pitchFamily="18" charset="0"/>
                      </a:rPr>
                      <m:t>, </m:t>
                    </m:r>
                    <m:r>
                      <a:rPr lang="de-DE" b="0" i="1" smtClean="0">
                        <a:latin typeface="Cambria Math" panose="02040503050406030204" pitchFamily="18" charset="0"/>
                      </a:rPr>
                      <m:t>𝑢</m:t>
                    </m:r>
                    <m:r>
                      <a:rPr lang="de-DE" b="0" i="1" smtClean="0">
                        <a:latin typeface="Cambria Math" panose="02040503050406030204" pitchFamily="18" charset="0"/>
                      </a:rPr>
                      <m:t>)</m:t>
                    </m:r>
                  </m:oMath>
                </a14:m>
                <a:endParaRPr lang="en-US" dirty="0"/>
              </a:p>
              <a:p>
                <a:pPr marL="285750" indent="-285750">
                  <a:buFont typeface="Arial" panose="020B0604020202020204" pitchFamily="34" charset="0"/>
                  <a:buChar char="•"/>
                </a:pPr>
                <a:r>
                  <a:rPr lang="en-US" dirty="0"/>
                  <a:t>The global attribute is updated by </a:t>
                </a:r>
                <a:r>
                  <a:rPr lang="en-US" dirty="0">
                    <a:solidFill>
                      <a:schemeClr val="bg2"/>
                    </a:solidFill>
                  </a:rPr>
                  <a:t>aggregating</a:t>
                </a:r>
                <a:r>
                  <a:rPr lang="en-US" dirty="0"/>
                  <a:t> all edges and nodes: </a:t>
                </a:r>
                <a:r>
                  <a:rPr lang="en-US" b="1" dirty="0"/>
                  <a:t>third</a:t>
                </a:r>
                <a:r>
                  <a:rPr lang="en-US" dirty="0"/>
                  <a:t> fully connected neural network </a:t>
                </a:r>
                <a14:m>
                  <m:oMath xmlns:m="http://schemas.openxmlformats.org/officeDocument/2006/math">
                    <m:sSup>
                      <m:sSupPr>
                        <m:ctrlPr>
                          <a:rPr lang="de-DE" b="0" i="1" smtClean="0">
                            <a:latin typeface="Cambria Math" panose="02040503050406030204" pitchFamily="18" charset="0"/>
                          </a:rPr>
                        </m:ctrlPr>
                      </m:sSupPr>
                      <m:e>
                        <m:sSup>
                          <m:sSupPr>
                            <m:ctrlPr>
                              <a:rPr lang="de-DE" b="0" i="1" smtClean="0">
                                <a:latin typeface="Cambria Math" panose="02040503050406030204" pitchFamily="18" charset="0"/>
                              </a:rPr>
                            </m:ctrlPr>
                          </m:sSupPr>
                          <m:e>
                            <m:r>
                              <a:rPr lang="de-DE" b="0" i="1" smtClean="0">
                                <a:latin typeface="Cambria Math" panose="02040503050406030204" pitchFamily="18" charset="0"/>
                              </a:rPr>
                              <m:t>𝑢</m:t>
                            </m:r>
                          </m:e>
                          <m:sup>
                            <m:r>
                              <a:rPr lang="de-DE" b="0" i="1" smtClean="0">
                                <a:latin typeface="Cambria Math" panose="02040503050406030204" pitchFamily="18" charset="0"/>
                              </a:rPr>
                              <m:t>′</m:t>
                            </m:r>
                          </m:sup>
                        </m:sSup>
                        <m:r>
                          <a:rPr lang="de-DE" b="0" i="1" smtClean="0">
                            <a:latin typeface="Cambria Math" panose="02040503050406030204" pitchFamily="18" charset="0"/>
                          </a:rPr>
                          <m:t>=</m:t>
                        </m:r>
                        <m:r>
                          <a:rPr lang="de-DE" b="0" i="1" smtClean="0">
                            <a:latin typeface="Cambria Math" panose="02040503050406030204" pitchFamily="18" charset="0"/>
                          </a:rPr>
                          <m:t>𝑓</m:t>
                        </m:r>
                      </m:e>
                      <m:sup>
                        <m:r>
                          <a:rPr lang="de-DE" b="0" i="1" smtClean="0">
                            <a:latin typeface="Cambria Math" panose="02040503050406030204" pitchFamily="18" charset="0"/>
                          </a:rPr>
                          <m:t>𝑢</m:t>
                        </m:r>
                      </m:sup>
                    </m:sSup>
                    <m:r>
                      <a:rPr lang="de-DE" b="0" i="1" smtClean="0">
                        <a:latin typeface="Cambria Math" panose="02040503050406030204" pitchFamily="18" charset="0"/>
                      </a:rPr>
                      <m:t>(</m:t>
                    </m:r>
                    <m:sSup>
                      <m:sSupPr>
                        <m:ctrlPr>
                          <a:rPr lang="de-DE" b="0" i="1" smtClean="0">
                            <a:latin typeface="Cambria Math" panose="02040503050406030204" pitchFamily="18" charset="0"/>
                          </a:rPr>
                        </m:ctrlPr>
                      </m:sSupPr>
                      <m:e>
                        <m:acc>
                          <m:accPr>
                            <m:chr m:val="̅"/>
                            <m:ctrlPr>
                              <a:rPr lang="de-DE" b="0" i="1" smtClean="0">
                                <a:latin typeface="Cambria Math" panose="02040503050406030204" pitchFamily="18" charset="0"/>
                              </a:rPr>
                            </m:ctrlPr>
                          </m:accPr>
                          <m:e>
                            <m:r>
                              <a:rPr lang="de-DE" b="0" i="1" smtClean="0">
                                <a:latin typeface="Cambria Math" panose="02040503050406030204" pitchFamily="18" charset="0"/>
                              </a:rPr>
                              <m:t>𝑒</m:t>
                            </m:r>
                          </m:e>
                        </m:acc>
                      </m:e>
                      <m:sup>
                        <m:r>
                          <a:rPr lang="de-DE" b="0" i="1" smtClean="0">
                            <a:latin typeface="Cambria Math" panose="02040503050406030204" pitchFamily="18" charset="0"/>
                          </a:rPr>
                          <m:t>′</m:t>
                        </m:r>
                      </m:sup>
                    </m:sSup>
                    <m:r>
                      <a:rPr lang="de-DE" b="0" i="1" smtClean="0">
                        <a:latin typeface="Cambria Math" panose="02040503050406030204" pitchFamily="18" charset="0"/>
                      </a:rPr>
                      <m:t>,</m:t>
                    </m:r>
                    <m:sSup>
                      <m:sSupPr>
                        <m:ctrlPr>
                          <a:rPr lang="de-DE" b="0" i="1" smtClean="0">
                            <a:latin typeface="Cambria Math" panose="02040503050406030204" pitchFamily="18" charset="0"/>
                          </a:rPr>
                        </m:ctrlPr>
                      </m:sSupPr>
                      <m:e>
                        <m:acc>
                          <m:accPr>
                            <m:chr m:val="̅"/>
                            <m:ctrlPr>
                              <a:rPr lang="de-DE" b="0" i="1" smtClean="0">
                                <a:latin typeface="Cambria Math" panose="02040503050406030204" pitchFamily="18" charset="0"/>
                              </a:rPr>
                            </m:ctrlPr>
                          </m:accPr>
                          <m:e>
                            <m:r>
                              <a:rPr lang="de-DE" b="0" i="1" smtClean="0">
                                <a:latin typeface="Cambria Math" panose="02040503050406030204" pitchFamily="18" charset="0"/>
                              </a:rPr>
                              <m:t>𝑣</m:t>
                            </m:r>
                          </m:e>
                        </m:acc>
                      </m:e>
                      <m:sup>
                        <m:r>
                          <a:rPr lang="de-DE" b="0" i="1" smtClean="0">
                            <a:latin typeface="Cambria Math" panose="02040503050406030204" pitchFamily="18" charset="0"/>
                          </a:rPr>
                          <m:t>′</m:t>
                        </m:r>
                      </m:sup>
                    </m:sSup>
                    <m:r>
                      <a:rPr lang="de-DE" b="0" i="1" smtClean="0">
                        <a:latin typeface="Cambria Math" panose="02040503050406030204" pitchFamily="18" charset="0"/>
                      </a:rPr>
                      <m:t>,</m:t>
                    </m:r>
                    <m:r>
                      <a:rPr lang="de-DE" b="0" i="1" smtClean="0">
                        <a:latin typeface="Cambria Math" panose="02040503050406030204" pitchFamily="18" charset="0"/>
                      </a:rPr>
                      <m:t>𝑢</m:t>
                    </m:r>
                    <m:r>
                      <a:rPr lang="de-DE" b="0" i="1" smtClean="0">
                        <a:latin typeface="Cambria Math" panose="02040503050406030204" pitchFamily="18" charset="0"/>
                      </a:rPr>
                      <m:t>)</m:t>
                    </m:r>
                  </m:oMath>
                </a14:m>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Application to mesh-</a:t>
                </a:r>
                <a:br>
                  <a:rPr lang="en-US" dirty="0"/>
                </a:br>
                <a:r>
                  <a:rPr lang="en-US" dirty="0"/>
                  <a:t>based simulation</a:t>
                </a:r>
              </a:p>
            </p:txBody>
          </p:sp>
        </mc:Choice>
        <mc:Fallback>
          <p:sp>
            <p:nvSpPr>
              <p:cNvPr id="2" name="Content Placeholder 1">
                <a:extLst>
                  <a:ext uri="{FF2B5EF4-FFF2-40B4-BE49-F238E27FC236}">
                    <a16:creationId xmlns:a16="http://schemas.microsoft.com/office/drawing/2014/main" id="{4381A406-60A8-9BC6-5D7E-FBD1384F9CED}"/>
                  </a:ext>
                </a:extLst>
              </p:cNvPr>
              <p:cNvSpPr>
                <a:spLocks noGrp="1" noRot="1" noChangeAspect="1" noMove="1" noResize="1" noEditPoints="1" noAdjustHandles="1" noChangeArrowheads="1" noChangeShapeType="1" noTextEdit="1"/>
              </p:cNvSpPr>
              <p:nvPr>
                <p:ph idx="1"/>
              </p:nvPr>
            </p:nvSpPr>
            <p:spPr>
              <a:blipFill>
                <a:blip r:embed="rId3"/>
                <a:stretch>
                  <a:fillRect l="-1146" t="-92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383F1F60-CD88-2BCC-F357-8BA87514E2EA}"/>
              </a:ext>
            </a:extLst>
          </p:cNvPr>
          <p:cNvSpPr>
            <a:spLocks noGrp="1"/>
          </p:cNvSpPr>
          <p:nvPr>
            <p:ph type="title"/>
          </p:nvPr>
        </p:nvSpPr>
        <p:spPr/>
        <p:txBody>
          <a:bodyPr/>
          <a:lstStyle/>
          <a:p>
            <a:r>
              <a:rPr lang="de-DE" dirty="0"/>
              <a:t>3.9.2 Graph </a:t>
            </a:r>
            <a:r>
              <a:rPr lang="de-DE" dirty="0" err="1"/>
              <a:t>Neural</a:t>
            </a:r>
            <a:r>
              <a:rPr lang="de-DE" dirty="0"/>
              <a:t> Networks</a:t>
            </a:r>
            <a:endParaRPr lang="en-US" dirty="0"/>
          </a:p>
        </p:txBody>
      </p:sp>
      <p:sp>
        <p:nvSpPr>
          <p:cNvPr id="4" name="Slide Number Placeholder 3">
            <a:extLst>
              <a:ext uri="{FF2B5EF4-FFF2-40B4-BE49-F238E27FC236}">
                <a16:creationId xmlns:a16="http://schemas.microsoft.com/office/drawing/2014/main" id="{3391DE33-0A45-89D8-101E-05D953C3BFCF}"/>
              </a:ext>
            </a:extLst>
          </p:cNvPr>
          <p:cNvSpPr>
            <a:spLocks noGrp="1"/>
          </p:cNvSpPr>
          <p:nvPr>
            <p:ph type="sldNum" sz="quarter" idx="11"/>
          </p:nvPr>
        </p:nvSpPr>
        <p:spPr/>
        <p:txBody>
          <a:bodyPr/>
          <a:lstStyle/>
          <a:p>
            <a:fld id="{CE58CB1E-F828-4F11-99E0-327109AF9DA4}" type="slidenum">
              <a:rPr lang="de-DE" smtClean="0"/>
              <a:pPr/>
              <a:t>34</a:t>
            </a:fld>
            <a:endParaRPr lang="de-DE"/>
          </a:p>
        </p:txBody>
      </p:sp>
      <p:sp>
        <p:nvSpPr>
          <p:cNvPr id="5" name="Footer Placeholder 4">
            <a:extLst>
              <a:ext uri="{FF2B5EF4-FFF2-40B4-BE49-F238E27FC236}">
                <a16:creationId xmlns:a16="http://schemas.microsoft.com/office/drawing/2014/main" id="{8E56F20C-EAD4-4275-7831-03A1189BFAE8}"/>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pic>
        <p:nvPicPr>
          <p:cNvPr id="7" name="Picture 6">
            <a:extLst>
              <a:ext uri="{FF2B5EF4-FFF2-40B4-BE49-F238E27FC236}">
                <a16:creationId xmlns:a16="http://schemas.microsoft.com/office/drawing/2014/main" id="{A71D5335-1A90-3A4C-CC88-93521A868B0C}"/>
              </a:ext>
            </a:extLst>
          </p:cNvPr>
          <p:cNvPicPr>
            <a:picLocks noChangeAspect="1"/>
          </p:cNvPicPr>
          <p:nvPr/>
        </p:nvPicPr>
        <p:blipFill>
          <a:blip r:embed="rId4"/>
          <a:stretch>
            <a:fillRect/>
          </a:stretch>
        </p:blipFill>
        <p:spPr>
          <a:xfrm>
            <a:off x="2256101" y="1839926"/>
            <a:ext cx="6774934" cy="3055363"/>
          </a:xfrm>
          <a:prstGeom prst="rect">
            <a:avLst/>
          </a:prstGeom>
        </p:spPr>
      </p:pic>
      <p:sp>
        <p:nvSpPr>
          <p:cNvPr id="8" name="TextBox 7">
            <a:extLst>
              <a:ext uri="{FF2B5EF4-FFF2-40B4-BE49-F238E27FC236}">
                <a16:creationId xmlns:a16="http://schemas.microsoft.com/office/drawing/2014/main" id="{D906785E-D1C4-F1E9-E086-625C80582AD7}"/>
              </a:ext>
            </a:extLst>
          </p:cNvPr>
          <p:cNvSpPr txBox="1"/>
          <p:nvPr/>
        </p:nvSpPr>
        <p:spPr>
          <a:xfrm>
            <a:off x="228369" y="3453418"/>
            <a:ext cx="2386244" cy="409086"/>
          </a:xfrm>
          <a:prstGeom prst="rect">
            <a:avLst/>
          </a:prstGeom>
          <a:noFill/>
        </p:spPr>
        <p:txBody>
          <a:bodyPr wrap="square" lIns="0" tIns="0" rIns="0" bIns="0" rtlCol="0">
            <a:spAutoFit/>
          </a:bodyPr>
          <a:lstStyle/>
          <a:p>
            <a:pPr>
              <a:lnSpc>
                <a:spcPct val="114000"/>
              </a:lnSpc>
            </a:pPr>
            <a:r>
              <a:rPr lang="da-DK" sz="1200" i="1" dirty="0">
                <a:solidFill>
                  <a:schemeClr val="accent2"/>
                </a:solidFill>
                <a:latin typeface="+mn-lt"/>
              </a:rPr>
              <a:t>Learning </a:t>
            </a:r>
            <a:r>
              <a:rPr lang="da-DK" sz="1200" i="1" dirty="0" err="1">
                <a:solidFill>
                  <a:schemeClr val="accent2"/>
                </a:solidFill>
                <a:latin typeface="+mn-lt"/>
              </a:rPr>
              <a:t>Mesh-Based</a:t>
            </a:r>
            <a:r>
              <a:rPr lang="da-DK" sz="1200" i="1" dirty="0">
                <a:solidFill>
                  <a:schemeClr val="accent2"/>
                </a:solidFill>
                <a:latin typeface="+mn-lt"/>
              </a:rPr>
              <a:t> Simulation with Graph Networks, Pfaff et al. 2020</a:t>
            </a:r>
            <a:endParaRPr lang="en-DE" sz="1200" i="1" dirty="0">
              <a:solidFill>
                <a:schemeClr val="accent2"/>
              </a:solidFill>
              <a:latin typeface="+mn-lt"/>
            </a:endParaRPr>
          </a:p>
        </p:txBody>
      </p:sp>
    </p:spTree>
    <p:extLst>
      <p:ext uri="{BB962C8B-B14F-4D97-AF65-F5344CB8AC3E}">
        <p14:creationId xmlns:p14="http://schemas.microsoft.com/office/powerpoint/2010/main" val="2662988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C4DC7AE3-CE3A-4B72-2C55-BF74EE59E9C7}"/>
                  </a:ext>
                </a:extLst>
              </p:cNvPr>
              <p:cNvSpPr>
                <a:spLocks noGrp="1"/>
              </p:cNvSpPr>
              <p:nvPr>
                <p:ph idx="1"/>
              </p:nvPr>
            </p:nvSpPr>
            <p:spPr>
              <a:xfrm>
                <a:off x="319090" y="825690"/>
                <a:ext cx="8646316" cy="3967027"/>
              </a:xfrm>
            </p:spPr>
            <p:txBody>
              <a:bodyPr/>
              <a:lstStyle/>
              <a:p>
                <a:r>
                  <a:rPr lang="en-US" b="1" dirty="0"/>
                  <a:t>Recurrent Neural Networks </a:t>
                </a:r>
                <a:r>
                  <a:rPr lang="en-US" dirty="0"/>
                  <a:t>reuse information from previous states by</a:t>
                </a:r>
              </a:p>
              <a:p>
                <a:pPr marL="285750" indent="-285750">
                  <a:buFont typeface="Arial" panose="020B0604020202020204" pitchFamily="34" charset="0"/>
                  <a:buChar char="•"/>
                </a:pPr>
                <a:r>
                  <a:rPr lang="en-US" dirty="0"/>
                  <a:t>looping over itself to generate sequences.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a:p>
                <a:pPr marL="285750" indent="-285750">
                  <a:buFont typeface="Arial" panose="020B0604020202020204" pitchFamily="34" charset="0"/>
                  <a:buChar char="•"/>
                </a:pPr>
                <a:r>
                  <a:rPr lang="en-US" dirty="0"/>
                  <a:t>Equivalent to using multiple copies of the same network with a </a:t>
                </a:r>
                <a:r>
                  <a:rPr lang="en-US" dirty="0">
                    <a:solidFill>
                      <a:schemeClr val="bg2"/>
                    </a:solidFill>
                  </a:rPr>
                  <a:t>hidden state </a:t>
                </a:r>
                <a14:m>
                  <m:oMath xmlns:m="http://schemas.openxmlformats.org/officeDocument/2006/math">
                    <m:sSub>
                      <m:sSubPr>
                        <m:ctrlPr>
                          <a:rPr lang="de-DE" b="0" i="1" smtClean="0">
                            <a:latin typeface="Cambria Math" panose="02040503050406030204" pitchFamily="18" charset="0"/>
                          </a:rPr>
                        </m:ctrlPr>
                      </m:sSubPr>
                      <m:e>
                        <m:r>
                          <a:rPr lang="de-DE" b="0" i="1" smtClean="0">
                            <a:latin typeface="Cambria Math" panose="02040503050406030204" pitchFamily="18" charset="0"/>
                          </a:rPr>
                          <m:t>h</m:t>
                        </m:r>
                      </m:e>
                      <m:sub>
                        <m:r>
                          <a:rPr lang="de-DE" b="0" i="1" smtClean="0">
                            <a:latin typeface="Cambria Math" panose="02040503050406030204" pitchFamily="18" charset="0"/>
                          </a:rPr>
                          <m:t>𝑡</m:t>
                        </m:r>
                      </m:sub>
                    </m:sSub>
                  </m:oMath>
                </a14:m>
                <a:r>
                  <a:rPr lang="en-US" dirty="0"/>
                  <a:t> (unrolled recurrent neural network)</a:t>
                </a:r>
              </a:p>
              <a:p>
                <a:pPr/>
                <a14:m>
                  <m:oMathPara xmlns:m="http://schemas.openxmlformats.org/officeDocument/2006/math">
                    <m:oMathParaPr>
                      <m:jc m:val="centerGroup"/>
                    </m:oMathParaPr>
                    <m:oMath xmlns:m="http://schemas.openxmlformats.org/officeDocument/2006/math">
                      <m:sSub>
                        <m:sSubPr>
                          <m:ctrlPr>
                            <a:rPr lang="de-DE" b="0" i="1" smtClean="0">
                              <a:latin typeface="Cambria Math" panose="02040503050406030204" pitchFamily="18" charset="0"/>
                            </a:rPr>
                          </m:ctrlPr>
                        </m:sSubPr>
                        <m:e>
                          <m:r>
                            <a:rPr lang="de-DE" b="0" i="1" smtClean="0">
                              <a:latin typeface="Cambria Math" panose="02040503050406030204" pitchFamily="18" charset="0"/>
                            </a:rPr>
                            <m:t>h</m:t>
                          </m:r>
                        </m:e>
                        <m:sub>
                          <m:r>
                            <a:rPr lang="de-DE" b="0" i="1" smtClean="0">
                              <a:latin typeface="Cambria Math" panose="02040503050406030204" pitchFamily="18" charset="0"/>
                            </a:rPr>
                            <m:t>𝑡</m:t>
                          </m:r>
                        </m:sub>
                      </m:sSub>
                      <m:r>
                        <a:rPr lang="de-DE" b="0" i="1" smtClean="0">
                          <a:latin typeface="Cambria Math" panose="02040503050406030204" pitchFamily="18" charset="0"/>
                        </a:rPr>
                        <m:t>=</m:t>
                      </m:r>
                      <m:r>
                        <a:rPr lang="de-DE" b="0" i="1" smtClean="0">
                          <a:latin typeface="Cambria Math" panose="02040503050406030204" pitchFamily="18" charset="0"/>
                        </a:rPr>
                        <m:t>𝜎</m:t>
                      </m:r>
                      <m:d>
                        <m:dPr>
                          <m:ctrlPr>
                            <a:rPr lang="de-DE" b="0" i="1" smtClean="0">
                              <a:latin typeface="Cambria Math" panose="02040503050406030204" pitchFamily="18" charset="0"/>
                            </a:rPr>
                          </m:ctrlPr>
                        </m:dPr>
                        <m:e>
                          <m:sSub>
                            <m:sSubPr>
                              <m:ctrlPr>
                                <a:rPr lang="de-DE" b="0" i="1" smtClean="0">
                                  <a:latin typeface="Cambria Math" panose="02040503050406030204" pitchFamily="18" charset="0"/>
                                </a:rPr>
                              </m:ctrlPr>
                            </m:sSubPr>
                            <m:e>
                              <m:r>
                                <a:rPr lang="de-DE" b="0" i="1" smtClean="0">
                                  <a:latin typeface="Cambria Math" panose="02040503050406030204" pitchFamily="18" charset="0"/>
                                </a:rPr>
                                <m:t>𝑊</m:t>
                              </m:r>
                            </m:e>
                            <m:sub>
                              <m:r>
                                <a:rPr lang="de-DE" b="0" i="1" smtClean="0">
                                  <a:latin typeface="Cambria Math" panose="02040503050406030204" pitchFamily="18" charset="0"/>
                                </a:rPr>
                                <m:t>𝑥</m:t>
                              </m:r>
                            </m:sub>
                          </m:sSub>
                          <m:sSub>
                            <m:sSubPr>
                              <m:ctrlPr>
                                <a:rPr lang="de-DE" b="0" i="1" smtClean="0">
                                  <a:latin typeface="Cambria Math" panose="02040503050406030204" pitchFamily="18" charset="0"/>
                                </a:rPr>
                              </m:ctrlPr>
                            </m:sSubPr>
                            <m:e>
                              <m:r>
                                <a:rPr lang="de-DE" b="0" i="1" smtClean="0">
                                  <a:latin typeface="Cambria Math" panose="02040503050406030204" pitchFamily="18" charset="0"/>
                                </a:rPr>
                                <m:t>𝑥</m:t>
                              </m:r>
                            </m:e>
                            <m:sub>
                              <m:r>
                                <a:rPr lang="de-DE" b="0" i="1" smtClean="0">
                                  <a:latin typeface="Cambria Math" panose="02040503050406030204" pitchFamily="18" charset="0"/>
                                </a:rPr>
                                <m:t>𝑡</m:t>
                              </m:r>
                            </m:sub>
                          </m:sSub>
                          <m:r>
                            <a:rPr lang="de-DE" b="0" i="1" smtClean="0">
                              <a:latin typeface="Cambria Math" panose="02040503050406030204" pitchFamily="18" charset="0"/>
                            </a:rPr>
                            <m:t>+</m:t>
                          </m:r>
                          <m:sSub>
                            <m:sSubPr>
                              <m:ctrlPr>
                                <a:rPr lang="de-DE" b="0" i="1" smtClean="0">
                                  <a:latin typeface="Cambria Math" panose="02040503050406030204" pitchFamily="18" charset="0"/>
                                </a:rPr>
                              </m:ctrlPr>
                            </m:sSubPr>
                            <m:e>
                              <m:r>
                                <a:rPr lang="de-DE" b="0" i="1" smtClean="0">
                                  <a:latin typeface="Cambria Math" panose="02040503050406030204" pitchFamily="18" charset="0"/>
                                </a:rPr>
                                <m:t>𝑏</m:t>
                              </m:r>
                            </m:e>
                            <m:sub>
                              <m:r>
                                <a:rPr lang="de-DE" b="0" i="1" smtClean="0">
                                  <a:latin typeface="Cambria Math" panose="02040503050406030204" pitchFamily="18" charset="0"/>
                                </a:rPr>
                                <m:t>𝑥</m:t>
                              </m:r>
                            </m:sub>
                          </m:sSub>
                          <m:r>
                            <a:rPr lang="de-DE" b="0" i="1" smtClean="0">
                              <a:latin typeface="Cambria Math" panose="02040503050406030204" pitchFamily="18" charset="0"/>
                            </a:rPr>
                            <m:t>+</m:t>
                          </m:r>
                          <m:sSub>
                            <m:sSubPr>
                              <m:ctrlPr>
                                <a:rPr lang="de-DE" b="0" i="1" smtClean="0">
                                  <a:latin typeface="Cambria Math" panose="02040503050406030204" pitchFamily="18" charset="0"/>
                                </a:rPr>
                              </m:ctrlPr>
                            </m:sSubPr>
                            <m:e>
                              <m:r>
                                <a:rPr lang="de-DE" b="0" i="1" smtClean="0">
                                  <a:latin typeface="Cambria Math" panose="02040503050406030204" pitchFamily="18" charset="0"/>
                                </a:rPr>
                                <m:t>𝑊</m:t>
                              </m:r>
                            </m:e>
                            <m:sub>
                              <m:r>
                                <a:rPr lang="de-DE" b="0" i="1" smtClean="0">
                                  <a:latin typeface="Cambria Math" panose="02040503050406030204" pitchFamily="18" charset="0"/>
                                </a:rPr>
                                <m:t>h</m:t>
                              </m:r>
                            </m:sub>
                          </m:sSub>
                          <m:sSub>
                            <m:sSubPr>
                              <m:ctrlPr>
                                <a:rPr lang="de-DE" b="0" i="1" smtClean="0">
                                  <a:latin typeface="Cambria Math" panose="02040503050406030204" pitchFamily="18" charset="0"/>
                                </a:rPr>
                              </m:ctrlPr>
                            </m:sSubPr>
                            <m:e>
                              <m:r>
                                <a:rPr lang="de-DE" b="0" i="1" smtClean="0">
                                  <a:latin typeface="Cambria Math" panose="02040503050406030204" pitchFamily="18" charset="0"/>
                                </a:rPr>
                                <m:t>h</m:t>
                              </m:r>
                            </m:e>
                            <m:sub>
                              <m:r>
                                <a:rPr lang="de-DE" b="0" i="1" smtClean="0">
                                  <a:latin typeface="Cambria Math" panose="02040503050406030204" pitchFamily="18" charset="0"/>
                                </a:rPr>
                                <m:t>𝑡</m:t>
                              </m:r>
                              <m:r>
                                <a:rPr lang="de-DE" b="0" i="1" smtClean="0">
                                  <a:latin typeface="Cambria Math" panose="02040503050406030204" pitchFamily="18" charset="0"/>
                                </a:rPr>
                                <m:t>−1</m:t>
                              </m:r>
                            </m:sub>
                          </m:sSub>
                          <m:r>
                            <a:rPr lang="de-DE" b="0" i="1" smtClean="0">
                              <a:latin typeface="Cambria Math" panose="02040503050406030204" pitchFamily="18" charset="0"/>
                            </a:rPr>
                            <m:t>+</m:t>
                          </m:r>
                          <m:sSub>
                            <m:sSubPr>
                              <m:ctrlPr>
                                <a:rPr lang="de-DE" b="0" i="1" smtClean="0">
                                  <a:latin typeface="Cambria Math" panose="02040503050406030204" pitchFamily="18" charset="0"/>
                                </a:rPr>
                              </m:ctrlPr>
                            </m:sSubPr>
                            <m:e>
                              <m:r>
                                <a:rPr lang="de-DE" b="0" i="1" smtClean="0">
                                  <a:latin typeface="Cambria Math" panose="02040503050406030204" pitchFamily="18" charset="0"/>
                                </a:rPr>
                                <m:t>𝑏</m:t>
                              </m:r>
                            </m:e>
                            <m:sub>
                              <m:r>
                                <a:rPr lang="de-DE" b="0" i="1" smtClean="0">
                                  <a:latin typeface="Cambria Math" panose="02040503050406030204" pitchFamily="18" charset="0"/>
                                </a:rPr>
                                <m:t>h</m:t>
                              </m:r>
                            </m:sub>
                          </m:sSub>
                        </m:e>
                      </m:d>
                    </m:oMath>
                  </m:oMathPara>
                </a14:m>
                <a:endParaRPr lang="de-DE" b="0" dirty="0"/>
              </a:p>
              <a:p>
                <a:pPr marL="285750" indent="-285750">
                  <a:buFont typeface="Arial" panose="020B0604020202020204" pitchFamily="34" charset="0"/>
                  <a:buChar char="•"/>
                </a:pPr>
                <a14:m>
                  <m:oMath xmlns:m="http://schemas.openxmlformats.org/officeDocument/2006/math">
                    <m:sSub>
                      <m:sSubPr>
                        <m:ctrlPr>
                          <a:rPr lang="de-DE" b="0" i="1" smtClean="0">
                            <a:latin typeface="Cambria Math" panose="02040503050406030204" pitchFamily="18" charset="0"/>
                          </a:rPr>
                        </m:ctrlPr>
                      </m:sSubPr>
                      <m:e>
                        <m:r>
                          <a:rPr lang="de-DE" b="0" i="1" smtClean="0">
                            <a:latin typeface="Cambria Math" panose="02040503050406030204" pitchFamily="18" charset="0"/>
                          </a:rPr>
                          <m:t>𝑊</m:t>
                        </m:r>
                      </m:e>
                      <m:sub>
                        <m:r>
                          <a:rPr lang="de-DE" b="0" i="1" smtClean="0">
                            <a:latin typeface="Cambria Math" panose="02040503050406030204" pitchFamily="18" charset="0"/>
                          </a:rPr>
                          <m:t>𝑥</m:t>
                        </m:r>
                      </m:sub>
                    </m:sSub>
                    <m:r>
                      <a:rPr lang="de-DE" b="0" i="1" smtClean="0">
                        <a:latin typeface="Cambria Math" panose="02040503050406030204" pitchFamily="18" charset="0"/>
                      </a:rPr>
                      <m:t>, </m:t>
                    </m:r>
                    <m:sSub>
                      <m:sSubPr>
                        <m:ctrlPr>
                          <a:rPr lang="de-DE" b="0" i="1" smtClean="0">
                            <a:latin typeface="Cambria Math" panose="02040503050406030204" pitchFamily="18" charset="0"/>
                          </a:rPr>
                        </m:ctrlPr>
                      </m:sSubPr>
                      <m:e>
                        <m:r>
                          <a:rPr lang="de-DE" b="0" i="1" smtClean="0">
                            <a:latin typeface="Cambria Math" panose="02040503050406030204" pitchFamily="18" charset="0"/>
                          </a:rPr>
                          <m:t>𝑊</m:t>
                        </m:r>
                      </m:e>
                      <m:sub>
                        <m:r>
                          <a:rPr lang="de-DE" b="0" i="1" smtClean="0">
                            <a:latin typeface="Cambria Math" panose="02040503050406030204" pitchFamily="18" charset="0"/>
                          </a:rPr>
                          <m:t>h</m:t>
                        </m:r>
                      </m:sub>
                    </m:sSub>
                  </m:oMath>
                </a14:m>
                <a:r>
                  <a:rPr lang="en-US" dirty="0"/>
                  <a:t> are the weights and </a:t>
                </a:r>
                <a14:m>
                  <m:oMath xmlns:m="http://schemas.openxmlformats.org/officeDocument/2006/math">
                    <m:sSub>
                      <m:sSubPr>
                        <m:ctrlPr>
                          <a:rPr lang="de-DE" b="0" i="1" smtClean="0">
                            <a:latin typeface="Cambria Math" panose="02040503050406030204" pitchFamily="18" charset="0"/>
                          </a:rPr>
                        </m:ctrlPr>
                      </m:sSubPr>
                      <m:e>
                        <m:r>
                          <a:rPr lang="de-DE" b="0" i="1" smtClean="0">
                            <a:latin typeface="Cambria Math" panose="02040503050406030204" pitchFamily="18" charset="0"/>
                          </a:rPr>
                          <m:t>𝑏</m:t>
                        </m:r>
                      </m:e>
                      <m:sub>
                        <m:r>
                          <a:rPr lang="de-DE" b="0" i="1" smtClean="0">
                            <a:latin typeface="Cambria Math" panose="02040503050406030204" pitchFamily="18" charset="0"/>
                          </a:rPr>
                          <m:t>𝑥</m:t>
                        </m:r>
                      </m:sub>
                    </m:sSub>
                    <m:r>
                      <a:rPr lang="de-DE" b="0" i="1" smtClean="0">
                        <a:latin typeface="Cambria Math" panose="02040503050406030204" pitchFamily="18" charset="0"/>
                      </a:rPr>
                      <m:t>, </m:t>
                    </m:r>
                    <m:sSub>
                      <m:sSubPr>
                        <m:ctrlPr>
                          <a:rPr lang="de-DE" b="0" i="1" smtClean="0">
                            <a:latin typeface="Cambria Math" panose="02040503050406030204" pitchFamily="18" charset="0"/>
                          </a:rPr>
                        </m:ctrlPr>
                      </m:sSubPr>
                      <m:e>
                        <m:r>
                          <a:rPr lang="de-DE" b="0" i="1" smtClean="0">
                            <a:latin typeface="Cambria Math" panose="02040503050406030204" pitchFamily="18" charset="0"/>
                          </a:rPr>
                          <m:t>𝑏</m:t>
                        </m:r>
                      </m:e>
                      <m:sub>
                        <m:r>
                          <a:rPr lang="de-DE" b="0" i="1" smtClean="0">
                            <a:latin typeface="Cambria Math" panose="02040503050406030204" pitchFamily="18" charset="0"/>
                          </a:rPr>
                          <m:t>h</m:t>
                        </m:r>
                      </m:sub>
                    </m:sSub>
                  </m:oMath>
                </a14:m>
                <a:r>
                  <a:rPr lang="en-US" dirty="0"/>
                  <a:t> the biases</a:t>
                </a:r>
              </a:p>
              <a:p>
                <a:pPr marL="285750" indent="-285750">
                  <a:buFont typeface="Arial" panose="020B0604020202020204" pitchFamily="34" charset="0"/>
                  <a:buChar char="•"/>
                </a:pPr>
                <a14:m>
                  <m:oMath xmlns:m="http://schemas.openxmlformats.org/officeDocument/2006/math">
                    <m:sSub>
                      <m:sSubPr>
                        <m:ctrlPr>
                          <a:rPr lang="de-DE" b="0" i="1" smtClean="0">
                            <a:latin typeface="Cambria Math" panose="02040503050406030204" pitchFamily="18" charset="0"/>
                          </a:rPr>
                        </m:ctrlPr>
                      </m:sSubPr>
                      <m:e>
                        <m:r>
                          <a:rPr lang="de-DE" b="0" i="1" smtClean="0">
                            <a:latin typeface="Cambria Math" panose="02040503050406030204" pitchFamily="18" charset="0"/>
                          </a:rPr>
                          <m:t>𝑦</m:t>
                        </m:r>
                      </m:e>
                      <m:sub>
                        <m:r>
                          <a:rPr lang="de-DE" b="0" i="1" smtClean="0">
                            <a:latin typeface="Cambria Math" panose="02040503050406030204" pitchFamily="18" charset="0"/>
                          </a:rPr>
                          <m:t>𝑡</m:t>
                        </m:r>
                      </m:sub>
                    </m:sSub>
                  </m:oMath>
                </a14:m>
                <a:r>
                  <a:rPr lang="en-US" dirty="0"/>
                  <a:t> is obtained by a (learnable) mapping between </a:t>
                </a:r>
                <a14:m>
                  <m:oMath xmlns:m="http://schemas.openxmlformats.org/officeDocument/2006/math">
                    <m:sSub>
                      <m:sSubPr>
                        <m:ctrlPr>
                          <a:rPr lang="de-DE" b="0" i="1" smtClean="0">
                            <a:latin typeface="Cambria Math" panose="02040503050406030204" pitchFamily="18" charset="0"/>
                          </a:rPr>
                        </m:ctrlPr>
                      </m:sSubPr>
                      <m:e>
                        <m:r>
                          <a:rPr lang="de-DE" b="0" i="1" smtClean="0">
                            <a:latin typeface="Cambria Math" panose="02040503050406030204" pitchFamily="18" charset="0"/>
                          </a:rPr>
                          <m:t>h</m:t>
                        </m:r>
                      </m:e>
                      <m:sub>
                        <m:r>
                          <a:rPr lang="de-DE" b="0" i="1" smtClean="0">
                            <a:latin typeface="Cambria Math" panose="02040503050406030204" pitchFamily="18" charset="0"/>
                          </a:rPr>
                          <m:t>𝑡</m:t>
                        </m:r>
                      </m:sub>
                    </m:sSub>
                  </m:oMath>
                </a14:m>
                <a:r>
                  <a:rPr lang="en-US" dirty="0"/>
                  <a:t> and </a:t>
                </a:r>
                <a14:m>
                  <m:oMath xmlns:m="http://schemas.openxmlformats.org/officeDocument/2006/math">
                    <m:sSub>
                      <m:sSubPr>
                        <m:ctrlPr>
                          <a:rPr lang="de-DE" b="0" i="1" smtClean="0">
                            <a:latin typeface="Cambria Math" panose="02040503050406030204" pitchFamily="18" charset="0"/>
                          </a:rPr>
                        </m:ctrlPr>
                      </m:sSubPr>
                      <m:e>
                        <m:r>
                          <a:rPr lang="de-DE" b="0" i="1" smtClean="0">
                            <a:latin typeface="Cambria Math" panose="02040503050406030204" pitchFamily="18" charset="0"/>
                          </a:rPr>
                          <m:t>𝑦</m:t>
                        </m:r>
                      </m:e>
                      <m:sub>
                        <m:r>
                          <a:rPr lang="de-DE" b="0" i="1" smtClean="0">
                            <a:latin typeface="Cambria Math" panose="02040503050406030204" pitchFamily="18" charset="0"/>
                          </a:rPr>
                          <m:t>𝑡</m:t>
                        </m:r>
                      </m:sub>
                    </m:sSub>
                  </m:oMath>
                </a14:m>
                <a:endParaRPr lang="en-US" dirty="0"/>
              </a:p>
              <a:p>
                <a:pPr marL="285750" indent="-285750">
                  <a:buFont typeface="Arial" panose="020B0604020202020204" pitchFamily="34" charset="0"/>
                  <a:buChar char="•"/>
                </a:pPr>
                <a:r>
                  <a:rPr lang="en-US" dirty="0"/>
                  <a:t>Useful for applications with </a:t>
                </a:r>
                <a:r>
                  <a:rPr lang="en-US" dirty="0">
                    <a:solidFill>
                      <a:schemeClr val="bg2"/>
                    </a:solidFill>
                  </a:rPr>
                  <a:t>sequential data</a:t>
                </a:r>
                <a:r>
                  <a:rPr lang="en-US" dirty="0"/>
                  <a:t>, such as speech recognition, language modeling, translation</a:t>
                </a:r>
              </a:p>
              <a:p>
                <a:pPr marL="285750" indent="-285750">
                  <a:buFont typeface="Arial" panose="020B0604020202020204" pitchFamily="34" charset="0"/>
                  <a:buChar char="•"/>
                </a:pPr>
                <a:r>
                  <a:rPr lang="en-US" dirty="0"/>
                  <a:t>In practice, only able to connect recent information with each other, e.g., ”</a:t>
                </a:r>
                <a:r>
                  <a:rPr lang="en-US" i="1" dirty="0"/>
                  <a:t>We used too many lemons for our lemonade ... We did not like the lemonade, it was too sour</a:t>
                </a:r>
                <a:r>
                  <a:rPr lang="en-US" dirty="0"/>
                  <a:t>” poses a problem, as the cause for the is too far from the outcome</a:t>
                </a:r>
              </a:p>
              <a:p>
                <a:pPr marL="285750" indent="-285750">
                  <a:buFont typeface="Arial" panose="020B0604020202020204" pitchFamily="34" charset="0"/>
                  <a:buChar char="•"/>
                </a:pPr>
                <a:r>
                  <a:rPr lang="en-US" dirty="0"/>
                  <a:t>Overcome by long short-term memory networks (LSTMs), gated recurrent units (GRUs), and transformers</a:t>
                </a:r>
              </a:p>
              <a:p>
                <a:endParaRPr lang="en-US" dirty="0"/>
              </a:p>
            </p:txBody>
          </p:sp>
        </mc:Choice>
        <mc:Fallback xmlns="">
          <p:sp>
            <p:nvSpPr>
              <p:cNvPr id="2" name="Content Placeholder 1">
                <a:extLst>
                  <a:ext uri="{FF2B5EF4-FFF2-40B4-BE49-F238E27FC236}">
                    <a16:creationId xmlns:a16="http://schemas.microsoft.com/office/drawing/2014/main" id="{C4DC7AE3-CE3A-4B72-2C55-BF74EE59E9C7}"/>
                  </a:ext>
                </a:extLst>
              </p:cNvPr>
              <p:cNvSpPr>
                <a:spLocks noGrp="1" noRot="1" noChangeAspect="1" noMove="1" noResize="1" noEditPoints="1" noAdjustHandles="1" noChangeArrowheads="1" noChangeShapeType="1" noTextEdit="1"/>
              </p:cNvSpPr>
              <p:nvPr>
                <p:ph idx="1"/>
              </p:nvPr>
            </p:nvSpPr>
            <p:spPr>
              <a:xfrm>
                <a:off x="319090" y="825690"/>
                <a:ext cx="8646316" cy="3967027"/>
              </a:xfrm>
              <a:blipFill>
                <a:blip r:embed="rId2"/>
                <a:stretch>
                  <a:fillRect l="-1268" t="-922" r="-1268" b="-6605"/>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0C6513D6-46CF-E3F3-4CAE-C8F3320CD86D}"/>
              </a:ext>
            </a:extLst>
          </p:cNvPr>
          <p:cNvPicPr>
            <a:picLocks noChangeAspect="1"/>
          </p:cNvPicPr>
          <p:nvPr/>
        </p:nvPicPr>
        <p:blipFill>
          <a:blip r:embed="rId3"/>
          <a:stretch>
            <a:fillRect/>
          </a:stretch>
        </p:blipFill>
        <p:spPr>
          <a:xfrm>
            <a:off x="2160984" y="1295288"/>
            <a:ext cx="4822031" cy="1528203"/>
          </a:xfrm>
          <a:prstGeom prst="rect">
            <a:avLst/>
          </a:prstGeom>
        </p:spPr>
      </p:pic>
      <p:sp>
        <p:nvSpPr>
          <p:cNvPr id="3" name="Title 2">
            <a:extLst>
              <a:ext uri="{FF2B5EF4-FFF2-40B4-BE49-F238E27FC236}">
                <a16:creationId xmlns:a16="http://schemas.microsoft.com/office/drawing/2014/main" id="{5961C620-5CFC-1CDD-27CC-C3E541A08933}"/>
              </a:ext>
            </a:extLst>
          </p:cNvPr>
          <p:cNvSpPr>
            <a:spLocks noGrp="1"/>
          </p:cNvSpPr>
          <p:nvPr>
            <p:ph type="title"/>
          </p:nvPr>
        </p:nvSpPr>
        <p:spPr/>
        <p:txBody>
          <a:bodyPr/>
          <a:lstStyle/>
          <a:p>
            <a:r>
              <a:rPr lang="de-DE" dirty="0"/>
              <a:t>3.9.6 </a:t>
            </a:r>
            <a:r>
              <a:rPr lang="de-DE" dirty="0" err="1"/>
              <a:t>Recurrent</a:t>
            </a:r>
            <a:r>
              <a:rPr lang="de-DE" dirty="0"/>
              <a:t> </a:t>
            </a:r>
            <a:r>
              <a:rPr lang="de-DE" dirty="0" err="1"/>
              <a:t>Neural</a:t>
            </a:r>
            <a:r>
              <a:rPr lang="de-DE" dirty="0"/>
              <a:t> Networks</a:t>
            </a:r>
            <a:endParaRPr lang="en-US" dirty="0"/>
          </a:p>
        </p:txBody>
      </p:sp>
      <p:sp>
        <p:nvSpPr>
          <p:cNvPr id="4" name="Slide Number Placeholder 3">
            <a:extLst>
              <a:ext uri="{FF2B5EF4-FFF2-40B4-BE49-F238E27FC236}">
                <a16:creationId xmlns:a16="http://schemas.microsoft.com/office/drawing/2014/main" id="{F12636FA-D8DC-A959-7B02-1AF57935CDF9}"/>
              </a:ext>
            </a:extLst>
          </p:cNvPr>
          <p:cNvSpPr>
            <a:spLocks noGrp="1"/>
          </p:cNvSpPr>
          <p:nvPr>
            <p:ph type="sldNum" sz="quarter" idx="11"/>
          </p:nvPr>
        </p:nvSpPr>
        <p:spPr/>
        <p:txBody>
          <a:bodyPr/>
          <a:lstStyle/>
          <a:p>
            <a:fld id="{CE58CB1E-F828-4F11-99E0-327109AF9DA4}" type="slidenum">
              <a:rPr lang="de-DE" smtClean="0"/>
              <a:pPr/>
              <a:t>35</a:t>
            </a:fld>
            <a:endParaRPr lang="de-DE"/>
          </a:p>
        </p:txBody>
      </p:sp>
      <p:sp>
        <p:nvSpPr>
          <p:cNvPr id="5" name="Footer Placeholder 4">
            <a:extLst>
              <a:ext uri="{FF2B5EF4-FFF2-40B4-BE49-F238E27FC236}">
                <a16:creationId xmlns:a16="http://schemas.microsoft.com/office/drawing/2014/main" id="{BDFF4ECB-7066-2930-604A-8D7D0190C17B}"/>
              </a:ext>
            </a:extLst>
          </p:cNvPr>
          <p:cNvSpPr>
            <a:spLocks noGrp="1"/>
          </p:cNvSpPr>
          <p:nvPr>
            <p:ph type="ftr" sz="quarter" idx="12"/>
          </p:nvPr>
        </p:nvSpPr>
        <p:spPr/>
        <p:txBody>
          <a:bodyPr/>
          <a:lstStyle/>
          <a:p>
            <a:r>
              <a:rPr lang="de-DE" dirty="0"/>
              <a:t>Leon Herrmann &amp; Stefan Kollmannsberger || Deep Learning in Computational </a:t>
            </a:r>
            <a:r>
              <a:rPr lang="de-DE" dirty="0" err="1"/>
              <a:t>Mechanics</a:t>
            </a:r>
            <a:r>
              <a:rPr lang="de-DE" dirty="0"/>
              <a:t> || Bauhaus-Universität Weimar</a:t>
            </a:r>
            <a:endParaRPr lang="en-US" dirty="0"/>
          </a:p>
        </p:txBody>
      </p:sp>
    </p:spTree>
    <p:extLst>
      <p:ext uri="{BB962C8B-B14F-4D97-AF65-F5344CB8AC3E}">
        <p14:creationId xmlns:p14="http://schemas.microsoft.com/office/powerpoint/2010/main" val="221103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B508E3-7866-9F0D-6917-4FE35A401A80}"/>
              </a:ext>
            </a:extLst>
          </p:cNvPr>
          <p:cNvSpPr>
            <a:spLocks noGrp="1"/>
          </p:cNvSpPr>
          <p:nvPr>
            <p:ph idx="1"/>
          </p:nvPr>
        </p:nvSpPr>
        <p:spPr/>
        <p:txBody>
          <a:bodyPr/>
          <a:lstStyle/>
          <a:p>
            <a:pPr>
              <a:lnSpc>
                <a:spcPts val="1425"/>
              </a:lnSpc>
            </a:pP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RNN(</a:t>
            </a:r>
            <a:r>
              <a:rPr lang="en-US" b="0" dirty="0" err="1">
                <a:solidFill>
                  <a:srgbClr val="000000"/>
                </a:solidFill>
                <a:effectLst/>
                <a:latin typeface="Consolas" panose="020B0609020204030204" pitchFamily="49" charset="0"/>
              </a:rPr>
              <a:t>torch.nn.Module</a:t>
            </a:r>
            <a:r>
              <a:rPr lang="en-US" b="0" dirty="0">
                <a:solidFill>
                  <a:srgbClr val="000000"/>
                </a:solidFill>
                <a:effectLst/>
                <a:latin typeface="Consolas" panose="020B0609020204030204" pitchFamily="49" charset="0"/>
              </a:rPr>
              <a:t>):</a:t>
            </a:r>
          </a:p>
          <a:p>
            <a:pPr>
              <a:lnSpc>
                <a:spcPts val="1425"/>
              </a:lnSpc>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t>
            </a:r>
            <a:r>
              <a:rPr lang="en-US" b="0" dirty="0">
                <a:solidFill>
                  <a:srgbClr val="000000"/>
                </a:solidFill>
                <a:effectLst/>
                <a:latin typeface="Consolas" panose="020B0609020204030204" pitchFamily="49" charset="0"/>
              </a:rPr>
              <a:t> __</a:t>
            </a:r>
            <a:r>
              <a:rPr lang="en-US" b="0" dirty="0" err="1">
                <a:solidFill>
                  <a:srgbClr val="000000"/>
                </a:solidFill>
                <a:effectLst/>
                <a:latin typeface="Consolas" panose="020B0609020204030204" pitchFamily="49" charset="0"/>
              </a:rPr>
              <a:t>init</a:t>
            </a:r>
            <a:r>
              <a:rPr lang="en-US" b="0" dirty="0">
                <a:solidFill>
                  <a:srgbClr val="000000"/>
                </a:solidFill>
                <a:effectLst/>
                <a:latin typeface="Consolas" panose="020B0609020204030204" pitchFamily="49" charset="0"/>
              </a:rPr>
              <a:t>__(self, </a:t>
            </a:r>
            <a:r>
              <a:rPr lang="en-US" b="0" dirty="0" err="1">
                <a:solidFill>
                  <a:srgbClr val="000000"/>
                </a:solidFill>
                <a:effectLst/>
                <a:latin typeface="Consolas" panose="020B0609020204030204" pitchFamily="49" charset="0"/>
              </a:rPr>
              <a:t>inputSize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hiddenStateSize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outputSize</a:t>
            </a:r>
            <a:r>
              <a:rPr lang="en-US" b="0" dirty="0">
                <a:solidFill>
                  <a:srgbClr val="000000"/>
                </a:solidFill>
                <a:effectLst/>
                <a:latin typeface="Consolas" panose="020B0609020204030204" pitchFamily="49" charset="0"/>
              </a:rPr>
              <a:t>):</a:t>
            </a:r>
          </a:p>
          <a:p>
            <a:pPr>
              <a:lnSpc>
                <a:spcPts val="1425"/>
              </a:lnSpc>
            </a:pPr>
            <a:r>
              <a:rPr lang="en-US" b="0" dirty="0">
                <a:solidFill>
                  <a:srgbClr val="000000"/>
                </a:solidFill>
                <a:effectLst/>
                <a:latin typeface="Consolas" panose="020B0609020204030204" pitchFamily="49" charset="0"/>
              </a:rPr>
              <a:t>        super(RNN, </a:t>
            </a:r>
            <a:r>
              <a:rPr lang="en-US" b="0" dirty="0">
                <a:solidFill>
                  <a:srgbClr val="0000FF"/>
                </a:solidFill>
                <a:effectLst/>
                <a:latin typeface="Consolas" panose="020B0609020204030204" pitchFamily="49" charset="0"/>
              </a:rPr>
              <a:t>self</a:t>
            </a:r>
            <a:r>
              <a:rPr lang="en-US" b="0" dirty="0">
                <a:solidFill>
                  <a:srgbClr val="000000"/>
                </a:solidFill>
                <a:effectLst/>
                <a:latin typeface="Consolas" panose="020B0609020204030204" pitchFamily="49" charset="0"/>
              </a:rPr>
              <a:t>).__</a:t>
            </a:r>
            <a:r>
              <a:rPr lang="en-US" b="0" dirty="0" err="1">
                <a:solidFill>
                  <a:srgbClr val="000000"/>
                </a:solidFill>
                <a:effectLst/>
                <a:latin typeface="Consolas" panose="020B0609020204030204" pitchFamily="49" charset="0"/>
              </a:rPr>
              <a:t>init</a:t>
            </a:r>
            <a:r>
              <a:rPr lang="en-US" b="0" dirty="0">
                <a:solidFill>
                  <a:srgbClr val="000000"/>
                </a:solidFill>
                <a:effectLst/>
                <a:latin typeface="Consolas" panose="020B0609020204030204" pitchFamily="49" charset="0"/>
              </a:rPr>
              <a:t>__()</a:t>
            </a:r>
          </a:p>
          <a:p>
            <a:pPr>
              <a:lnSpc>
                <a:spcPts val="1425"/>
              </a:lnSpc>
            </a:pP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self</a:t>
            </a:r>
            <a:r>
              <a:rPr lang="en-US" b="0" dirty="0" err="1">
                <a:solidFill>
                  <a:srgbClr val="000000"/>
                </a:solidFill>
                <a:effectLst/>
                <a:latin typeface="Consolas" panose="020B0609020204030204" pitchFamily="49" charset="0"/>
              </a:rPr>
              <a:t>.rnn</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torch.nn.RNN</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inputSize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hiddenStateSize</a:t>
            </a:r>
            <a:r>
              <a:rPr lang="en-US" b="0" dirty="0">
                <a:solidFill>
                  <a:srgbClr val="000000"/>
                </a:solidFill>
                <a:effectLst/>
                <a:latin typeface="Consolas" panose="020B0609020204030204" pitchFamily="49" charset="0"/>
              </a:rPr>
              <a:t>, nonlinearity=‘</a:t>
            </a:r>
            <a:r>
              <a:rPr lang="en-US" b="0" dirty="0" err="1">
                <a:solidFill>
                  <a:srgbClr val="000000"/>
                </a:solidFill>
                <a:effectLst/>
                <a:latin typeface="Consolas" panose="020B0609020204030204" pitchFamily="49" charset="0"/>
              </a:rPr>
              <a:t>relu</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num_layers</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p>
          <a:p>
            <a:pPr>
              <a:lnSpc>
                <a:spcPts val="1425"/>
              </a:lnSpc>
            </a:pP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self</a:t>
            </a:r>
            <a:r>
              <a:rPr lang="en-US" b="0" dirty="0" err="1">
                <a:solidFill>
                  <a:srgbClr val="000000"/>
                </a:solidFill>
                <a:effectLst/>
                <a:latin typeface="Consolas" panose="020B0609020204030204" pitchFamily="49" charset="0"/>
              </a:rPr>
              <a:t>.linear</a:t>
            </a:r>
            <a:r>
              <a:rPr lang="en-US" b="0" dirty="0">
                <a:solidFill>
                  <a:srgbClr val="000000"/>
                </a:solidFill>
                <a:effectLst/>
                <a:latin typeface="Consolas" panose="020B0609020204030204" pitchFamily="49" charset="0"/>
              </a:rPr>
              <a:t> = </a:t>
            </a:r>
            <a:r>
              <a:rPr lang="en-US" b="0" dirty="0" err="1">
                <a:solidFill>
                  <a:srgbClr val="000000"/>
                </a:solidFill>
                <a:effectLst/>
                <a:latin typeface="Consolas" panose="020B0609020204030204" pitchFamily="49" charset="0"/>
              </a:rPr>
              <a:t>torch.nn.Linear</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hiddenStateSize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outputSize</a:t>
            </a:r>
            <a:r>
              <a:rPr lang="en-US" b="0" dirty="0">
                <a:solidFill>
                  <a:srgbClr val="000000"/>
                </a:solidFill>
                <a:effectLst/>
                <a:latin typeface="Consolas" panose="020B0609020204030204" pitchFamily="49" charset="0"/>
              </a:rPr>
              <a:t>)</a:t>
            </a:r>
          </a:p>
          <a:p>
            <a:pPr>
              <a:lnSpc>
                <a:spcPts val="1425"/>
              </a:lnSpc>
            </a:pPr>
            <a:r>
              <a:rPr lang="en-US" b="0" dirty="0">
                <a:solidFill>
                  <a:srgbClr val="000000"/>
                </a:solidFill>
                <a:effectLst/>
                <a:latin typeface="Consolas" panose="020B0609020204030204" pitchFamily="49" charset="0"/>
              </a:rPr>
              <a:t>   </a:t>
            </a:r>
          </a:p>
          <a:p>
            <a:pPr>
              <a:lnSpc>
                <a:spcPts val="1425"/>
              </a:lnSpc>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def</a:t>
            </a:r>
            <a:r>
              <a:rPr lang="en-US" b="0" dirty="0">
                <a:solidFill>
                  <a:srgbClr val="000000"/>
                </a:solidFill>
                <a:effectLst/>
                <a:latin typeface="Consolas" panose="020B0609020204030204" pitchFamily="49" charset="0"/>
              </a:rPr>
              <a:t> forward(self, x):</a:t>
            </a:r>
          </a:p>
          <a:p>
            <a:pPr>
              <a:lnSpc>
                <a:spcPts val="1425"/>
              </a:lnSpc>
            </a:pPr>
            <a:r>
              <a:rPr lang="en-US" b="0" dirty="0">
                <a:solidFill>
                  <a:srgbClr val="000000"/>
                </a:solidFill>
                <a:effectLst/>
                <a:latin typeface="Consolas" panose="020B0609020204030204" pitchFamily="49" charset="0"/>
              </a:rPr>
              <a:t>        h, _ = </a:t>
            </a:r>
            <a:r>
              <a:rPr lang="en-US" b="0" dirty="0" err="1">
                <a:solidFill>
                  <a:srgbClr val="0000FF"/>
                </a:solidFill>
                <a:effectLst/>
                <a:latin typeface="Consolas" panose="020B0609020204030204" pitchFamily="49" charset="0"/>
              </a:rPr>
              <a:t>self</a:t>
            </a:r>
            <a:r>
              <a:rPr lang="en-US" b="0" dirty="0" err="1">
                <a:solidFill>
                  <a:srgbClr val="000000"/>
                </a:solidFill>
                <a:effectLst/>
                <a:latin typeface="Consolas" panose="020B0609020204030204" pitchFamily="49" charset="0"/>
              </a:rPr>
              <a:t>.rnn</a:t>
            </a:r>
            <a:r>
              <a:rPr lang="en-US" b="0" dirty="0">
                <a:solidFill>
                  <a:srgbClr val="000000"/>
                </a:solidFill>
                <a:effectLst/>
                <a:latin typeface="Consolas" panose="020B0609020204030204" pitchFamily="49" charset="0"/>
              </a:rPr>
              <a:t>(x) </a:t>
            </a:r>
            <a:r>
              <a:rPr lang="en-US" b="0" dirty="0">
                <a:solidFill>
                  <a:srgbClr val="008000"/>
                </a:solidFill>
                <a:effectLst/>
                <a:latin typeface="Consolas" panose="020B0609020204030204" pitchFamily="49" charset="0"/>
              </a:rPr>
              <a:t># unrolls the RNN</a:t>
            </a:r>
            <a:endParaRPr lang="en-US" b="0" dirty="0">
              <a:solidFill>
                <a:srgbClr val="000000"/>
              </a:solidFill>
              <a:effectLst/>
              <a:latin typeface="Consolas" panose="020B0609020204030204" pitchFamily="49" charset="0"/>
            </a:endParaRPr>
          </a:p>
          <a:p>
            <a:pPr>
              <a:lnSpc>
                <a:spcPts val="1425"/>
              </a:lnSpc>
            </a:pPr>
            <a:r>
              <a:rPr lang="en-US" b="0" dirty="0">
                <a:solidFill>
                  <a:srgbClr val="000000"/>
                </a:solidFill>
                <a:effectLst/>
                <a:latin typeface="Consolas" panose="020B0609020204030204" pitchFamily="49" charset="0"/>
              </a:rPr>
              <a:t>        y = </a:t>
            </a:r>
            <a:r>
              <a:rPr lang="en-US" b="0" dirty="0" err="1">
                <a:solidFill>
                  <a:srgbClr val="0000FF"/>
                </a:solidFill>
                <a:effectLst/>
                <a:latin typeface="Consolas" panose="020B0609020204030204" pitchFamily="49" charset="0"/>
              </a:rPr>
              <a:t>self</a:t>
            </a:r>
            <a:r>
              <a:rPr lang="en-US" b="0" dirty="0" err="1">
                <a:solidFill>
                  <a:srgbClr val="000000"/>
                </a:solidFill>
                <a:effectLst/>
                <a:latin typeface="Consolas" panose="020B0609020204030204" pitchFamily="49" charset="0"/>
              </a:rPr>
              <a:t>.linear</a:t>
            </a:r>
            <a:r>
              <a:rPr lang="en-US" b="0" dirty="0">
                <a:solidFill>
                  <a:srgbClr val="000000"/>
                </a:solidFill>
                <a:effectLst/>
                <a:latin typeface="Consolas" panose="020B0609020204030204" pitchFamily="49" charset="0"/>
              </a:rPr>
              <a:t>(h) </a:t>
            </a:r>
            <a:r>
              <a:rPr lang="en-US" b="0" dirty="0">
                <a:solidFill>
                  <a:srgbClr val="008000"/>
                </a:solidFill>
                <a:effectLst/>
                <a:latin typeface="Consolas" panose="020B0609020204030204" pitchFamily="49" charset="0"/>
              </a:rPr>
              <a:t># transforms hidden layer to output layer</a:t>
            </a:r>
            <a:endParaRPr lang="en-US" b="0" dirty="0">
              <a:solidFill>
                <a:srgbClr val="000000"/>
              </a:solidFill>
              <a:effectLst/>
              <a:latin typeface="Consolas" panose="020B0609020204030204" pitchFamily="49" charset="0"/>
            </a:endParaRPr>
          </a:p>
          <a:p>
            <a:pPr>
              <a:lnSpc>
                <a:spcPts val="1425"/>
              </a:lnSpc>
            </a:pP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y</a:t>
            </a:r>
          </a:p>
          <a:p>
            <a:endParaRPr lang="da-DK" dirty="0">
              <a:latin typeface="DejaVu Sans Mono" panose="020B0609030804020204" pitchFamily="49" charset="0"/>
              <a:ea typeface="DejaVu Sans Mono" panose="020B0609030804020204" pitchFamily="49" charset="0"/>
              <a:cs typeface="DejaVu Sans Mono" panose="020B0609030804020204" pitchFamily="49" charset="0"/>
            </a:endParaRPr>
          </a:p>
          <a:p>
            <a:endParaRPr lang="da-DK" dirty="0">
              <a:latin typeface="DejaVu Sans Mono" panose="020B0609030804020204" pitchFamily="49" charset="0"/>
              <a:ea typeface="DejaVu Sans Mono" panose="020B0609030804020204" pitchFamily="49" charset="0"/>
              <a:cs typeface="DejaVu Sans Mono" panose="020B0609030804020204" pitchFamily="49" charset="0"/>
            </a:endParaRPr>
          </a:p>
          <a:p>
            <a:pPr>
              <a:lnSpc>
                <a:spcPts val="1425"/>
              </a:lnSpc>
            </a:pPr>
            <a:r>
              <a:rPr lang="en-US" b="0" dirty="0" err="1">
                <a:solidFill>
                  <a:srgbClr val="000000"/>
                </a:solidFill>
                <a:effectLst/>
                <a:latin typeface="Consolas" panose="020B0609020204030204" pitchFamily="49" charset="0"/>
              </a:rPr>
              <a:t>inputSize</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a:t>
            </a:r>
            <a:endParaRPr lang="en-US" b="0" dirty="0">
              <a:solidFill>
                <a:srgbClr val="000000"/>
              </a:solidFill>
              <a:effectLst/>
              <a:latin typeface="Consolas" panose="020B0609020204030204" pitchFamily="49" charset="0"/>
            </a:endParaRPr>
          </a:p>
          <a:p>
            <a:pPr>
              <a:lnSpc>
                <a:spcPts val="1425"/>
              </a:lnSpc>
            </a:pPr>
            <a:r>
              <a:rPr lang="en-US" b="0" dirty="0" err="1">
                <a:solidFill>
                  <a:srgbClr val="000000"/>
                </a:solidFill>
                <a:effectLst/>
                <a:latin typeface="Consolas" panose="020B0609020204030204" pitchFamily="49" charset="0"/>
              </a:rPr>
              <a:t>hiddenStateSize</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500</a:t>
            </a:r>
            <a:endParaRPr lang="en-US" b="0" dirty="0">
              <a:solidFill>
                <a:srgbClr val="000000"/>
              </a:solidFill>
              <a:effectLst/>
              <a:latin typeface="Consolas" panose="020B0609020204030204" pitchFamily="49" charset="0"/>
            </a:endParaRPr>
          </a:p>
          <a:p>
            <a:pPr>
              <a:lnSpc>
                <a:spcPts val="1425"/>
              </a:lnSpc>
            </a:pPr>
            <a:r>
              <a:rPr lang="en-US" b="0" dirty="0" err="1">
                <a:solidFill>
                  <a:srgbClr val="000000"/>
                </a:solidFill>
                <a:effectLst/>
                <a:latin typeface="Consolas" panose="020B0609020204030204" pitchFamily="49" charset="0"/>
              </a:rPr>
              <a:t>outputSize</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1</a:t>
            </a:r>
            <a:endParaRPr lang="en-US" b="0" dirty="0">
              <a:solidFill>
                <a:srgbClr val="000000"/>
              </a:solidFill>
              <a:effectLst/>
              <a:latin typeface="Consolas" panose="020B0609020204030204" pitchFamily="49" charset="0"/>
            </a:endParaRPr>
          </a:p>
          <a:p>
            <a:pPr>
              <a:lnSpc>
                <a:spcPts val="1425"/>
              </a:lnSpc>
            </a:pPr>
            <a:r>
              <a:rPr lang="en-US" b="0" dirty="0">
                <a:solidFill>
                  <a:srgbClr val="000000"/>
                </a:solidFill>
                <a:effectLst/>
                <a:latin typeface="Consolas" panose="020B0609020204030204" pitchFamily="49" charset="0"/>
              </a:rPr>
              <a:t>model = CNN(</a:t>
            </a:r>
            <a:r>
              <a:rPr lang="en-US" b="0" dirty="0" err="1">
                <a:solidFill>
                  <a:srgbClr val="000000"/>
                </a:solidFill>
                <a:effectLst/>
                <a:latin typeface="Consolas" panose="020B0609020204030204" pitchFamily="49" charset="0"/>
              </a:rPr>
              <a:t>inputSize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hiddenStateSize</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outputSize</a:t>
            </a:r>
            <a:r>
              <a:rPr lang="en-US" b="0" dirty="0">
                <a:solidFill>
                  <a:srgbClr val="000000"/>
                </a:solidFill>
                <a:effectLst/>
                <a:latin typeface="Consolas" panose="020B0609020204030204" pitchFamily="49" charset="0"/>
              </a:rPr>
              <a:t>)</a:t>
            </a:r>
          </a:p>
        </p:txBody>
      </p:sp>
      <p:sp>
        <p:nvSpPr>
          <p:cNvPr id="3" name="Title 2">
            <a:extLst>
              <a:ext uri="{FF2B5EF4-FFF2-40B4-BE49-F238E27FC236}">
                <a16:creationId xmlns:a16="http://schemas.microsoft.com/office/drawing/2014/main" id="{2CBFB734-C8D0-B00A-D312-7A9977EA748F}"/>
              </a:ext>
            </a:extLst>
          </p:cNvPr>
          <p:cNvSpPr>
            <a:spLocks noGrp="1"/>
          </p:cNvSpPr>
          <p:nvPr>
            <p:ph type="title"/>
          </p:nvPr>
        </p:nvSpPr>
        <p:spPr/>
        <p:txBody>
          <a:bodyPr/>
          <a:lstStyle/>
          <a:p>
            <a:r>
              <a:rPr lang="de-DE" dirty="0"/>
              <a:t>3.9.6 </a:t>
            </a:r>
            <a:r>
              <a:rPr lang="de-DE" dirty="0" err="1"/>
              <a:t>Recurrent</a:t>
            </a:r>
            <a:r>
              <a:rPr lang="de-DE" dirty="0"/>
              <a:t> </a:t>
            </a:r>
            <a:r>
              <a:rPr lang="de-DE" dirty="0" err="1"/>
              <a:t>Neural</a:t>
            </a:r>
            <a:r>
              <a:rPr lang="de-DE" dirty="0"/>
              <a:t> Networks - </a:t>
            </a:r>
            <a:r>
              <a:rPr lang="de-DE" dirty="0" err="1"/>
              <a:t>PyTorch</a:t>
            </a:r>
            <a:endParaRPr lang="en-US" dirty="0"/>
          </a:p>
        </p:txBody>
      </p:sp>
      <p:sp>
        <p:nvSpPr>
          <p:cNvPr id="4" name="Slide Number Placeholder 3">
            <a:extLst>
              <a:ext uri="{FF2B5EF4-FFF2-40B4-BE49-F238E27FC236}">
                <a16:creationId xmlns:a16="http://schemas.microsoft.com/office/drawing/2014/main" id="{0A20679B-DE12-6213-ACE7-5438E25B095E}"/>
              </a:ext>
            </a:extLst>
          </p:cNvPr>
          <p:cNvSpPr>
            <a:spLocks noGrp="1"/>
          </p:cNvSpPr>
          <p:nvPr>
            <p:ph type="sldNum" sz="quarter" idx="11"/>
          </p:nvPr>
        </p:nvSpPr>
        <p:spPr/>
        <p:txBody>
          <a:bodyPr/>
          <a:lstStyle/>
          <a:p>
            <a:fld id="{CE58CB1E-F828-4F11-99E0-327109AF9DA4}" type="slidenum">
              <a:rPr lang="de-DE" smtClean="0"/>
              <a:pPr/>
              <a:t>36</a:t>
            </a:fld>
            <a:endParaRPr lang="de-DE"/>
          </a:p>
        </p:txBody>
      </p:sp>
      <p:sp>
        <p:nvSpPr>
          <p:cNvPr id="5" name="Footer Placeholder 4">
            <a:extLst>
              <a:ext uri="{FF2B5EF4-FFF2-40B4-BE49-F238E27FC236}">
                <a16:creationId xmlns:a16="http://schemas.microsoft.com/office/drawing/2014/main" id="{E92AE4EB-A722-9335-F7A2-269990858751}"/>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sp>
        <p:nvSpPr>
          <p:cNvPr id="6" name="TextBox 5">
            <a:extLst>
              <a:ext uri="{FF2B5EF4-FFF2-40B4-BE49-F238E27FC236}">
                <a16:creationId xmlns:a16="http://schemas.microsoft.com/office/drawing/2014/main" id="{206F32AB-D8B4-3BF7-A95E-8761819AE108}"/>
              </a:ext>
            </a:extLst>
          </p:cNvPr>
          <p:cNvSpPr txBox="1"/>
          <p:nvPr/>
        </p:nvSpPr>
        <p:spPr>
          <a:xfrm>
            <a:off x="6715315" y="2571750"/>
            <a:ext cx="2109595" cy="1040606"/>
          </a:xfrm>
          <a:prstGeom prst="rect">
            <a:avLst/>
          </a:prstGeom>
          <a:solidFill>
            <a:schemeClr val="accent6"/>
          </a:solidFill>
        </p:spPr>
        <p:txBody>
          <a:bodyPr wrap="square" lIns="0" tIns="0" rIns="0" bIns="0" rtlCol="0">
            <a:spAutoFit/>
          </a:bodyPr>
          <a:lstStyle/>
          <a:p>
            <a:pPr>
              <a:lnSpc>
                <a:spcPct val="114000"/>
              </a:lnSpc>
            </a:pPr>
            <a:r>
              <a:rPr lang="en-US" sz="1200" noProof="0" dirty="0">
                <a:latin typeface="+mn-lt"/>
              </a:rPr>
              <a:t>Recurrent neural networks do not only have to be combined with fully connected neural networks, convolutional neural networks are for example also possible</a:t>
            </a:r>
          </a:p>
        </p:txBody>
      </p:sp>
    </p:spTree>
    <p:extLst>
      <p:ext uri="{BB962C8B-B14F-4D97-AF65-F5344CB8AC3E}">
        <p14:creationId xmlns:p14="http://schemas.microsoft.com/office/powerpoint/2010/main" val="1984168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64DE920-C5BA-D981-5B9F-4B7D201EDB9E}"/>
              </a:ext>
            </a:extLst>
          </p:cNvPr>
          <p:cNvSpPr>
            <a:spLocks noGrp="1"/>
          </p:cNvSpPr>
          <p:nvPr>
            <p:ph idx="1"/>
          </p:nvPr>
        </p:nvSpPr>
        <p:spPr>
          <a:xfrm>
            <a:off x="319090" y="825690"/>
            <a:ext cx="8746329" cy="3967027"/>
          </a:xfrm>
        </p:spPr>
        <p:txBody>
          <a:bodyPr/>
          <a:lstStyle/>
          <a:p>
            <a:pPr marL="285750" indent="-285750">
              <a:buFont typeface="Arial" panose="020B0604020202020204" pitchFamily="34" charset="0"/>
              <a:buChar char="•"/>
            </a:pPr>
            <a:r>
              <a:rPr lang="en-US" dirty="0"/>
              <a:t>The previous architecture learn physical behavior only from data</a:t>
            </a:r>
          </a:p>
          <a:p>
            <a:pPr marL="285750" indent="-285750">
              <a:buFont typeface="Arial" panose="020B0604020202020204" pitchFamily="34" charset="0"/>
              <a:buChar char="•"/>
            </a:pPr>
            <a:r>
              <a:rPr lang="en-US" dirty="0"/>
              <a:t>Governing laws can be incorporated into neural networks</a:t>
            </a:r>
          </a:p>
          <a:p>
            <a:pPr marL="461963" lvl="1" indent="-285750">
              <a:buFont typeface="Arial" panose="020B0604020202020204" pitchFamily="34" charset="0"/>
              <a:buChar char="•"/>
            </a:pPr>
            <a:r>
              <a:rPr lang="en-US" dirty="0"/>
              <a:t>Through training (via penalty terms in the cost function, i.e., </a:t>
            </a:r>
            <a:r>
              <a:rPr lang="en-US" dirty="0">
                <a:solidFill>
                  <a:schemeClr val="bg2"/>
                </a:solidFill>
              </a:rPr>
              <a:t>weak enforcement</a:t>
            </a:r>
            <a:r>
              <a:rPr lang="en-US" dirty="0"/>
              <a:t>/regularization; see Chapters 4 &amp; 5)</a:t>
            </a:r>
          </a:p>
          <a:p>
            <a:pPr marL="461963" lvl="1" indent="-285750">
              <a:buFont typeface="Arial" panose="020B0604020202020204" pitchFamily="34" charset="0"/>
              <a:buChar char="•"/>
            </a:pPr>
            <a:r>
              <a:rPr lang="en-US" dirty="0"/>
              <a:t>Via the neural network architecture (by constraining the learnable space, i.e., </a:t>
            </a:r>
            <a:r>
              <a:rPr lang="en-US" dirty="0">
                <a:solidFill>
                  <a:schemeClr val="bg2"/>
                </a:solidFill>
              </a:rPr>
              <a:t>strong enforcement</a:t>
            </a:r>
            <a:r>
              <a:rPr lang="en-US" dirty="0"/>
              <a:t>; see Chapter 7)</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Strong enforcement of physics</a:t>
            </a:r>
          </a:p>
          <a:p>
            <a:pPr marL="461963" lvl="1" indent="-285750">
              <a:buFont typeface="Arial" panose="020B0604020202020204" pitchFamily="34" charset="0"/>
              <a:buChar char="•"/>
            </a:pPr>
            <a:r>
              <a:rPr lang="en-US" dirty="0"/>
              <a:t>Dynamics</a:t>
            </a:r>
          </a:p>
          <a:p>
            <a:pPr marL="646113" lvl="2" indent="-285750">
              <a:buFont typeface="Arial" panose="020B0604020202020204" pitchFamily="34" charset="0"/>
              <a:buChar char="•"/>
            </a:pPr>
            <a:r>
              <a:rPr lang="en-US" b="1" dirty="0"/>
              <a:t>Hamiltonian neural networks</a:t>
            </a:r>
          </a:p>
          <a:p>
            <a:pPr marL="646113" lvl="2" indent="-285750">
              <a:buFont typeface="Arial" panose="020B0604020202020204" pitchFamily="34" charset="0"/>
              <a:buChar char="•"/>
            </a:pPr>
            <a:r>
              <a:rPr lang="en-US" b="1" dirty="0"/>
              <a:t>Lagrangian neural networks</a:t>
            </a:r>
          </a:p>
          <a:p>
            <a:pPr marL="461963" lvl="1" indent="-285750">
              <a:buFont typeface="Arial" panose="020B0604020202020204" pitchFamily="34" charset="0"/>
              <a:buChar char="•"/>
            </a:pPr>
            <a:r>
              <a:rPr lang="en-US" dirty="0"/>
              <a:t>Constitutive modeling</a:t>
            </a:r>
          </a:p>
          <a:p>
            <a:pPr marL="646113" lvl="2" indent="-285750">
              <a:buFont typeface="Arial" panose="020B0604020202020204" pitchFamily="34" charset="0"/>
              <a:buChar char="•"/>
            </a:pPr>
            <a:r>
              <a:rPr lang="en-US" dirty="0"/>
              <a:t>Input-convex neural networks (see Chapter 7)</a:t>
            </a:r>
          </a:p>
          <a:p>
            <a:pPr marL="461963" lvl="1" indent="-285750">
              <a:buFont typeface="Arial" panose="020B0604020202020204" pitchFamily="34" charset="0"/>
              <a:buChar char="•"/>
            </a:pPr>
            <a:r>
              <a:rPr lang="en-US" dirty="0"/>
              <a:t>Boundary conditions</a:t>
            </a:r>
          </a:p>
          <a:p>
            <a:pPr marL="646113" lvl="2" indent="-285750">
              <a:buFont typeface="Arial" panose="020B0604020202020204" pitchFamily="34" charset="0"/>
              <a:buChar char="•"/>
            </a:pPr>
            <a:r>
              <a:rPr lang="en-US" dirty="0"/>
              <a:t>Strong enforcement of boundary conditions (see Chapters 4 &amp; 5)</a:t>
            </a:r>
          </a:p>
        </p:txBody>
      </p:sp>
      <p:sp>
        <p:nvSpPr>
          <p:cNvPr id="3" name="Title 2">
            <a:extLst>
              <a:ext uri="{FF2B5EF4-FFF2-40B4-BE49-F238E27FC236}">
                <a16:creationId xmlns:a16="http://schemas.microsoft.com/office/drawing/2014/main" id="{7FBF59A4-6D52-0062-13EA-F72104359C44}"/>
              </a:ext>
            </a:extLst>
          </p:cNvPr>
          <p:cNvSpPr>
            <a:spLocks noGrp="1"/>
          </p:cNvSpPr>
          <p:nvPr>
            <p:ph type="title"/>
          </p:nvPr>
        </p:nvSpPr>
        <p:spPr/>
        <p:txBody>
          <a:bodyPr/>
          <a:lstStyle/>
          <a:p>
            <a:r>
              <a:rPr lang="en-US" noProof="0" dirty="0"/>
              <a:t>3.9.8 Physics-Inspired Architectures for Dynamics</a:t>
            </a:r>
          </a:p>
        </p:txBody>
      </p:sp>
      <p:sp>
        <p:nvSpPr>
          <p:cNvPr id="4" name="Slide Number Placeholder 3">
            <a:extLst>
              <a:ext uri="{FF2B5EF4-FFF2-40B4-BE49-F238E27FC236}">
                <a16:creationId xmlns:a16="http://schemas.microsoft.com/office/drawing/2014/main" id="{9507702A-F209-30AB-E932-8BB175DDFE88}"/>
              </a:ext>
            </a:extLst>
          </p:cNvPr>
          <p:cNvSpPr>
            <a:spLocks noGrp="1"/>
          </p:cNvSpPr>
          <p:nvPr>
            <p:ph type="sldNum" sz="quarter" idx="11"/>
          </p:nvPr>
        </p:nvSpPr>
        <p:spPr/>
        <p:txBody>
          <a:bodyPr/>
          <a:lstStyle/>
          <a:p>
            <a:fld id="{CE58CB1E-F828-4F11-99E0-327109AF9DA4}" type="slidenum">
              <a:rPr lang="de-DE" smtClean="0"/>
              <a:pPr/>
              <a:t>37</a:t>
            </a:fld>
            <a:endParaRPr lang="de-DE"/>
          </a:p>
        </p:txBody>
      </p:sp>
      <p:sp>
        <p:nvSpPr>
          <p:cNvPr id="5" name="Footer Placeholder 4">
            <a:extLst>
              <a:ext uri="{FF2B5EF4-FFF2-40B4-BE49-F238E27FC236}">
                <a16:creationId xmlns:a16="http://schemas.microsoft.com/office/drawing/2014/main" id="{0598ADD0-4CC1-4A55-808B-533A0DFFC7D3}"/>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spTree>
    <p:extLst>
      <p:ext uri="{BB962C8B-B14F-4D97-AF65-F5344CB8AC3E}">
        <p14:creationId xmlns:p14="http://schemas.microsoft.com/office/powerpoint/2010/main" val="189145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
                                            <p:txEl>
                                              <p:pRg st="11" end="11"/>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01C6A68-6BDE-A1F2-A105-75F597087093}"/>
              </a:ext>
            </a:extLst>
          </p:cNvPr>
          <p:cNvPicPr>
            <a:picLocks noChangeAspect="1"/>
          </p:cNvPicPr>
          <p:nvPr/>
        </p:nvPicPr>
        <p:blipFill>
          <a:blip r:embed="rId2"/>
          <a:stretch>
            <a:fillRect/>
          </a:stretch>
        </p:blipFill>
        <p:spPr>
          <a:xfrm>
            <a:off x="3081538" y="682811"/>
            <a:ext cx="2136725" cy="1409771"/>
          </a:xfrm>
          <a:prstGeom prst="rect">
            <a:avLst/>
          </a:prstGeom>
        </p:spPr>
      </p:pic>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07AF0C84-B72E-FD02-1CF0-9A5CFF4A2F11}"/>
                  </a:ext>
                </a:extLst>
              </p:cNvPr>
              <p:cNvSpPr>
                <a:spLocks noGrp="1"/>
              </p:cNvSpPr>
              <p:nvPr>
                <p:ph idx="1"/>
              </p:nvPr>
            </p:nvSpPr>
            <p:spPr/>
            <p:txBody>
              <a:bodyPr/>
              <a:lstStyle/>
              <a:p>
                <a:r>
                  <a:rPr lang="en-US" noProof="0" dirty="0"/>
                  <a:t>Consider a one-dimensional mass-spring model</a:t>
                </a:r>
              </a:p>
              <a:p>
                <a:endParaRPr lang="en-US" noProof="0" dirty="0"/>
              </a:p>
              <a:p>
                <a:endParaRPr lang="en-US" noProof="0" dirty="0"/>
              </a:p>
              <a:p>
                <a:endParaRPr lang="en-US" noProof="0" dirty="0"/>
              </a:p>
              <a:p>
                <a:endParaRPr lang="en-US" noProof="0" dirty="0"/>
              </a:p>
              <a:p>
                <a:r>
                  <a:rPr lang="en-US" noProof="0" dirty="0" err="1"/>
                  <a:t>Desribed</a:t>
                </a:r>
                <a:r>
                  <a:rPr lang="en-US" noProof="0" dirty="0"/>
                  <a:t> by the </a:t>
                </a:r>
                <a:r>
                  <a:rPr lang="en-US" noProof="0" dirty="0">
                    <a:solidFill>
                      <a:schemeClr val="bg2"/>
                    </a:solidFill>
                  </a:rPr>
                  <a:t>ordinary differential equation</a:t>
                </a:r>
              </a:p>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𝑚</m:t>
                      </m:r>
                      <m:acc>
                        <m:accPr>
                          <m:chr m:val="̈"/>
                          <m:ctrlPr>
                            <a:rPr lang="en-US" b="0" i="1" noProof="0" smtClean="0">
                              <a:latin typeface="Cambria Math" panose="02040503050406030204" pitchFamily="18" charset="0"/>
                            </a:rPr>
                          </m:ctrlPr>
                        </m:accPr>
                        <m:e>
                          <m:r>
                            <a:rPr lang="en-US" b="0" i="1" noProof="0" smtClean="0">
                              <a:latin typeface="Cambria Math" panose="02040503050406030204" pitchFamily="18" charset="0"/>
                            </a:rPr>
                            <m:t>𝑥</m:t>
                          </m:r>
                        </m:e>
                      </m:acc>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𝑡</m:t>
                          </m:r>
                        </m:e>
                      </m:d>
                      <m:r>
                        <a:rPr lang="en-US" b="0" i="1" noProof="0" smtClean="0">
                          <a:latin typeface="Cambria Math" panose="02040503050406030204" pitchFamily="18" charset="0"/>
                        </a:rPr>
                        <m:t>+</m:t>
                      </m:r>
                      <m:r>
                        <a:rPr lang="en-US" b="0" i="1" noProof="0" smtClean="0">
                          <a:latin typeface="Cambria Math" panose="02040503050406030204" pitchFamily="18" charset="0"/>
                        </a:rPr>
                        <m:t>𝑘𝑥</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𝑡</m:t>
                          </m:r>
                        </m:e>
                      </m:d>
                      <m:r>
                        <a:rPr lang="en-US" b="0" i="1" noProof="0" smtClean="0">
                          <a:latin typeface="Cambria Math" panose="02040503050406030204" pitchFamily="18" charset="0"/>
                        </a:rPr>
                        <m:t>=0</m:t>
                      </m:r>
                    </m:oMath>
                  </m:oMathPara>
                </a14:m>
                <a:endParaRPr lang="en-US" noProof="0" dirty="0"/>
              </a:p>
              <a:p>
                <a:r>
                  <a:rPr lang="en-US" noProof="0" dirty="0"/>
                  <a:t>And the solution</a:t>
                </a:r>
              </a:p>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𝑥</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𝑡</m:t>
                          </m:r>
                        </m:e>
                      </m:d>
                      <m:r>
                        <a:rPr lang="en-US" b="0" i="1" noProof="0" smtClean="0">
                          <a:latin typeface="Cambria Math" panose="02040503050406030204" pitchFamily="18" charset="0"/>
                        </a:rPr>
                        <m:t>=</m:t>
                      </m:r>
                      <m:r>
                        <a:rPr lang="en-US" b="0" i="1" noProof="0" smtClean="0">
                          <a:latin typeface="Cambria Math" panose="02040503050406030204" pitchFamily="18" charset="0"/>
                        </a:rPr>
                        <m:t>𝐴</m:t>
                      </m:r>
                      <m:r>
                        <m:rPr>
                          <m:sty m:val="p"/>
                        </m:rPr>
                        <a:rPr lang="en-US" b="0" i="1" noProof="0" smtClean="0">
                          <a:latin typeface="Cambria Math" panose="02040503050406030204" pitchFamily="18" charset="0"/>
                        </a:rPr>
                        <m:t>sin</m:t>
                      </m:r>
                      <m:r>
                        <a:rPr lang="en-US" b="0" i="1" noProof="0" smtClean="0">
                          <a:latin typeface="Cambria Math" panose="02040503050406030204" pitchFamily="18" charset="0"/>
                        </a:rPr>
                        <m:t>(</m:t>
                      </m:r>
                      <m:r>
                        <a:rPr lang="en-US" b="0" i="1" noProof="0" smtClean="0">
                          <a:latin typeface="Cambria Math" panose="02040503050406030204" pitchFamily="18" charset="0"/>
                        </a:rPr>
                        <m:t>𝜔</m:t>
                      </m:r>
                      <m:r>
                        <a:rPr lang="en-US" b="0" i="1" noProof="0" smtClean="0">
                          <a:latin typeface="Cambria Math" panose="02040503050406030204" pitchFamily="18" charset="0"/>
                        </a:rPr>
                        <m:t>𝑡</m:t>
                      </m:r>
                      <m:r>
                        <a:rPr lang="en-US" b="0" i="1" noProof="0" smtClean="0">
                          <a:latin typeface="Cambria Math" panose="02040503050406030204" pitchFamily="18" charset="0"/>
                        </a:rPr>
                        <m:t>+</m:t>
                      </m:r>
                      <m:r>
                        <a:rPr lang="en-US" b="0" i="1" noProof="0" smtClean="0">
                          <a:latin typeface="Cambria Math" panose="02040503050406030204" pitchFamily="18" charset="0"/>
                        </a:rPr>
                        <m:t>𝜙</m:t>
                      </m:r>
                      <m:r>
                        <a:rPr lang="en-US" b="0" i="1" noProof="0" smtClean="0">
                          <a:latin typeface="Cambria Math" panose="02040503050406030204" pitchFamily="18" charset="0"/>
                        </a:rPr>
                        <m:t>)</m:t>
                      </m:r>
                    </m:oMath>
                  </m:oMathPara>
                </a14:m>
                <a:endParaRPr lang="en-US" noProof="0" dirty="0"/>
              </a:p>
              <a:p>
                <a:r>
                  <a:rPr lang="en-US" noProof="0" dirty="0"/>
                  <a:t>Where </a:t>
                </a:r>
                <a14:m>
                  <m:oMath xmlns:m="http://schemas.openxmlformats.org/officeDocument/2006/math">
                    <m:r>
                      <a:rPr lang="en-US" b="0" i="1" noProof="0" smtClean="0">
                        <a:latin typeface="Cambria Math" panose="02040503050406030204" pitchFamily="18" charset="0"/>
                      </a:rPr>
                      <m:t>𝜔</m:t>
                    </m:r>
                    <m:r>
                      <a:rPr lang="en-US" b="0" i="1" noProof="0" smtClean="0">
                        <a:latin typeface="Cambria Math" panose="02040503050406030204" pitchFamily="18" charset="0"/>
                      </a:rPr>
                      <m:t>=</m:t>
                    </m:r>
                    <m:rad>
                      <m:radPr>
                        <m:degHide m:val="on"/>
                        <m:ctrlPr>
                          <a:rPr lang="en-US" b="0" i="1" noProof="0" smtClean="0">
                            <a:latin typeface="Cambria Math" panose="02040503050406030204" pitchFamily="18" charset="0"/>
                          </a:rPr>
                        </m:ctrlPr>
                      </m:radPr>
                      <m:deg/>
                      <m:e>
                        <m:r>
                          <a:rPr lang="en-US" b="0" i="1" noProof="0" smtClean="0">
                            <a:latin typeface="Cambria Math" panose="02040503050406030204" pitchFamily="18" charset="0"/>
                          </a:rPr>
                          <m:t>𝑘</m:t>
                        </m:r>
                        <m:r>
                          <a:rPr lang="en-US" b="0" i="1" noProof="0" smtClean="0">
                            <a:latin typeface="Cambria Math" panose="02040503050406030204" pitchFamily="18" charset="0"/>
                          </a:rPr>
                          <m:t>/</m:t>
                        </m:r>
                        <m:r>
                          <a:rPr lang="en-US" b="0" i="1" noProof="0" smtClean="0">
                            <a:latin typeface="Cambria Math" panose="02040503050406030204" pitchFamily="18" charset="0"/>
                          </a:rPr>
                          <m:t>𝑚</m:t>
                        </m:r>
                      </m:e>
                    </m:rad>
                    <m:r>
                      <a:rPr lang="en-US" b="0" i="1" noProof="0" smtClean="0">
                        <a:latin typeface="Cambria Math" panose="02040503050406030204" pitchFamily="18" charset="0"/>
                      </a:rPr>
                      <m:t> </m:t>
                    </m:r>
                  </m:oMath>
                </a14:m>
                <a:r>
                  <a:rPr lang="en-US" noProof="0" dirty="0"/>
                  <a:t>is the natural frequency and </a:t>
                </a:r>
                <a14:m>
                  <m:oMath xmlns:m="http://schemas.openxmlformats.org/officeDocument/2006/math">
                    <m:r>
                      <a:rPr lang="en-US" b="0" i="1" noProof="0" smtClean="0">
                        <a:latin typeface="Cambria Math" panose="02040503050406030204" pitchFamily="18" charset="0"/>
                      </a:rPr>
                      <m:t>𝐴</m:t>
                    </m:r>
                    <m:r>
                      <a:rPr lang="en-US" b="0" i="1" noProof="0" smtClean="0">
                        <a:latin typeface="Cambria Math" panose="02040503050406030204" pitchFamily="18" charset="0"/>
                      </a:rPr>
                      <m:t>, </m:t>
                    </m:r>
                    <m:r>
                      <a:rPr lang="en-US" b="0" i="1" noProof="0" smtClean="0">
                        <a:latin typeface="Cambria Math" panose="02040503050406030204" pitchFamily="18" charset="0"/>
                      </a:rPr>
                      <m:t>𝜙</m:t>
                    </m:r>
                  </m:oMath>
                </a14:m>
                <a:r>
                  <a:rPr lang="en-US" noProof="0" dirty="0"/>
                  <a:t> are determined by the initial conditions </a:t>
                </a:r>
                <a14:m>
                  <m:oMath xmlns:m="http://schemas.openxmlformats.org/officeDocument/2006/math">
                    <m:r>
                      <a:rPr lang="en-US" b="0" i="1" noProof="0" smtClean="0">
                        <a:latin typeface="Cambria Math" panose="02040503050406030204" pitchFamily="18" charset="0"/>
                      </a:rPr>
                      <m:t>𝑥</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0</m:t>
                        </m:r>
                      </m:e>
                    </m:d>
                    <m:r>
                      <a:rPr lang="en-US" b="0" i="1" noProof="0" smtClean="0">
                        <a:latin typeface="Cambria Math" panose="02040503050406030204" pitchFamily="18" charset="0"/>
                      </a:rPr>
                      <m:t>, </m:t>
                    </m:r>
                    <m:acc>
                      <m:accPr>
                        <m:chr m:val="̇"/>
                        <m:ctrlPr>
                          <a:rPr lang="en-US" b="0" i="1" noProof="0" smtClean="0">
                            <a:latin typeface="Cambria Math" panose="02040503050406030204" pitchFamily="18" charset="0"/>
                          </a:rPr>
                        </m:ctrlPr>
                      </m:accPr>
                      <m:e>
                        <m:r>
                          <a:rPr lang="en-US" b="0" i="1" noProof="0" smtClean="0">
                            <a:latin typeface="Cambria Math" panose="02040503050406030204" pitchFamily="18" charset="0"/>
                          </a:rPr>
                          <m:t>𝑥</m:t>
                        </m:r>
                      </m:e>
                    </m:acc>
                    <m:r>
                      <a:rPr lang="en-US" b="0" i="1" noProof="0" smtClean="0">
                        <a:latin typeface="Cambria Math" panose="02040503050406030204" pitchFamily="18" charset="0"/>
                      </a:rPr>
                      <m:t>(0)</m:t>
                    </m:r>
                  </m:oMath>
                </a14:m>
                <a:endParaRPr lang="en-US" noProof="0" dirty="0"/>
              </a:p>
              <a:p>
                <a:endParaRPr lang="en-US" noProof="0" dirty="0"/>
              </a:p>
              <a:p>
                <a:r>
                  <a:rPr lang="en-US" noProof="0" dirty="0"/>
                  <a:t>Alternatively the system can be described by</a:t>
                </a:r>
              </a:p>
              <a:p>
                <a:pPr marL="285750" indent="-285750">
                  <a:buFont typeface="Arial" panose="020B0604020202020204" pitchFamily="34" charset="0"/>
                  <a:buChar char="•"/>
                </a:pPr>
                <a:r>
                  <a:rPr lang="en-US" noProof="0" dirty="0">
                    <a:solidFill>
                      <a:schemeClr val="bg2"/>
                    </a:solidFill>
                  </a:rPr>
                  <a:t>Hamiltonian Mechanics</a:t>
                </a:r>
              </a:p>
              <a:p>
                <a:pPr marL="285750" indent="-285750">
                  <a:buFont typeface="Arial" panose="020B0604020202020204" pitchFamily="34" charset="0"/>
                  <a:buChar char="•"/>
                </a:pPr>
                <a:r>
                  <a:rPr lang="en-US" noProof="0" dirty="0">
                    <a:solidFill>
                      <a:schemeClr val="bg2"/>
                    </a:solidFill>
                  </a:rPr>
                  <a:t>Euler-Lagrange Equation</a:t>
                </a:r>
              </a:p>
            </p:txBody>
          </p:sp>
        </mc:Choice>
        <mc:Fallback xmlns="">
          <p:sp>
            <p:nvSpPr>
              <p:cNvPr id="2" name="Content Placeholder 1">
                <a:extLst>
                  <a:ext uri="{FF2B5EF4-FFF2-40B4-BE49-F238E27FC236}">
                    <a16:creationId xmlns:a16="http://schemas.microsoft.com/office/drawing/2014/main" id="{07AF0C84-B72E-FD02-1CF0-9A5CFF4A2F11}"/>
                  </a:ext>
                </a:extLst>
              </p:cNvPr>
              <p:cNvSpPr>
                <a:spLocks noGrp="1" noRot="1" noChangeAspect="1" noMove="1" noResize="1" noEditPoints="1" noAdjustHandles="1" noChangeArrowheads="1" noChangeShapeType="1" noTextEdit="1"/>
              </p:cNvSpPr>
              <p:nvPr>
                <p:ph idx="1"/>
              </p:nvPr>
            </p:nvSpPr>
            <p:spPr>
              <a:blipFill>
                <a:blip r:embed="rId3"/>
                <a:stretch>
                  <a:fillRect l="-1289" t="-922"/>
                </a:stretch>
              </a:blipFill>
            </p:spPr>
            <p:txBody>
              <a:bodyPr/>
              <a:lstStyle/>
              <a:p>
                <a:r>
                  <a:rPr lang="de-DE">
                    <a:noFill/>
                  </a:rPr>
                  <a:t> </a:t>
                </a:r>
              </a:p>
            </p:txBody>
          </p:sp>
        </mc:Fallback>
      </mc:AlternateContent>
      <p:sp>
        <p:nvSpPr>
          <p:cNvPr id="3" name="Title 2">
            <a:extLst>
              <a:ext uri="{FF2B5EF4-FFF2-40B4-BE49-F238E27FC236}">
                <a16:creationId xmlns:a16="http://schemas.microsoft.com/office/drawing/2014/main" id="{52C96F12-D1C9-2461-F83F-7586C3E16614}"/>
              </a:ext>
            </a:extLst>
          </p:cNvPr>
          <p:cNvSpPr>
            <a:spLocks noGrp="1"/>
          </p:cNvSpPr>
          <p:nvPr>
            <p:ph type="title"/>
          </p:nvPr>
        </p:nvSpPr>
        <p:spPr/>
        <p:txBody>
          <a:bodyPr/>
          <a:lstStyle/>
          <a:p>
            <a:r>
              <a:rPr lang="da-DK" dirty="0"/>
              <a:t>3.9.8 </a:t>
            </a:r>
            <a:r>
              <a:rPr lang="da-DK" dirty="0" err="1"/>
              <a:t>Physics-Inspired</a:t>
            </a:r>
            <a:r>
              <a:rPr lang="da-DK" dirty="0"/>
              <a:t> Architectures for Dynamics</a:t>
            </a:r>
            <a:endParaRPr lang="en-US" dirty="0"/>
          </a:p>
        </p:txBody>
      </p:sp>
      <p:sp>
        <p:nvSpPr>
          <p:cNvPr id="4" name="Slide Number Placeholder 3">
            <a:extLst>
              <a:ext uri="{FF2B5EF4-FFF2-40B4-BE49-F238E27FC236}">
                <a16:creationId xmlns:a16="http://schemas.microsoft.com/office/drawing/2014/main" id="{729E989C-E43E-D39A-1898-A873E5567503}"/>
              </a:ext>
            </a:extLst>
          </p:cNvPr>
          <p:cNvSpPr>
            <a:spLocks noGrp="1"/>
          </p:cNvSpPr>
          <p:nvPr>
            <p:ph type="sldNum" sz="quarter" idx="11"/>
          </p:nvPr>
        </p:nvSpPr>
        <p:spPr/>
        <p:txBody>
          <a:bodyPr/>
          <a:lstStyle/>
          <a:p>
            <a:fld id="{CE58CB1E-F828-4F11-99E0-327109AF9DA4}" type="slidenum">
              <a:rPr lang="de-DE" smtClean="0"/>
              <a:pPr/>
              <a:t>38</a:t>
            </a:fld>
            <a:endParaRPr lang="de-DE"/>
          </a:p>
        </p:txBody>
      </p:sp>
      <p:sp>
        <p:nvSpPr>
          <p:cNvPr id="5" name="Footer Placeholder 4">
            <a:extLst>
              <a:ext uri="{FF2B5EF4-FFF2-40B4-BE49-F238E27FC236}">
                <a16:creationId xmlns:a16="http://schemas.microsoft.com/office/drawing/2014/main" id="{E04963AD-0C50-47B1-8026-1CBFECF7145F}"/>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spTree>
    <p:extLst>
      <p:ext uri="{BB962C8B-B14F-4D97-AF65-F5344CB8AC3E}">
        <p14:creationId xmlns:p14="http://schemas.microsoft.com/office/powerpoint/2010/main" val="24927103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xEl>
                                              <p:pRg st="12" end="12"/>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B9A840B5-A4A0-7AC1-1C8D-2963993DF6F8}"/>
                  </a:ext>
                </a:extLst>
              </p:cNvPr>
              <p:cNvSpPr>
                <a:spLocks noGrp="1"/>
              </p:cNvSpPr>
              <p:nvPr>
                <p:ph idx="1"/>
              </p:nvPr>
            </p:nvSpPr>
            <p:spPr/>
            <p:txBody>
              <a:bodyPr/>
              <a:lstStyle/>
              <a:p>
                <a:r>
                  <a:rPr lang="en-US" noProof="0" dirty="0"/>
                  <a:t>In Hamiltonian mechanics, systems are described by </a:t>
                </a:r>
                <a:r>
                  <a:rPr lang="en-US" noProof="0" dirty="0">
                    <a:solidFill>
                      <a:schemeClr val="bg2"/>
                    </a:solidFill>
                  </a:rPr>
                  <a:t>coordinate pairs </a:t>
                </a:r>
                <a:r>
                  <a:rPr lang="en-US" noProof="0" dirty="0"/>
                  <a:t>(</a:t>
                </a:r>
                <a:r>
                  <a:rPr lang="en-US" noProof="0" dirty="0">
                    <a:solidFill>
                      <a:schemeClr val="bg2"/>
                    </a:solidFill>
                  </a:rPr>
                  <a:t>position</a:t>
                </a:r>
                <a:r>
                  <a:rPr lang="en-US" noProof="0" dirty="0"/>
                  <a:t> &amp;</a:t>
                </a:r>
                <a:r>
                  <a:rPr lang="en-US" noProof="0" dirty="0">
                    <a:solidFill>
                      <a:schemeClr val="bg2"/>
                    </a:solidFill>
                  </a:rPr>
                  <a:t> momentum</a:t>
                </a:r>
                <a:r>
                  <a:rPr lang="en-US" noProof="0" dirty="0"/>
                  <a:t>, i.e., </a:t>
                </a:r>
                <a14:m>
                  <m:oMath xmlns:m="http://schemas.openxmlformats.org/officeDocument/2006/math">
                    <m:r>
                      <a:rPr lang="en-US" b="1" i="1" noProof="0" smtClean="0">
                        <a:latin typeface="Cambria Math" panose="02040503050406030204" pitchFamily="18" charset="0"/>
                      </a:rPr>
                      <m:t>𝒑</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𝑡</m:t>
                        </m:r>
                      </m:e>
                    </m:d>
                    <m:r>
                      <a:rPr lang="en-US" b="0" i="1" noProof="0" smtClean="0">
                        <a:latin typeface="Cambria Math" panose="02040503050406030204" pitchFamily="18" charset="0"/>
                      </a:rPr>
                      <m:t>=</m:t>
                    </m:r>
                    <m:r>
                      <a:rPr lang="en-US" b="0" i="1" noProof="0" smtClean="0">
                        <a:latin typeface="Cambria Math" panose="02040503050406030204" pitchFamily="18" charset="0"/>
                      </a:rPr>
                      <m:t>𝑚</m:t>
                    </m:r>
                    <m:acc>
                      <m:accPr>
                        <m:chr m:val="̇"/>
                        <m:ctrlPr>
                          <a:rPr lang="en-US" b="1" i="1" noProof="0" smtClean="0">
                            <a:latin typeface="Cambria Math" panose="02040503050406030204" pitchFamily="18" charset="0"/>
                          </a:rPr>
                        </m:ctrlPr>
                      </m:accPr>
                      <m:e>
                        <m:r>
                          <a:rPr lang="en-US" b="1" i="1" noProof="0" smtClean="0">
                            <a:latin typeface="Cambria Math" panose="02040503050406030204" pitchFamily="18" charset="0"/>
                          </a:rPr>
                          <m:t>𝒙</m:t>
                        </m:r>
                      </m:e>
                    </m:acc>
                    <m:r>
                      <a:rPr lang="en-US" b="0" i="1" noProof="0" smtClean="0">
                        <a:latin typeface="Cambria Math" panose="02040503050406030204" pitchFamily="18" charset="0"/>
                      </a:rPr>
                      <m:t>(</m:t>
                    </m:r>
                    <m:r>
                      <a:rPr lang="en-US" b="0" i="1" noProof="0" smtClean="0">
                        <a:latin typeface="Cambria Math" panose="02040503050406030204" pitchFamily="18" charset="0"/>
                      </a:rPr>
                      <m:t>𝑡</m:t>
                    </m:r>
                    <m:r>
                      <a:rPr lang="en-US" b="0" i="1" noProof="0" smtClean="0">
                        <a:latin typeface="Cambria Math" panose="02040503050406030204" pitchFamily="18" charset="0"/>
                      </a:rPr>
                      <m:t>)</m:t>
                    </m:r>
                  </m:oMath>
                </a14:m>
                <a:r>
                  <a:rPr lang="en-US" noProof="0" dirty="0"/>
                  <a:t>) </a:t>
                </a:r>
              </a:p>
              <a:p>
                <a:pPr/>
                <a14:m>
                  <m:oMathPara xmlns:m="http://schemas.openxmlformats.org/officeDocument/2006/math">
                    <m:oMathParaPr>
                      <m:jc m:val="centerGroup"/>
                    </m:oMathParaPr>
                    <m:oMath xmlns:m="http://schemas.openxmlformats.org/officeDocument/2006/math">
                      <m:d>
                        <m:dPr>
                          <m:begChr m:val="["/>
                          <m:endChr m:val="]"/>
                          <m:ctrlPr>
                            <a:rPr lang="en-US" b="0" i="1" noProof="0" smtClean="0">
                              <a:latin typeface="Cambria Math" panose="02040503050406030204" pitchFamily="18" charset="0"/>
                            </a:rPr>
                          </m:ctrlPr>
                        </m:dPr>
                        <m:e>
                          <m:r>
                            <a:rPr lang="en-US" b="1" i="1" noProof="0" smtClean="0">
                              <a:latin typeface="Cambria Math" panose="02040503050406030204" pitchFamily="18" charset="0"/>
                            </a:rPr>
                            <m:t>𝒙</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𝑡</m:t>
                              </m:r>
                            </m:e>
                          </m:d>
                          <m:r>
                            <a:rPr lang="en-US" b="0" i="1" noProof="0" smtClean="0">
                              <a:latin typeface="Cambria Math" panose="02040503050406030204" pitchFamily="18" charset="0"/>
                            </a:rPr>
                            <m:t>, </m:t>
                          </m:r>
                          <m:r>
                            <a:rPr lang="en-US" b="1" i="1" noProof="0" smtClean="0">
                              <a:latin typeface="Cambria Math" panose="02040503050406030204" pitchFamily="18" charset="0"/>
                            </a:rPr>
                            <m:t>𝒑</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𝑡</m:t>
                              </m:r>
                            </m:e>
                          </m:d>
                        </m:e>
                      </m:d>
                    </m:oMath>
                  </m:oMathPara>
                </a14:m>
                <a:endParaRPr lang="en-US" b="0" noProof="0" dirty="0"/>
              </a:p>
              <a:p>
                <a:r>
                  <a:rPr lang="en-US" noProof="0" dirty="0"/>
                  <a:t>The scalar</a:t>
                </a:r>
                <a:r>
                  <a:rPr lang="en-US" noProof="0" dirty="0">
                    <a:solidFill>
                      <a:schemeClr val="bg1">
                        <a:lumMod val="50000"/>
                      </a:schemeClr>
                    </a:solidFill>
                  </a:rPr>
                  <a:t> </a:t>
                </a:r>
                <a:r>
                  <a:rPr lang="en-US" noProof="0" dirty="0">
                    <a:solidFill>
                      <a:schemeClr val="bg2"/>
                    </a:solidFill>
                  </a:rPr>
                  <a:t>Hamiltonian</a:t>
                </a:r>
                <a:r>
                  <a:rPr lang="en-US" noProof="0" dirty="0">
                    <a:solidFill>
                      <a:schemeClr val="bg1">
                        <a:lumMod val="50000"/>
                      </a:schemeClr>
                    </a:solidFill>
                  </a:rPr>
                  <a:t> </a:t>
                </a:r>
                <a14:m>
                  <m:oMath xmlns:m="http://schemas.openxmlformats.org/officeDocument/2006/math">
                    <m:r>
                      <a:rPr lang="en-US" i="1" noProof="0" smtClean="0">
                        <a:latin typeface="Cambria Math" panose="02040503050406030204" pitchFamily="18" charset="0"/>
                        <a:ea typeface="Cambria Math" panose="02040503050406030204" pitchFamily="18" charset="0"/>
                      </a:rPr>
                      <m:t>ℋ</m:t>
                    </m:r>
                    <m:d>
                      <m:dPr>
                        <m:ctrlPr>
                          <a:rPr lang="en-US" b="0" i="1" noProof="0" smtClean="0">
                            <a:latin typeface="Cambria Math" panose="02040503050406030204" pitchFamily="18" charset="0"/>
                            <a:ea typeface="Cambria Math" panose="02040503050406030204" pitchFamily="18" charset="0"/>
                          </a:rPr>
                        </m:ctrlPr>
                      </m:dPr>
                      <m:e>
                        <m:r>
                          <a:rPr lang="en-US" b="1" i="1" noProof="0" smtClean="0">
                            <a:latin typeface="Cambria Math" panose="02040503050406030204" pitchFamily="18" charset="0"/>
                            <a:ea typeface="Cambria Math" panose="02040503050406030204" pitchFamily="18" charset="0"/>
                          </a:rPr>
                          <m:t>𝒙</m:t>
                        </m:r>
                        <m:d>
                          <m:dPr>
                            <m:ctrlPr>
                              <a:rPr lang="en-US" b="0" i="1" noProof="0" smtClean="0">
                                <a:latin typeface="Cambria Math" panose="02040503050406030204" pitchFamily="18" charset="0"/>
                                <a:ea typeface="Cambria Math" panose="02040503050406030204" pitchFamily="18" charset="0"/>
                              </a:rPr>
                            </m:ctrlPr>
                          </m:dPr>
                          <m:e>
                            <m:r>
                              <a:rPr lang="en-US" b="0" i="1" noProof="0" smtClean="0">
                                <a:latin typeface="Cambria Math" panose="02040503050406030204" pitchFamily="18" charset="0"/>
                                <a:ea typeface="Cambria Math" panose="02040503050406030204" pitchFamily="18" charset="0"/>
                              </a:rPr>
                              <m:t>𝑡</m:t>
                            </m:r>
                          </m:e>
                        </m:d>
                        <m:r>
                          <a:rPr lang="en-US" b="0" i="1" noProof="0" smtClean="0">
                            <a:latin typeface="Cambria Math" panose="02040503050406030204" pitchFamily="18" charset="0"/>
                            <a:ea typeface="Cambria Math" panose="02040503050406030204" pitchFamily="18" charset="0"/>
                          </a:rPr>
                          <m:t>, </m:t>
                        </m:r>
                        <m:r>
                          <a:rPr lang="en-US" b="1" i="1" noProof="0" smtClean="0">
                            <a:latin typeface="Cambria Math" panose="02040503050406030204" pitchFamily="18" charset="0"/>
                            <a:ea typeface="Cambria Math" panose="02040503050406030204" pitchFamily="18" charset="0"/>
                          </a:rPr>
                          <m:t>𝒑</m:t>
                        </m:r>
                        <m:d>
                          <m:dPr>
                            <m:ctrlPr>
                              <a:rPr lang="en-US" b="0" i="1" noProof="0" smtClean="0">
                                <a:latin typeface="Cambria Math" panose="02040503050406030204" pitchFamily="18" charset="0"/>
                                <a:ea typeface="Cambria Math" panose="02040503050406030204" pitchFamily="18" charset="0"/>
                              </a:rPr>
                            </m:ctrlPr>
                          </m:dPr>
                          <m:e>
                            <m:r>
                              <a:rPr lang="en-US" b="0" i="1" noProof="0" smtClean="0">
                                <a:latin typeface="Cambria Math" panose="02040503050406030204" pitchFamily="18" charset="0"/>
                                <a:ea typeface="Cambria Math" panose="02040503050406030204" pitchFamily="18" charset="0"/>
                              </a:rPr>
                              <m:t>𝑡</m:t>
                            </m:r>
                          </m:e>
                        </m:d>
                      </m:e>
                    </m:d>
                  </m:oMath>
                </a14:m>
                <a:r>
                  <a:rPr lang="en-US" noProof="0" dirty="0"/>
                  <a:t> represents the system’s total energy </a:t>
                </a:r>
                <a14:m>
                  <m:oMath xmlns:m="http://schemas.openxmlformats.org/officeDocument/2006/math">
                    <m:sSub>
                      <m:sSubPr>
                        <m:ctrlPr>
                          <a:rPr lang="en-US" b="0" i="1" noProof="0" smtClean="0">
                            <a:latin typeface="Cambria Math" panose="02040503050406030204" pitchFamily="18" charset="0"/>
                          </a:rPr>
                        </m:ctrlPr>
                      </m:sSubPr>
                      <m:e>
                        <m:r>
                          <m:rPr>
                            <m:sty m:val="p"/>
                          </m:rPr>
                          <a:rPr lang="en-US" b="0" i="0" noProof="0" smtClean="0">
                            <a:latin typeface="Cambria Math" panose="02040503050406030204" pitchFamily="18" charset="0"/>
                          </a:rPr>
                          <m:t>Π</m:t>
                        </m:r>
                      </m:e>
                      <m:sub>
                        <m:r>
                          <m:rPr>
                            <m:sty m:val="p"/>
                          </m:rPr>
                          <a:rPr lang="en-US" b="0" i="0" noProof="0" smtClean="0">
                            <a:latin typeface="Cambria Math" panose="02040503050406030204" pitchFamily="18" charset="0"/>
                          </a:rPr>
                          <m:t>tot</m:t>
                        </m:r>
                      </m:sub>
                    </m:sSub>
                  </m:oMath>
                </a14:m>
                <a:r>
                  <a:rPr lang="en-US" noProof="0" dirty="0"/>
                  <a:t> and fulfills</a:t>
                </a:r>
              </a:p>
              <a:p>
                <a:pPr/>
                <a14:m>
                  <m:oMathPara xmlns:m="http://schemas.openxmlformats.org/officeDocument/2006/math">
                    <m:oMathParaPr>
                      <m:jc m:val="centerGroup"/>
                    </m:oMathParaPr>
                    <m:oMath xmlns:m="http://schemas.openxmlformats.org/officeDocument/2006/math">
                      <m:f>
                        <m:fPr>
                          <m:ctrlPr>
                            <a:rPr lang="en-US" b="0" i="1" noProof="0" smtClean="0">
                              <a:latin typeface="Cambria Math" panose="02040503050406030204" pitchFamily="18" charset="0"/>
                            </a:rPr>
                          </m:ctrlPr>
                        </m:fPr>
                        <m:num>
                          <m:r>
                            <a:rPr lang="en-US" b="0" i="1" noProof="0" smtClean="0">
                              <a:latin typeface="Cambria Math" panose="02040503050406030204" pitchFamily="18" charset="0"/>
                            </a:rPr>
                            <m:t>𝑑</m:t>
                          </m:r>
                          <m:r>
                            <a:rPr lang="en-US" b="1" i="1" noProof="0" smtClean="0">
                              <a:latin typeface="Cambria Math" panose="02040503050406030204" pitchFamily="18" charset="0"/>
                            </a:rPr>
                            <m:t>𝒙</m:t>
                          </m:r>
                        </m:num>
                        <m:den>
                          <m:r>
                            <a:rPr lang="en-US" b="0" i="1" noProof="0" smtClean="0">
                              <a:latin typeface="Cambria Math" panose="02040503050406030204" pitchFamily="18" charset="0"/>
                            </a:rPr>
                            <m:t>𝑑𝑡</m:t>
                          </m:r>
                        </m:den>
                      </m:f>
                      <m:r>
                        <a:rPr lang="en-US" b="0" i="1" noProof="0" smtClean="0">
                          <a:latin typeface="Cambria Math" panose="02040503050406030204" pitchFamily="18" charset="0"/>
                        </a:rPr>
                        <m:t>=</m:t>
                      </m:r>
                      <m:f>
                        <m:fPr>
                          <m:ctrlPr>
                            <a:rPr lang="en-US" b="0" i="1" noProof="0" smtClean="0">
                              <a:latin typeface="Cambria Math" panose="02040503050406030204" pitchFamily="18" charset="0"/>
                              <a:ea typeface="Cambria Math" panose="02040503050406030204" pitchFamily="18" charset="0"/>
                            </a:rPr>
                          </m:ctrlPr>
                        </m:fPr>
                        <m:num>
                          <m:r>
                            <a:rPr lang="en-US" b="0" i="1" noProof="0" smtClean="0">
                              <a:latin typeface="Cambria Math" panose="02040503050406030204" pitchFamily="18" charset="0"/>
                            </a:rPr>
                            <m:t>𝜕</m:t>
                          </m:r>
                          <m:r>
                            <a:rPr lang="en-US" b="0" i="1" noProof="0" smtClean="0">
                              <a:latin typeface="Cambria Math" panose="02040503050406030204" pitchFamily="18" charset="0"/>
                              <a:ea typeface="Cambria Math" panose="02040503050406030204" pitchFamily="18" charset="0"/>
                            </a:rPr>
                            <m:t>ℋ</m:t>
                          </m:r>
                        </m:num>
                        <m:den>
                          <m:r>
                            <a:rPr lang="en-US" b="0" i="1" noProof="0" smtClean="0">
                              <a:latin typeface="Cambria Math" panose="02040503050406030204" pitchFamily="18" charset="0"/>
                              <a:ea typeface="Cambria Math" panose="02040503050406030204" pitchFamily="18" charset="0"/>
                            </a:rPr>
                            <m:t>𝜕</m:t>
                          </m:r>
                          <m:r>
                            <a:rPr lang="en-US" b="1" i="1" noProof="0" smtClean="0">
                              <a:latin typeface="Cambria Math" panose="02040503050406030204" pitchFamily="18" charset="0"/>
                              <a:ea typeface="Cambria Math" panose="02040503050406030204" pitchFamily="18" charset="0"/>
                            </a:rPr>
                            <m:t>𝒑</m:t>
                          </m:r>
                        </m:den>
                      </m:f>
                      <m:r>
                        <a:rPr lang="en-US" b="0" i="1" noProof="0" smtClean="0">
                          <a:latin typeface="Cambria Math" panose="02040503050406030204" pitchFamily="18" charset="0"/>
                          <a:ea typeface="Cambria Math" panose="02040503050406030204" pitchFamily="18" charset="0"/>
                        </a:rPr>
                        <m:t>,</m:t>
                      </m:r>
                    </m:oMath>
                    <m:oMath xmlns:m="http://schemas.openxmlformats.org/officeDocument/2006/math">
                      <m:f>
                        <m:fPr>
                          <m:ctrlPr>
                            <a:rPr lang="en-US" b="0" i="1" noProof="0" smtClean="0">
                              <a:latin typeface="Cambria Math" panose="02040503050406030204" pitchFamily="18" charset="0"/>
                              <a:ea typeface="Cambria Math" panose="02040503050406030204" pitchFamily="18" charset="0"/>
                            </a:rPr>
                          </m:ctrlPr>
                        </m:fPr>
                        <m:num>
                          <m:r>
                            <a:rPr lang="en-US" b="0" i="1" noProof="0" smtClean="0">
                              <a:latin typeface="Cambria Math" panose="02040503050406030204" pitchFamily="18" charset="0"/>
                              <a:ea typeface="Cambria Math" panose="02040503050406030204" pitchFamily="18" charset="0"/>
                            </a:rPr>
                            <m:t>𝑑</m:t>
                          </m:r>
                          <m:r>
                            <a:rPr lang="en-US" b="1" i="1" noProof="0" smtClean="0">
                              <a:latin typeface="Cambria Math" panose="02040503050406030204" pitchFamily="18" charset="0"/>
                              <a:ea typeface="Cambria Math" panose="02040503050406030204" pitchFamily="18" charset="0"/>
                            </a:rPr>
                            <m:t>𝒑</m:t>
                          </m:r>
                        </m:num>
                        <m:den>
                          <m:r>
                            <a:rPr lang="en-US" b="0" i="1" noProof="0" smtClean="0">
                              <a:latin typeface="Cambria Math" panose="02040503050406030204" pitchFamily="18" charset="0"/>
                              <a:ea typeface="Cambria Math" panose="02040503050406030204" pitchFamily="18" charset="0"/>
                            </a:rPr>
                            <m:t>𝑑𝑡</m:t>
                          </m:r>
                        </m:den>
                      </m:f>
                      <m:r>
                        <a:rPr lang="en-US" b="0" i="1" noProof="0" smtClean="0">
                          <a:latin typeface="Cambria Math" panose="02040503050406030204" pitchFamily="18" charset="0"/>
                          <a:ea typeface="Cambria Math" panose="02040503050406030204" pitchFamily="18" charset="0"/>
                        </a:rPr>
                        <m:t>=−</m:t>
                      </m:r>
                      <m:f>
                        <m:fPr>
                          <m:ctrlPr>
                            <a:rPr lang="en-US" b="0" i="1" noProof="0" smtClean="0">
                              <a:latin typeface="Cambria Math" panose="02040503050406030204" pitchFamily="18" charset="0"/>
                              <a:ea typeface="Cambria Math" panose="02040503050406030204" pitchFamily="18" charset="0"/>
                            </a:rPr>
                          </m:ctrlPr>
                        </m:fPr>
                        <m:num>
                          <m:r>
                            <a:rPr lang="en-US" b="0" i="1" noProof="0" smtClean="0">
                              <a:latin typeface="Cambria Math" panose="02040503050406030204" pitchFamily="18" charset="0"/>
                              <a:ea typeface="Cambria Math" panose="02040503050406030204" pitchFamily="18" charset="0"/>
                            </a:rPr>
                            <m:t>𝜕</m:t>
                          </m:r>
                          <m:r>
                            <a:rPr lang="en-US" b="0" i="1" noProof="0" smtClean="0">
                              <a:latin typeface="Cambria Math" panose="02040503050406030204" pitchFamily="18" charset="0"/>
                              <a:ea typeface="Cambria Math" panose="02040503050406030204" pitchFamily="18" charset="0"/>
                            </a:rPr>
                            <m:t>ℋ</m:t>
                          </m:r>
                        </m:num>
                        <m:den>
                          <m:r>
                            <a:rPr lang="en-US" b="0" i="1" noProof="0" smtClean="0">
                              <a:latin typeface="Cambria Math" panose="02040503050406030204" pitchFamily="18" charset="0"/>
                              <a:ea typeface="Cambria Math" panose="02040503050406030204" pitchFamily="18" charset="0"/>
                            </a:rPr>
                            <m:t>𝜕</m:t>
                          </m:r>
                          <m:r>
                            <a:rPr lang="en-US" b="1" i="1" noProof="0" smtClean="0">
                              <a:latin typeface="Cambria Math" panose="02040503050406030204" pitchFamily="18" charset="0"/>
                              <a:ea typeface="Cambria Math" panose="02040503050406030204" pitchFamily="18" charset="0"/>
                            </a:rPr>
                            <m:t>𝒙</m:t>
                          </m:r>
                        </m:den>
                      </m:f>
                      <m:r>
                        <a:rPr lang="en-US" b="0" i="1" noProof="0" smtClean="0">
                          <a:latin typeface="Cambria Math" panose="02040503050406030204" pitchFamily="18" charset="0"/>
                          <a:ea typeface="Cambria Math" panose="02040503050406030204" pitchFamily="18" charset="0"/>
                        </a:rPr>
                        <m:t> </m:t>
                      </m:r>
                    </m:oMath>
                  </m:oMathPara>
                </a14:m>
                <a:endParaRPr lang="en-US" noProof="0" dirty="0"/>
              </a:p>
              <a:p>
                <a:r>
                  <a:rPr lang="en-US" noProof="0" dirty="0"/>
                  <a:t>Given the Hamiltonian, the time evolution of </a:t>
                </a:r>
                <a14:m>
                  <m:oMath xmlns:m="http://schemas.openxmlformats.org/officeDocument/2006/math">
                    <m:r>
                      <a:rPr lang="en-US" b="1" i="1" noProof="0" smtClean="0">
                        <a:latin typeface="Cambria Math" panose="02040503050406030204" pitchFamily="18" charset="0"/>
                      </a:rPr>
                      <m:t>𝒙</m:t>
                    </m:r>
                    <m:r>
                      <a:rPr lang="en-US" b="0" i="1" noProof="0" smtClean="0">
                        <a:latin typeface="Cambria Math" panose="02040503050406030204" pitchFamily="18" charset="0"/>
                      </a:rPr>
                      <m:t>, </m:t>
                    </m:r>
                    <m:r>
                      <a:rPr lang="en-US" b="1" i="1" noProof="0" smtClean="0">
                        <a:latin typeface="Cambria Math" panose="02040503050406030204" pitchFamily="18" charset="0"/>
                      </a:rPr>
                      <m:t>𝒑</m:t>
                    </m:r>
                  </m:oMath>
                </a14:m>
                <a:r>
                  <a:rPr lang="en-US" noProof="0" dirty="0"/>
                  <a:t> can be computed via </a:t>
                </a:r>
                <a:r>
                  <a:rPr lang="en-US" noProof="0" dirty="0">
                    <a:solidFill>
                      <a:schemeClr val="bg2"/>
                    </a:solidFill>
                  </a:rPr>
                  <a:t>integration</a:t>
                </a:r>
              </a:p>
              <a:p>
                <a:pPr/>
                <a14:m>
                  <m:oMathPara xmlns:m="http://schemas.openxmlformats.org/officeDocument/2006/math">
                    <m:oMathParaPr>
                      <m:jc m:val="centerGroup"/>
                    </m:oMathParaPr>
                    <m:oMath xmlns:m="http://schemas.openxmlformats.org/officeDocument/2006/math">
                      <m:r>
                        <a:rPr lang="en-US" b="1" i="1" noProof="0" smtClean="0">
                          <a:latin typeface="Cambria Math" panose="02040503050406030204" pitchFamily="18" charset="0"/>
                        </a:rPr>
                        <m:t>𝒙</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𝑡</m:t>
                          </m:r>
                          <m:r>
                            <a:rPr lang="en-US" b="0" i="1" noProof="0" smtClean="0">
                              <a:latin typeface="Cambria Math" panose="02040503050406030204" pitchFamily="18" charset="0"/>
                            </a:rPr>
                            <m:t>+</m:t>
                          </m:r>
                          <m:r>
                            <m:rPr>
                              <m:sty m:val="p"/>
                            </m:rPr>
                            <a:rPr lang="en-US" b="0" i="0" noProof="0" smtClean="0">
                              <a:latin typeface="Cambria Math" panose="02040503050406030204" pitchFamily="18" charset="0"/>
                            </a:rPr>
                            <m:t>Δ</m:t>
                          </m:r>
                          <m:r>
                            <a:rPr lang="en-US" b="0" i="1" noProof="0" smtClean="0">
                              <a:latin typeface="Cambria Math" panose="02040503050406030204" pitchFamily="18" charset="0"/>
                            </a:rPr>
                            <m:t>𝑡</m:t>
                          </m:r>
                        </m:e>
                      </m:d>
                      <m:r>
                        <a:rPr lang="en-US" b="0" i="1" noProof="0" smtClean="0">
                          <a:latin typeface="Cambria Math" panose="02040503050406030204" pitchFamily="18" charset="0"/>
                        </a:rPr>
                        <m:t>=</m:t>
                      </m:r>
                      <m:r>
                        <a:rPr lang="en-US" b="1" i="1" noProof="0" smtClean="0">
                          <a:latin typeface="Cambria Math" panose="02040503050406030204" pitchFamily="18" charset="0"/>
                        </a:rPr>
                        <m:t>𝒙</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𝑡</m:t>
                          </m:r>
                        </m:e>
                      </m:d>
                      <m:r>
                        <a:rPr lang="en-US" b="0" i="1" noProof="0" smtClean="0">
                          <a:latin typeface="Cambria Math" panose="02040503050406030204" pitchFamily="18" charset="0"/>
                        </a:rPr>
                        <m:t>+</m:t>
                      </m:r>
                      <m:nary>
                        <m:naryPr>
                          <m:ctrlPr>
                            <a:rPr lang="en-US" b="0" i="1" noProof="0" smtClean="0">
                              <a:latin typeface="Cambria Math" panose="02040503050406030204" pitchFamily="18" charset="0"/>
                            </a:rPr>
                          </m:ctrlPr>
                        </m:naryPr>
                        <m:sub>
                          <m:r>
                            <m:rPr>
                              <m:brk m:alnAt="23"/>
                            </m:rPr>
                            <a:rPr lang="en-US" b="0" i="1" noProof="0" smtClean="0">
                              <a:latin typeface="Cambria Math" panose="02040503050406030204" pitchFamily="18" charset="0"/>
                            </a:rPr>
                            <m:t>𝑡</m:t>
                          </m:r>
                        </m:sub>
                        <m:sup>
                          <m:r>
                            <a:rPr lang="en-US" b="0" i="1" noProof="0" smtClean="0">
                              <a:latin typeface="Cambria Math" panose="02040503050406030204" pitchFamily="18" charset="0"/>
                            </a:rPr>
                            <m:t>𝑡</m:t>
                          </m:r>
                          <m:r>
                            <a:rPr lang="en-US" b="0" i="1" noProof="0" smtClean="0">
                              <a:latin typeface="Cambria Math" panose="02040503050406030204" pitchFamily="18" charset="0"/>
                            </a:rPr>
                            <m:t>+</m:t>
                          </m:r>
                          <m:r>
                            <m:rPr>
                              <m:sty m:val="p"/>
                            </m:rPr>
                            <a:rPr lang="en-US" b="0" i="0" noProof="0" smtClean="0">
                              <a:latin typeface="Cambria Math" panose="02040503050406030204" pitchFamily="18" charset="0"/>
                            </a:rPr>
                            <m:t>Δ</m:t>
                          </m:r>
                          <m:r>
                            <a:rPr lang="en-US" b="0" i="1" noProof="0" smtClean="0">
                              <a:latin typeface="Cambria Math" panose="02040503050406030204" pitchFamily="18" charset="0"/>
                            </a:rPr>
                            <m:t>𝑡</m:t>
                          </m:r>
                        </m:sup>
                        <m:e>
                          <m:sSub>
                            <m:sSubPr>
                              <m:ctrlPr>
                                <a:rPr lang="en-US" b="0" i="1" noProof="0" smtClean="0">
                                  <a:latin typeface="Cambria Math" panose="02040503050406030204" pitchFamily="18" charset="0"/>
                                  <a:ea typeface="Cambria Math" panose="02040503050406030204" pitchFamily="18" charset="0"/>
                                </a:rPr>
                              </m:ctrlPr>
                            </m:sSubPr>
                            <m:e>
                              <m:d>
                                <m:dPr>
                                  <m:begChr m:val=""/>
                                  <m:endChr m:val="|"/>
                                  <m:ctrlPr>
                                    <a:rPr lang="en-US" i="1" noProof="0" smtClean="0">
                                      <a:latin typeface="Cambria Math" panose="02040503050406030204" pitchFamily="18" charset="0"/>
                                    </a:rPr>
                                  </m:ctrlPr>
                                </m:dPr>
                                <m:e>
                                  <m:f>
                                    <m:fPr>
                                      <m:ctrlPr>
                                        <a:rPr lang="en-US" i="1" noProof="0" smtClean="0">
                                          <a:latin typeface="Cambria Math" panose="02040503050406030204" pitchFamily="18" charset="0"/>
                                          <a:ea typeface="Cambria Math" panose="02040503050406030204" pitchFamily="18" charset="0"/>
                                        </a:rPr>
                                      </m:ctrlPr>
                                    </m:fPr>
                                    <m:num>
                                      <m:r>
                                        <a:rPr lang="en-US" i="1" noProof="0" smtClean="0">
                                          <a:latin typeface="Cambria Math" panose="02040503050406030204" pitchFamily="18" charset="0"/>
                                        </a:rPr>
                                        <m:t>𝜕</m:t>
                                      </m:r>
                                      <m:r>
                                        <a:rPr lang="en-US" i="1" noProof="0" smtClean="0">
                                          <a:latin typeface="Cambria Math" panose="02040503050406030204" pitchFamily="18" charset="0"/>
                                          <a:ea typeface="Cambria Math" panose="02040503050406030204" pitchFamily="18" charset="0"/>
                                        </a:rPr>
                                        <m:t>ℋ</m:t>
                                      </m:r>
                                    </m:num>
                                    <m:den>
                                      <m:r>
                                        <a:rPr lang="en-US" i="1" noProof="0" smtClean="0">
                                          <a:latin typeface="Cambria Math" panose="02040503050406030204" pitchFamily="18" charset="0"/>
                                          <a:ea typeface="Cambria Math" panose="02040503050406030204" pitchFamily="18" charset="0"/>
                                        </a:rPr>
                                        <m:t>𝜕</m:t>
                                      </m:r>
                                      <m:r>
                                        <a:rPr lang="en-US" b="1" i="1" noProof="0" smtClean="0">
                                          <a:latin typeface="Cambria Math" panose="02040503050406030204" pitchFamily="18" charset="0"/>
                                          <a:ea typeface="Cambria Math" panose="02040503050406030204" pitchFamily="18" charset="0"/>
                                        </a:rPr>
                                        <m:t>𝒑</m:t>
                                      </m:r>
                                    </m:den>
                                  </m:f>
                                </m:e>
                              </m:d>
                            </m:e>
                            <m:sub>
                              <m:r>
                                <a:rPr lang="en-US" b="0" i="1" noProof="0" smtClean="0">
                                  <a:latin typeface="Cambria Math" panose="02040503050406030204" pitchFamily="18" charset="0"/>
                                  <a:ea typeface="Cambria Math" panose="02040503050406030204" pitchFamily="18" charset="0"/>
                                </a:rPr>
                                <m:t>𝜏</m:t>
                              </m:r>
                            </m:sub>
                          </m:sSub>
                          <m:r>
                            <a:rPr lang="en-US" b="0" i="1" noProof="0" smtClean="0">
                              <a:latin typeface="Cambria Math" panose="02040503050406030204" pitchFamily="18" charset="0"/>
                              <a:ea typeface="Cambria Math" panose="02040503050406030204" pitchFamily="18" charset="0"/>
                            </a:rPr>
                            <m:t>𝑑</m:t>
                          </m:r>
                          <m:r>
                            <a:rPr lang="en-US" b="0" i="1" noProof="0" smtClean="0">
                              <a:latin typeface="Cambria Math" panose="02040503050406030204" pitchFamily="18" charset="0"/>
                              <a:ea typeface="Cambria Math" panose="02040503050406030204" pitchFamily="18" charset="0"/>
                            </a:rPr>
                            <m:t>𝜏</m:t>
                          </m:r>
                        </m:e>
                      </m:nary>
                    </m:oMath>
                    <m:oMath xmlns:m="http://schemas.openxmlformats.org/officeDocument/2006/math">
                      <m:r>
                        <a:rPr lang="en-US" b="1" i="1" noProof="0" smtClean="0">
                          <a:latin typeface="Cambria Math" panose="02040503050406030204" pitchFamily="18" charset="0"/>
                        </a:rPr>
                        <m:t>𝒑</m:t>
                      </m:r>
                      <m:r>
                        <a:rPr lang="en-US" b="0" i="1" noProof="0" smtClean="0">
                          <a:latin typeface="Cambria Math" panose="02040503050406030204" pitchFamily="18" charset="0"/>
                        </a:rPr>
                        <m:t>(</m:t>
                      </m:r>
                      <m:r>
                        <a:rPr lang="en-US" b="0" i="1" noProof="0" smtClean="0">
                          <a:latin typeface="Cambria Math" panose="02040503050406030204" pitchFamily="18" charset="0"/>
                        </a:rPr>
                        <m:t>𝑡</m:t>
                      </m:r>
                      <m:r>
                        <a:rPr lang="en-US" b="0" i="1" noProof="0" smtClean="0">
                          <a:latin typeface="Cambria Math" panose="02040503050406030204" pitchFamily="18" charset="0"/>
                        </a:rPr>
                        <m:t>+</m:t>
                      </m:r>
                      <m:r>
                        <m:rPr>
                          <m:sty m:val="p"/>
                        </m:rPr>
                        <a:rPr lang="en-US" b="0" i="0" noProof="0" smtClean="0">
                          <a:latin typeface="Cambria Math" panose="02040503050406030204" pitchFamily="18" charset="0"/>
                        </a:rPr>
                        <m:t>Δ</m:t>
                      </m:r>
                      <m:r>
                        <a:rPr lang="en-US" b="0" i="1" noProof="0" smtClean="0">
                          <a:latin typeface="Cambria Math" panose="02040503050406030204" pitchFamily="18" charset="0"/>
                        </a:rPr>
                        <m:t>𝑡</m:t>
                      </m:r>
                      <m:r>
                        <a:rPr lang="en-US" b="0" i="1" noProof="0" smtClean="0">
                          <a:latin typeface="Cambria Math" panose="02040503050406030204" pitchFamily="18" charset="0"/>
                        </a:rPr>
                        <m:t>)=</m:t>
                      </m:r>
                      <m:r>
                        <a:rPr lang="en-US" b="1" i="1" noProof="0" smtClean="0">
                          <a:latin typeface="Cambria Math" panose="02040503050406030204" pitchFamily="18" charset="0"/>
                        </a:rPr>
                        <m:t>𝒑</m:t>
                      </m:r>
                      <m:d>
                        <m:dPr>
                          <m:ctrlPr>
                            <a:rPr lang="en-US" i="1" noProof="0" smtClean="0">
                              <a:latin typeface="Cambria Math" panose="02040503050406030204" pitchFamily="18" charset="0"/>
                            </a:rPr>
                          </m:ctrlPr>
                        </m:dPr>
                        <m:e>
                          <m:r>
                            <a:rPr lang="en-US" i="1" noProof="0" smtClean="0">
                              <a:latin typeface="Cambria Math" panose="02040503050406030204" pitchFamily="18" charset="0"/>
                            </a:rPr>
                            <m:t>𝑡</m:t>
                          </m:r>
                        </m:e>
                      </m:d>
                      <m:r>
                        <a:rPr lang="en-US" b="0" i="1" noProof="0" smtClean="0">
                          <a:latin typeface="Cambria Math" panose="02040503050406030204" pitchFamily="18" charset="0"/>
                        </a:rPr>
                        <m:t>−</m:t>
                      </m:r>
                      <m:nary>
                        <m:naryPr>
                          <m:ctrlPr>
                            <a:rPr lang="en-US" i="1" noProof="0" smtClean="0">
                              <a:latin typeface="Cambria Math" panose="02040503050406030204" pitchFamily="18" charset="0"/>
                            </a:rPr>
                          </m:ctrlPr>
                        </m:naryPr>
                        <m:sub>
                          <m:r>
                            <m:rPr>
                              <m:brk m:alnAt="23"/>
                            </m:rPr>
                            <a:rPr lang="en-US" i="1" noProof="0" smtClean="0">
                              <a:latin typeface="Cambria Math" panose="02040503050406030204" pitchFamily="18" charset="0"/>
                            </a:rPr>
                            <m:t>𝑡</m:t>
                          </m:r>
                        </m:sub>
                        <m:sup>
                          <m:r>
                            <a:rPr lang="en-US" i="1" noProof="0" smtClean="0">
                              <a:latin typeface="Cambria Math" panose="02040503050406030204" pitchFamily="18" charset="0"/>
                            </a:rPr>
                            <m:t>𝑡</m:t>
                          </m:r>
                          <m:r>
                            <a:rPr lang="en-US" i="1" noProof="0" smtClean="0">
                              <a:latin typeface="Cambria Math" panose="02040503050406030204" pitchFamily="18" charset="0"/>
                            </a:rPr>
                            <m:t>+</m:t>
                          </m:r>
                          <m:r>
                            <m:rPr>
                              <m:sty m:val="p"/>
                            </m:rPr>
                            <a:rPr lang="en-US" noProof="0" smtClean="0">
                              <a:latin typeface="Cambria Math" panose="02040503050406030204" pitchFamily="18" charset="0"/>
                            </a:rPr>
                            <m:t>Δ</m:t>
                          </m:r>
                          <m:r>
                            <a:rPr lang="en-US" i="1" noProof="0" smtClean="0">
                              <a:latin typeface="Cambria Math" panose="02040503050406030204" pitchFamily="18" charset="0"/>
                            </a:rPr>
                            <m:t>𝑡</m:t>
                          </m:r>
                        </m:sup>
                        <m:e>
                          <m:sSub>
                            <m:sSubPr>
                              <m:ctrlPr>
                                <a:rPr lang="en-US" i="1" noProof="0" smtClean="0">
                                  <a:latin typeface="Cambria Math" panose="02040503050406030204" pitchFamily="18" charset="0"/>
                                  <a:ea typeface="Cambria Math" panose="02040503050406030204" pitchFamily="18" charset="0"/>
                                </a:rPr>
                              </m:ctrlPr>
                            </m:sSubPr>
                            <m:e>
                              <m:d>
                                <m:dPr>
                                  <m:begChr m:val=""/>
                                  <m:endChr m:val="|"/>
                                  <m:ctrlPr>
                                    <a:rPr lang="en-US" i="1" noProof="0" smtClean="0">
                                      <a:latin typeface="Cambria Math" panose="02040503050406030204" pitchFamily="18" charset="0"/>
                                    </a:rPr>
                                  </m:ctrlPr>
                                </m:dPr>
                                <m:e>
                                  <m:f>
                                    <m:fPr>
                                      <m:ctrlPr>
                                        <a:rPr lang="en-US" i="1" noProof="0" smtClean="0">
                                          <a:latin typeface="Cambria Math" panose="02040503050406030204" pitchFamily="18" charset="0"/>
                                          <a:ea typeface="Cambria Math" panose="02040503050406030204" pitchFamily="18" charset="0"/>
                                        </a:rPr>
                                      </m:ctrlPr>
                                    </m:fPr>
                                    <m:num>
                                      <m:r>
                                        <a:rPr lang="en-US" i="1" noProof="0" smtClean="0">
                                          <a:latin typeface="Cambria Math" panose="02040503050406030204" pitchFamily="18" charset="0"/>
                                        </a:rPr>
                                        <m:t>𝜕</m:t>
                                      </m:r>
                                      <m:r>
                                        <a:rPr lang="en-US" i="1" noProof="0" smtClean="0">
                                          <a:latin typeface="Cambria Math" panose="02040503050406030204" pitchFamily="18" charset="0"/>
                                          <a:ea typeface="Cambria Math" panose="02040503050406030204" pitchFamily="18" charset="0"/>
                                        </a:rPr>
                                        <m:t>ℋ</m:t>
                                      </m:r>
                                    </m:num>
                                    <m:den>
                                      <m:r>
                                        <a:rPr lang="en-US" i="1" noProof="0" smtClean="0">
                                          <a:latin typeface="Cambria Math" panose="02040503050406030204" pitchFamily="18" charset="0"/>
                                          <a:ea typeface="Cambria Math" panose="02040503050406030204" pitchFamily="18" charset="0"/>
                                        </a:rPr>
                                        <m:t>𝜕</m:t>
                                      </m:r>
                                      <m:r>
                                        <a:rPr lang="en-US" b="1" i="1" noProof="0" smtClean="0">
                                          <a:latin typeface="Cambria Math" panose="02040503050406030204" pitchFamily="18" charset="0"/>
                                          <a:ea typeface="Cambria Math" panose="02040503050406030204" pitchFamily="18" charset="0"/>
                                        </a:rPr>
                                        <m:t>𝒙</m:t>
                                      </m:r>
                                    </m:den>
                                  </m:f>
                                </m:e>
                              </m:d>
                            </m:e>
                            <m:sub>
                              <m:r>
                                <a:rPr lang="en-US" i="1" noProof="0" smtClean="0">
                                  <a:latin typeface="Cambria Math" panose="02040503050406030204" pitchFamily="18" charset="0"/>
                                  <a:ea typeface="Cambria Math" panose="02040503050406030204" pitchFamily="18" charset="0"/>
                                </a:rPr>
                                <m:t>𝜏</m:t>
                              </m:r>
                            </m:sub>
                          </m:sSub>
                          <m:r>
                            <a:rPr lang="en-US" i="1" noProof="0" smtClean="0">
                              <a:latin typeface="Cambria Math" panose="02040503050406030204" pitchFamily="18" charset="0"/>
                              <a:ea typeface="Cambria Math" panose="02040503050406030204" pitchFamily="18" charset="0"/>
                            </a:rPr>
                            <m:t>𝑑</m:t>
                          </m:r>
                          <m:r>
                            <a:rPr lang="en-US" i="1" noProof="0" smtClean="0">
                              <a:latin typeface="Cambria Math" panose="02040503050406030204" pitchFamily="18" charset="0"/>
                              <a:ea typeface="Cambria Math" panose="02040503050406030204" pitchFamily="18" charset="0"/>
                            </a:rPr>
                            <m:t>𝜏</m:t>
                          </m:r>
                        </m:e>
                      </m:nary>
                    </m:oMath>
                  </m:oMathPara>
                </a14:m>
                <a:endParaRPr lang="en-US" noProof="0" dirty="0"/>
              </a:p>
              <a:p>
                <a:r>
                  <a:rPr lang="en-US" noProof="0" dirty="0"/>
                  <a:t>Which can, e.g., be discretized with a </a:t>
                </a:r>
                <a:r>
                  <a:rPr lang="en-US" noProof="0" dirty="0">
                    <a:solidFill>
                      <a:schemeClr val="bg2"/>
                    </a:solidFill>
                  </a:rPr>
                  <a:t>forward Euler </a:t>
                </a:r>
                <a:r>
                  <a:rPr lang="en-US" noProof="0" dirty="0"/>
                  <a:t>scheme</a:t>
                </a:r>
              </a:p>
              <a:p>
                <a:pPr/>
                <a14:m>
                  <m:oMathPara xmlns:m="http://schemas.openxmlformats.org/officeDocument/2006/math">
                    <m:oMathParaPr>
                      <m:jc m:val="centerGroup"/>
                    </m:oMathParaPr>
                    <m:oMath xmlns:m="http://schemas.openxmlformats.org/officeDocument/2006/math">
                      <m:r>
                        <a:rPr lang="en-US" b="1" i="1" noProof="0" smtClean="0">
                          <a:latin typeface="Cambria Math" panose="02040503050406030204" pitchFamily="18" charset="0"/>
                        </a:rPr>
                        <m:t>𝒙</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𝑡</m:t>
                          </m:r>
                          <m:r>
                            <a:rPr lang="en-US" b="0" i="1" noProof="0" smtClean="0">
                              <a:latin typeface="Cambria Math" panose="02040503050406030204" pitchFamily="18" charset="0"/>
                            </a:rPr>
                            <m:t>+</m:t>
                          </m:r>
                          <m:r>
                            <m:rPr>
                              <m:sty m:val="p"/>
                            </m:rPr>
                            <a:rPr lang="en-US" b="0" i="0" noProof="0" smtClean="0">
                              <a:latin typeface="Cambria Math" panose="02040503050406030204" pitchFamily="18" charset="0"/>
                            </a:rPr>
                            <m:t>Δ</m:t>
                          </m:r>
                          <m:r>
                            <a:rPr lang="en-US" b="0" i="1" noProof="0" smtClean="0">
                              <a:latin typeface="Cambria Math" panose="02040503050406030204" pitchFamily="18" charset="0"/>
                            </a:rPr>
                            <m:t>𝑡</m:t>
                          </m:r>
                        </m:e>
                      </m:d>
                      <m:r>
                        <a:rPr lang="en-US" b="0" i="1" noProof="0" smtClean="0">
                          <a:latin typeface="Cambria Math" panose="02040503050406030204" pitchFamily="18" charset="0"/>
                        </a:rPr>
                        <m:t>=</m:t>
                      </m:r>
                      <m:r>
                        <a:rPr lang="en-US" b="1" i="1" noProof="0" smtClean="0">
                          <a:latin typeface="Cambria Math" panose="02040503050406030204" pitchFamily="18" charset="0"/>
                        </a:rPr>
                        <m:t>𝒙</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𝑡</m:t>
                          </m:r>
                        </m:e>
                      </m:d>
                      <m:r>
                        <a:rPr lang="en-US" b="0" i="1" noProof="0" smtClean="0">
                          <a:latin typeface="Cambria Math" panose="02040503050406030204" pitchFamily="18" charset="0"/>
                        </a:rPr>
                        <m:t>+</m:t>
                      </m:r>
                      <m:sSub>
                        <m:sSubPr>
                          <m:ctrlPr>
                            <a:rPr lang="en-US" b="0" i="1" noProof="0" smtClean="0">
                              <a:latin typeface="Cambria Math" panose="02040503050406030204" pitchFamily="18" charset="0"/>
                            </a:rPr>
                          </m:ctrlPr>
                        </m:sSubPr>
                        <m:e>
                          <m:d>
                            <m:dPr>
                              <m:begChr m:val=""/>
                              <m:endChr m:val="|"/>
                              <m:ctrlPr>
                                <a:rPr lang="en-US" b="0" i="1" noProof="0" smtClean="0">
                                  <a:latin typeface="Cambria Math" panose="02040503050406030204" pitchFamily="18" charset="0"/>
                                </a:rPr>
                              </m:ctrlPr>
                            </m:dPr>
                            <m:e>
                              <m:f>
                                <m:fPr>
                                  <m:ctrlPr>
                                    <a:rPr lang="en-US" b="0" i="1" noProof="0" smtClean="0">
                                      <a:latin typeface="Cambria Math" panose="02040503050406030204" pitchFamily="18" charset="0"/>
                                      <a:ea typeface="Cambria Math" panose="02040503050406030204" pitchFamily="18" charset="0"/>
                                    </a:rPr>
                                  </m:ctrlPr>
                                </m:fPr>
                                <m:num>
                                  <m:r>
                                    <a:rPr lang="en-US" b="0" i="1" noProof="0" smtClean="0">
                                      <a:latin typeface="Cambria Math" panose="02040503050406030204" pitchFamily="18" charset="0"/>
                                    </a:rPr>
                                    <m:t>𝜕</m:t>
                                  </m:r>
                                  <m:r>
                                    <a:rPr lang="en-US" b="0" i="1" noProof="0" smtClean="0">
                                      <a:latin typeface="Cambria Math" panose="02040503050406030204" pitchFamily="18" charset="0"/>
                                      <a:ea typeface="Cambria Math" panose="02040503050406030204" pitchFamily="18" charset="0"/>
                                    </a:rPr>
                                    <m:t>ℋ</m:t>
                                  </m:r>
                                </m:num>
                                <m:den>
                                  <m:r>
                                    <a:rPr lang="en-US" b="0" i="1" noProof="0" smtClean="0">
                                      <a:latin typeface="Cambria Math" panose="02040503050406030204" pitchFamily="18" charset="0"/>
                                      <a:ea typeface="Cambria Math" panose="02040503050406030204" pitchFamily="18" charset="0"/>
                                    </a:rPr>
                                    <m:t>𝜕</m:t>
                                  </m:r>
                                  <m:r>
                                    <a:rPr lang="en-US" b="1" i="1" noProof="0" smtClean="0">
                                      <a:latin typeface="Cambria Math" panose="02040503050406030204" pitchFamily="18" charset="0"/>
                                      <a:ea typeface="Cambria Math" panose="02040503050406030204" pitchFamily="18" charset="0"/>
                                    </a:rPr>
                                    <m:t>𝒑</m:t>
                                  </m:r>
                                </m:den>
                              </m:f>
                            </m:e>
                          </m:d>
                        </m:e>
                        <m:sub>
                          <m:r>
                            <a:rPr lang="en-US" b="0" i="1" noProof="0" smtClean="0">
                              <a:latin typeface="Cambria Math" panose="02040503050406030204" pitchFamily="18" charset="0"/>
                            </a:rPr>
                            <m:t>𝑡</m:t>
                          </m:r>
                        </m:sub>
                      </m:sSub>
                      <m:r>
                        <m:rPr>
                          <m:sty m:val="p"/>
                        </m:rPr>
                        <a:rPr lang="en-US" b="0" i="0" noProof="0" smtClean="0">
                          <a:latin typeface="Cambria Math" panose="02040503050406030204" pitchFamily="18" charset="0"/>
                        </a:rPr>
                        <m:t>Δ</m:t>
                      </m:r>
                      <m:r>
                        <a:rPr lang="en-US" b="0" i="1" noProof="0" smtClean="0">
                          <a:latin typeface="Cambria Math" panose="02040503050406030204" pitchFamily="18" charset="0"/>
                        </a:rPr>
                        <m:t>𝑡</m:t>
                      </m:r>
                      <m:r>
                        <a:rPr lang="en-US" b="0" i="1" noProof="0" smtClean="0">
                          <a:latin typeface="Cambria Math" panose="02040503050406030204" pitchFamily="18" charset="0"/>
                        </a:rPr>
                        <m:t>,     </m:t>
                      </m:r>
                      <m:r>
                        <a:rPr lang="en-US" b="1" i="1" noProof="0" smtClean="0">
                          <a:latin typeface="Cambria Math" panose="02040503050406030204" pitchFamily="18" charset="0"/>
                        </a:rPr>
                        <m:t>𝒑</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𝑡</m:t>
                          </m:r>
                          <m:r>
                            <a:rPr lang="en-US" b="0" i="1" noProof="0" smtClean="0">
                              <a:latin typeface="Cambria Math" panose="02040503050406030204" pitchFamily="18" charset="0"/>
                            </a:rPr>
                            <m:t>+</m:t>
                          </m:r>
                          <m:r>
                            <m:rPr>
                              <m:sty m:val="p"/>
                            </m:rPr>
                            <a:rPr lang="en-US" b="0" i="0" noProof="0" smtClean="0">
                              <a:latin typeface="Cambria Math" panose="02040503050406030204" pitchFamily="18" charset="0"/>
                            </a:rPr>
                            <m:t>Δ</m:t>
                          </m:r>
                          <m:r>
                            <a:rPr lang="en-US" b="0" i="1" noProof="0" smtClean="0">
                              <a:latin typeface="Cambria Math" panose="02040503050406030204" pitchFamily="18" charset="0"/>
                            </a:rPr>
                            <m:t>𝑡</m:t>
                          </m:r>
                        </m:e>
                      </m:d>
                      <m:r>
                        <a:rPr lang="en-US" b="0" i="1" noProof="0" smtClean="0">
                          <a:latin typeface="Cambria Math" panose="02040503050406030204" pitchFamily="18" charset="0"/>
                        </a:rPr>
                        <m:t>=</m:t>
                      </m:r>
                      <m:r>
                        <a:rPr lang="en-US" b="1" i="1" noProof="0" smtClean="0">
                          <a:latin typeface="Cambria Math" panose="02040503050406030204" pitchFamily="18" charset="0"/>
                        </a:rPr>
                        <m:t>𝒑</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𝑡</m:t>
                          </m:r>
                        </m:e>
                      </m:d>
                      <m:r>
                        <a:rPr lang="en-US" b="0" i="1" noProof="0" smtClean="0">
                          <a:latin typeface="Cambria Math" panose="02040503050406030204" pitchFamily="18" charset="0"/>
                        </a:rPr>
                        <m:t>−</m:t>
                      </m:r>
                      <m:sSub>
                        <m:sSubPr>
                          <m:ctrlPr>
                            <a:rPr lang="en-US" b="0" i="1" noProof="0" smtClean="0">
                              <a:latin typeface="Cambria Math" panose="02040503050406030204" pitchFamily="18" charset="0"/>
                            </a:rPr>
                          </m:ctrlPr>
                        </m:sSubPr>
                        <m:e>
                          <m:d>
                            <m:dPr>
                              <m:begChr m:val=""/>
                              <m:endChr m:val="|"/>
                              <m:ctrlPr>
                                <a:rPr lang="en-US" b="0" i="1" noProof="0" smtClean="0">
                                  <a:latin typeface="Cambria Math" panose="02040503050406030204" pitchFamily="18" charset="0"/>
                                </a:rPr>
                              </m:ctrlPr>
                            </m:dPr>
                            <m:e>
                              <m:f>
                                <m:fPr>
                                  <m:ctrlPr>
                                    <a:rPr lang="en-US" b="0" i="1" noProof="0" smtClean="0">
                                      <a:latin typeface="Cambria Math" panose="02040503050406030204" pitchFamily="18" charset="0"/>
                                      <a:ea typeface="Cambria Math" panose="02040503050406030204" pitchFamily="18" charset="0"/>
                                    </a:rPr>
                                  </m:ctrlPr>
                                </m:fPr>
                                <m:num>
                                  <m:r>
                                    <a:rPr lang="en-US" b="0" i="1" noProof="0" smtClean="0">
                                      <a:latin typeface="Cambria Math" panose="02040503050406030204" pitchFamily="18" charset="0"/>
                                    </a:rPr>
                                    <m:t>𝜕</m:t>
                                  </m:r>
                                  <m:r>
                                    <a:rPr lang="en-US" b="0" i="1" noProof="0" smtClean="0">
                                      <a:latin typeface="Cambria Math" panose="02040503050406030204" pitchFamily="18" charset="0"/>
                                      <a:ea typeface="Cambria Math" panose="02040503050406030204" pitchFamily="18" charset="0"/>
                                    </a:rPr>
                                    <m:t>ℋ</m:t>
                                  </m:r>
                                </m:num>
                                <m:den>
                                  <m:r>
                                    <a:rPr lang="en-US" b="0" i="1" noProof="0" smtClean="0">
                                      <a:latin typeface="Cambria Math" panose="02040503050406030204" pitchFamily="18" charset="0"/>
                                      <a:ea typeface="Cambria Math" panose="02040503050406030204" pitchFamily="18" charset="0"/>
                                    </a:rPr>
                                    <m:t>𝜕</m:t>
                                  </m:r>
                                  <m:r>
                                    <a:rPr lang="en-US" b="1" i="1" noProof="0" smtClean="0">
                                      <a:latin typeface="Cambria Math" panose="02040503050406030204" pitchFamily="18" charset="0"/>
                                      <a:ea typeface="Cambria Math" panose="02040503050406030204" pitchFamily="18" charset="0"/>
                                    </a:rPr>
                                    <m:t>𝒙</m:t>
                                  </m:r>
                                </m:den>
                              </m:f>
                            </m:e>
                          </m:d>
                        </m:e>
                        <m:sub>
                          <m:r>
                            <a:rPr lang="en-US" b="0" i="1" noProof="0" smtClean="0">
                              <a:latin typeface="Cambria Math" panose="02040503050406030204" pitchFamily="18" charset="0"/>
                            </a:rPr>
                            <m:t>𝑡</m:t>
                          </m:r>
                        </m:sub>
                      </m:sSub>
                      <m:r>
                        <m:rPr>
                          <m:sty m:val="p"/>
                        </m:rPr>
                        <a:rPr lang="en-US" b="0" i="0" noProof="0" smtClean="0">
                          <a:latin typeface="Cambria Math" panose="02040503050406030204" pitchFamily="18" charset="0"/>
                        </a:rPr>
                        <m:t>Δ</m:t>
                      </m:r>
                      <m:r>
                        <a:rPr lang="en-US" b="0" i="1" noProof="0" smtClean="0">
                          <a:latin typeface="Cambria Math" panose="02040503050406030204" pitchFamily="18" charset="0"/>
                        </a:rPr>
                        <m:t>𝑡</m:t>
                      </m:r>
                    </m:oMath>
                  </m:oMathPara>
                </a14:m>
                <a:endParaRPr lang="en-US" noProof="0" dirty="0"/>
              </a:p>
            </p:txBody>
          </p:sp>
        </mc:Choice>
        <mc:Fallback xmlns="">
          <p:sp>
            <p:nvSpPr>
              <p:cNvPr id="2" name="Content Placeholder 1">
                <a:extLst>
                  <a:ext uri="{FF2B5EF4-FFF2-40B4-BE49-F238E27FC236}">
                    <a16:creationId xmlns:a16="http://schemas.microsoft.com/office/drawing/2014/main" id="{B9A840B5-A4A0-7AC1-1C8D-2963993DF6F8}"/>
                  </a:ext>
                </a:extLst>
              </p:cNvPr>
              <p:cNvSpPr>
                <a:spLocks noGrp="1" noRot="1" noChangeAspect="1" noMove="1" noResize="1" noEditPoints="1" noAdjustHandles="1" noChangeArrowheads="1" noChangeShapeType="1" noTextEdit="1"/>
              </p:cNvSpPr>
              <p:nvPr>
                <p:ph idx="1"/>
              </p:nvPr>
            </p:nvSpPr>
            <p:spPr>
              <a:blipFill>
                <a:blip r:embed="rId2"/>
                <a:stretch>
                  <a:fillRect l="-1289" t="-922" b="-307"/>
                </a:stretch>
              </a:blipFill>
            </p:spPr>
            <p:txBody>
              <a:bodyPr/>
              <a:lstStyle/>
              <a:p>
                <a:r>
                  <a:rPr lang="de-DE">
                    <a:noFill/>
                  </a:rPr>
                  <a:t> </a:t>
                </a:r>
              </a:p>
            </p:txBody>
          </p:sp>
        </mc:Fallback>
      </mc:AlternateContent>
      <p:sp>
        <p:nvSpPr>
          <p:cNvPr id="3" name="Title 2">
            <a:extLst>
              <a:ext uri="{FF2B5EF4-FFF2-40B4-BE49-F238E27FC236}">
                <a16:creationId xmlns:a16="http://schemas.microsoft.com/office/drawing/2014/main" id="{40C7AB98-F2CC-88B5-1C7A-3C325291D7BD}"/>
              </a:ext>
            </a:extLst>
          </p:cNvPr>
          <p:cNvSpPr>
            <a:spLocks noGrp="1"/>
          </p:cNvSpPr>
          <p:nvPr>
            <p:ph type="title"/>
          </p:nvPr>
        </p:nvSpPr>
        <p:spPr/>
        <p:txBody>
          <a:bodyPr/>
          <a:lstStyle/>
          <a:p>
            <a:r>
              <a:rPr lang="de-DE" dirty="0"/>
              <a:t>3.9.8.2 </a:t>
            </a:r>
            <a:r>
              <a:rPr lang="de-DE" dirty="0" err="1"/>
              <a:t>Hamiltonian</a:t>
            </a:r>
            <a:r>
              <a:rPr lang="de-DE" dirty="0"/>
              <a:t> </a:t>
            </a:r>
            <a:r>
              <a:rPr lang="de-DE" dirty="0" err="1"/>
              <a:t>Mechanics</a:t>
            </a:r>
            <a:endParaRPr lang="en-US" dirty="0"/>
          </a:p>
        </p:txBody>
      </p:sp>
      <p:sp>
        <p:nvSpPr>
          <p:cNvPr id="4" name="Slide Number Placeholder 3">
            <a:extLst>
              <a:ext uri="{FF2B5EF4-FFF2-40B4-BE49-F238E27FC236}">
                <a16:creationId xmlns:a16="http://schemas.microsoft.com/office/drawing/2014/main" id="{1A270303-01CC-6456-CB45-4061DA4B8C6B}"/>
              </a:ext>
            </a:extLst>
          </p:cNvPr>
          <p:cNvSpPr>
            <a:spLocks noGrp="1"/>
          </p:cNvSpPr>
          <p:nvPr>
            <p:ph type="sldNum" sz="quarter" idx="11"/>
          </p:nvPr>
        </p:nvSpPr>
        <p:spPr/>
        <p:txBody>
          <a:bodyPr/>
          <a:lstStyle/>
          <a:p>
            <a:fld id="{CE58CB1E-F828-4F11-99E0-327109AF9DA4}" type="slidenum">
              <a:rPr lang="de-DE" smtClean="0"/>
              <a:pPr/>
              <a:t>39</a:t>
            </a:fld>
            <a:endParaRPr lang="de-DE"/>
          </a:p>
        </p:txBody>
      </p:sp>
      <p:sp>
        <p:nvSpPr>
          <p:cNvPr id="5" name="Footer Placeholder 4">
            <a:extLst>
              <a:ext uri="{FF2B5EF4-FFF2-40B4-BE49-F238E27FC236}">
                <a16:creationId xmlns:a16="http://schemas.microsoft.com/office/drawing/2014/main" id="{883A4E99-DCBE-7B2F-45EC-619EF66FF16C}"/>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spTree>
    <p:extLst>
      <p:ext uri="{BB962C8B-B14F-4D97-AF65-F5344CB8AC3E}">
        <p14:creationId xmlns:p14="http://schemas.microsoft.com/office/powerpoint/2010/main" val="9609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DF1E3C-326E-3611-0A92-3FBD9F2173AC}"/>
              </a:ext>
            </a:extLst>
          </p:cNvPr>
          <p:cNvPicPr>
            <a:picLocks noChangeAspect="1"/>
          </p:cNvPicPr>
          <p:nvPr/>
        </p:nvPicPr>
        <p:blipFill>
          <a:blip r:embed="rId3"/>
          <a:stretch>
            <a:fillRect/>
          </a:stretch>
        </p:blipFill>
        <p:spPr>
          <a:xfrm>
            <a:off x="6945057" y="491898"/>
            <a:ext cx="2198943" cy="1450821"/>
          </a:xfrm>
          <a:prstGeom prst="rect">
            <a:avLst/>
          </a:prstGeom>
        </p:spPr>
      </p:pic>
      <p:sp>
        <p:nvSpPr>
          <p:cNvPr id="8" name="Rectangle 7">
            <a:extLst>
              <a:ext uri="{FF2B5EF4-FFF2-40B4-BE49-F238E27FC236}">
                <a16:creationId xmlns:a16="http://schemas.microsoft.com/office/drawing/2014/main" id="{4EE6984D-5848-B1A5-2EBE-3073D2E62A5E}"/>
              </a:ext>
            </a:extLst>
          </p:cNvPr>
          <p:cNvSpPr/>
          <p:nvPr/>
        </p:nvSpPr>
        <p:spPr>
          <a:xfrm>
            <a:off x="2193132" y="4036219"/>
            <a:ext cx="4759069" cy="615383"/>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23C82011-CC6A-815E-A8B3-2C760D5C8D09}"/>
                  </a:ext>
                </a:extLst>
              </p:cNvPr>
              <p:cNvSpPr>
                <a:spLocks noGrp="1"/>
              </p:cNvSpPr>
              <p:nvPr>
                <p:ph idx="1"/>
              </p:nvPr>
            </p:nvSpPr>
            <p:spPr/>
            <p:txBody>
              <a:bodyPr/>
              <a:lstStyle/>
              <a:p>
                <a:r>
                  <a:rPr lang="en-US" noProof="0" dirty="0"/>
                  <a:t>For the one-dimensional mass-spring model, the</a:t>
                </a:r>
                <a:r>
                  <a:rPr lang="en-US" noProof="0" dirty="0">
                    <a:solidFill>
                      <a:schemeClr val="bg1">
                        <a:lumMod val="50000"/>
                      </a:schemeClr>
                    </a:solidFill>
                  </a:rPr>
                  <a:t> </a:t>
                </a:r>
                <a:r>
                  <a:rPr lang="en-US" noProof="0" dirty="0">
                    <a:solidFill>
                      <a:schemeClr val="bg2"/>
                    </a:solidFill>
                  </a:rPr>
                  <a:t>Hamiltonian</a:t>
                </a:r>
                <a:r>
                  <a:rPr lang="en-US" noProof="0" dirty="0">
                    <a:solidFill>
                      <a:schemeClr val="bg1">
                        <a:lumMod val="50000"/>
                      </a:schemeClr>
                    </a:solidFill>
                  </a:rPr>
                  <a:t> </a:t>
                </a:r>
                <a:r>
                  <a:rPr lang="en-US" noProof="0" dirty="0"/>
                  <a:t>is known as</a:t>
                </a:r>
              </a:p>
              <a:p>
                <a:pPr/>
                <a14:m>
                  <m:oMathPara xmlns:m="http://schemas.openxmlformats.org/officeDocument/2006/math">
                    <m:oMathParaPr>
                      <m:jc m:val="left"/>
                    </m:oMathParaPr>
                    <m:oMath xmlns:m="http://schemas.openxmlformats.org/officeDocument/2006/math">
                      <m:r>
                        <a:rPr lang="en-US" i="1">
                          <a:latin typeface="Cambria Math" panose="02040503050406030204" pitchFamily="18" charset="0"/>
                          <a:ea typeface="Cambria Math" panose="02040503050406030204" pitchFamily="18" charset="0"/>
                        </a:rPr>
                        <m:t>ℋ</m:t>
                      </m:r>
                      <m:r>
                        <a:rPr lang="de-DE" b="0" i="1" smtClean="0">
                          <a:latin typeface="Cambria Math" panose="02040503050406030204" pitchFamily="18" charset="0"/>
                          <a:ea typeface="Cambria Math" panose="02040503050406030204" pitchFamily="18" charset="0"/>
                        </a:rPr>
                        <m:t>(</m:t>
                      </m:r>
                      <m:r>
                        <a:rPr lang="de-DE" b="0" i="1" smtClean="0">
                          <a:latin typeface="Cambria Math" panose="02040503050406030204" pitchFamily="18" charset="0"/>
                          <a:ea typeface="Cambria Math" panose="02040503050406030204" pitchFamily="18" charset="0"/>
                        </a:rPr>
                        <m:t>𝑥</m:t>
                      </m:r>
                      <m:d>
                        <m:dPr>
                          <m:ctrlPr>
                            <a:rPr lang="de-DE" b="0" i="1" smtClean="0">
                              <a:latin typeface="Cambria Math" panose="02040503050406030204" pitchFamily="18" charset="0"/>
                              <a:ea typeface="Cambria Math" panose="02040503050406030204" pitchFamily="18" charset="0"/>
                            </a:rPr>
                          </m:ctrlPr>
                        </m:dPr>
                        <m:e>
                          <m:r>
                            <a:rPr lang="de-DE" b="0" i="1" smtClean="0">
                              <a:latin typeface="Cambria Math" panose="02040503050406030204" pitchFamily="18" charset="0"/>
                              <a:ea typeface="Cambria Math" panose="02040503050406030204" pitchFamily="18" charset="0"/>
                            </a:rPr>
                            <m:t>𝑡</m:t>
                          </m:r>
                        </m:e>
                      </m:d>
                      <m:r>
                        <a:rPr lang="de-DE" b="0" i="1" smtClean="0">
                          <a:latin typeface="Cambria Math" panose="02040503050406030204" pitchFamily="18" charset="0"/>
                          <a:ea typeface="Cambria Math" panose="02040503050406030204" pitchFamily="18" charset="0"/>
                        </a:rPr>
                        <m:t>,</m:t>
                      </m:r>
                      <m:r>
                        <a:rPr lang="de-DE" b="0" i="1" smtClean="0">
                          <a:latin typeface="Cambria Math" panose="02040503050406030204" pitchFamily="18" charset="0"/>
                          <a:ea typeface="Cambria Math" panose="02040503050406030204" pitchFamily="18" charset="0"/>
                        </a:rPr>
                        <m:t>𝑝</m:t>
                      </m:r>
                      <m:d>
                        <m:dPr>
                          <m:ctrlPr>
                            <a:rPr lang="de-DE" b="0" i="1" smtClean="0">
                              <a:latin typeface="Cambria Math" panose="02040503050406030204" pitchFamily="18" charset="0"/>
                              <a:ea typeface="Cambria Math" panose="02040503050406030204" pitchFamily="18" charset="0"/>
                            </a:rPr>
                          </m:ctrlPr>
                        </m:dPr>
                        <m:e>
                          <m:r>
                            <a:rPr lang="de-DE" b="0" i="1" smtClean="0">
                              <a:latin typeface="Cambria Math" panose="02040503050406030204" pitchFamily="18" charset="0"/>
                              <a:ea typeface="Cambria Math" panose="02040503050406030204" pitchFamily="18" charset="0"/>
                            </a:rPr>
                            <m:t>𝑡</m:t>
                          </m:r>
                        </m:e>
                      </m:d>
                      <m:r>
                        <a:rPr lang="de-DE" b="0" i="1" smtClean="0">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Π</m:t>
                          </m:r>
                        </m:e>
                        <m:sub>
                          <m:r>
                            <m:rPr>
                              <m:sty m:val="p"/>
                            </m:rPr>
                            <a:rPr lang="en-US">
                              <a:latin typeface="Cambria Math" panose="02040503050406030204" pitchFamily="18" charset="0"/>
                              <a:ea typeface="Cambria Math" panose="02040503050406030204" pitchFamily="18" charset="0"/>
                            </a:rPr>
                            <m:t>tot</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Π</m:t>
                          </m:r>
                        </m:e>
                        <m:sub>
                          <m:r>
                            <m:rPr>
                              <m:sty m:val="p"/>
                            </m:rPr>
                            <a:rPr lang="en-US">
                              <a:latin typeface="Cambria Math" panose="02040503050406030204" pitchFamily="18" charset="0"/>
                              <a:ea typeface="Cambria Math" panose="02040503050406030204" pitchFamily="18" charset="0"/>
                            </a:rPr>
                            <m:t>kin</m:t>
                          </m:r>
                        </m:sub>
                      </m:sSub>
                      <m:r>
                        <a:rPr lang="en-US" i="1">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m:rPr>
                              <m:sty m:val="p"/>
                            </m:rPr>
                            <a:rPr lang="en-US">
                              <a:latin typeface="Cambria Math" panose="02040503050406030204" pitchFamily="18" charset="0"/>
                              <a:ea typeface="Cambria Math" panose="02040503050406030204" pitchFamily="18" charset="0"/>
                            </a:rPr>
                            <m:t>Π</m:t>
                          </m:r>
                        </m:e>
                        <m:sub>
                          <m:r>
                            <m:rPr>
                              <m:sty m:val="p"/>
                            </m:rPr>
                            <a:rPr lang="en-US">
                              <a:latin typeface="Cambria Math" panose="02040503050406030204" pitchFamily="18" charset="0"/>
                              <a:ea typeface="Cambria Math" panose="02040503050406030204" pitchFamily="18" charset="0"/>
                            </a:rPr>
                            <m:t>pot</m:t>
                          </m:r>
                        </m:sub>
                      </m:sSub>
                      <m:r>
                        <a:rPr lang="en-US" i="1">
                          <a:latin typeface="Cambria Math" panose="02040503050406030204" pitchFamily="18" charset="0"/>
                          <a:ea typeface="Cambria Math" panose="02040503050406030204" pitchFamily="18" charset="0"/>
                        </a:rPr>
                        <m:t>=</m:t>
                      </m:r>
                      <m:f>
                        <m:fPr>
                          <m:ctrlPr>
                            <a:rPr lang="de-DE" i="1">
                              <a:latin typeface="Cambria Math" panose="02040503050406030204" pitchFamily="18" charset="0"/>
                              <a:ea typeface="Cambria Math" panose="02040503050406030204" pitchFamily="18" charset="0"/>
                            </a:rPr>
                          </m:ctrlPr>
                        </m:fPr>
                        <m:num>
                          <m:sSup>
                            <m:sSupPr>
                              <m:ctrlPr>
                                <a:rPr lang="de-DE" i="1">
                                  <a:latin typeface="Cambria Math" panose="02040503050406030204" pitchFamily="18" charset="0"/>
                                  <a:ea typeface="Cambria Math" panose="02040503050406030204" pitchFamily="18" charset="0"/>
                                </a:rPr>
                              </m:ctrlPr>
                            </m:sSupPr>
                            <m:e>
                              <m:r>
                                <a:rPr lang="de-DE" i="1">
                                  <a:latin typeface="Cambria Math" panose="02040503050406030204" pitchFamily="18" charset="0"/>
                                  <a:ea typeface="Cambria Math" panose="02040503050406030204" pitchFamily="18" charset="0"/>
                                </a:rPr>
                                <m:t>𝑝</m:t>
                              </m:r>
                              <m:r>
                                <a:rPr lang="de-DE" i="1">
                                  <a:latin typeface="Cambria Math" panose="02040503050406030204" pitchFamily="18" charset="0"/>
                                  <a:ea typeface="Cambria Math" panose="02040503050406030204" pitchFamily="18" charset="0"/>
                                </a:rPr>
                                <m:t>(</m:t>
                              </m:r>
                              <m:r>
                                <a:rPr lang="de-DE" i="1">
                                  <a:latin typeface="Cambria Math" panose="02040503050406030204" pitchFamily="18" charset="0"/>
                                  <a:ea typeface="Cambria Math" panose="02040503050406030204" pitchFamily="18" charset="0"/>
                                </a:rPr>
                                <m:t>𝑡</m:t>
                              </m:r>
                              <m:r>
                                <a:rPr lang="de-DE" i="1">
                                  <a:latin typeface="Cambria Math" panose="02040503050406030204" pitchFamily="18" charset="0"/>
                                  <a:ea typeface="Cambria Math" panose="02040503050406030204" pitchFamily="18" charset="0"/>
                                </a:rPr>
                                <m:t>)</m:t>
                              </m:r>
                            </m:e>
                            <m:sup>
                              <m:r>
                                <a:rPr lang="de-DE" i="1">
                                  <a:latin typeface="Cambria Math" panose="02040503050406030204" pitchFamily="18" charset="0"/>
                                  <a:ea typeface="Cambria Math" panose="02040503050406030204" pitchFamily="18" charset="0"/>
                                </a:rPr>
                                <m:t>2</m:t>
                              </m:r>
                            </m:sup>
                          </m:sSup>
                        </m:num>
                        <m:den>
                          <m:r>
                            <a:rPr lang="de-DE" i="1">
                              <a:latin typeface="Cambria Math" panose="02040503050406030204" pitchFamily="18" charset="0"/>
                              <a:ea typeface="Cambria Math" panose="02040503050406030204" pitchFamily="18" charset="0"/>
                            </a:rPr>
                            <m:t>2</m:t>
                          </m:r>
                          <m:r>
                            <a:rPr lang="de-DE" i="1">
                              <a:latin typeface="Cambria Math" panose="02040503050406030204" pitchFamily="18" charset="0"/>
                              <a:ea typeface="Cambria Math" panose="02040503050406030204" pitchFamily="18" charset="0"/>
                            </a:rPr>
                            <m:t>𝑚</m:t>
                          </m:r>
                        </m:den>
                      </m:f>
                      <m:r>
                        <a:rPr lang="de-DE" i="1">
                          <a:latin typeface="Cambria Math" panose="02040503050406030204" pitchFamily="18" charset="0"/>
                          <a:ea typeface="Cambria Math" panose="02040503050406030204" pitchFamily="18" charset="0"/>
                        </a:rPr>
                        <m:t>+</m:t>
                      </m:r>
                      <m:f>
                        <m:fPr>
                          <m:ctrlPr>
                            <a:rPr lang="de-DE" i="1">
                              <a:latin typeface="Cambria Math" panose="02040503050406030204" pitchFamily="18" charset="0"/>
                              <a:ea typeface="Cambria Math" panose="02040503050406030204" pitchFamily="18" charset="0"/>
                            </a:rPr>
                          </m:ctrlPr>
                        </m:fPr>
                        <m:num>
                          <m:r>
                            <a:rPr lang="de-DE" i="1">
                              <a:latin typeface="Cambria Math" panose="02040503050406030204" pitchFamily="18" charset="0"/>
                              <a:ea typeface="Cambria Math" panose="02040503050406030204" pitchFamily="18" charset="0"/>
                            </a:rPr>
                            <m:t>1</m:t>
                          </m:r>
                        </m:num>
                        <m:den>
                          <m:r>
                            <a:rPr lang="de-DE" i="1">
                              <a:latin typeface="Cambria Math" panose="02040503050406030204" pitchFamily="18" charset="0"/>
                              <a:ea typeface="Cambria Math" panose="02040503050406030204" pitchFamily="18" charset="0"/>
                            </a:rPr>
                            <m:t>2</m:t>
                          </m:r>
                        </m:den>
                      </m:f>
                      <m:r>
                        <a:rPr lang="de-DE" i="1">
                          <a:latin typeface="Cambria Math" panose="02040503050406030204" pitchFamily="18" charset="0"/>
                          <a:ea typeface="Cambria Math" panose="02040503050406030204" pitchFamily="18" charset="0"/>
                        </a:rPr>
                        <m:t>𝑘</m:t>
                      </m:r>
                      <m:sSup>
                        <m:sSupPr>
                          <m:ctrlPr>
                            <a:rPr lang="de-DE" i="1">
                              <a:latin typeface="Cambria Math" panose="02040503050406030204" pitchFamily="18" charset="0"/>
                              <a:ea typeface="Cambria Math" panose="02040503050406030204" pitchFamily="18" charset="0"/>
                            </a:rPr>
                          </m:ctrlPr>
                        </m:sSupPr>
                        <m:e>
                          <m:r>
                            <a:rPr lang="de-DE" i="1">
                              <a:latin typeface="Cambria Math" panose="02040503050406030204" pitchFamily="18" charset="0"/>
                              <a:ea typeface="Cambria Math" panose="02040503050406030204" pitchFamily="18" charset="0"/>
                            </a:rPr>
                            <m:t>𝑥</m:t>
                          </m:r>
                          <m:r>
                            <a:rPr lang="de-DE" i="1">
                              <a:latin typeface="Cambria Math" panose="02040503050406030204" pitchFamily="18" charset="0"/>
                              <a:ea typeface="Cambria Math" panose="02040503050406030204" pitchFamily="18" charset="0"/>
                            </a:rPr>
                            <m:t>(</m:t>
                          </m:r>
                          <m:r>
                            <a:rPr lang="de-DE" i="1">
                              <a:latin typeface="Cambria Math" panose="02040503050406030204" pitchFamily="18" charset="0"/>
                              <a:ea typeface="Cambria Math" panose="02040503050406030204" pitchFamily="18" charset="0"/>
                            </a:rPr>
                            <m:t>𝑡</m:t>
                          </m:r>
                          <m:r>
                            <a:rPr lang="de-DE" i="1">
                              <a:latin typeface="Cambria Math" panose="02040503050406030204" pitchFamily="18" charset="0"/>
                              <a:ea typeface="Cambria Math" panose="02040503050406030204" pitchFamily="18" charset="0"/>
                            </a:rPr>
                            <m:t>)</m:t>
                          </m:r>
                        </m:e>
                        <m:sup>
                          <m:r>
                            <a:rPr lang="de-DE" i="1">
                              <a:latin typeface="Cambria Math" panose="02040503050406030204" pitchFamily="18" charset="0"/>
                              <a:ea typeface="Cambria Math" panose="02040503050406030204" pitchFamily="18" charset="0"/>
                            </a:rPr>
                            <m:t>2</m:t>
                          </m:r>
                        </m:sup>
                      </m:sSup>
                      <m:r>
                        <a:rPr lang="de-DE" i="1">
                          <a:latin typeface="Cambria Math" panose="02040503050406030204" pitchFamily="18" charset="0"/>
                          <a:ea typeface="Cambria Math" panose="02040503050406030204" pitchFamily="18" charset="0"/>
                        </a:rPr>
                        <m:t>= </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2</m:t>
                          </m:r>
                        </m:den>
                      </m:f>
                      <m:r>
                        <a:rPr lang="en-US" i="1">
                          <a:latin typeface="Cambria Math" panose="02040503050406030204" pitchFamily="18" charset="0"/>
                          <a:ea typeface="Cambria Math" panose="02040503050406030204" pitchFamily="18" charset="0"/>
                        </a:rPr>
                        <m:t>𝑚</m:t>
                      </m:r>
                      <m:sSup>
                        <m:sSupPr>
                          <m:ctrlPr>
                            <a:rPr lang="en-US" i="1">
                              <a:latin typeface="Cambria Math" panose="02040503050406030204" pitchFamily="18" charset="0"/>
                              <a:ea typeface="Cambria Math" panose="02040503050406030204" pitchFamily="18" charset="0"/>
                            </a:rPr>
                          </m:ctrlPr>
                        </m:sSupPr>
                        <m:e>
                          <m:acc>
                            <m:accPr>
                              <m:chr m:val="̇"/>
                              <m:ctrlPr>
                                <a:rPr lang="en-US" i="1">
                                  <a:latin typeface="Cambria Math" panose="02040503050406030204" pitchFamily="18" charset="0"/>
                                  <a:ea typeface="Cambria Math" panose="02040503050406030204" pitchFamily="18" charset="0"/>
                                </a:rPr>
                              </m:ctrlPr>
                            </m:accPr>
                            <m:e>
                              <m:r>
                                <a:rPr lang="en-US" i="1">
                                  <a:latin typeface="Cambria Math" panose="02040503050406030204" pitchFamily="18" charset="0"/>
                                  <a:ea typeface="Cambria Math" panose="02040503050406030204" pitchFamily="18" charset="0"/>
                                </a:rPr>
                                <m:t>𝑥</m:t>
                              </m:r>
                            </m:e>
                          </m:acc>
                          <m:r>
                            <a:rPr lang="de-DE" i="1">
                              <a:latin typeface="Cambria Math" panose="02040503050406030204" pitchFamily="18" charset="0"/>
                              <a:ea typeface="Cambria Math" panose="02040503050406030204" pitchFamily="18" charset="0"/>
                            </a:rPr>
                            <m:t>(</m:t>
                          </m:r>
                          <m:r>
                            <a:rPr lang="de-DE" i="1">
                              <a:latin typeface="Cambria Math" panose="02040503050406030204" pitchFamily="18" charset="0"/>
                              <a:ea typeface="Cambria Math" panose="02040503050406030204" pitchFamily="18" charset="0"/>
                            </a:rPr>
                            <m:t>𝑡</m:t>
                          </m:r>
                          <m:r>
                            <a:rPr lang="de-DE" i="1">
                              <a:latin typeface="Cambria Math" panose="02040503050406030204" pitchFamily="18" charset="0"/>
                              <a:ea typeface="Cambria Math" panose="02040503050406030204" pitchFamily="18" charset="0"/>
                            </a:rPr>
                            <m:t>)</m:t>
                          </m:r>
                        </m:e>
                        <m:sup>
                          <m:r>
                            <a:rPr lang="en-US" i="1">
                              <a:latin typeface="Cambria Math" panose="02040503050406030204" pitchFamily="18" charset="0"/>
                              <a:ea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num>
                        <m:den>
                          <m:r>
                            <a:rPr lang="en-US" i="1">
                              <a:latin typeface="Cambria Math" panose="02040503050406030204" pitchFamily="18" charset="0"/>
                              <a:ea typeface="Cambria Math" panose="02040503050406030204" pitchFamily="18" charset="0"/>
                            </a:rPr>
                            <m:t>2</m:t>
                          </m:r>
                        </m:den>
                      </m:f>
                      <m:r>
                        <a:rPr lang="en-US" i="1">
                          <a:latin typeface="Cambria Math" panose="02040503050406030204" pitchFamily="18" charset="0"/>
                          <a:ea typeface="Cambria Math" panose="02040503050406030204" pitchFamily="18" charset="0"/>
                        </a:rPr>
                        <m:t>𝑘</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𝑥</m:t>
                          </m:r>
                          <m:r>
                            <a:rPr lang="de-DE" i="1">
                              <a:latin typeface="Cambria Math" panose="02040503050406030204" pitchFamily="18" charset="0"/>
                              <a:ea typeface="Cambria Math" panose="02040503050406030204" pitchFamily="18" charset="0"/>
                            </a:rPr>
                            <m:t>(</m:t>
                          </m:r>
                          <m:r>
                            <a:rPr lang="de-DE" i="1">
                              <a:latin typeface="Cambria Math" panose="02040503050406030204" pitchFamily="18" charset="0"/>
                              <a:ea typeface="Cambria Math" panose="02040503050406030204" pitchFamily="18" charset="0"/>
                            </a:rPr>
                            <m:t>𝑡</m:t>
                          </m:r>
                          <m:r>
                            <a:rPr lang="de-DE" i="1">
                              <a:latin typeface="Cambria Math" panose="02040503050406030204" pitchFamily="18" charset="0"/>
                              <a:ea typeface="Cambria Math" panose="02040503050406030204" pitchFamily="18" charset="0"/>
                            </a:rPr>
                            <m:t>)</m:t>
                          </m:r>
                        </m:e>
                        <m:sup>
                          <m:r>
                            <a:rPr lang="en-US" i="1">
                              <a:latin typeface="Cambria Math" panose="02040503050406030204" pitchFamily="18" charset="0"/>
                              <a:ea typeface="Cambria Math" panose="02040503050406030204" pitchFamily="18" charset="0"/>
                            </a:rPr>
                            <m:t>2</m:t>
                          </m:r>
                        </m:sup>
                      </m:sSup>
                    </m:oMath>
                  </m:oMathPara>
                </a14:m>
                <a:endParaRPr lang="en-US" noProof="0" dirty="0"/>
              </a:p>
              <a:p>
                <a:r>
                  <a:rPr lang="en-US" noProof="0" dirty="0"/>
                  <a:t>But what if the Hamiltonian is unknown, but the system must obey Hamiltonian mechanics?</a:t>
                </a:r>
              </a:p>
              <a:p>
                <a:r>
                  <a:rPr lang="en-US" b="1" noProof="0" dirty="0"/>
                  <a:t>Hamiltonian neural networks</a:t>
                </a:r>
              </a:p>
              <a:p>
                <a:pPr marL="285750" indent="-285750">
                  <a:buFont typeface="Arial" panose="020B0604020202020204" pitchFamily="34" charset="0"/>
                  <a:buChar char="•"/>
                </a:pPr>
                <a:r>
                  <a:rPr lang="en-US" noProof="0" dirty="0">
                    <a:solidFill>
                      <a:schemeClr val="bg2"/>
                    </a:solidFill>
                  </a:rPr>
                  <a:t>Data triplets </a:t>
                </a:r>
                <a14:m>
                  <m:oMath xmlns:m="http://schemas.openxmlformats.org/officeDocument/2006/math">
                    <m:sSubSup>
                      <m:sSubSupPr>
                        <m:ctrlPr>
                          <a:rPr lang="en-US" b="0" i="1" noProof="0" smtClean="0">
                            <a:latin typeface="Cambria Math" panose="02040503050406030204" pitchFamily="18" charset="0"/>
                          </a:rPr>
                        </m:ctrlPr>
                      </m:sSubSupPr>
                      <m:e>
                        <m:d>
                          <m:dPr>
                            <m:begChr m:val="{"/>
                            <m:endChr m:val="}"/>
                            <m:ctrlPr>
                              <a:rPr lang="en-US" b="0" i="1" noProof="0" smtClean="0">
                                <a:latin typeface="Cambria Math" panose="02040503050406030204" pitchFamily="18" charset="0"/>
                              </a:rPr>
                            </m:ctrlPr>
                          </m:dPr>
                          <m:e>
                            <m:acc>
                              <m:accPr>
                                <m:chr m:val="̃"/>
                                <m:ctrlPr>
                                  <a:rPr lang="en-US" b="1" i="1" noProof="0" smtClean="0">
                                    <a:latin typeface="Cambria Math" panose="02040503050406030204" pitchFamily="18" charset="0"/>
                                  </a:rPr>
                                </m:ctrlPr>
                              </m:accPr>
                              <m:e>
                                <m:r>
                                  <a:rPr lang="en-US" b="1" i="1" noProof="0" smtClean="0">
                                    <a:latin typeface="Cambria Math" panose="02040503050406030204" pitchFamily="18" charset="0"/>
                                  </a:rPr>
                                  <m:t>𝒙</m:t>
                                </m:r>
                              </m:e>
                            </m:acc>
                            <m:d>
                              <m:dPr>
                                <m:ctrlPr>
                                  <a:rPr lang="en-US" b="0" i="1" noProof="0" smtClean="0">
                                    <a:latin typeface="Cambria Math" panose="02040503050406030204" pitchFamily="18" charset="0"/>
                                  </a:rPr>
                                </m:ctrlPr>
                              </m:dPr>
                              <m:e>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𝑡</m:t>
                                    </m:r>
                                  </m:e>
                                  <m:sub>
                                    <m:r>
                                      <a:rPr lang="en-US" b="0" i="1" noProof="0" smtClean="0">
                                        <a:latin typeface="Cambria Math" panose="02040503050406030204" pitchFamily="18" charset="0"/>
                                      </a:rPr>
                                      <m:t>𝑖</m:t>
                                    </m:r>
                                  </m:sub>
                                </m:sSub>
                              </m:e>
                            </m:d>
                            <m:r>
                              <a:rPr lang="en-US" b="0" i="1" noProof="0" smtClean="0">
                                <a:latin typeface="Cambria Math" panose="02040503050406030204" pitchFamily="18" charset="0"/>
                              </a:rPr>
                              <m:t>, </m:t>
                            </m:r>
                            <m:acc>
                              <m:accPr>
                                <m:chr m:val="̃"/>
                                <m:ctrlPr>
                                  <a:rPr lang="en-US" b="0" i="1" noProof="0" smtClean="0">
                                    <a:latin typeface="Cambria Math" panose="02040503050406030204" pitchFamily="18" charset="0"/>
                                  </a:rPr>
                                </m:ctrlPr>
                              </m:accPr>
                              <m:e>
                                <m:acc>
                                  <m:accPr>
                                    <m:chr m:val="̇"/>
                                    <m:ctrlPr>
                                      <a:rPr lang="en-US" b="1" i="1" noProof="0" smtClean="0">
                                        <a:latin typeface="Cambria Math" panose="02040503050406030204" pitchFamily="18" charset="0"/>
                                      </a:rPr>
                                    </m:ctrlPr>
                                  </m:accPr>
                                  <m:e>
                                    <m:r>
                                      <a:rPr lang="en-US" b="1" i="1" noProof="0" smtClean="0">
                                        <a:latin typeface="Cambria Math" panose="02040503050406030204" pitchFamily="18" charset="0"/>
                                      </a:rPr>
                                      <m:t>𝒙</m:t>
                                    </m:r>
                                  </m:e>
                                </m:acc>
                              </m:e>
                            </m:acc>
                            <m:d>
                              <m:dPr>
                                <m:ctrlPr>
                                  <a:rPr lang="en-US" b="0" i="1" noProof="0" smtClean="0">
                                    <a:latin typeface="Cambria Math" panose="02040503050406030204" pitchFamily="18" charset="0"/>
                                  </a:rPr>
                                </m:ctrlPr>
                              </m:dPr>
                              <m:e>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𝑡</m:t>
                                    </m:r>
                                  </m:e>
                                  <m:sub>
                                    <m:r>
                                      <a:rPr lang="en-US" b="0" i="1" noProof="0" smtClean="0">
                                        <a:latin typeface="Cambria Math" panose="02040503050406030204" pitchFamily="18" charset="0"/>
                                      </a:rPr>
                                      <m:t>𝑖</m:t>
                                    </m:r>
                                  </m:sub>
                                </m:sSub>
                              </m:e>
                            </m:d>
                            <m:r>
                              <a:rPr lang="en-US" b="0" i="1" noProof="0" smtClean="0">
                                <a:latin typeface="Cambria Math" panose="02040503050406030204" pitchFamily="18" charset="0"/>
                              </a:rPr>
                              <m:t>, </m:t>
                            </m:r>
                            <m:acc>
                              <m:accPr>
                                <m:chr m:val="̃"/>
                                <m:ctrlPr>
                                  <a:rPr lang="en-US" b="0" i="1" noProof="0" smtClean="0">
                                    <a:latin typeface="Cambria Math" panose="02040503050406030204" pitchFamily="18" charset="0"/>
                                  </a:rPr>
                                </m:ctrlPr>
                              </m:accPr>
                              <m:e>
                                <m:acc>
                                  <m:accPr>
                                    <m:chr m:val="̈"/>
                                    <m:ctrlPr>
                                      <a:rPr lang="en-US" b="1" i="1" noProof="0" smtClean="0">
                                        <a:latin typeface="Cambria Math" panose="02040503050406030204" pitchFamily="18" charset="0"/>
                                      </a:rPr>
                                    </m:ctrlPr>
                                  </m:accPr>
                                  <m:e>
                                    <m:r>
                                      <a:rPr lang="en-US" b="1" i="1" noProof="0" smtClean="0">
                                        <a:latin typeface="Cambria Math" panose="02040503050406030204" pitchFamily="18" charset="0"/>
                                      </a:rPr>
                                      <m:t>𝒙</m:t>
                                    </m:r>
                                  </m:e>
                                </m:acc>
                              </m:e>
                            </m:acc>
                            <m:d>
                              <m:dPr>
                                <m:ctrlPr>
                                  <a:rPr lang="en-US" b="0" i="1" noProof="0" smtClean="0">
                                    <a:latin typeface="Cambria Math" panose="02040503050406030204" pitchFamily="18" charset="0"/>
                                  </a:rPr>
                                </m:ctrlPr>
                              </m:dPr>
                              <m:e>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𝑡</m:t>
                                    </m:r>
                                  </m:e>
                                  <m:sub>
                                    <m:r>
                                      <a:rPr lang="en-US" b="0" i="1" noProof="0" smtClean="0">
                                        <a:latin typeface="Cambria Math" panose="02040503050406030204" pitchFamily="18" charset="0"/>
                                      </a:rPr>
                                      <m:t>𝑖</m:t>
                                    </m:r>
                                  </m:sub>
                                </m:sSub>
                              </m:e>
                            </m:d>
                          </m:e>
                        </m:d>
                      </m:e>
                      <m:sub>
                        <m:r>
                          <a:rPr lang="en-US" b="0" i="1" noProof="0" smtClean="0">
                            <a:latin typeface="Cambria Math" panose="02040503050406030204" pitchFamily="18" charset="0"/>
                          </a:rPr>
                          <m:t>𝑖</m:t>
                        </m:r>
                        <m:r>
                          <a:rPr lang="en-US" b="0" i="1" noProof="0" smtClean="0">
                            <a:latin typeface="Cambria Math" panose="02040503050406030204" pitchFamily="18" charset="0"/>
                          </a:rPr>
                          <m:t>=1</m:t>
                        </m:r>
                      </m:sub>
                      <m:sup>
                        <m:r>
                          <a:rPr lang="en-US" b="0" i="1" noProof="0" smtClean="0">
                            <a:latin typeface="Cambria Math" panose="02040503050406030204" pitchFamily="18" charset="0"/>
                          </a:rPr>
                          <m:t>𝑚</m:t>
                        </m:r>
                      </m:sup>
                    </m:sSubSup>
                  </m:oMath>
                </a14:m>
                <a:r>
                  <a:rPr lang="en-US" noProof="0" dirty="0"/>
                  <a:t> e.g. from measurements; (enable computation of </a:t>
                </a:r>
                <a14:m>
                  <m:oMath xmlns:m="http://schemas.openxmlformats.org/officeDocument/2006/math">
                    <m:acc>
                      <m:accPr>
                        <m:chr m:val="̃"/>
                        <m:ctrlPr>
                          <a:rPr lang="en-US" b="1" i="1" noProof="0" smtClean="0">
                            <a:latin typeface="Cambria Math" panose="02040503050406030204" pitchFamily="18" charset="0"/>
                          </a:rPr>
                        </m:ctrlPr>
                      </m:accPr>
                      <m:e>
                        <m:r>
                          <a:rPr lang="en-US" b="1" i="1" noProof="0" smtClean="0">
                            <a:latin typeface="Cambria Math" panose="02040503050406030204" pitchFamily="18" charset="0"/>
                          </a:rPr>
                          <m:t>𝒑</m:t>
                        </m:r>
                      </m:e>
                    </m:acc>
                    <m:d>
                      <m:dPr>
                        <m:ctrlPr>
                          <a:rPr lang="en-US" b="0" i="1" noProof="0" smtClean="0">
                            <a:latin typeface="Cambria Math" panose="02040503050406030204" pitchFamily="18" charset="0"/>
                          </a:rPr>
                        </m:ctrlPr>
                      </m:dPr>
                      <m:e>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𝑡</m:t>
                            </m:r>
                          </m:e>
                          <m:sub>
                            <m:r>
                              <a:rPr lang="en-US" b="0" i="1" noProof="0" smtClean="0">
                                <a:latin typeface="Cambria Math" panose="02040503050406030204" pitchFamily="18" charset="0"/>
                              </a:rPr>
                              <m:t>𝑖</m:t>
                            </m:r>
                          </m:sub>
                        </m:sSub>
                      </m:e>
                    </m:d>
                    <m:r>
                      <a:rPr lang="en-US" b="0" i="1" noProof="0" smtClean="0">
                        <a:latin typeface="Cambria Math" panose="02040503050406030204" pitchFamily="18" charset="0"/>
                      </a:rPr>
                      <m:t>, </m:t>
                    </m:r>
                    <m:acc>
                      <m:accPr>
                        <m:chr m:val="̃"/>
                        <m:ctrlPr>
                          <a:rPr lang="en-US" b="0" i="1" noProof="0" smtClean="0">
                            <a:latin typeface="Cambria Math" panose="02040503050406030204" pitchFamily="18" charset="0"/>
                          </a:rPr>
                        </m:ctrlPr>
                      </m:accPr>
                      <m:e>
                        <m:acc>
                          <m:accPr>
                            <m:chr m:val="̇"/>
                            <m:ctrlPr>
                              <a:rPr lang="en-US" b="1" i="1" noProof="0" smtClean="0">
                                <a:latin typeface="Cambria Math" panose="02040503050406030204" pitchFamily="18" charset="0"/>
                              </a:rPr>
                            </m:ctrlPr>
                          </m:accPr>
                          <m:e>
                            <m:r>
                              <a:rPr lang="en-US" b="1" i="1" noProof="0" smtClean="0">
                                <a:latin typeface="Cambria Math" panose="02040503050406030204" pitchFamily="18" charset="0"/>
                              </a:rPr>
                              <m:t>𝒑</m:t>
                            </m:r>
                          </m:e>
                        </m:acc>
                      </m:e>
                    </m:acc>
                    <m:d>
                      <m:dPr>
                        <m:ctrlPr>
                          <a:rPr lang="en-US" b="0" i="1" noProof="0" smtClean="0">
                            <a:latin typeface="Cambria Math" panose="02040503050406030204" pitchFamily="18" charset="0"/>
                          </a:rPr>
                        </m:ctrlPr>
                      </m:dPr>
                      <m:e>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𝑡</m:t>
                            </m:r>
                          </m:e>
                          <m:sub>
                            <m:r>
                              <a:rPr lang="en-US" b="0" i="1" noProof="0" smtClean="0">
                                <a:latin typeface="Cambria Math" panose="02040503050406030204" pitchFamily="18" charset="0"/>
                              </a:rPr>
                              <m:t>𝑖</m:t>
                            </m:r>
                          </m:sub>
                        </m:sSub>
                      </m:e>
                    </m:d>
                  </m:oMath>
                </a14:m>
                <a:r>
                  <a:rPr lang="en-US" noProof="0" dirty="0"/>
                  <a:t>)</a:t>
                </a:r>
              </a:p>
              <a:p>
                <a:pPr marL="285750" indent="-285750">
                  <a:buFont typeface="Arial" panose="020B0604020202020204" pitchFamily="34" charset="0"/>
                  <a:buChar char="•"/>
                </a:pPr>
                <a:r>
                  <a:rPr lang="en-US" noProof="0" dirty="0"/>
                  <a:t>Mapping to the </a:t>
                </a:r>
                <a:r>
                  <a:rPr lang="en-US" noProof="0" dirty="0">
                    <a:solidFill>
                      <a:schemeClr val="bg2"/>
                    </a:solidFill>
                  </a:rPr>
                  <a:t>Hamiltonian</a:t>
                </a:r>
                <a:r>
                  <a:rPr lang="en-US" noProof="0" dirty="0"/>
                  <a:t> is to be learned </a:t>
                </a:r>
                <a14:m>
                  <m:oMath xmlns:m="http://schemas.openxmlformats.org/officeDocument/2006/math">
                    <m:acc>
                      <m:accPr>
                        <m:chr m:val="̂"/>
                        <m:ctrlPr>
                          <a:rPr lang="en-US" b="0" i="1" noProof="0" smtClean="0">
                            <a:latin typeface="Cambria Math" panose="02040503050406030204" pitchFamily="18" charset="0"/>
                            <a:ea typeface="Cambria Math" panose="02040503050406030204" pitchFamily="18" charset="0"/>
                          </a:rPr>
                        </m:ctrlPr>
                      </m:accPr>
                      <m:e>
                        <m:r>
                          <a:rPr lang="en-US" i="1" noProof="0" smtClean="0">
                            <a:latin typeface="Cambria Math" panose="02040503050406030204" pitchFamily="18" charset="0"/>
                            <a:ea typeface="Cambria Math" panose="02040503050406030204" pitchFamily="18" charset="0"/>
                          </a:rPr>
                          <m:t>ℋ</m:t>
                        </m:r>
                      </m:e>
                    </m:acc>
                    <m:r>
                      <a:rPr lang="en-US" b="0" i="1" noProof="0" smtClean="0">
                        <a:latin typeface="Cambria Math" panose="02040503050406030204" pitchFamily="18" charset="0"/>
                        <a:ea typeface="Cambria Math" panose="02040503050406030204" pitchFamily="18" charset="0"/>
                      </a:rPr>
                      <m:t>=</m:t>
                    </m:r>
                    <m:r>
                      <a:rPr lang="en-US" b="0" i="1" noProof="0" smtClean="0">
                        <a:latin typeface="Cambria Math" panose="02040503050406030204" pitchFamily="18" charset="0"/>
                        <a:ea typeface="Cambria Math" panose="02040503050406030204" pitchFamily="18" charset="0"/>
                      </a:rPr>
                      <m:t>ℋ</m:t>
                    </m:r>
                    <m:r>
                      <a:rPr lang="en-US" b="0" i="1" noProof="0" smtClean="0">
                        <a:latin typeface="Cambria Math" panose="02040503050406030204" pitchFamily="18" charset="0"/>
                        <a:ea typeface="Cambria Math" panose="02040503050406030204" pitchFamily="18" charset="0"/>
                      </a:rPr>
                      <m:t>(</m:t>
                    </m:r>
                    <m:r>
                      <a:rPr lang="en-US" b="1" i="1" noProof="0" smtClean="0">
                        <a:latin typeface="Cambria Math" panose="02040503050406030204" pitchFamily="18" charset="0"/>
                        <a:ea typeface="Cambria Math" panose="02040503050406030204" pitchFamily="18" charset="0"/>
                      </a:rPr>
                      <m:t>𝒙</m:t>
                    </m:r>
                    <m:d>
                      <m:dPr>
                        <m:ctrlPr>
                          <a:rPr lang="en-US" b="0" i="1" noProof="0" smtClean="0">
                            <a:latin typeface="Cambria Math" panose="02040503050406030204" pitchFamily="18" charset="0"/>
                            <a:ea typeface="Cambria Math" panose="02040503050406030204" pitchFamily="18" charset="0"/>
                          </a:rPr>
                        </m:ctrlPr>
                      </m:dPr>
                      <m:e>
                        <m:r>
                          <a:rPr lang="en-US" b="0" i="1" noProof="0" smtClean="0">
                            <a:latin typeface="Cambria Math" panose="02040503050406030204" pitchFamily="18" charset="0"/>
                            <a:ea typeface="Cambria Math" panose="02040503050406030204" pitchFamily="18" charset="0"/>
                          </a:rPr>
                          <m:t>𝑡</m:t>
                        </m:r>
                      </m:e>
                    </m:d>
                    <m:r>
                      <a:rPr lang="en-US" b="0" i="1" noProof="0" smtClean="0">
                        <a:latin typeface="Cambria Math" panose="02040503050406030204" pitchFamily="18" charset="0"/>
                        <a:ea typeface="Cambria Math" panose="02040503050406030204" pitchFamily="18" charset="0"/>
                      </a:rPr>
                      <m:t>, </m:t>
                    </m:r>
                    <m:r>
                      <a:rPr lang="en-US" b="1" i="1" noProof="0" smtClean="0">
                        <a:latin typeface="Cambria Math" panose="02040503050406030204" pitchFamily="18" charset="0"/>
                        <a:ea typeface="Cambria Math" panose="02040503050406030204" pitchFamily="18" charset="0"/>
                      </a:rPr>
                      <m:t>𝒑</m:t>
                    </m:r>
                    <m:d>
                      <m:dPr>
                        <m:ctrlPr>
                          <a:rPr lang="en-US" b="0" i="1" noProof="0" smtClean="0">
                            <a:latin typeface="Cambria Math" panose="02040503050406030204" pitchFamily="18" charset="0"/>
                            <a:ea typeface="Cambria Math" panose="02040503050406030204" pitchFamily="18" charset="0"/>
                          </a:rPr>
                        </m:ctrlPr>
                      </m:dPr>
                      <m:e>
                        <m:r>
                          <a:rPr lang="en-US" b="0" i="1" noProof="0" smtClean="0">
                            <a:latin typeface="Cambria Math" panose="02040503050406030204" pitchFamily="18" charset="0"/>
                            <a:ea typeface="Cambria Math" panose="02040503050406030204" pitchFamily="18" charset="0"/>
                          </a:rPr>
                          <m:t>𝑡</m:t>
                        </m:r>
                      </m:e>
                    </m:d>
                    <m:r>
                      <a:rPr lang="en-US" b="0" i="1" noProof="0" smtClean="0">
                        <a:latin typeface="Cambria Math" panose="02040503050406030204" pitchFamily="18" charset="0"/>
                        <a:ea typeface="Cambria Math" panose="02040503050406030204" pitchFamily="18" charset="0"/>
                      </a:rPr>
                      <m:t>;</m:t>
                    </m:r>
                    <m:r>
                      <a:rPr lang="en-US" b="1" i="0" noProof="0" smtClean="0">
                        <a:latin typeface="Cambria Math" panose="02040503050406030204" pitchFamily="18" charset="0"/>
                        <a:ea typeface="Cambria Math" panose="02040503050406030204" pitchFamily="18" charset="0"/>
                      </a:rPr>
                      <m:t>𝚯</m:t>
                    </m:r>
                    <m:r>
                      <a:rPr lang="en-US" b="0" i="1" noProof="0" smtClean="0">
                        <a:latin typeface="Cambria Math" panose="02040503050406030204" pitchFamily="18" charset="0"/>
                        <a:ea typeface="Cambria Math" panose="02040503050406030204" pitchFamily="18" charset="0"/>
                      </a:rPr>
                      <m:t>)</m:t>
                    </m:r>
                  </m:oMath>
                </a14:m>
                <a:endParaRPr lang="en-US" noProof="0" dirty="0"/>
              </a:p>
              <a:p>
                <a:pPr marL="285750" indent="-285750">
                  <a:buFont typeface="Arial" panose="020B0604020202020204" pitchFamily="34" charset="0"/>
                  <a:buChar char="•"/>
                </a:pPr>
                <a:r>
                  <a:rPr lang="en-US" noProof="0" dirty="0"/>
                  <a:t>From </a:t>
                </a:r>
                <a14:m>
                  <m:oMath xmlns:m="http://schemas.openxmlformats.org/officeDocument/2006/math">
                    <m:acc>
                      <m:accPr>
                        <m:chr m:val="̂"/>
                        <m:ctrlPr>
                          <a:rPr lang="en-US" b="0" i="1" noProof="0" smtClean="0">
                            <a:latin typeface="Cambria Math" panose="02040503050406030204" pitchFamily="18" charset="0"/>
                            <a:ea typeface="Cambria Math" panose="02040503050406030204" pitchFamily="18" charset="0"/>
                          </a:rPr>
                        </m:ctrlPr>
                      </m:accPr>
                      <m:e>
                        <m:r>
                          <a:rPr lang="en-US" i="1" noProof="0" smtClean="0">
                            <a:latin typeface="Cambria Math" panose="02040503050406030204" pitchFamily="18" charset="0"/>
                            <a:ea typeface="Cambria Math" panose="02040503050406030204" pitchFamily="18" charset="0"/>
                          </a:rPr>
                          <m:t>ℋ</m:t>
                        </m:r>
                      </m:e>
                    </m:acc>
                  </m:oMath>
                </a14:m>
                <a:r>
                  <a:rPr lang="en-US" noProof="0" dirty="0"/>
                  <a:t>, </a:t>
                </a:r>
                <a14:m>
                  <m:oMath xmlns:m="http://schemas.openxmlformats.org/officeDocument/2006/math">
                    <m:r>
                      <a:rPr lang="en-US" b="0" i="1" noProof="0" smtClean="0">
                        <a:latin typeface="Cambria Math" panose="02040503050406030204" pitchFamily="18" charset="0"/>
                      </a:rPr>
                      <m:t>𝑑</m:t>
                    </m:r>
                    <m:acc>
                      <m:accPr>
                        <m:chr m:val="̂"/>
                        <m:ctrlPr>
                          <a:rPr lang="en-US" b="1" i="1" noProof="0" smtClean="0">
                            <a:latin typeface="Cambria Math" panose="02040503050406030204" pitchFamily="18" charset="0"/>
                          </a:rPr>
                        </m:ctrlPr>
                      </m:accPr>
                      <m:e>
                        <m:r>
                          <a:rPr lang="en-US" b="1" i="1" noProof="0" smtClean="0">
                            <a:latin typeface="Cambria Math" panose="02040503050406030204" pitchFamily="18" charset="0"/>
                          </a:rPr>
                          <m:t>𝒙</m:t>
                        </m:r>
                      </m:e>
                    </m:acc>
                    <m:r>
                      <a:rPr lang="en-US" b="0" i="1" noProof="0" smtClean="0">
                        <a:latin typeface="Cambria Math" panose="02040503050406030204" pitchFamily="18" charset="0"/>
                      </a:rPr>
                      <m:t>/</m:t>
                    </m:r>
                    <m:r>
                      <a:rPr lang="en-US" b="0" i="1" noProof="0" smtClean="0">
                        <a:latin typeface="Cambria Math" panose="02040503050406030204" pitchFamily="18" charset="0"/>
                      </a:rPr>
                      <m:t>𝑑𝑡</m:t>
                    </m:r>
                  </m:oMath>
                </a14:m>
                <a:r>
                  <a:rPr lang="en-US" noProof="0" dirty="0"/>
                  <a:t> and </a:t>
                </a:r>
                <a14:m>
                  <m:oMath xmlns:m="http://schemas.openxmlformats.org/officeDocument/2006/math">
                    <m:r>
                      <a:rPr lang="en-US" b="0" i="1" noProof="0" smtClean="0">
                        <a:latin typeface="Cambria Math" panose="02040503050406030204" pitchFamily="18" charset="0"/>
                      </a:rPr>
                      <m:t>𝑑</m:t>
                    </m:r>
                    <m:acc>
                      <m:accPr>
                        <m:chr m:val="̂"/>
                        <m:ctrlPr>
                          <a:rPr lang="en-US" b="1" i="1" noProof="0" smtClean="0">
                            <a:latin typeface="Cambria Math" panose="02040503050406030204" pitchFamily="18" charset="0"/>
                          </a:rPr>
                        </m:ctrlPr>
                      </m:accPr>
                      <m:e>
                        <m:r>
                          <a:rPr lang="en-US" b="1" i="1" noProof="0" smtClean="0">
                            <a:latin typeface="Cambria Math" panose="02040503050406030204" pitchFamily="18" charset="0"/>
                          </a:rPr>
                          <m:t>𝒑</m:t>
                        </m:r>
                      </m:e>
                    </m:acc>
                    <m:r>
                      <a:rPr lang="en-US" b="0" i="1" noProof="0" smtClean="0">
                        <a:latin typeface="Cambria Math" panose="02040503050406030204" pitchFamily="18" charset="0"/>
                      </a:rPr>
                      <m:t>/</m:t>
                    </m:r>
                    <m:r>
                      <a:rPr lang="en-US" b="0" i="1" noProof="0" smtClean="0">
                        <a:latin typeface="Cambria Math" panose="02040503050406030204" pitchFamily="18" charset="0"/>
                      </a:rPr>
                      <m:t>𝑑𝑡</m:t>
                    </m:r>
                  </m:oMath>
                </a14:m>
                <a:r>
                  <a:rPr lang="en-US" noProof="0" dirty="0"/>
                  <a:t> can be computed</a:t>
                </a:r>
              </a:p>
              <a:p>
                <a:pPr marL="285750" indent="-285750">
                  <a:buFont typeface="Arial" panose="020B0604020202020204" pitchFamily="34" charset="0"/>
                  <a:buChar char="•"/>
                </a:pPr>
                <a:r>
                  <a:rPr lang="en-US" noProof="0" dirty="0"/>
                  <a:t>A comparison of </a:t>
                </a:r>
                <a14:m>
                  <m:oMath xmlns:m="http://schemas.openxmlformats.org/officeDocument/2006/math">
                    <m:r>
                      <a:rPr lang="en-US" b="0" i="1" noProof="0" smtClean="0">
                        <a:latin typeface="Cambria Math" panose="02040503050406030204" pitchFamily="18" charset="0"/>
                      </a:rPr>
                      <m:t>𝑑</m:t>
                    </m:r>
                    <m:acc>
                      <m:accPr>
                        <m:chr m:val="̂"/>
                        <m:ctrlPr>
                          <a:rPr lang="en-US" b="1" i="1" noProof="0" smtClean="0">
                            <a:latin typeface="Cambria Math" panose="02040503050406030204" pitchFamily="18" charset="0"/>
                          </a:rPr>
                        </m:ctrlPr>
                      </m:accPr>
                      <m:e>
                        <m:r>
                          <a:rPr lang="en-US" b="1" i="1" noProof="0" smtClean="0">
                            <a:latin typeface="Cambria Math" panose="02040503050406030204" pitchFamily="18" charset="0"/>
                          </a:rPr>
                          <m:t>𝒙</m:t>
                        </m:r>
                      </m:e>
                    </m:acc>
                    <m:r>
                      <a:rPr lang="en-US" b="0" i="1" noProof="0" smtClean="0">
                        <a:latin typeface="Cambria Math" panose="02040503050406030204" pitchFamily="18" charset="0"/>
                      </a:rPr>
                      <m:t>/</m:t>
                    </m:r>
                    <m:r>
                      <a:rPr lang="en-US" b="0" i="1" noProof="0" smtClean="0">
                        <a:latin typeface="Cambria Math" panose="02040503050406030204" pitchFamily="18" charset="0"/>
                      </a:rPr>
                      <m:t>𝑑𝑡</m:t>
                    </m:r>
                  </m:oMath>
                </a14:m>
                <a:r>
                  <a:rPr lang="en-US" noProof="0" dirty="0"/>
                  <a:t> and </a:t>
                </a:r>
                <a14:m>
                  <m:oMath xmlns:m="http://schemas.openxmlformats.org/officeDocument/2006/math">
                    <m:r>
                      <a:rPr lang="en-US" i="1" noProof="0" smtClean="0">
                        <a:latin typeface="Cambria Math" panose="02040503050406030204" pitchFamily="18" charset="0"/>
                      </a:rPr>
                      <m:t>𝑑</m:t>
                    </m:r>
                    <m:acc>
                      <m:accPr>
                        <m:chr m:val="̂"/>
                        <m:ctrlPr>
                          <a:rPr lang="en-US" b="1" i="1" noProof="0" smtClean="0">
                            <a:latin typeface="Cambria Math" panose="02040503050406030204" pitchFamily="18" charset="0"/>
                          </a:rPr>
                        </m:ctrlPr>
                      </m:accPr>
                      <m:e>
                        <m:r>
                          <a:rPr lang="en-US" b="1" i="1" noProof="0" smtClean="0">
                            <a:latin typeface="Cambria Math" panose="02040503050406030204" pitchFamily="18" charset="0"/>
                          </a:rPr>
                          <m:t>𝒑</m:t>
                        </m:r>
                      </m:e>
                    </m:acc>
                    <m:r>
                      <a:rPr lang="en-US" i="1" noProof="0" smtClean="0">
                        <a:latin typeface="Cambria Math" panose="02040503050406030204" pitchFamily="18" charset="0"/>
                      </a:rPr>
                      <m:t>/</m:t>
                    </m:r>
                    <m:r>
                      <a:rPr lang="en-US" i="1" noProof="0" smtClean="0">
                        <a:latin typeface="Cambria Math" panose="02040503050406030204" pitchFamily="18" charset="0"/>
                      </a:rPr>
                      <m:t>𝑑𝑡</m:t>
                    </m:r>
                  </m:oMath>
                </a14:m>
                <a:r>
                  <a:rPr lang="en-US" noProof="0" dirty="0"/>
                  <a:t> to the corresponding data in the data triplets, enables a </a:t>
                </a:r>
                <a:r>
                  <a:rPr lang="en-US" noProof="0" dirty="0">
                    <a:solidFill>
                      <a:schemeClr val="bg2"/>
                    </a:solidFill>
                  </a:rPr>
                  <a:t>cost function</a:t>
                </a:r>
              </a:p>
              <a:p>
                <a:pPr/>
                <a14:m>
                  <m:oMathPara xmlns:m="http://schemas.openxmlformats.org/officeDocument/2006/math">
                    <m:oMathParaPr>
                      <m:jc m:val="centerGroup"/>
                    </m:oMathParaPr>
                    <m:oMath xmlns:m="http://schemas.openxmlformats.org/officeDocument/2006/math">
                      <m:r>
                        <a:rPr lang="en-US" b="0" i="1" noProof="0" smtClean="0">
                          <a:latin typeface="Cambria Math" panose="02040503050406030204" pitchFamily="18" charset="0"/>
                        </a:rPr>
                        <m:t>𝐶</m:t>
                      </m:r>
                      <m:r>
                        <a:rPr lang="en-US" b="0" i="1" noProof="0" smtClean="0">
                          <a:latin typeface="Cambria Math" panose="02040503050406030204" pitchFamily="18" charset="0"/>
                        </a:rPr>
                        <m:t>=</m:t>
                      </m:r>
                      <m:f>
                        <m:fPr>
                          <m:ctrlPr>
                            <a:rPr lang="en-US" b="0" i="1" noProof="0" smtClean="0">
                              <a:latin typeface="Cambria Math" panose="02040503050406030204" pitchFamily="18" charset="0"/>
                            </a:rPr>
                          </m:ctrlPr>
                        </m:fPr>
                        <m:num>
                          <m:r>
                            <a:rPr lang="en-US" b="0" i="1" noProof="0" smtClean="0">
                              <a:latin typeface="Cambria Math" panose="02040503050406030204" pitchFamily="18" charset="0"/>
                            </a:rPr>
                            <m:t>1</m:t>
                          </m:r>
                        </m:num>
                        <m:den>
                          <m:r>
                            <a:rPr lang="en-US" b="0" i="1" noProof="0" smtClean="0">
                              <a:latin typeface="Cambria Math" panose="02040503050406030204" pitchFamily="18" charset="0"/>
                            </a:rPr>
                            <m:t>𝑚</m:t>
                          </m:r>
                        </m:den>
                      </m:f>
                      <m:nary>
                        <m:naryPr>
                          <m:chr m:val="∑"/>
                          <m:ctrlPr>
                            <a:rPr lang="en-US" b="0" i="1" noProof="0" smtClean="0">
                              <a:latin typeface="Cambria Math" panose="02040503050406030204" pitchFamily="18" charset="0"/>
                            </a:rPr>
                          </m:ctrlPr>
                        </m:naryPr>
                        <m:sub>
                          <m:r>
                            <m:rPr>
                              <m:brk m:alnAt="23"/>
                            </m:rPr>
                            <a:rPr lang="en-US" b="0" i="1" noProof="0" smtClean="0">
                              <a:latin typeface="Cambria Math" panose="02040503050406030204" pitchFamily="18" charset="0"/>
                            </a:rPr>
                            <m:t>𝑖</m:t>
                          </m:r>
                          <m:r>
                            <a:rPr lang="en-US" b="0" i="1" noProof="0" smtClean="0">
                              <a:latin typeface="Cambria Math" panose="02040503050406030204" pitchFamily="18" charset="0"/>
                            </a:rPr>
                            <m:t>=1</m:t>
                          </m:r>
                        </m:sub>
                        <m:sup>
                          <m:r>
                            <a:rPr lang="en-US" b="0" i="1" noProof="0" smtClean="0">
                              <a:latin typeface="Cambria Math" panose="02040503050406030204" pitchFamily="18" charset="0"/>
                            </a:rPr>
                            <m:t>𝑚</m:t>
                          </m:r>
                        </m:sup>
                        <m:e>
                          <m:d>
                            <m:dPr>
                              <m:ctrlPr>
                                <a:rPr lang="en-US" b="0" i="1" noProof="0" smtClean="0">
                                  <a:latin typeface="Cambria Math" panose="02040503050406030204" pitchFamily="18" charset="0"/>
                                </a:rPr>
                              </m:ctrlPr>
                            </m:dPr>
                            <m:e>
                              <m:sSup>
                                <m:sSupPr>
                                  <m:ctrlPr>
                                    <a:rPr lang="en-US" b="0" i="1" noProof="0" smtClean="0">
                                      <a:latin typeface="Cambria Math" panose="02040503050406030204" pitchFamily="18" charset="0"/>
                                    </a:rPr>
                                  </m:ctrlPr>
                                </m:sSupPr>
                                <m:e>
                                  <m:d>
                                    <m:dPr>
                                      <m:begChr m:val="‖"/>
                                      <m:endChr m:val="‖"/>
                                      <m:ctrlPr>
                                        <a:rPr lang="en-US" b="0" i="1" noProof="0" smtClean="0">
                                          <a:latin typeface="Cambria Math" panose="02040503050406030204" pitchFamily="18" charset="0"/>
                                        </a:rPr>
                                      </m:ctrlPr>
                                    </m:dPr>
                                    <m:e>
                                      <m:f>
                                        <m:fPr>
                                          <m:ctrlPr>
                                            <a:rPr lang="en-US" b="0" i="1" noProof="0" smtClean="0">
                                              <a:latin typeface="Cambria Math" panose="02040503050406030204" pitchFamily="18" charset="0"/>
                                            </a:rPr>
                                          </m:ctrlPr>
                                        </m:fPr>
                                        <m:num>
                                          <m:r>
                                            <a:rPr lang="en-US" b="0" i="1" noProof="0" smtClean="0">
                                              <a:latin typeface="Cambria Math" panose="02040503050406030204" pitchFamily="18" charset="0"/>
                                            </a:rPr>
                                            <m:t>𝑑</m:t>
                                          </m:r>
                                          <m:acc>
                                            <m:accPr>
                                              <m:chr m:val="̃"/>
                                              <m:ctrlPr>
                                                <a:rPr lang="en-US" b="1" i="1" noProof="0" smtClean="0">
                                                  <a:latin typeface="Cambria Math" panose="02040503050406030204" pitchFamily="18" charset="0"/>
                                                </a:rPr>
                                              </m:ctrlPr>
                                            </m:accPr>
                                            <m:e>
                                              <m:r>
                                                <a:rPr lang="en-US" b="1" i="1" noProof="0" smtClean="0">
                                                  <a:latin typeface="Cambria Math" panose="02040503050406030204" pitchFamily="18" charset="0"/>
                                                </a:rPr>
                                                <m:t>𝒙</m:t>
                                              </m:r>
                                            </m:e>
                                          </m:acc>
                                          <m:d>
                                            <m:dPr>
                                              <m:ctrlPr>
                                                <a:rPr lang="en-US" b="0" i="1" noProof="0" smtClean="0">
                                                  <a:latin typeface="Cambria Math" panose="02040503050406030204" pitchFamily="18" charset="0"/>
                                                </a:rPr>
                                              </m:ctrlPr>
                                            </m:dPr>
                                            <m:e>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𝑡</m:t>
                                                  </m:r>
                                                </m:e>
                                                <m:sub>
                                                  <m:r>
                                                    <a:rPr lang="en-US" b="0" i="1" noProof="0" smtClean="0">
                                                      <a:latin typeface="Cambria Math" panose="02040503050406030204" pitchFamily="18" charset="0"/>
                                                    </a:rPr>
                                                    <m:t>𝑖</m:t>
                                                  </m:r>
                                                </m:sub>
                                              </m:sSub>
                                            </m:e>
                                          </m:d>
                                        </m:num>
                                        <m:den>
                                          <m:r>
                                            <a:rPr lang="en-US" b="0" i="1" noProof="0" smtClean="0">
                                              <a:latin typeface="Cambria Math" panose="02040503050406030204" pitchFamily="18" charset="0"/>
                                            </a:rPr>
                                            <m:t>𝑑𝑡</m:t>
                                          </m:r>
                                        </m:den>
                                      </m:f>
                                      <m:r>
                                        <a:rPr lang="en-US" b="0" i="1" noProof="0" smtClean="0">
                                          <a:latin typeface="Cambria Math" panose="02040503050406030204" pitchFamily="18" charset="0"/>
                                        </a:rPr>
                                        <m:t>−</m:t>
                                      </m:r>
                                      <m:f>
                                        <m:fPr>
                                          <m:ctrlPr>
                                            <a:rPr lang="en-US" b="0" i="1" noProof="0" smtClean="0">
                                              <a:latin typeface="Cambria Math" panose="02040503050406030204" pitchFamily="18" charset="0"/>
                                              <a:ea typeface="Cambria Math" panose="02040503050406030204" pitchFamily="18" charset="0"/>
                                            </a:rPr>
                                          </m:ctrlPr>
                                        </m:fPr>
                                        <m:num>
                                          <m:r>
                                            <a:rPr lang="en-US" b="0" i="1" noProof="0" smtClean="0">
                                              <a:latin typeface="Cambria Math" panose="02040503050406030204" pitchFamily="18" charset="0"/>
                                            </a:rPr>
                                            <m:t>𝜕</m:t>
                                          </m:r>
                                          <m:acc>
                                            <m:accPr>
                                              <m:chr m:val="̂"/>
                                              <m:ctrlPr>
                                                <a:rPr lang="en-US" b="0" i="1" noProof="0" smtClean="0">
                                                  <a:latin typeface="Cambria Math" panose="02040503050406030204" pitchFamily="18" charset="0"/>
                                                  <a:ea typeface="Cambria Math" panose="02040503050406030204" pitchFamily="18" charset="0"/>
                                                </a:rPr>
                                              </m:ctrlPr>
                                            </m:accPr>
                                            <m:e>
                                              <m:r>
                                                <a:rPr lang="en-US" b="0" i="1" noProof="0" smtClean="0">
                                                  <a:latin typeface="Cambria Math" panose="02040503050406030204" pitchFamily="18" charset="0"/>
                                                  <a:ea typeface="Cambria Math" panose="02040503050406030204" pitchFamily="18" charset="0"/>
                                                </a:rPr>
                                                <m:t>ℋ</m:t>
                                              </m:r>
                                            </m:e>
                                          </m:acc>
                                          <m:d>
                                            <m:dPr>
                                              <m:ctrlPr>
                                                <a:rPr lang="en-US" b="0" i="1" noProof="0" smtClean="0">
                                                  <a:latin typeface="Cambria Math" panose="02040503050406030204" pitchFamily="18" charset="0"/>
                                                  <a:ea typeface="Cambria Math" panose="02040503050406030204" pitchFamily="18" charset="0"/>
                                                </a:rPr>
                                              </m:ctrlPr>
                                            </m:dPr>
                                            <m:e>
                                              <m:acc>
                                                <m:accPr>
                                                  <m:chr m:val="̃"/>
                                                  <m:ctrlPr>
                                                    <a:rPr lang="en-US" b="1" i="1" noProof="0" smtClean="0">
                                                      <a:latin typeface="Cambria Math" panose="02040503050406030204" pitchFamily="18" charset="0"/>
                                                      <a:ea typeface="Cambria Math" panose="02040503050406030204" pitchFamily="18" charset="0"/>
                                                    </a:rPr>
                                                  </m:ctrlPr>
                                                </m:accPr>
                                                <m:e>
                                                  <m:r>
                                                    <a:rPr lang="en-US" b="1" i="1" noProof="0" smtClean="0">
                                                      <a:latin typeface="Cambria Math" panose="02040503050406030204" pitchFamily="18" charset="0"/>
                                                      <a:ea typeface="Cambria Math" panose="02040503050406030204" pitchFamily="18" charset="0"/>
                                                    </a:rPr>
                                                    <m:t>𝒙</m:t>
                                                  </m:r>
                                                </m:e>
                                              </m:acc>
                                              <m:r>
                                                <a:rPr lang="en-US" b="0" i="1" noProof="0" smtClean="0">
                                                  <a:latin typeface="Cambria Math" panose="02040503050406030204" pitchFamily="18" charset="0"/>
                                                  <a:ea typeface="Cambria Math" panose="02040503050406030204" pitchFamily="18" charset="0"/>
                                                </a:rPr>
                                                <m:t>,</m:t>
                                              </m:r>
                                              <m:acc>
                                                <m:accPr>
                                                  <m:chr m:val="̃"/>
                                                  <m:ctrlPr>
                                                    <a:rPr lang="en-US" b="0" i="1" noProof="0" smtClean="0">
                                                      <a:latin typeface="Cambria Math" panose="02040503050406030204" pitchFamily="18" charset="0"/>
                                                      <a:ea typeface="Cambria Math" panose="02040503050406030204" pitchFamily="18" charset="0"/>
                                                    </a:rPr>
                                                  </m:ctrlPr>
                                                </m:accPr>
                                                <m:e>
                                                  <m:r>
                                                    <a:rPr lang="en-US" b="1" i="1" noProof="0" smtClean="0">
                                                      <a:latin typeface="Cambria Math" panose="02040503050406030204" pitchFamily="18" charset="0"/>
                                                      <a:ea typeface="Cambria Math" panose="02040503050406030204" pitchFamily="18" charset="0"/>
                                                    </a:rPr>
                                                    <m:t>𝒑</m:t>
                                                  </m:r>
                                                </m:e>
                                              </m:acc>
                                              <m:d>
                                                <m:dPr>
                                                  <m:ctrlPr>
                                                    <a:rPr lang="en-US" b="0" i="1" noProof="0" smtClean="0">
                                                      <a:latin typeface="Cambria Math" panose="02040503050406030204" pitchFamily="18" charset="0"/>
                                                      <a:ea typeface="Cambria Math" panose="02040503050406030204" pitchFamily="18" charset="0"/>
                                                    </a:rPr>
                                                  </m:ctrlPr>
                                                </m:dPr>
                                                <m:e>
                                                  <m:sSub>
                                                    <m:sSubPr>
                                                      <m:ctrlPr>
                                                        <a:rPr lang="en-US" b="0" i="1" noProof="0" smtClean="0">
                                                          <a:latin typeface="Cambria Math" panose="02040503050406030204" pitchFamily="18" charset="0"/>
                                                          <a:ea typeface="Cambria Math" panose="02040503050406030204" pitchFamily="18" charset="0"/>
                                                        </a:rPr>
                                                      </m:ctrlPr>
                                                    </m:sSubPr>
                                                    <m:e>
                                                      <m:r>
                                                        <a:rPr lang="en-US" b="0" i="1" noProof="0" smtClean="0">
                                                          <a:latin typeface="Cambria Math" panose="02040503050406030204" pitchFamily="18" charset="0"/>
                                                          <a:ea typeface="Cambria Math" panose="02040503050406030204" pitchFamily="18" charset="0"/>
                                                        </a:rPr>
                                                        <m:t>𝑡</m:t>
                                                      </m:r>
                                                    </m:e>
                                                    <m:sub>
                                                      <m:r>
                                                        <a:rPr lang="en-US" b="0" i="1" noProof="0" smtClean="0">
                                                          <a:latin typeface="Cambria Math" panose="02040503050406030204" pitchFamily="18" charset="0"/>
                                                          <a:ea typeface="Cambria Math" panose="02040503050406030204" pitchFamily="18" charset="0"/>
                                                        </a:rPr>
                                                        <m:t>𝑖</m:t>
                                                      </m:r>
                                                    </m:sub>
                                                  </m:sSub>
                                                </m:e>
                                              </m:d>
                                              <m:r>
                                                <a:rPr lang="en-US" b="0" i="1" noProof="0" smtClean="0">
                                                  <a:latin typeface="Cambria Math" panose="02040503050406030204" pitchFamily="18" charset="0"/>
                                                  <a:ea typeface="Cambria Math" panose="02040503050406030204" pitchFamily="18" charset="0"/>
                                                </a:rPr>
                                                <m:t>;</m:t>
                                              </m:r>
                                              <m:r>
                                                <a:rPr lang="en-US" b="1" i="0" noProof="0" smtClean="0">
                                                  <a:latin typeface="Cambria Math" panose="02040503050406030204" pitchFamily="18" charset="0"/>
                                                  <a:ea typeface="Cambria Math" panose="02040503050406030204" pitchFamily="18" charset="0"/>
                                                </a:rPr>
                                                <m:t>𝚯</m:t>
                                              </m:r>
                                            </m:e>
                                          </m:d>
                                        </m:num>
                                        <m:den>
                                          <m:r>
                                            <a:rPr lang="en-US" b="0" i="1" noProof="0" smtClean="0">
                                              <a:latin typeface="Cambria Math" panose="02040503050406030204" pitchFamily="18" charset="0"/>
                                              <a:ea typeface="Cambria Math" panose="02040503050406030204" pitchFamily="18" charset="0"/>
                                            </a:rPr>
                                            <m:t>𝜕</m:t>
                                          </m:r>
                                          <m:acc>
                                            <m:accPr>
                                              <m:chr m:val="̃"/>
                                              <m:ctrlPr>
                                                <a:rPr lang="en-US" b="1" i="1" noProof="0" smtClean="0">
                                                  <a:latin typeface="Cambria Math" panose="02040503050406030204" pitchFamily="18" charset="0"/>
                                                  <a:ea typeface="Cambria Math" panose="02040503050406030204" pitchFamily="18" charset="0"/>
                                                </a:rPr>
                                              </m:ctrlPr>
                                            </m:accPr>
                                            <m:e>
                                              <m:r>
                                                <a:rPr lang="en-US" b="1" i="1" noProof="0" smtClean="0">
                                                  <a:latin typeface="Cambria Math" panose="02040503050406030204" pitchFamily="18" charset="0"/>
                                                  <a:ea typeface="Cambria Math" panose="02040503050406030204" pitchFamily="18" charset="0"/>
                                                </a:rPr>
                                                <m:t>𝒑</m:t>
                                              </m:r>
                                            </m:e>
                                          </m:acc>
                                          <m:d>
                                            <m:dPr>
                                              <m:ctrlPr>
                                                <a:rPr lang="en-US" b="0" i="1" noProof="0" smtClean="0">
                                                  <a:latin typeface="Cambria Math" panose="02040503050406030204" pitchFamily="18" charset="0"/>
                                                  <a:ea typeface="Cambria Math" panose="02040503050406030204" pitchFamily="18" charset="0"/>
                                                </a:rPr>
                                              </m:ctrlPr>
                                            </m:dPr>
                                            <m:e>
                                              <m:sSub>
                                                <m:sSubPr>
                                                  <m:ctrlPr>
                                                    <a:rPr lang="en-US" b="0" i="1" noProof="0" smtClean="0">
                                                      <a:latin typeface="Cambria Math" panose="02040503050406030204" pitchFamily="18" charset="0"/>
                                                      <a:ea typeface="Cambria Math" panose="02040503050406030204" pitchFamily="18" charset="0"/>
                                                    </a:rPr>
                                                  </m:ctrlPr>
                                                </m:sSubPr>
                                                <m:e>
                                                  <m:r>
                                                    <a:rPr lang="en-US" b="0" i="1" noProof="0" smtClean="0">
                                                      <a:latin typeface="Cambria Math" panose="02040503050406030204" pitchFamily="18" charset="0"/>
                                                      <a:ea typeface="Cambria Math" panose="02040503050406030204" pitchFamily="18" charset="0"/>
                                                    </a:rPr>
                                                    <m:t>𝑡</m:t>
                                                  </m:r>
                                                </m:e>
                                                <m:sub>
                                                  <m:r>
                                                    <a:rPr lang="en-US" b="0" i="1" noProof="0" smtClean="0">
                                                      <a:latin typeface="Cambria Math" panose="02040503050406030204" pitchFamily="18" charset="0"/>
                                                      <a:ea typeface="Cambria Math" panose="02040503050406030204" pitchFamily="18" charset="0"/>
                                                    </a:rPr>
                                                    <m:t>𝑖</m:t>
                                                  </m:r>
                                                </m:sub>
                                              </m:sSub>
                                            </m:e>
                                          </m:d>
                                        </m:den>
                                      </m:f>
                                    </m:e>
                                  </m:d>
                                </m:e>
                                <m:sup>
                                  <m:r>
                                    <a:rPr lang="en-US" b="0" i="1" noProof="0" smtClean="0">
                                      <a:latin typeface="Cambria Math" panose="02040503050406030204" pitchFamily="18" charset="0"/>
                                    </a:rPr>
                                    <m:t>2</m:t>
                                  </m:r>
                                </m:sup>
                              </m:sSup>
                              <m:r>
                                <a:rPr lang="en-US" b="0" i="1" noProof="0" smtClean="0">
                                  <a:latin typeface="Cambria Math" panose="02040503050406030204" pitchFamily="18" charset="0"/>
                                </a:rPr>
                                <m:t>+</m:t>
                              </m:r>
                              <m:sSup>
                                <m:sSupPr>
                                  <m:ctrlPr>
                                    <a:rPr lang="en-US" b="0" i="1" noProof="0" smtClean="0">
                                      <a:latin typeface="Cambria Math" panose="02040503050406030204" pitchFamily="18" charset="0"/>
                                    </a:rPr>
                                  </m:ctrlPr>
                                </m:sSupPr>
                                <m:e>
                                  <m:d>
                                    <m:dPr>
                                      <m:begChr m:val="‖"/>
                                      <m:endChr m:val="‖"/>
                                      <m:ctrlPr>
                                        <a:rPr lang="en-US" b="0" i="1" noProof="0" smtClean="0">
                                          <a:latin typeface="Cambria Math" panose="02040503050406030204" pitchFamily="18" charset="0"/>
                                        </a:rPr>
                                      </m:ctrlPr>
                                    </m:dPr>
                                    <m:e>
                                      <m:f>
                                        <m:fPr>
                                          <m:ctrlPr>
                                            <a:rPr lang="en-US" b="0" i="1" noProof="0" smtClean="0">
                                              <a:latin typeface="Cambria Math" panose="02040503050406030204" pitchFamily="18" charset="0"/>
                                            </a:rPr>
                                          </m:ctrlPr>
                                        </m:fPr>
                                        <m:num>
                                          <m:r>
                                            <a:rPr lang="en-US" b="0" i="1" noProof="0" smtClean="0">
                                              <a:latin typeface="Cambria Math" panose="02040503050406030204" pitchFamily="18" charset="0"/>
                                            </a:rPr>
                                            <m:t>𝑑</m:t>
                                          </m:r>
                                          <m:acc>
                                            <m:accPr>
                                              <m:chr m:val="̃"/>
                                              <m:ctrlPr>
                                                <a:rPr lang="en-US" b="1" i="1" noProof="0" smtClean="0">
                                                  <a:latin typeface="Cambria Math" panose="02040503050406030204" pitchFamily="18" charset="0"/>
                                                </a:rPr>
                                              </m:ctrlPr>
                                            </m:accPr>
                                            <m:e>
                                              <m:r>
                                                <a:rPr lang="en-US" b="1" i="1" noProof="0" smtClean="0">
                                                  <a:latin typeface="Cambria Math" panose="02040503050406030204" pitchFamily="18" charset="0"/>
                                                </a:rPr>
                                                <m:t>𝒑</m:t>
                                              </m:r>
                                            </m:e>
                                          </m:acc>
                                          <m:d>
                                            <m:dPr>
                                              <m:ctrlPr>
                                                <a:rPr lang="en-US" b="0" i="1" noProof="0" smtClean="0">
                                                  <a:latin typeface="Cambria Math" panose="02040503050406030204" pitchFamily="18" charset="0"/>
                                                </a:rPr>
                                              </m:ctrlPr>
                                            </m:dPr>
                                            <m:e>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𝑡</m:t>
                                                  </m:r>
                                                </m:e>
                                                <m:sub>
                                                  <m:r>
                                                    <a:rPr lang="en-US" b="0" i="1" noProof="0" smtClean="0">
                                                      <a:latin typeface="Cambria Math" panose="02040503050406030204" pitchFamily="18" charset="0"/>
                                                    </a:rPr>
                                                    <m:t>𝑖</m:t>
                                                  </m:r>
                                                </m:sub>
                                              </m:sSub>
                                            </m:e>
                                          </m:d>
                                        </m:num>
                                        <m:den>
                                          <m:r>
                                            <a:rPr lang="en-US" b="0" i="1" noProof="0" smtClean="0">
                                              <a:latin typeface="Cambria Math" panose="02040503050406030204" pitchFamily="18" charset="0"/>
                                            </a:rPr>
                                            <m:t>𝑑𝑡</m:t>
                                          </m:r>
                                        </m:den>
                                      </m:f>
                                      <m:r>
                                        <a:rPr lang="en-US" b="0" i="1" noProof="0" smtClean="0">
                                          <a:latin typeface="Cambria Math" panose="02040503050406030204" pitchFamily="18" charset="0"/>
                                        </a:rPr>
                                        <m:t>+</m:t>
                                      </m:r>
                                      <m:f>
                                        <m:fPr>
                                          <m:ctrlPr>
                                            <a:rPr lang="en-US" b="0" i="1" noProof="0" smtClean="0">
                                              <a:latin typeface="Cambria Math" panose="02040503050406030204" pitchFamily="18" charset="0"/>
                                            </a:rPr>
                                          </m:ctrlPr>
                                        </m:fPr>
                                        <m:num>
                                          <m:r>
                                            <a:rPr lang="en-US" b="0" i="1" noProof="0" smtClean="0">
                                              <a:latin typeface="Cambria Math" panose="02040503050406030204" pitchFamily="18" charset="0"/>
                                            </a:rPr>
                                            <m:t>𝜕</m:t>
                                          </m:r>
                                          <m:acc>
                                            <m:accPr>
                                              <m:chr m:val="̂"/>
                                              <m:ctrlPr>
                                                <a:rPr lang="en-US" b="0" i="1" noProof="0" smtClean="0">
                                                  <a:latin typeface="Cambria Math" panose="02040503050406030204" pitchFamily="18" charset="0"/>
                                                </a:rPr>
                                              </m:ctrlPr>
                                            </m:accPr>
                                            <m:e>
                                              <m:r>
                                                <a:rPr lang="en-US" b="0" i="1" noProof="0" smtClean="0">
                                                  <a:latin typeface="Cambria Math" panose="02040503050406030204" pitchFamily="18" charset="0"/>
                                                </a:rPr>
                                                <m:t>𝐻</m:t>
                                              </m:r>
                                            </m:e>
                                          </m:acc>
                                          <m:d>
                                            <m:dPr>
                                              <m:ctrlPr>
                                                <a:rPr lang="en-US" b="0" i="1" noProof="0" smtClean="0">
                                                  <a:latin typeface="Cambria Math" panose="02040503050406030204" pitchFamily="18" charset="0"/>
                                                </a:rPr>
                                              </m:ctrlPr>
                                            </m:dPr>
                                            <m:e>
                                              <m:acc>
                                                <m:accPr>
                                                  <m:chr m:val="̃"/>
                                                  <m:ctrlPr>
                                                    <a:rPr lang="en-US" b="1" i="1" noProof="0" smtClean="0">
                                                      <a:latin typeface="Cambria Math" panose="02040503050406030204" pitchFamily="18" charset="0"/>
                                                    </a:rPr>
                                                  </m:ctrlPr>
                                                </m:accPr>
                                                <m:e>
                                                  <m:r>
                                                    <a:rPr lang="en-US" b="1" i="1" noProof="0" smtClean="0">
                                                      <a:latin typeface="Cambria Math" panose="02040503050406030204" pitchFamily="18" charset="0"/>
                                                    </a:rPr>
                                                    <m:t>𝒙</m:t>
                                                  </m:r>
                                                </m:e>
                                              </m:acc>
                                              <m:d>
                                                <m:dPr>
                                                  <m:ctrlPr>
                                                    <a:rPr lang="en-US" b="0" i="1" noProof="0" smtClean="0">
                                                      <a:latin typeface="Cambria Math" panose="02040503050406030204" pitchFamily="18" charset="0"/>
                                                    </a:rPr>
                                                  </m:ctrlPr>
                                                </m:dPr>
                                                <m:e>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𝑡</m:t>
                                                      </m:r>
                                                    </m:e>
                                                    <m:sub>
                                                      <m:r>
                                                        <a:rPr lang="en-US" b="0" i="1" noProof="0" smtClean="0">
                                                          <a:latin typeface="Cambria Math" panose="02040503050406030204" pitchFamily="18" charset="0"/>
                                                        </a:rPr>
                                                        <m:t>𝑖</m:t>
                                                      </m:r>
                                                    </m:sub>
                                                  </m:sSub>
                                                </m:e>
                                              </m:d>
                                              <m:r>
                                                <a:rPr lang="en-US" b="0" i="1" noProof="0" smtClean="0">
                                                  <a:latin typeface="Cambria Math" panose="02040503050406030204" pitchFamily="18" charset="0"/>
                                                </a:rPr>
                                                <m:t>,</m:t>
                                              </m:r>
                                              <m:acc>
                                                <m:accPr>
                                                  <m:chr m:val="̃"/>
                                                  <m:ctrlPr>
                                                    <a:rPr lang="en-US" b="1" i="1" noProof="0" smtClean="0">
                                                      <a:latin typeface="Cambria Math" panose="02040503050406030204" pitchFamily="18" charset="0"/>
                                                    </a:rPr>
                                                  </m:ctrlPr>
                                                </m:accPr>
                                                <m:e>
                                                  <m:r>
                                                    <a:rPr lang="en-US" b="1" i="1" noProof="0" smtClean="0">
                                                      <a:latin typeface="Cambria Math" panose="02040503050406030204" pitchFamily="18" charset="0"/>
                                                    </a:rPr>
                                                    <m:t>𝒑</m:t>
                                                  </m:r>
                                                </m:e>
                                              </m:acc>
                                              <m:d>
                                                <m:dPr>
                                                  <m:ctrlPr>
                                                    <a:rPr lang="en-US" b="0" i="1" noProof="0" smtClean="0">
                                                      <a:latin typeface="Cambria Math" panose="02040503050406030204" pitchFamily="18" charset="0"/>
                                                    </a:rPr>
                                                  </m:ctrlPr>
                                                </m:dPr>
                                                <m:e>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𝑡</m:t>
                                                      </m:r>
                                                    </m:e>
                                                    <m:sub>
                                                      <m:r>
                                                        <a:rPr lang="en-US" b="0" i="1" noProof="0" smtClean="0">
                                                          <a:latin typeface="Cambria Math" panose="02040503050406030204" pitchFamily="18" charset="0"/>
                                                        </a:rPr>
                                                        <m:t>𝑖</m:t>
                                                      </m:r>
                                                    </m:sub>
                                                  </m:sSub>
                                                </m:e>
                                              </m:d>
                                              <m:r>
                                                <a:rPr lang="en-US" b="0" i="1" noProof="0" smtClean="0">
                                                  <a:latin typeface="Cambria Math" panose="02040503050406030204" pitchFamily="18" charset="0"/>
                                                </a:rPr>
                                                <m:t>;</m:t>
                                              </m:r>
                                              <m:r>
                                                <a:rPr lang="en-US" b="1" i="0" noProof="0" smtClean="0">
                                                  <a:latin typeface="Cambria Math" panose="02040503050406030204" pitchFamily="18" charset="0"/>
                                                </a:rPr>
                                                <m:t>𝚯</m:t>
                                              </m:r>
                                            </m:e>
                                          </m:d>
                                        </m:num>
                                        <m:den>
                                          <m:r>
                                            <a:rPr lang="en-US" b="0" i="1" noProof="0" smtClean="0">
                                              <a:latin typeface="Cambria Math" panose="02040503050406030204" pitchFamily="18" charset="0"/>
                                            </a:rPr>
                                            <m:t>𝜕</m:t>
                                          </m:r>
                                          <m:acc>
                                            <m:accPr>
                                              <m:chr m:val="̃"/>
                                              <m:ctrlPr>
                                                <a:rPr lang="en-US" b="0" i="1" noProof="0" smtClean="0">
                                                  <a:latin typeface="Cambria Math" panose="02040503050406030204" pitchFamily="18" charset="0"/>
                                                </a:rPr>
                                              </m:ctrlPr>
                                            </m:accPr>
                                            <m:e>
                                              <m:r>
                                                <a:rPr lang="en-US" b="1" i="1" noProof="0" smtClean="0">
                                                  <a:latin typeface="Cambria Math" panose="02040503050406030204" pitchFamily="18" charset="0"/>
                                                </a:rPr>
                                                <m:t>𝒙</m:t>
                                              </m:r>
                                            </m:e>
                                          </m:acc>
                                          <m:d>
                                            <m:dPr>
                                              <m:ctrlPr>
                                                <a:rPr lang="en-US" b="0" i="1" noProof="0" smtClean="0">
                                                  <a:latin typeface="Cambria Math" panose="02040503050406030204" pitchFamily="18" charset="0"/>
                                                </a:rPr>
                                              </m:ctrlPr>
                                            </m:dPr>
                                            <m:e>
                                              <m:sSub>
                                                <m:sSubPr>
                                                  <m:ctrlPr>
                                                    <a:rPr lang="en-US" b="0" i="1" noProof="0" smtClean="0">
                                                      <a:latin typeface="Cambria Math" panose="02040503050406030204" pitchFamily="18" charset="0"/>
                                                    </a:rPr>
                                                  </m:ctrlPr>
                                                </m:sSubPr>
                                                <m:e>
                                                  <m:r>
                                                    <a:rPr lang="en-US" b="0" i="1" noProof="0" smtClean="0">
                                                      <a:latin typeface="Cambria Math" panose="02040503050406030204" pitchFamily="18" charset="0"/>
                                                    </a:rPr>
                                                    <m:t>𝑡</m:t>
                                                  </m:r>
                                                </m:e>
                                                <m:sub>
                                                  <m:r>
                                                    <a:rPr lang="en-US" b="0" i="1" noProof="0" smtClean="0">
                                                      <a:latin typeface="Cambria Math" panose="02040503050406030204" pitchFamily="18" charset="0"/>
                                                    </a:rPr>
                                                    <m:t>𝑖</m:t>
                                                  </m:r>
                                                </m:sub>
                                              </m:sSub>
                                            </m:e>
                                          </m:d>
                                        </m:den>
                                      </m:f>
                                    </m:e>
                                  </m:d>
                                </m:e>
                                <m:sup>
                                  <m:r>
                                    <a:rPr lang="en-US" b="0" i="1" noProof="0" smtClean="0">
                                      <a:latin typeface="Cambria Math" panose="02040503050406030204" pitchFamily="18" charset="0"/>
                                    </a:rPr>
                                    <m:t>2</m:t>
                                  </m:r>
                                </m:sup>
                              </m:sSup>
                            </m:e>
                          </m:d>
                        </m:e>
                      </m:nary>
                    </m:oMath>
                  </m:oMathPara>
                </a14:m>
                <a:endParaRPr lang="en-US" noProof="0" dirty="0"/>
              </a:p>
              <a:p>
                <a:pPr marL="285750" indent="-285750">
                  <a:buFont typeface="Arial" panose="020B0604020202020204" pitchFamily="34" charset="0"/>
                  <a:buChar char="•"/>
                </a:pPr>
                <a:r>
                  <a:rPr lang="en-US" noProof="0" dirty="0"/>
                  <a:t>Prediction of the trajectory </a:t>
                </a:r>
                <a14:m>
                  <m:oMath xmlns:m="http://schemas.openxmlformats.org/officeDocument/2006/math">
                    <m:acc>
                      <m:accPr>
                        <m:chr m:val="̂"/>
                        <m:ctrlPr>
                          <a:rPr lang="en-US" b="1" i="1" noProof="0" smtClean="0">
                            <a:latin typeface="Cambria Math" panose="02040503050406030204" pitchFamily="18" charset="0"/>
                          </a:rPr>
                        </m:ctrlPr>
                      </m:accPr>
                      <m:e>
                        <m:r>
                          <a:rPr lang="en-US" b="1" i="1" noProof="0" smtClean="0">
                            <a:latin typeface="Cambria Math" panose="02040503050406030204" pitchFamily="18" charset="0"/>
                          </a:rPr>
                          <m:t>𝒙</m:t>
                        </m:r>
                      </m:e>
                    </m:acc>
                    <m:r>
                      <a:rPr lang="en-US" b="0" i="1" noProof="0" smtClean="0">
                        <a:latin typeface="Cambria Math" panose="02040503050406030204" pitchFamily="18" charset="0"/>
                      </a:rPr>
                      <m:t>(</m:t>
                    </m:r>
                    <m:r>
                      <a:rPr lang="en-US" b="0" i="1" noProof="0" smtClean="0">
                        <a:latin typeface="Cambria Math" panose="02040503050406030204" pitchFamily="18" charset="0"/>
                      </a:rPr>
                      <m:t>𝑡</m:t>
                    </m:r>
                    <m:r>
                      <a:rPr lang="en-US" b="0" i="1" noProof="0" smtClean="0">
                        <a:latin typeface="Cambria Math" panose="02040503050406030204" pitchFamily="18" charset="0"/>
                      </a:rPr>
                      <m:t>)</m:t>
                    </m:r>
                  </m:oMath>
                </a14:m>
                <a:r>
                  <a:rPr lang="en-US" noProof="0" dirty="0"/>
                  <a:t> beyond the datapoints seen in the data triplets, possible through </a:t>
                </a:r>
                <a:r>
                  <a:rPr lang="en-US" noProof="0" dirty="0">
                    <a:solidFill>
                      <a:schemeClr val="bg2"/>
                    </a:solidFill>
                  </a:rPr>
                  <a:t>forward Euler</a:t>
                </a:r>
              </a:p>
              <a:p>
                <a:pPr/>
                <a14:m>
                  <m:oMathPara xmlns:m="http://schemas.openxmlformats.org/officeDocument/2006/math">
                    <m:oMathParaPr>
                      <m:jc m:val="centerGroup"/>
                    </m:oMathParaPr>
                    <m:oMath xmlns:m="http://schemas.openxmlformats.org/officeDocument/2006/math">
                      <m:r>
                        <a:rPr lang="en-US" b="1" i="1" noProof="0" smtClean="0">
                          <a:latin typeface="Cambria Math" panose="02040503050406030204" pitchFamily="18" charset="0"/>
                        </a:rPr>
                        <m:t>𝒙</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𝑡</m:t>
                          </m:r>
                          <m:r>
                            <a:rPr lang="en-US" b="0" i="1" noProof="0" smtClean="0">
                              <a:latin typeface="Cambria Math" panose="02040503050406030204" pitchFamily="18" charset="0"/>
                            </a:rPr>
                            <m:t>+</m:t>
                          </m:r>
                          <m:r>
                            <m:rPr>
                              <m:sty m:val="p"/>
                            </m:rPr>
                            <a:rPr lang="en-US" b="0" i="0" noProof="0" smtClean="0">
                              <a:latin typeface="Cambria Math" panose="02040503050406030204" pitchFamily="18" charset="0"/>
                            </a:rPr>
                            <m:t>Δ</m:t>
                          </m:r>
                          <m:r>
                            <a:rPr lang="en-US" b="0" i="1" noProof="0" smtClean="0">
                              <a:latin typeface="Cambria Math" panose="02040503050406030204" pitchFamily="18" charset="0"/>
                            </a:rPr>
                            <m:t>𝑡</m:t>
                          </m:r>
                        </m:e>
                      </m:d>
                      <m:r>
                        <a:rPr lang="en-US" b="0" i="1" noProof="0" smtClean="0">
                          <a:latin typeface="Cambria Math" panose="02040503050406030204" pitchFamily="18" charset="0"/>
                        </a:rPr>
                        <m:t>=</m:t>
                      </m:r>
                      <m:r>
                        <a:rPr lang="en-US" b="1" i="1" noProof="0" smtClean="0">
                          <a:latin typeface="Cambria Math" panose="02040503050406030204" pitchFamily="18" charset="0"/>
                        </a:rPr>
                        <m:t>𝒙</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𝑡</m:t>
                          </m:r>
                        </m:e>
                      </m:d>
                      <m:r>
                        <a:rPr lang="en-US" b="0" i="1" noProof="0" smtClean="0">
                          <a:latin typeface="Cambria Math" panose="02040503050406030204" pitchFamily="18" charset="0"/>
                        </a:rPr>
                        <m:t>+</m:t>
                      </m:r>
                      <m:sSub>
                        <m:sSubPr>
                          <m:ctrlPr>
                            <a:rPr lang="en-US" b="0" i="1" noProof="0" smtClean="0">
                              <a:latin typeface="Cambria Math" panose="02040503050406030204" pitchFamily="18" charset="0"/>
                            </a:rPr>
                          </m:ctrlPr>
                        </m:sSubPr>
                        <m:e>
                          <m:d>
                            <m:dPr>
                              <m:begChr m:val=""/>
                              <m:endChr m:val="|"/>
                              <m:ctrlPr>
                                <a:rPr lang="en-US" b="0" i="1" noProof="0" smtClean="0">
                                  <a:latin typeface="Cambria Math" panose="02040503050406030204" pitchFamily="18" charset="0"/>
                                </a:rPr>
                              </m:ctrlPr>
                            </m:dPr>
                            <m:e>
                              <m:f>
                                <m:fPr>
                                  <m:ctrlPr>
                                    <a:rPr lang="en-US" b="0" i="1" noProof="0" smtClean="0">
                                      <a:latin typeface="Cambria Math" panose="02040503050406030204" pitchFamily="18" charset="0"/>
                                      <a:ea typeface="Cambria Math" panose="02040503050406030204" pitchFamily="18" charset="0"/>
                                    </a:rPr>
                                  </m:ctrlPr>
                                </m:fPr>
                                <m:num>
                                  <m:r>
                                    <a:rPr lang="en-US" b="0" i="1" noProof="0" smtClean="0">
                                      <a:latin typeface="Cambria Math" panose="02040503050406030204" pitchFamily="18" charset="0"/>
                                    </a:rPr>
                                    <m:t>𝜕</m:t>
                                  </m:r>
                                  <m:r>
                                    <a:rPr lang="en-US" b="0" i="1" noProof="0" smtClean="0">
                                      <a:latin typeface="Cambria Math" panose="02040503050406030204" pitchFamily="18" charset="0"/>
                                      <a:ea typeface="Cambria Math" panose="02040503050406030204" pitchFamily="18" charset="0"/>
                                    </a:rPr>
                                    <m:t>ℋ</m:t>
                                  </m:r>
                                </m:num>
                                <m:den>
                                  <m:r>
                                    <a:rPr lang="en-US" b="0" i="1" noProof="0" smtClean="0">
                                      <a:latin typeface="Cambria Math" panose="02040503050406030204" pitchFamily="18" charset="0"/>
                                      <a:ea typeface="Cambria Math" panose="02040503050406030204" pitchFamily="18" charset="0"/>
                                    </a:rPr>
                                    <m:t>𝜕</m:t>
                                  </m:r>
                                  <m:r>
                                    <a:rPr lang="en-US" b="1" i="1" noProof="0" smtClean="0">
                                      <a:latin typeface="Cambria Math" panose="02040503050406030204" pitchFamily="18" charset="0"/>
                                      <a:ea typeface="Cambria Math" panose="02040503050406030204" pitchFamily="18" charset="0"/>
                                    </a:rPr>
                                    <m:t>𝒑</m:t>
                                  </m:r>
                                </m:den>
                              </m:f>
                            </m:e>
                          </m:d>
                        </m:e>
                        <m:sub>
                          <m:r>
                            <a:rPr lang="en-US" b="0" i="1" noProof="0" smtClean="0">
                              <a:latin typeface="Cambria Math" panose="02040503050406030204" pitchFamily="18" charset="0"/>
                            </a:rPr>
                            <m:t>𝑡</m:t>
                          </m:r>
                        </m:sub>
                      </m:sSub>
                      <m:r>
                        <m:rPr>
                          <m:sty m:val="p"/>
                        </m:rPr>
                        <a:rPr lang="en-US" b="0" i="0" noProof="0" smtClean="0">
                          <a:latin typeface="Cambria Math" panose="02040503050406030204" pitchFamily="18" charset="0"/>
                        </a:rPr>
                        <m:t>Δ</m:t>
                      </m:r>
                      <m:r>
                        <a:rPr lang="en-US" b="0" i="1" noProof="0" smtClean="0">
                          <a:latin typeface="Cambria Math" panose="02040503050406030204" pitchFamily="18" charset="0"/>
                        </a:rPr>
                        <m:t>𝑡</m:t>
                      </m:r>
                      <m:r>
                        <a:rPr lang="en-US" b="0" i="1" noProof="0" smtClean="0">
                          <a:latin typeface="Cambria Math" panose="02040503050406030204" pitchFamily="18" charset="0"/>
                        </a:rPr>
                        <m:t>,     </m:t>
                      </m:r>
                      <m:r>
                        <a:rPr lang="en-US" b="1" i="1" noProof="0" smtClean="0">
                          <a:latin typeface="Cambria Math" panose="02040503050406030204" pitchFamily="18" charset="0"/>
                        </a:rPr>
                        <m:t>𝒑</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𝑡</m:t>
                          </m:r>
                          <m:r>
                            <a:rPr lang="en-US" b="0" i="1" noProof="0" smtClean="0">
                              <a:latin typeface="Cambria Math" panose="02040503050406030204" pitchFamily="18" charset="0"/>
                            </a:rPr>
                            <m:t>+</m:t>
                          </m:r>
                          <m:r>
                            <m:rPr>
                              <m:sty m:val="p"/>
                            </m:rPr>
                            <a:rPr lang="en-US" b="0" i="0" noProof="0" smtClean="0">
                              <a:latin typeface="Cambria Math" panose="02040503050406030204" pitchFamily="18" charset="0"/>
                            </a:rPr>
                            <m:t>Δ</m:t>
                          </m:r>
                          <m:r>
                            <a:rPr lang="en-US" b="0" i="1" noProof="0" smtClean="0">
                              <a:latin typeface="Cambria Math" panose="02040503050406030204" pitchFamily="18" charset="0"/>
                            </a:rPr>
                            <m:t>𝑡</m:t>
                          </m:r>
                        </m:e>
                      </m:d>
                      <m:r>
                        <a:rPr lang="en-US" b="0" i="1" noProof="0" smtClean="0">
                          <a:latin typeface="Cambria Math" panose="02040503050406030204" pitchFamily="18" charset="0"/>
                        </a:rPr>
                        <m:t>=</m:t>
                      </m:r>
                      <m:r>
                        <a:rPr lang="en-US" b="1" i="1" noProof="0" smtClean="0">
                          <a:latin typeface="Cambria Math" panose="02040503050406030204" pitchFamily="18" charset="0"/>
                        </a:rPr>
                        <m:t>𝒑</m:t>
                      </m:r>
                      <m:d>
                        <m:dPr>
                          <m:ctrlPr>
                            <a:rPr lang="en-US" b="0" i="1" noProof="0" smtClean="0">
                              <a:latin typeface="Cambria Math" panose="02040503050406030204" pitchFamily="18" charset="0"/>
                            </a:rPr>
                          </m:ctrlPr>
                        </m:dPr>
                        <m:e>
                          <m:r>
                            <a:rPr lang="en-US" b="0" i="1" noProof="0" smtClean="0">
                              <a:latin typeface="Cambria Math" panose="02040503050406030204" pitchFamily="18" charset="0"/>
                            </a:rPr>
                            <m:t>𝑡</m:t>
                          </m:r>
                        </m:e>
                      </m:d>
                      <m:r>
                        <a:rPr lang="en-US" b="0" i="1" noProof="0" smtClean="0">
                          <a:latin typeface="Cambria Math" panose="02040503050406030204" pitchFamily="18" charset="0"/>
                        </a:rPr>
                        <m:t>−</m:t>
                      </m:r>
                      <m:sSub>
                        <m:sSubPr>
                          <m:ctrlPr>
                            <a:rPr lang="en-US" b="0" i="1" noProof="0" smtClean="0">
                              <a:latin typeface="Cambria Math" panose="02040503050406030204" pitchFamily="18" charset="0"/>
                            </a:rPr>
                          </m:ctrlPr>
                        </m:sSubPr>
                        <m:e>
                          <m:d>
                            <m:dPr>
                              <m:begChr m:val=""/>
                              <m:endChr m:val="|"/>
                              <m:ctrlPr>
                                <a:rPr lang="en-US" b="0" i="1" noProof="0" smtClean="0">
                                  <a:latin typeface="Cambria Math" panose="02040503050406030204" pitchFamily="18" charset="0"/>
                                </a:rPr>
                              </m:ctrlPr>
                            </m:dPr>
                            <m:e>
                              <m:f>
                                <m:fPr>
                                  <m:ctrlPr>
                                    <a:rPr lang="en-US" b="0" i="1" noProof="0" smtClean="0">
                                      <a:latin typeface="Cambria Math" panose="02040503050406030204" pitchFamily="18" charset="0"/>
                                      <a:ea typeface="Cambria Math" panose="02040503050406030204" pitchFamily="18" charset="0"/>
                                    </a:rPr>
                                  </m:ctrlPr>
                                </m:fPr>
                                <m:num>
                                  <m:r>
                                    <a:rPr lang="en-US" b="0" i="1" noProof="0" smtClean="0">
                                      <a:latin typeface="Cambria Math" panose="02040503050406030204" pitchFamily="18" charset="0"/>
                                    </a:rPr>
                                    <m:t>𝜕</m:t>
                                  </m:r>
                                  <m:r>
                                    <a:rPr lang="en-US" b="0" i="1" noProof="0" smtClean="0">
                                      <a:latin typeface="Cambria Math" panose="02040503050406030204" pitchFamily="18" charset="0"/>
                                      <a:ea typeface="Cambria Math" panose="02040503050406030204" pitchFamily="18" charset="0"/>
                                    </a:rPr>
                                    <m:t>ℋ</m:t>
                                  </m:r>
                                </m:num>
                                <m:den>
                                  <m:r>
                                    <a:rPr lang="en-US" b="0" i="1" noProof="0" smtClean="0">
                                      <a:latin typeface="Cambria Math" panose="02040503050406030204" pitchFamily="18" charset="0"/>
                                      <a:ea typeface="Cambria Math" panose="02040503050406030204" pitchFamily="18" charset="0"/>
                                    </a:rPr>
                                    <m:t>𝜕</m:t>
                                  </m:r>
                                  <m:r>
                                    <a:rPr lang="en-US" b="1" i="1" noProof="0" smtClean="0">
                                      <a:latin typeface="Cambria Math" panose="02040503050406030204" pitchFamily="18" charset="0"/>
                                      <a:ea typeface="Cambria Math" panose="02040503050406030204" pitchFamily="18" charset="0"/>
                                    </a:rPr>
                                    <m:t>𝒙</m:t>
                                  </m:r>
                                </m:den>
                              </m:f>
                            </m:e>
                          </m:d>
                        </m:e>
                        <m:sub>
                          <m:r>
                            <a:rPr lang="en-US" b="0" i="1" noProof="0" smtClean="0">
                              <a:latin typeface="Cambria Math" panose="02040503050406030204" pitchFamily="18" charset="0"/>
                            </a:rPr>
                            <m:t>𝑡</m:t>
                          </m:r>
                        </m:sub>
                      </m:sSub>
                      <m:r>
                        <m:rPr>
                          <m:sty m:val="p"/>
                        </m:rPr>
                        <a:rPr lang="en-US" b="0" i="0" noProof="0" smtClean="0">
                          <a:latin typeface="Cambria Math" panose="02040503050406030204" pitchFamily="18" charset="0"/>
                        </a:rPr>
                        <m:t>Δ</m:t>
                      </m:r>
                      <m:r>
                        <a:rPr lang="en-US" b="0" i="1" noProof="0" smtClean="0">
                          <a:latin typeface="Cambria Math" panose="02040503050406030204" pitchFamily="18" charset="0"/>
                        </a:rPr>
                        <m:t>𝑡</m:t>
                      </m:r>
                    </m:oMath>
                  </m:oMathPara>
                </a14:m>
                <a:endParaRPr lang="en-US" noProof="0" dirty="0"/>
              </a:p>
              <a:p>
                <a:pPr marL="285750" indent="-285750">
                  <a:buFont typeface="Arial" panose="020B0604020202020204" pitchFamily="34" charset="0"/>
                  <a:buChar char="•"/>
                </a:pPr>
                <a:endParaRPr lang="en-US" noProof="0" dirty="0"/>
              </a:p>
            </p:txBody>
          </p:sp>
        </mc:Choice>
        <mc:Fallback xmlns="">
          <p:sp>
            <p:nvSpPr>
              <p:cNvPr id="2" name="Content Placeholder 1">
                <a:extLst>
                  <a:ext uri="{FF2B5EF4-FFF2-40B4-BE49-F238E27FC236}">
                    <a16:creationId xmlns:a16="http://schemas.microsoft.com/office/drawing/2014/main" id="{23C82011-CC6A-815E-A8B3-2C760D5C8D09}"/>
                  </a:ext>
                </a:extLst>
              </p:cNvPr>
              <p:cNvSpPr>
                <a:spLocks noGrp="1" noRot="1" noChangeAspect="1" noMove="1" noResize="1" noEditPoints="1" noAdjustHandles="1" noChangeArrowheads="1" noChangeShapeType="1" noTextEdit="1"/>
              </p:cNvSpPr>
              <p:nvPr>
                <p:ph idx="1"/>
              </p:nvPr>
            </p:nvSpPr>
            <p:spPr>
              <a:blipFill>
                <a:blip r:embed="rId4"/>
                <a:stretch>
                  <a:fillRect l="-1289" t="-92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66BD04AA-D663-750B-A941-DF1A77E51AA0}"/>
              </a:ext>
            </a:extLst>
          </p:cNvPr>
          <p:cNvSpPr>
            <a:spLocks noGrp="1"/>
          </p:cNvSpPr>
          <p:nvPr>
            <p:ph type="title"/>
          </p:nvPr>
        </p:nvSpPr>
        <p:spPr/>
        <p:txBody>
          <a:bodyPr/>
          <a:lstStyle/>
          <a:p>
            <a:r>
              <a:rPr lang="de-DE" dirty="0"/>
              <a:t>3.9.8.3 </a:t>
            </a:r>
            <a:r>
              <a:rPr lang="de-DE" dirty="0" err="1"/>
              <a:t>Hamiltonian</a:t>
            </a:r>
            <a:r>
              <a:rPr lang="de-DE" dirty="0"/>
              <a:t> </a:t>
            </a:r>
            <a:r>
              <a:rPr lang="de-DE" dirty="0" err="1"/>
              <a:t>Neural</a:t>
            </a:r>
            <a:r>
              <a:rPr lang="de-DE" dirty="0"/>
              <a:t> Networks </a:t>
            </a:r>
            <a:endParaRPr lang="en-US" dirty="0"/>
          </a:p>
        </p:txBody>
      </p:sp>
      <p:sp>
        <p:nvSpPr>
          <p:cNvPr id="4" name="Slide Number Placeholder 3">
            <a:extLst>
              <a:ext uri="{FF2B5EF4-FFF2-40B4-BE49-F238E27FC236}">
                <a16:creationId xmlns:a16="http://schemas.microsoft.com/office/drawing/2014/main" id="{DEA9D336-F4BF-F768-E85C-06C7A65A5CA1}"/>
              </a:ext>
            </a:extLst>
          </p:cNvPr>
          <p:cNvSpPr>
            <a:spLocks noGrp="1"/>
          </p:cNvSpPr>
          <p:nvPr>
            <p:ph type="sldNum" sz="quarter" idx="11"/>
          </p:nvPr>
        </p:nvSpPr>
        <p:spPr/>
        <p:txBody>
          <a:bodyPr/>
          <a:lstStyle/>
          <a:p>
            <a:fld id="{CE58CB1E-F828-4F11-99E0-327109AF9DA4}" type="slidenum">
              <a:rPr lang="de-DE" smtClean="0"/>
              <a:pPr/>
              <a:t>40</a:t>
            </a:fld>
            <a:endParaRPr lang="de-DE"/>
          </a:p>
        </p:txBody>
      </p:sp>
      <p:sp>
        <p:nvSpPr>
          <p:cNvPr id="5" name="Footer Placeholder 4">
            <a:extLst>
              <a:ext uri="{FF2B5EF4-FFF2-40B4-BE49-F238E27FC236}">
                <a16:creationId xmlns:a16="http://schemas.microsoft.com/office/drawing/2014/main" id="{DF8382C4-846C-70E4-242E-A37B280C1514}"/>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2EF0B7A4-B360-3E25-2EBA-F5D30AF7481D}"/>
                  </a:ext>
                </a:extLst>
              </p:cNvPr>
              <p:cNvSpPr txBox="1"/>
              <p:nvPr/>
            </p:nvSpPr>
            <p:spPr>
              <a:xfrm>
                <a:off x="3959613" y="2614380"/>
                <a:ext cx="1357123" cy="334451"/>
              </a:xfrm>
              <a:prstGeom prst="rect">
                <a:avLst/>
              </a:prstGeom>
              <a:solidFill>
                <a:schemeClr val="accent6"/>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de-DE" sz="1050" b="0" i="1" smtClean="0">
                              <a:latin typeface="Cambria Math" panose="02040503050406030204" pitchFamily="18" charset="0"/>
                            </a:rPr>
                          </m:ctrlPr>
                        </m:fPr>
                        <m:num>
                          <m:r>
                            <a:rPr lang="de-DE" sz="1050" b="0" i="1" smtClean="0">
                              <a:latin typeface="Cambria Math" panose="02040503050406030204" pitchFamily="18" charset="0"/>
                            </a:rPr>
                            <m:t>𝑑</m:t>
                          </m:r>
                          <m:r>
                            <a:rPr lang="de-DE" sz="1050" b="1" i="1" smtClean="0">
                              <a:latin typeface="Cambria Math" panose="02040503050406030204" pitchFamily="18" charset="0"/>
                            </a:rPr>
                            <m:t>𝒙</m:t>
                          </m:r>
                        </m:num>
                        <m:den>
                          <m:r>
                            <a:rPr lang="de-DE" sz="1050" b="0" i="1" smtClean="0">
                              <a:latin typeface="Cambria Math" panose="02040503050406030204" pitchFamily="18" charset="0"/>
                            </a:rPr>
                            <m:t>𝑑𝑡</m:t>
                          </m:r>
                        </m:den>
                      </m:f>
                      <m:r>
                        <a:rPr lang="de-DE" sz="1050" b="0" i="1" smtClean="0">
                          <a:latin typeface="Cambria Math" panose="02040503050406030204" pitchFamily="18" charset="0"/>
                        </a:rPr>
                        <m:t>=</m:t>
                      </m:r>
                      <m:f>
                        <m:fPr>
                          <m:ctrlPr>
                            <a:rPr lang="de-DE" sz="1050" b="0" i="1" smtClean="0">
                              <a:latin typeface="Cambria Math" panose="02040503050406030204" pitchFamily="18" charset="0"/>
                              <a:ea typeface="Cambria Math" panose="02040503050406030204" pitchFamily="18" charset="0"/>
                            </a:rPr>
                          </m:ctrlPr>
                        </m:fPr>
                        <m:num>
                          <m:r>
                            <a:rPr lang="de-DE" sz="1050" b="0" i="1" smtClean="0">
                              <a:latin typeface="Cambria Math" panose="02040503050406030204" pitchFamily="18" charset="0"/>
                            </a:rPr>
                            <m:t>𝜕</m:t>
                          </m:r>
                          <m:r>
                            <a:rPr lang="de-DE" sz="1050" b="0" i="1" smtClean="0">
                              <a:latin typeface="Cambria Math" panose="02040503050406030204" pitchFamily="18" charset="0"/>
                              <a:ea typeface="Cambria Math" panose="02040503050406030204" pitchFamily="18" charset="0"/>
                            </a:rPr>
                            <m:t>ℋ</m:t>
                          </m:r>
                        </m:num>
                        <m:den>
                          <m:r>
                            <a:rPr lang="de-DE" sz="1050" b="0" i="1" smtClean="0">
                              <a:latin typeface="Cambria Math" panose="02040503050406030204" pitchFamily="18" charset="0"/>
                              <a:ea typeface="Cambria Math" panose="02040503050406030204" pitchFamily="18" charset="0"/>
                            </a:rPr>
                            <m:t>𝜕</m:t>
                          </m:r>
                          <m:r>
                            <a:rPr lang="de-DE" sz="1050" b="1" i="1" smtClean="0">
                              <a:latin typeface="Cambria Math" panose="02040503050406030204" pitchFamily="18" charset="0"/>
                              <a:ea typeface="Cambria Math" panose="02040503050406030204" pitchFamily="18" charset="0"/>
                            </a:rPr>
                            <m:t>𝒑</m:t>
                          </m:r>
                        </m:den>
                      </m:f>
                      <m:r>
                        <a:rPr lang="de-DE" sz="1050" b="0" i="1" smtClean="0">
                          <a:latin typeface="Cambria Math" panose="02040503050406030204" pitchFamily="18" charset="0"/>
                          <a:ea typeface="Cambria Math" panose="02040503050406030204" pitchFamily="18" charset="0"/>
                        </a:rPr>
                        <m:t>,</m:t>
                      </m:r>
                      <m:f>
                        <m:fPr>
                          <m:ctrlPr>
                            <a:rPr lang="de-DE" sz="1050" b="0" i="1" smtClean="0">
                              <a:latin typeface="Cambria Math" panose="02040503050406030204" pitchFamily="18" charset="0"/>
                              <a:ea typeface="Cambria Math" panose="02040503050406030204" pitchFamily="18" charset="0"/>
                            </a:rPr>
                          </m:ctrlPr>
                        </m:fPr>
                        <m:num>
                          <m:r>
                            <a:rPr lang="de-DE" sz="1050" b="0" i="1" smtClean="0">
                              <a:latin typeface="Cambria Math" panose="02040503050406030204" pitchFamily="18" charset="0"/>
                              <a:ea typeface="Cambria Math" panose="02040503050406030204" pitchFamily="18" charset="0"/>
                            </a:rPr>
                            <m:t>𝑑</m:t>
                          </m:r>
                          <m:r>
                            <a:rPr lang="de-DE" sz="1050" b="1" i="1" smtClean="0">
                              <a:latin typeface="Cambria Math" panose="02040503050406030204" pitchFamily="18" charset="0"/>
                              <a:ea typeface="Cambria Math" panose="02040503050406030204" pitchFamily="18" charset="0"/>
                            </a:rPr>
                            <m:t>𝒑</m:t>
                          </m:r>
                        </m:num>
                        <m:den>
                          <m:r>
                            <a:rPr lang="de-DE" sz="1050" b="0" i="1" smtClean="0">
                              <a:latin typeface="Cambria Math" panose="02040503050406030204" pitchFamily="18" charset="0"/>
                              <a:ea typeface="Cambria Math" panose="02040503050406030204" pitchFamily="18" charset="0"/>
                            </a:rPr>
                            <m:t>𝑑𝑡</m:t>
                          </m:r>
                        </m:den>
                      </m:f>
                      <m:r>
                        <a:rPr lang="de-DE" sz="1050" b="0" i="1" smtClean="0">
                          <a:latin typeface="Cambria Math" panose="02040503050406030204" pitchFamily="18" charset="0"/>
                          <a:ea typeface="Cambria Math" panose="02040503050406030204" pitchFamily="18" charset="0"/>
                        </a:rPr>
                        <m:t>=−</m:t>
                      </m:r>
                      <m:f>
                        <m:fPr>
                          <m:ctrlPr>
                            <a:rPr lang="de-DE" sz="1050" b="0" i="1" smtClean="0">
                              <a:latin typeface="Cambria Math" panose="02040503050406030204" pitchFamily="18" charset="0"/>
                              <a:ea typeface="Cambria Math" panose="02040503050406030204" pitchFamily="18" charset="0"/>
                            </a:rPr>
                          </m:ctrlPr>
                        </m:fPr>
                        <m:num>
                          <m:r>
                            <a:rPr lang="de-DE" sz="1050" b="0" i="1" smtClean="0">
                              <a:latin typeface="Cambria Math" panose="02040503050406030204" pitchFamily="18" charset="0"/>
                              <a:ea typeface="Cambria Math" panose="02040503050406030204" pitchFamily="18" charset="0"/>
                            </a:rPr>
                            <m:t>𝜕</m:t>
                          </m:r>
                          <m:r>
                            <a:rPr lang="de-DE" sz="1050" b="0" i="1" smtClean="0">
                              <a:latin typeface="Cambria Math" panose="02040503050406030204" pitchFamily="18" charset="0"/>
                              <a:ea typeface="Cambria Math" panose="02040503050406030204" pitchFamily="18" charset="0"/>
                            </a:rPr>
                            <m:t>ℋ</m:t>
                          </m:r>
                        </m:num>
                        <m:den>
                          <m:r>
                            <a:rPr lang="de-DE" sz="1050" b="0" i="1" smtClean="0">
                              <a:latin typeface="Cambria Math" panose="02040503050406030204" pitchFamily="18" charset="0"/>
                              <a:ea typeface="Cambria Math" panose="02040503050406030204" pitchFamily="18" charset="0"/>
                            </a:rPr>
                            <m:t>𝜕</m:t>
                          </m:r>
                          <m:r>
                            <a:rPr lang="de-DE" sz="1050" b="1" i="1" smtClean="0">
                              <a:latin typeface="Cambria Math" panose="02040503050406030204" pitchFamily="18" charset="0"/>
                              <a:ea typeface="Cambria Math" panose="02040503050406030204" pitchFamily="18" charset="0"/>
                            </a:rPr>
                            <m:t>𝒙</m:t>
                          </m:r>
                        </m:den>
                      </m:f>
                      <m:r>
                        <a:rPr lang="de-DE" sz="1050" b="0" i="1" smtClean="0">
                          <a:latin typeface="Cambria Math" panose="02040503050406030204" pitchFamily="18" charset="0"/>
                          <a:ea typeface="Cambria Math" panose="02040503050406030204" pitchFamily="18" charset="0"/>
                        </a:rPr>
                        <m:t> </m:t>
                      </m:r>
                    </m:oMath>
                  </m:oMathPara>
                </a14:m>
                <a:endParaRPr lang="en-US" sz="1050" dirty="0"/>
              </a:p>
            </p:txBody>
          </p:sp>
        </mc:Choice>
        <mc:Fallback xmlns="">
          <p:sp>
            <p:nvSpPr>
              <p:cNvPr id="7" name="TextBox 6">
                <a:extLst>
                  <a:ext uri="{FF2B5EF4-FFF2-40B4-BE49-F238E27FC236}">
                    <a16:creationId xmlns:a16="http://schemas.microsoft.com/office/drawing/2014/main" id="{2EF0B7A4-B360-3E25-2EBA-F5D30AF7481D}"/>
                  </a:ext>
                </a:extLst>
              </p:cNvPr>
              <p:cNvSpPr txBox="1">
                <a:spLocks noRot="1" noChangeAspect="1" noMove="1" noResize="1" noEditPoints="1" noAdjustHandles="1" noChangeArrowheads="1" noChangeShapeType="1" noTextEdit="1"/>
              </p:cNvSpPr>
              <p:nvPr/>
            </p:nvSpPr>
            <p:spPr>
              <a:xfrm>
                <a:off x="3959613" y="2614380"/>
                <a:ext cx="1357123" cy="334451"/>
              </a:xfrm>
              <a:prstGeom prst="rect">
                <a:avLst/>
              </a:prstGeom>
              <a:blipFill>
                <a:blip r:embed="rId5"/>
                <a:stretch>
                  <a:fillRect l="-1802" t="-5455" b="-14545"/>
                </a:stretch>
              </a:blipFill>
            </p:spPr>
            <p:txBody>
              <a:bodyPr/>
              <a:lstStyle/>
              <a:p>
                <a:r>
                  <a:rPr lang="en-US">
                    <a:noFill/>
                  </a:rPr>
                  <a:t> </a:t>
                </a:r>
              </a:p>
            </p:txBody>
          </p:sp>
        </mc:Fallback>
      </mc:AlternateContent>
    </p:spTree>
    <p:extLst>
      <p:ext uri="{BB962C8B-B14F-4D97-AF65-F5344CB8AC3E}">
        <p14:creationId xmlns:p14="http://schemas.microsoft.com/office/powerpoint/2010/main" val="4090172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977D074-21D0-9D50-9609-4E4F8E9BC91E}"/>
              </a:ext>
            </a:extLst>
          </p:cNvPr>
          <p:cNvSpPr>
            <a:spLocks noGrp="1"/>
          </p:cNvSpPr>
          <p:nvPr>
            <p:ph idx="1"/>
          </p:nvPr>
        </p:nvSpPr>
        <p:spPr/>
        <p:txBody>
          <a:bodyPr/>
          <a:lstStyle/>
          <a:p>
            <a:r>
              <a:rPr lang="de-DE" dirty="0"/>
              <a:t> </a:t>
            </a:r>
            <a:endParaRPr lang="en-US" dirty="0"/>
          </a:p>
        </p:txBody>
      </p:sp>
      <p:sp>
        <p:nvSpPr>
          <p:cNvPr id="3" name="Title 2">
            <a:extLst>
              <a:ext uri="{FF2B5EF4-FFF2-40B4-BE49-F238E27FC236}">
                <a16:creationId xmlns:a16="http://schemas.microsoft.com/office/drawing/2014/main" id="{9FB116F9-140F-B47E-AF85-565D9F622AB3}"/>
              </a:ext>
            </a:extLst>
          </p:cNvPr>
          <p:cNvSpPr>
            <a:spLocks noGrp="1"/>
          </p:cNvSpPr>
          <p:nvPr>
            <p:ph type="title"/>
          </p:nvPr>
        </p:nvSpPr>
        <p:spPr/>
        <p:txBody>
          <a:bodyPr/>
          <a:lstStyle/>
          <a:p>
            <a:r>
              <a:rPr lang="de-DE" dirty="0"/>
              <a:t>3.9.8.3 </a:t>
            </a:r>
            <a:r>
              <a:rPr lang="de-DE" dirty="0" err="1"/>
              <a:t>Hamiltonian</a:t>
            </a:r>
            <a:r>
              <a:rPr lang="de-DE" dirty="0"/>
              <a:t> </a:t>
            </a:r>
            <a:r>
              <a:rPr lang="de-DE" dirty="0" err="1"/>
              <a:t>Neural</a:t>
            </a:r>
            <a:r>
              <a:rPr lang="de-DE" dirty="0"/>
              <a:t> Networks - </a:t>
            </a:r>
            <a:r>
              <a:rPr lang="de-DE" dirty="0" err="1"/>
              <a:t>Results</a:t>
            </a:r>
            <a:endParaRPr lang="en-US" dirty="0"/>
          </a:p>
        </p:txBody>
      </p:sp>
      <p:sp>
        <p:nvSpPr>
          <p:cNvPr id="4" name="Slide Number Placeholder 3">
            <a:extLst>
              <a:ext uri="{FF2B5EF4-FFF2-40B4-BE49-F238E27FC236}">
                <a16:creationId xmlns:a16="http://schemas.microsoft.com/office/drawing/2014/main" id="{1E223690-F07C-5020-FF18-D09FD4BBEFD8}"/>
              </a:ext>
            </a:extLst>
          </p:cNvPr>
          <p:cNvSpPr>
            <a:spLocks noGrp="1"/>
          </p:cNvSpPr>
          <p:nvPr>
            <p:ph type="sldNum" sz="quarter" idx="11"/>
          </p:nvPr>
        </p:nvSpPr>
        <p:spPr/>
        <p:txBody>
          <a:bodyPr/>
          <a:lstStyle/>
          <a:p>
            <a:fld id="{CE58CB1E-F828-4F11-99E0-327109AF9DA4}" type="slidenum">
              <a:rPr lang="de-DE" smtClean="0"/>
              <a:pPr/>
              <a:t>41</a:t>
            </a:fld>
            <a:endParaRPr lang="de-DE"/>
          </a:p>
        </p:txBody>
      </p:sp>
      <p:sp>
        <p:nvSpPr>
          <p:cNvPr id="5" name="Footer Placeholder 4">
            <a:extLst>
              <a:ext uri="{FF2B5EF4-FFF2-40B4-BE49-F238E27FC236}">
                <a16:creationId xmlns:a16="http://schemas.microsoft.com/office/drawing/2014/main" id="{897345E2-D65C-0CB8-16DB-54D221A29F94}"/>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pic>
        <p:nvPicPr>
          <p:cNvPr id="7" name="Picture 6">
            <a:extLst>
              <a:ext uri="{FF2B5EF4-FFF2-40B4-BE49-F238E27FC236}">
                <a16:creationId xmlns:a16="http://schemas.microsoft.com/office/drawing/2014/main" id="{4AC56A16-CBF3-9D69-6823-9D4D9B3820B0}"/>
              </a:ext>
            </a:extLst>
          </p:cNvPr>
          <p:cNvPicPr>
            <a:picLocks noChangeAspect="1"/>
          </p:cNvPicPr>
          <p:nvPr/>
        </p:nvPicPr>
        <p:blipFill>
          <a:blip r:embed="rId3"/>
          <a:stretch>
            <a:fillRect/>
          </a:stretch>
        </p:blipFill>
        <p:spPr>
          <a:xfrm>
            <a:off x="2486641" y="591532"/>
            <a:ext cx="6355334" cy="4263453"/>
          </a:xfrm>
          <a:prstGeom prst="rect">
            <a:avLst/>
          </a:prstGeom>
        </p:spPr>
      </p:pic>
      <p:sp>
        <p:nvSpPr>
          <p:cNvPr id="8" name="Rectangle 7">
            <a:extLst>
              <a:ext uri="{FF2B5EF4-FFF2-40B4-BE49-F238E27FC236}">
                <a16:creationId xmlns:a16="http://schemas.microsoft.com/office/drawing/2014/main" id="{AC982DA6-EA21-3A14-D6B4-7C3ADB35B97F}"/>
              </a:ext>
            </a:extLst>
          </p:cNvPr>
          <p:cNvSpPr/>
          <p:nvPr/>
        </p:nvSpPr>
        <p:spPr>
          <a:xfrm>
            <a:off x="2478888" y="2636044"/>
            <a:ext cx="5836444" cy="2786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9" name="TextBox 8">
            <a:extLst>
              <a:ext uri="{FF2B5EF4-FFF2-40B4-BE49-F238E27FC236}">
                <a16:creationId xmlns:a16="http://schemas.microsoft.com/office/drawing/2014/main" id="{C6C417D3-2A5A-76CF-0A25-F26F3E568CB3}"/>
              </a:ext>
            </a:extLst>
          </p:cNvPr>
          <p:cNvSpPr txBox="1"/>
          <p:nvPr/>
        </p:nvSpPr>
        <p:spPr>
          <a:xfrm>
            <a:off x="314810" y="871951"/>
            <a:ext cx="2101153" cy="231602"/>
          </a:xfrm>
          <a:prstGeom prst="rect">
            <a:avLst/>
          </a:prstGeom>
          <a:noFill/>
        </p:spPr>
        <p:txBody>
          <a:bodyPr wrap="none" lIns="0" tIns="0" rIns="0" bIns="0" rtlCol="0">
            <a:spAutoFit/>
          </a:bodyPr>
          <a:lstStyle/>
          <a:p>
            <a:pPr>
              <a:lnSpc>
                <a:spcPct val="114000"/>
              </a:lnSpc>
            </a:pPr>
            <a:r>
              <a:rPr lang="en-US" sz="1400" b="1" dirty="0">
                <a:latin typeface="+mn-lt"/>
              </a:rPr>
              <a:t>Hamiltonian neural network</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9924016-8C87-6ED1-BA16-712B3AB558DC}"/>
                  </a:ext>
                </a:extLst>
              </p:cNvPr>
              <p:cNvSpPr txBox="1"/>
              <p:nvPr/>
            </p:nvSpPr>
            <p:spPr>
              <a:xfrm>
                <a:off x="314810" y="3098495"/>
                <a:ext cx="2458430" cy="1482906"/>
              </a:xfrm>
              <a:prstGeom prst="rect">
                <a:avLst/>
              </a:prstGeom>
              <a:noFill/>
            </p:spPr>
            <p:txBody>
              <a:bodyPr wrap="none" lIns="0" tIns="0" rIns="0" bIns="0" rtlCol="0">
                <a:spAutoFit/>
              </a:bodyPr>
              <a:lstStyle/>
              <a:p>
                <a:pPr>
                  <a:lnSpc>
                    <a:spcPct val="114000"/>
                  </a:lnSpc>
                </a:pPr>
                <a:r>
                  <a:rPr lang="en-US" sz="1400" b="1" dirty="0">
                    <a:latin typeface="+mn-lt"/>
                  </a:rPr>
                  <a:t>Standard neural network</a:t>
                </a:r>
              </a:p>
              <a:p>
                <a:pPr>
                  <a:lnSpc>
                    <a:spcPct val="114000"/>
                  </a:lnSpc>
                </a:pPr>
                <a14:m>
                  <m:oMathPara xmlns:m="http://schemas.openxmlformats.org/officeDocument/2006/math">
                    <m:oMathParaPr>
                      <m:jc m:val="centerGroup"/>
                    </m:oMathParaPr>
                    <m:oMath xmlns:m="http://schemas.openxmlformats.org/officeDocument/2006/math">
                      <m:d>
                        <m:dPr>
                          <m:ctrlPr>
                            <a:rPr lang="en-DE" sz="1400" i="1" smtClean="0">
                              <a:latin typeface="Cambria Math" panose="02040503050406030204" pitchFamily="18" charset="0"/>
                            </a:rPr>
                          </m:ctrlPr>
                        </m:dPr>
                        <m:e>
                          <m:f>
                            <m:fPr>
                              <m:type m:val="noBar"/>
                              <m:ctrlPr>
                                <a:rPr lang="en-DE" sz="1400" i="1" smtClean="0">
                                  <a:latin typeface="Cambria Math" panose="02040503050406030204" pitchFamily="18" charset="0"/>
                                </a:rPr>
                              </m:ctrlPr>
                            </m:fPr>
                            <m:num>
                              <m:acc>
                                <m:accPr>
                                  <m:chr m:val="̂"/>
                                  <m:ctrlPr>
                                    <a:rPr lang="de-DE" sz="1400" b="0" i="1" dirty="0" smtClean="0">
                                      <a:latin typeface="Cambria Math" panose="02040503050406030204" pitchFamily="18" charset="0"/>
                                    </a:rPr>
                                  </m:ctrlPr>
                                </m:accPr>
                                <m:e>
                                  <m:acc>
                                    <m:accPr>
                                      <m:chr m:val="̇"/>
                                      <m:ctrlPr>
                                        <a:rPr lang="de-DE" sz="1400" b="0" i="1" smtClean="0">
                                          <a:latin typeface="Cambria Math" panose="02040503050406030204" pitchFamily="18" charset="0"/>
                                        </a:rPr>
                                      </m:ctrlPr>
                                    </m:accPr>
                                    <m:e>
                                      <m:r>
                                        <a:rPr lang="de-DE" sz="1400" b="0" i="1" smtClean="0">
                                          <a:latin typeface="Cambria Math" panose="02040503050406030204" pitchFamily="18" charset="0"/>
                                        </a:rPr>
                                        <m:t>𝑥</m:t>
                                      </m:r>
                                    </m:e>
                                  </m:acc>
                                </m:e>
                              </m:acc>
                            </m:num>
                            <m:den>
                              <m:acc>
                                <m:accPr>
                                  <m:chr m:val="̂"/>
                                  <m:ctrlPr>
                                    <a:rPr lang="de-DE" sz="1400" b="0" i="1" dirty="0" smtClean="0">
                                      <a:latin typeface="Cambria Math" panose="02040503050406030204" pitchFamily="18" charset="0"/>
                                    </a:rPr>
                                  </m:ctrlPr>
                                </m:accPr>
                                <m:e>
                                  <m:acc>
                                    <m:accPr>
                                      <m:chr m:val="̇"/>
                                      <m:ctrlPr>
                                        <a:rPr lang="de-DE" sz="1400" b="0" i="1" smtClean="0">
                                          <a:latin typeface="Cambria Math" panose="02040503050406030204" pitchFamily="18" charset="0"/>
                                        </a:rPr>
                                      </m:ctrlPr>
                                    </m:accPr>
                                    <m:e>
                                      <m:r>
                                        <a:rPr lang="de-DE" sz="1400" b="0" i="1" smtClean="0">
                                          <a:latin typeface="Cambria Math" panose="02040503050406030204" pitchFamily="18" charset="0"/>
                                        </a:rPr>
                                        <m:t>𝑝</m:t>
                                      </m:r>
                                    </m:e>
                                  </m:acc>
                                </m:e>
                              </m:acc>
                            </m:den>
                          </m:f>
                        </m:e>
                      </m:d>
                      <m:r>
                        <a:rPr lang="de-DE" sz="1400" b="0" i="1" smtClean="0">
                          <a:latin typeface="Cambria Math" panose="02040503050406030204" pitchFamily="18" charset="0"/>
                        </a:rPr>
                        <m:t>=</m:t>
                      </m:r>
                      <m:r>
                        <a:rPr lang="de-DE" sz="1400" b="0" i="1" smtClean="0">
                          <a:latin typeface="Cambria Math" panose="02040503050406030204" pitchFamily="18" charset="0"/>
                        </a:rPr>
                        <m:t>𝑓</m:t>
                      </m:r>
                      <m:d>
                        <m:dPr>
                          <m:ctrlPr>
                            <a:rPr lang="de-DE" sz="1400" b="0" i="1" smtClean="0">
                              <a:latin typeface="Cambria Math" panose="02040503050406030204" pitchFamily="18" charset="0"/>
                            </a:rPr>
                          </m:ctrlPr>
                        </m:dPr>
                        <m:e>
                          <m:r>
                            <a:rPr lang="de-DE" sz="1400" b="0" i="1" smtClean="0">
                              <a:latin typeface="Cambria Math" panose="02040503050406030204" pitchFamily="18" charset="0"/>
                            </a:rPr>
                            <m:t>𝑥</m:t>
                          </m:r>
                          <m:r>
                            <a:rPr lang="de-DE" sz="1400" b="0" i="1" smtClean="0">
                              <a:latin typeface="Cambria Math" panose="02040503050406030204" pitchFamily="18" charset="0"/>
                            </a:rPr>
                            <m:t>,</m:t>
                          </m:r>
                          <m:r>
                            <a:rPr lang="de-DE" sz="1400" b="0" i="1" smtClean="0">
                              <a:latin typeface="Cambria Math" panose="02040503050406030204" pitchFamily="18" charset="0"/>
                            </a:rPr>
                            <m:t>𝑝</m:t>
                          </m:r>
                          <m:r>
                            <a:rPr lang="de-DE" sz="1400" b="0" i="1" smtClean="0">
                              <a:latin typeface="Cambria Math" panose="02040503050406030204" pitchFamily="18" charset="0"/>
                            </a:rPr>
                            <m:t>;</m:t>
                          </m:r>
                          <m:r>
                            <a:rPr lang="de-DE" sz="1400" b="1" i="0" smtClean="0">
                              <a:latin typeface="Cambria Math" panose="02040503050406030204" pitchFamily="18" charset="0"/>
                            </a:rPr>
                            <m:t>𝚯</m:t>
                          </m:r>
                        </m:e>
                      </m:d>
                    </m:oMath>
                    <m:oMath xmlns:m="http://schemas.openxmlformats.org/officeDocument/2006/math">
                      <m:r>
                        <a:rPr lang="de-DE" sz="1400" b="0" i="1" smtClean="0">
                          <a:latin typeface="Cambria Math" panose="02040503050406030204" pitchFamily="18" charset="0"/>
                        </a:rPr>
                        <m:t>𝐶</m:t>
                      </m:r>
                      <m:r>
                        <a:rPr lang="de-DE" sz="1400" b="0" i="1" smtClean="0">
                          <a:latin typeface="Cambria Math" panose="02040503050406030204" pitchFamily="18" charset="0"/>
                        </a:rPr>
                        <m:t>=</m:t>
                      </m:r>
                      <m:f>
                        <m:fPr>
                          <m:ctrlPr>
                            <a:rPr lang="de-DE" sz="1400" b="0" i="1" smtClean="0">
                              <a:latin typeface="Cambria Math" panose="02040503050406030204" pitchFamily="18" charset="0"/>
                            </a:rPr>
                          </m:ctrlPr>
                        </m:fPr>
                        <m:num>
                          <m:r>
                            <a:rPr lang="de-DE" sz="1400" b="0" i="1" smtClean="0">
                              <a:latin typeface="Cambria Math" panose="02040503050406030204" pitchFamily="18" charset="0"/>
                            </a:rPr>
                            <m:t>1</m:t>
                          </m:r>
                        </m:num>
                        <m:den>
                          <m:r>
                            <a:rPr lang="de-DE" sz="1400" b="0" i="1" smtClean="0">
                              <a:latin typeface="Cambria Math" panose="02040503050406030204" pitchFamily="18" charset="0"/>
                            </a:rPr>
                            <m:t>𝑚</m:t>
                          </m:r>
                        </m:den>
                      </m:f>
                      <m:nary>
                        <m:naryPr>
                          <m:chr m:val="∑"/>
                          <m:ctrlPr>
                            <a:rPr lang="de-DE" sz="1400" b="0" i="1" smtClean="0">
                              <a:latin typeface="Cambria Math" panose="02040503050406030204" pitchFamily="18" charset="0"/>
                            </a:rPr>
                          </m:ctrlPr>
                        </m:naryPr>
                        <m:sub>
                          <m:r>
                            <m:rPr>
                              <m:brk m:alnAt="23"/>
                            </m:rPr>
                            <a:rPr lang="de-DE" sz="1400" b="0" i="1" smtClean="0">
                              <a:latin typeface="Cambria Math" panose="02040503050406030204" pitchFamily="18" charset="0"/>
                            </a:rPr>
                            <m:t>𝑖</m:t>
                          </m:r>
                          <m:r>
                            <a:rPr lang="de-DE" sz="1400" b="0" i="1" smtClean="0">
                              <a:latin typeface="Cambria Math" panose="02040503050406030204" pitchFamily="18" charset="0"/>
                            </a:rPr>
                            <m:t>=1</m:t>
                          </m:r>
                        </m:sub>
                        <m:sup>
                          <m:r>
                            <a:rPr lang="de-DE" sz="1400" b="0" i="1" smtClean="0">
                              <a:latin typeface="Cambria Math" panose="02040503050406030204" pitchFamily="18" charset="0"/>
                            </a:rPr>
                            <m:t>𝑚</m:t>
                          </m:r>
                        </m:sup>
                        <m:e>
                          <m:sSup>
                            <m:sSupPr>
                              <m:ctrlPr>
                                <a:rPr lang="de-DE" sz="1400" b="0" i="1" smtClean="0">
                                  <a:latin typeface="Cambria Math" panose="02040503050406030204" pitchFamily="18" charset="0"/>
                                </a:rPr>
                              </m:ctrlPr>
                            </m:sSupPr>
                            <m:e>
                              <m:d>
                                <m:dPr>
                                  <m:ctrlPr>
                                    <a:rPr lang="de-DE" sz="1400" b="0" i="1" smtClean="0">
                                      <a:latin typeface="Cambria Math" panose="02040503050406030204" pitchFamily="18" charset="0"/>
                                    </a:rPr>
                                  </m:ctrlPr>
                                </m:dPr>
                                <m:e>
                                  <m:acc>
                                    <m:accPr>
                                      <m:chr m:val="̃"/>
                                      <m:ctrlPr>
                                        <a:rPr lang="de-DE" sz="1400" b="0" i="1" smtClean="0">
                                          <a:latin typeface="Cambria Math" panose="02040503050406030204" pitchFamily="18" charset="0"/>
                                        </a:rPr>
                                      </m:ctrlPr>
                                    </m:accPr>
                                    <m:e>
                                      <m:acc>
                                        <m:accPr>
                                          <m:chr m:val="̇"/>
                                          <m:ctrlPr>
                                            <a:rPr lang="de-DE" sz="1400" b="0" i="1" smtClean="0">
                                              <a:latin typeface="Cambria Math" panose="02040503050406030204" pitchFamily="18" charset="0"/>
                                            </a:rPr>
                                          </m:ctrlPr>
                                        </m:accPr>
                                        <m:e>
                                          <m:r>
                                            <a:rPr lang="de-DE" sz="1400" b="0" i="1" smtClean="0">
                                              <a:latin typeface="Cambria Math" panose="02040503050406030204" pitchFamily="18" charset="0"/>
                                            </a:rPr>
                                            <m:t>𝑥</m:t>
                                          </m:r>
                                        </m:e>
                                      </m:acc>
                                    </m:e>
                                  </m:acc>
                                  <m:r>
                                    <a:rPr lang="de-DE" sz="1400" b="0" i="1" smtClean="0">
                                      <a:latin typeface="Cambria Math" panose="02040503050406030204" pitchFamily="18" charset="0"/>
                                    </a:rPr>
                                    <m:t>−</m:t>
                                  </m:r>
                                  <m:acc>
                                    <m:accPr>
                                      <m:chr m:val="̂"/>
                                      <m:ctrlPr>
                                        <a:rPr lang="de-DE" sz="1400" b="0" i="1" smtClean="0">
                                          <a:latin typeface="Cambria Math" panose="02040503050406030204" pitchFamily="18" charset="0"/>
                                        </a:rPr>
                                      </m:ctrlPr>
                                    </m:accPr>
                                    <m:e>
                                      <m:acc>
                                        <m:accPr>
                                          <m:chr m:val="̇"/>
                                          <m:ctrlPr>
                                            <a:rPr lang="de-DE" sz="1400" b="0" i="1" smtClean="0">
                                              <a:latin typeface="Cambria Math" panose="02040503050406030204" pitchFamily="18" charset="0"/>
                                            </a:rPr>
                                          </m:ctrlPr>
                                        </m:accPr>
                                        <m:e>
                                          <m:r>
                                            <a:rPr lang="de-DE" sz="1400" b="0" i="1" smtClean="0">
                                              <a:latin typeface="Cambria Math" panose="02040503050406030204" pitchFamily="18" charset="0"/>
                                            </a:rPr>
                                            <m:t>𝑥</m:t>
                                          </m:r>
                                        </m:e>
                                      </m:acc>
                                    </m:e>
                                  </m:acc>
                                </m:e>
                              </m:d>
                            </m:e>
                            <m:sup>
                              <m:r>
                                <a:rPr lang="de-DE" sz="1400" b="0" i="1" smtClean="0">
                                  <a:latin typeface="Cambria Math" panose="02040503050406030204" pitchFamily="18" charset="0"/>
                                </a:rPr>
                                <m:t>2</m:t>
                              </m:r>
                            </m:sup>
                          </m:sSup>
                          <m:r>
                            <a:rPr lang="de-DE" sz="1400" b="0" i="1" smtClean="0">
                              <a:latin typeface="Cambria Math" panose="02040503050406030204" pitchFamily="18" charset="0"/>
                            </a:rPr>
                            <m:t>+</m:t>
                          </m:r>
                          <m:sSup>
                            <m:sSupPr>
                              <m:ctrlPr>
                                <a:rPr lang="de-DE" sz="1400" b="0" i="1" smtClean="0">
                                  <a:latin typeface="Cambria Math" panose="02040503050406030204" pitchFamily="18" charset="0"/>
                                </a:rPr>
                              </m:ctrlPr>
                            </m:sSupPr>
                            <m:e>
                              <m:d>
                                <m:dPr>
                                  <m:ctrlPr>
                                    <a:rPr lang="de-DE" sz="1400" b="0" i="1" smtClean="0">
                                      <a:latin typeface="Cambria Math" panose="02040503050406030204" pitchFamily="18" charset="0"/>
                                    </a:rPr>
                                  </m:ctrlPr>
                                </m:dPr>
                                <m:e>
                                  <m:acc>
                                    <m:accPr>
                                      <m:chr m:val="̃"/>
                                      <m:ctrlPr>
                                        <a:rPr lang="de-DE" sz="1400" b="0" i="1" smtClean="0">
                                          <a:latin typeface="Cambria Math" panose="02040503050406030204" pitchFamily="18" charset="0"/>
                                        </a:rPr>
                                      </m:ctrlPr>
                                    </m:accPr>
                                    <m:e>
                                      <m:acc>
                                        <m:accPr>
                                          <m:chr m:val="̇"/>
                                          <m:ctrlPr>
                                            <a:rPr lang="de-DE" sz="1400" b="0" i="1" smtClean="0">
                                              <a:latin typeface="Cambria Math" panose="02040503050406030204" pitchFamily="18" charset="0"/>
                                            </a:rPr>
                                          </m:ctrlPr>
                                        </m:accPr>
                                        <m:e>
                                          <m:r>
                                            <a:rPr lang="de-DE" sz="1400" b="0" i="1" smtClean="0">
                                              <a:latin typeface="Cambria Math" panose="02040503050406030204" pitchFamily="18" charset="0"/>
                                            </a:rPr>
                                            <m:t>𝑝</m:t>
                                          </m:r>
                                        </m:e>
                                      </m:acc>
                                    </m:e>
                                  </m:acc>
                                  <m:r>
                                    <a:rPr lang="de-DE" sz="1400" b="0" i="1" smtClean="0">
                                      <a:latin typeface="Cambria Math" panose="02040503050406030204" pitchFamily="18" charset="0"/>
                                    </a:rPr>
                                    <m:t>−</m:t>
                                  </m:r>
                                  <m:acc>
                                    <m:accPr>
                                      <m:chr m:val="̂"/>
                                      <m:ctrlPr>
                                        <a:rPr lang="de-DE" sz="1400" b="0" i="1" smtClean="0">
                                          <a:latin typeface="Cambria Math" panose="02040503050406030204" pitchFamily="18" charset="0"/>
                                        </a:rPr>
                                      </m:ctrlPr>
                                    </m:accPr>
                                    <m:e>
                                      <m:acc>
                                        <m:accPr>
                                          <m:chr m:val="̇"/>
                                          <m:ctrlPr>
                                            <a:rPr lang="de-DE" sz="1400" b="0" i="1" smtClean="0">
                                              <a:latin typeface="Cambria Math" panose="02040503050406030204" pitchFamily="18" charset="0"/>
                                            </a:rPr>
                                          </m:ctrlPr>
                                        </m:accPr>
                                        <m:e>
                                          <m:r>
                                            <a:rPr lang="de-DE" sz="1400" b="0" i="1" smtClean="0">
                                              <a:latin typeface="Cambria Math" panose="02040503050406030204" pitchFamily="18" charset="0"/>
                                            </a:rPr>
                                            <m:t>𝑝</m:t>
                                          </m:r>
                                        </m:e>
                                      </m:acc>
                                    </m:e>
                                  </m:acc>
                                </m:e>
                              </m:d>
                            </m:e>
                            <m:sup>
                              <m:r>
                                <a:rPr lang="de-DE" sz="1400" b="0" i="1" smtClean="0">
                                  <a:latin typeface="Cambria Math" panose="02040503050406030204" pitchFamily="18" charset="0"/>
                                </a:rPr>
                                <m:t>2</m:t>
                              </m:r>
                            </m:sup>
                          </m:sSup>
                        </m:e>
                      </m:nary>
                    </m:oMath>
                  </m:oMathPara>
                </a14:m>
                <a:endParaRPr lang="en-DE" sz="1400" dirty="0">
                  <a:latin typeface="+mn-lt"/>
                </a:endParaRPr>
              </a:p>
            </p:txBody>
          </p:sp>
        </mc:Choice>
        <mc:Fallback xmlns="">
          <p:sp>
            <p:nvSpPr>
              <p:cNvPr id="10" name="TextBox 9">
                <a:extLst>
                  <a:ext uri="{FF2B5EF4-FFF2-40B4-BE49-F238E27FC236}">
                    <a16:creationId xmlns:a16="http://schemas.microsoft.com/office/drawing/2014/main" id="{19924016-8C87-6ED1-BA16-712B3AB558DC}"/>
                  </a:ext>
                </a:extLst>
              </p:cNvPr>
              <p:cNvSpPr txBox="1">
                <a:spLocks noRot="1" noChangeAspect="1" noMove="1" noResize="1" noEditPoints="1" noAdjustHandles="1" noChangeArrowheads="1" noChangeShapeType="1" noTextEdit="1"/>
              </p:cNvSpPr>
              <p:nvPr/>
            </p:nvSpPr>
            <p:spPr>
              <a:xfrm>
                <a:off x="314810" y="3098495"/>
                <a:ext cx="2458430" cy="1482906"/>
              </a:xfrm>
              <a:prstGeom prst="rect">
                <a:avLst/>
              </a:prstGeom>
              <a:blipFill>
                <a:blip r:embed="rId4"/>
                <a:stretch>
                  <a:fillRect l="-4467" t="-2459"/>
                </a:stretch>
              </a:blipFill>
            </p:spPr>
            <p:txBody>
              <a:bodyPr/>
              <a:lstStyle/>
              <a:p>
                <a:r>
                  <a:rPr lang="en-US">
                    <a:noFill/>
                  </a:rPr>
                  <a:t> </a:t>
                </a:r>
              </a:p>
            </p:txBody>
          </p:sp>
        </mc:Fallback>
      </mc:AlternateContent>
    </p:spTree>
    <p:extLst>
      <p:ext uri="{BB962C8B-B14F-4D97-AF65-F5344CB8AC3E}">
        <p14:creationId xmlns:p14="http://schemas.microsoft.com/office/powerpoint/2010/main" val="27308094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02AC04C-3AEC-0F07-3AE4-7799EEC06788}"/>
              </a:ext>
            </a:extLst>
          </p:cNvPr>
          <p:cNvPicPr>
            <a:picLocks noChangeAspect="1"/>
          </p:cNvPicPr>
          <p:nvPr/>
        </p:nvPicPr>
        <p:blipFill>
          <a:blip r:embed="rId3"/>
          <a:stretch>
            <a:fillRect/>
          </a:stretch>
        </p:blipFill>
        <p:spPr>
          <a:xfrm>
            <a:off x="6774934" y="825690"/>
            <a:ext cx="2136725" cy="1409771"/>
          </a:xfrm>
          <a:prstGeom prst="rect">
            <a:avLst/>
          </a:prstGeom>
        </p:spPr>
      </p:pic>
      <mc:AlternateContent xmlns:mc="http://schemas.openxmlformats.org/markup-compatibility/2006">
        <mc:Choice xmlns:a14="http://schemas.microsoft.com/office/drawing/2010/main" Requires="a14">
          <p:sp>
            <p:nvSpPr>
              <p:cNvPr id="2" name="Content Placeholder 1">
                <a:extLst>
                  <a:ext uri="{FF2B5EF4-FFF2-40B4-BE49-F238E27FC236}">
                    <a16:creationId xmlns:a16="http://schemas.microsoft.com/office/drawing/2014/main" id="{638E74BC-C4EF-1E2C-3677-F3DE29681426}"/>
                  </a:ext>
                </a:extLst>
              </p:cNvPr>
              <p:cNvSpPr>
                <a:spLocks noGrp="1"/>
              </p:cNvSpPr>
              <p:nvPr>
                <p:ph idx="1"/>
              </p:nvPr>
            </p:nvSpPr>
            <p:spPr/>
            <p:txBody>
              <a:bodyPr/>
              <a:lstStyle/>
              <a:p>
                <a:r>
                  <a:rPr lang="en-US" dirty="0"/>
                  <a:t>The </a:t>
                </a:r>
                <a:r>
                  <a:rPr lang="en-US" b="1" dirty="0"/>
                  <a:t>Lagrangian framework</a:t>
                </a:r>
                <a:r>
                  <a:rPr lang="en-US" dirty="0"/>
                  <a:t> offers a more general framework than Hamiltonian mechanics</a:t>
                </a:r>
              </a:p>
              <a:p>
                <a:r>
                  <a:rPr lang="en-US" dirty="0"/>
                  <a:t>The </a:t>
                </a:r>
                <a:r>
                  <a:rPr lang="en-US" dirty="0">
                    <a:solidFill>
                      <a:schemeClr val="bg2"/>
                    </a:solidFill>
                  </a:rPr>
                  <a:t>Lagrangian</a:t>
                </a:r>
                <a:r>
                  <a:rPr lang="en-US" dirty="0"/>
                  <a:t> of the mass-spring system is defined as</a:t>
                </a:r>
              </a:p>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Π</m:t>
                          </m:r>
                        </m:e>
                        <m:sub>
                          <m:r>
                            <m:rPr>
                              <m:sty m:val="p"/>
                            </m:rPr>
                            <a:rPr lang="en-US" b="0" i="0" smtClean="0">
                              <a:latin typeface="Cambria Math" panose="02040503050406030204" pitchFamily="18" charset="0"/>
                            </a:rPr>
                            <m:t>kin</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Π</m:t>
                          </m:r>
                        </m:e>
                        <m:sub>
                          <m:r>
                            <m:rPr>
                              <m:sty m:val="p"/>
                            </m:rPr>
                            <a:rPr lang="en-US" b="0" i="0" smtClean="0">
                              <a:latin typeface="Cambria Math" panose="02040503050406030204" pitchFamily="18" charset="0"/>
                            </a:rPr>
                            <m:t>pot</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𝑚</m:t>
                      </m:r>
                      <m:sSup>
                        <m:sSupPr>
                          <m:ctrlPr>
                            <a:rPr lang="en-US" b="0" i="1" smtClean="0">
                              <a:latin typeface="Cambria Math" panose="02040503050406030204" pitchFamily="18" charset="0"/>
                            </a:rPr>
                          </m:ctrlPr>
                        </m:s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p>
                          <m:r>
                            <a:rPr lang="en-US" b="0" i="1" smtClean="0">
                              <a:latin typeface="Cambria Math" panose="02040503050406030204" pitchFamily="18" charset="0"/>
                            </a:rPr>
                            <m:t>2</m:t>
                          </m:r>
                        </m:sup>
                      </m:s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𝑘</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𝑥</m:t>
                          </m:r>
                        </m:e>
                        <m:sup>
                          <m:r>
                            <a:rPr lang="en-US" b="0" i="1" smtClean="0">
                              <a:latin typeface="Cambria Math" panose="02040503050406030204" pitchFamily="18" charset="0"/>
                            </a:rPr>
                            <m:t>2</m:t>
                          </m:r>
                        </m:sup>
                      </m:sSup>
                    </m:oMath>
                  </m:oMathPara>
                </a14:m>
                <a:endParaRPr lang="en-US" dirty="0"/>
              </a:p>
              <a:p>
                <a:r>
                  <a:rPr lang="en-US" dirty="0"/>
                  <a:t>Which obeys the </a:t>
                </a:r>
                <a:r>
                  <a:rPr lang="en-US" dirty="0">
                    <a:solidFill>
                      <a:schemeClr val="bg2"/>
                    </a:solidFill>
                  </a:rPr>
                  <a:t>Euler-Lagrange equation </a:t>
                </a:r>
                <a:r>
                  <a:rPr lang="en-US" dirty="0"/>
                  <a:t>(ensuring the principle of least action)</a:t>
                </a:r>
              </a:p>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m:t>
                          </m:r>
                        </m:num>
                        <m:den>
                          <m:r>
                            <a:rPr lang="en-US" b="0" i="1" smtClean="0">
                              <a:latin typeface="Cambria Math" panose="02040503050406030204" pitchFamily="18" charset="0"/>
                            </a:rPr>
                            <m:t>𝑑𝑡</m:t>
                          </m:r>
                        </m:den>
                      </m:f>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𝐿</m:t>
                          </m:r>
                        </m:num>
                        <m:den>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𝐿</m:t>
                          </m:r>
                        </m:num>
                        <m:den>
                          <m:r>
                            <a:rPr lang="en-US" b="0" i="1" smtClean="0">
                              <a:latin typeface="Cambria Math" panose="02040503050406030204" pitchFamily="18" charset="0"/>
                            </a:rPr>
                            <m:t>𝜕</m:t>
                          </m:r>
                          <m:r>
                            <a:rPr lang="en-US" b="0" i="1" smtClean="0">
                              <a:latin typeface="Cambria Math" panose="02040503050406030204" pitchFamily="18" charset="0"/>
                            </a:rPr>
                            <m:t>𝑥</m:t>
                          </m:r>
                        </m:den>
                      </m:f>
                    </m:oMath>
                  </m:oMathPara>
                </a14:m>
                <a:endParaRPr lang="en-US" dirty="0"/>
              </a:p>
              <a:p>
                <a:r>
                  <a:rPr lang="en-US" dirty="0"/>
                  <a:t>The acceleration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oMath>
                </a14:m>
                <a:r>
                  <a:rPr lang="en-US" dirty="0"/>
                  <a:t> can be obtained by rewriting the Euler-Lagrange equation</a:t>
                </a:r>
              </a:p>
              <a:p>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𝑑</m:t>
                          </m:r>
                        </m:num>
                        <m:den>
                          <m:r>
                            <a:rPr lang="en-US" b="0" i="1" smtClean="0">
                              <a:latin typeface="Cambria Math" panose="02040503050406030204" pitchFamily="18" charset="0"/>
                            </a:rPr>
                            <m:t>𝑑𝑡</m:t>
                          </m:r>
                        </m:den>
                      </m:f>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𝐿</m:t>
                          </m:r>
                          <m:r>
                            <a:rPr lang="de-DE" b="0" i="1" smtClean="0">
                              <a:latin typeface="Cambria Math" panose="02040503050406030204" pitchFamily="18" charset="0"/>
                            </a:rPr>
                            <m:t>(</m:t>
                          </m:r>
                          <m:r>
                            <a:rPr lang="de-DE" b="0" i="1" smtClean="0">
                              <a:latin typeface="Cambria Math" panose="02040503050406030204" pitchFamily="18" charset="0"/>
                            </a:rPr>
                            <m:t>𝑥</m:t>
                          </m:r>
                          <m:r>
                            <a:rPr lang="de-DE" b="0" i="1" smtClean="0">
                              <a:latin typeface="Cambria Math" panose="02040503050406030204" pitchFamily="18" charset="0"/>
                            </a:rPr>
                            <m:t>,</m:t>
                          </m:r>
                          <m:acc>
                            <m:accPr>
                              <m:chr m:val="̇"/>
                              <m:ctrlPr>
                                <a:rPr lang="de-DE" b="0" i="1" smtClean="0">
                                  <a:latin typeface="Cambria Math" panose="02040503050406030204" pitchFamily="18" charset="0"/>
                                </a:rPr>
                              </m:ctrlPr>
                            </m:accPr>
                            <m:e>
                              <m:r>
                                <a:rPr lang="de-DE" b="0" i="1" smtClean="0">
                                  <a:latin typeface="Cambria Math" panose="02040503050406030204" pitchFamily="18" charset="0"/>
                                </a:rPr>
                                <m:t>𝑥</m:t>
                              </m:r>
                            </m:e>
                          </m:acc>
                          <m:r>
                            <a:rPr lang="de-DE" b="0" i="1" smtClean="0">
                              <a:latin typeface="Cambria Math" panose="02040503050406030204" pitchFamily="18" charset="0"/>
                            </a:rPr>
                            <m:t>)</m:t>
                          </m:r>
                        </m:num>
                        <m:den>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e>
                            <m:sup>
                              <m:r>
                                <a:rPr lang="en-US" b="0" i="1" smtClean="0">
                                  <a:latin typeface="Cambria Math" panose="02040503050406030204" pitchFamily="18" charset="0"/>
                                </a:rPr>
                                <m:t>2</m:t>
                              </m:r>
                            </m:sup>
                          </m:sSup>
                          <m:r>
                            <a:rPr lang="en-US" b="0" i="1" smtClean="0">
                              <a:latin typeface="Cambria Math" panose="02040503050406030204" pitchFamily="18" charset="0"/>
                            </a:rPr>
                            <m:t>𝐿</m:t>
                          </m:r>
                        </m:num>
                        <m:den>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en>
                      </m:f>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e>
                            <m:sup>
                              <m:r>
                                <a:rPr lang="en-US" b="0" i="1" smtClean="0">
                                  <a:latin typeface="Cambria Math" panose="02040503050406030204" pitchFamily="18" charset="0"/>
                                </a:rPr>
                                <m:t>2</m:t>
                              </m:r>
                            </m:sup>
                          </m:sSup>
                          <m:r>
                            <a:rPr lang="en-US" b="0" i="1" smtClean="0">
                              <a:latin typeface="Cambria Math" panose="02040503050406030204" pitchFamily="18" charset="0"/>
                            </a:rPr>
                            <m:t>𝐿</m:t>
                          </m:r>
                        </m:num>
                        <m:den>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p>
                              <m:r>
                                <a:rPr lang="en-US" b="0" i="1" smtClean="0">
                                  <a:latin typeface="Cambria Math" panose="02040503050406030204" pitchFamily="18" charset="0"/>
                                </a:rPr>
                                <m:t>2</m:t>
                              </m:r>
                            </m:sup>
                          </m:sSup>
                        </m:den>
                      </m:f>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𝐿</m:t>
                          </m:r>
                        </m:num>
                        <m:den>
                          <m:r>
                            <a:rPr lang="en-US" b="0" i="1" smtClean="0">
                              <a:latin typeface="Cambria Math" panose="02040503050406030204" pitchFamily="18" charset="0"/>
                            </a:rPr>
                            <m:t>𝜕</m:t>
                          </m:r>
                          <m:r>
                            <a:rPr lang="en-US" b="0" i="1" smtClean="0">
                              <a:latin typeface="Cambria Math" panose="02040503050406030204" pitchFamily="18" charset="0"/>
                            </a:rPr>
                            <m:t>𝑥</m:t>
                          </m:r>
                        </m:den>
                      </m:f>
                    </m:oMath>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e>
                                    <m:sup>
                                      <m:r>
                                        <a:rPr lang="en-US" b="0" i="1" smtClean="0">
                                          <a:latin typeface="Cambria Math" panose="02040503050406030204" pitchFamily="18" charset="0"/>
                                        </a:rPr>
                                        <m:t>2</m:t>
                                      </m:r>
                                    </m:sup>
                                  </m:sSup>
                                  <m:r>
                                    <a:rPr lang="en-US" b="0" i="1" smtClean="0">
                                      <a:latin typeface="Cambria Math" panose="02040503050406030204" pitchFamily="18" charset="0"/>
                                    </a:rPr>
                                    <m:t>𝐿</m:t>
                                  </m:r>
                                </m:num>
                                <m:den>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sup>
                                      <m:r>
                                        <a:rPr lang="en-US" b="0" i="1" smtClean="0">
                                          <a:latin typeface="Cambria Math" panose="02040503050406030204" pitchFamily="18" charset="0"/>
                                        </a:rPr>
                                        <m:t>2</m:t>
                                      </m:r>
                                    </m:sup>
                                  </m:sSup>
                                </m:den>
                              </m:f>
                            </m:e>
                          </m:d>
                        </m:e>
                        <m:sup>
                          <m:r>
                            <a:rPr lang="en-US" b="0" i="1" smtClean="0">
                              <a:latin typeface="Cambria Math" panose="02040503050406030204" pitchFamily="18" charset="0"/>
                            </a:rPr>
                            <m:t>−1</m:t>
                          </m:r>
                        </m:sup>
                      </m:sSup>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𝐿</m:t>
                              </m:r>
                            </m:num>
                            <m:den>
                              <m:r>
                                <a:rPr lang="en-US" b="0" i="1" smtClean="0">
                                  <a:latin typeface="Cambria Math" panose="02040503050406030204" pitchFamily="18" charset="0"/>
                                </a:rPr>
                                <m:t>𝜕</m:t>
                              </m:r>
                              <m:r>
                                <a:rPr lang="en-US" b="0" i="1" smtClean="0">
                                  <a:latin typeface="Cambria Math" panose="02040503050406030204" pitchFamily="18" charset="0"/>
                                </a:rPr>
                                <m:t>𝑥</m:t>
                              </m:r>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e>
                                <m:sup>
                                  <m:r>
                                    <a:rPr lang="en-US" b="0" i="1" smtClean="0">
                                      <a:latin typeface="Cambria Math" panose="02040503050406030204" pitchFamily="18" charset="0"/>
                                    </a:rPr>
                                    <m:t>2</m:t>
                                  </m:r>
                                </m:sup>
                              </m:sSup>
                              <m:r>
                                <a:rPr lang="en-US" b="0" i="1" smtClean="0">
                                  <a:latin typeface="Cambria Math" panose="02040503050406030204" pitchFamily="18" charset="0"/>
                                </a:rPr>
                                <m:t>𝐿</m:t>
                              </m:r>
                            </m:num>
                            <m:den>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en>
                          </m:f>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d>
                    </m:oMath>
                  </m:oMathPara>
                </a14:m>
                <a:endParaRPr lang="en-US" dirty="0"/>
              </a:p>
              <a:p>
                <a:r>
                  <a:rPr lang="en-US" dirty="0"/>
                  <a:t>Similar as for the Hamiltonian mechanics, the evolution of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en-US" dirty="0"/>
                  <a:t> can be computed by </a:t>
                </a:r>
                <a:r>
                  <a:rPr lang="en-US" dirty="0">
                    <a:solidFill>
                      <a:schemeClr val="bg2"/>
                    </a:solidFill>
                  </a:rPr>
                  <a:t>integrating</a:t>
                </a:r>
                <a14:m>
                  <m:oMath xmlns:m="http://schemas.openxmlformats.org/officeDocument/2006/math">
                    <m:r>
                      <a:rPr lang="en-US" b="0" i="1" smtClean="0">
                        <a:latin typeface="Cambria Math" panose="02040503050406030204" pitchFamily="18" charset="0"/>
                      </a:rPr>
                      <m:t> </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r>
                      <a:rPr lang="en-US" b="0" i="1" smtClean="0">
                        <a:latin typeface="Cambria Math" panose="02040503050406030204" pitchFamily="18" charset="0"/>
                      </a:rPr>
                      <m:t>,</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oMath>
                </a14:m>
                <a:endParaRPr lang="en-US" dirty="0"/>
              </a:p>
            </p:txBody>
          </p:sp>
        </mc:Choice>
        <mc:Fallback>
          <p:sp>
            <p:nvSpPr>
              <p:cNvPr id="2" name="Content Placeholder 1">
                <a:extLst>
                  <a:ext uri="{FF2B5EF4-FFF2-40B4-BE49-F238E27FC236}">
                    <a16:creationId xmlns:a16="http://schemas.microsoft.com/office/drawing/2014/main" id="{638E74BC-C4EF-1E2C-3677-F3DE29681426}"/>
                  </a:ext>
                </a:extLst>
              </p:cNvPr>
              <p:cNvSpPr>
                <a:spLocks noGrp="1" noRot="1" noChangeAspect="1" noMove="1" noResize="1" noEditPoints="1" noAdjustHandles="1" noChangeArrowheads="1" noChangeShapeType="1" noTextEdit="1"/>
              </p:cNvSpPr>
              <p:nvPr>
                <p:ph idx="1"/>
              </p:nvPr>
            </p:nvSpPr>
            <p:spPr>
              <a:blipFill>
                <a:blip r:embed="rId4"/>
                <a:stretch>
                  <a:fillRect l="-1289" t="-922"/>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A3CE1FCB-484F-3E4D-1677-88A71B73C16D}"/>
              </a:ext>
            </a:extLst>
          </p:cNvPr>
          <p:cNvSpPr>
            <a:spLocks noGrp="1"/>
          </p:cNvSpPr>
          <p:nvPr>
            <p:ph type="title"/>
          </p:nvPr>
        </p:nvSpPr>
        <p:spPr/>
        <p:txBody>
          <a:bodyPr/>
          <a:lstStyle/>
          <a:p>
            <a:r>
              <a:rPr lang="de-DE" dirty="0"/>
              <a:t>3.9.8.4 Euler-Lagrange </a:t>
            </a:r>
            <a:r>
              <a:rPr lang="de-DE" dirty="0" err="1"/>
              <a:t>Equation</a:t>
            </a:r>
            <a:endParaRPr lang="en-US" dirty="0"/>
          </a:p>
        </p:txBody>
      </p:sp>
      <p:sp>
        <p:nvSpPr>
          <p:cNvPr id="4" name="Slide Number Placeholder 3">
            <a:extLst>
              <a:ext uri="{FF2B5EF4-FFF2-40B4-BE49-F238E27FC236}">
                <a16:creationId xmlns:a16="http://schemas.microsoft.com/office/drawing/2014/main" id="{1F518908-F01E-39F3-1E27-A150C02908F4}"/>
              </a:ext>
            </a:extLst>
          </p:cNvPr>
          <p:cNvSpPr>
            <a:spLocks noGrp="1"/>
          </p:cNvSpPr>
          <p:nvPr>
            <p:ph type="sldNum" sz="quarter" idx="11"/>
          </p:nvPr>
        </p:nvSpPr>
        <p:spPr/>
        <p:txBody>
          <a:bodyPr/>
          <a:lstStyle/>
          <a:p>
            <a:fld id="{CE58CB1E-F828-4F11-99E0-327109AF9DA4}" type="slidenum">
              <a:rPr lang="de-DE" smtClean="0"/>
              <a:pPr/>
              <a:t>42</a:t>
            </a:fld>
            <a:endParaRPr lang="de-DE"/>
          </a:p>
        </p:txBody>
      </p:sp>
      <p:sp>
        <p:nvSpPr>
          <p:cNvPr id="5" name="Footer Placeholder 4">
            <a:extLst>
              <a:ext uri="{FF2B5EF4-FFF2-40B4-BE49-F238E27FC236}">
                <a16:creationId xmlns:a16="http://schemas.microsoft.com/office/drawing/2014/main" id="{C2C514AE-CFD5-2A0A-8EEA-FDC8E61BED7B}"/>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spTree>
    <p:extLst>
      <p:ext uri="{BB962C8B-B14F-4D97-AF65-F5344CB8AC3E}">
        <p14:creationId xmlns:p14="http://schemas.microsoft.com/office/powerpoint/2010/main" val="334184309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286EC8F5-1745-42E2-961E-41B7AFCCAD9C}"/>
                  </a:ext>
                </a:extLst>
              </p:cNvPr>
              <p:cNvSpPr>
                <a:spLocks noGrp="1"/>
              </p:cNvSpPr>
              <p:nvPr>
                <p:ph idx="1"/>
              </p:nvPr>
            </p:nvSpPr>
            <p:spPr/>
            <p:txBody>
              <a:bodyPr/>
              <a:lstStyle/>
              <a:p>
                <a:pPr marL="285750" indent="-285750">
                  <a:buFont typeface="Arial" panose="020B0604020202020204" pitchFamily="34" charset="0"/>
                  <a:buChar char="•"/>
                </a:pPr>
                <a:r>
                  <a:rPr lang="en-US" dirty="0">
                    <a:solidFill>
                      <a:schemeClr val="bg2"/>
                    </a:solidFill>
                  </a:rPr>
                  <a:t>Data triplets </a:t>
                </a:r>
                <a14:m>
                  <m:oMath xmlns:m="http://schemas.openxmlformats.org/officeDocument/2006/math">
                    <m:sSubSup>
                      <m:sSubSupPr>
                        <m:ctrlPr>
                          <a:rPr lang="de-DE" b="0" i="1" smtClean="0">
                            <a:latin typeface="Cambria Math" panose="02040503050406030204" pitchFamily="18" charset="0"/>
                          </a:rPr>
                        </m:ctrlPr>
                      </m:sSubSupPr>
                      <m:e>
                        <m:d>
                          <m:dPr>
                            <m:begChr m:val="{"/>
                            <m:endChr m:val="}"/>
                            <m:ctrlPr>
                              <a:rPr lang="de-DE" b="0" i="1" smtClean="0">
                                <a:latin typeface="Cambria Math" panose="02040503050406030204" pitchFamily="18" charset="0"/>
                              </a:rPr>
                            </m:ctrlPr>
                          </m:dPr>
                          <m:e>
                            <m:acc>
                              <m:accPr>
                                <m:chr m:val="̃"/>
                                <m:ctrlPr>
                                  <a:rPr lang="de-DE" i="1" smtClean="0">
                                    <a:latin typeface="Cambria Math" panose="02040503050406030204" pitchFamily="18" charset="0"/>
                                  </a:rPr>
                                </m:ctrlPr>
                              </m:accPr>
                              <m:e>
                                <m:r>
                                  <a:rPr lang="de-DE" b="0" i="1" smtClean="0">
                                    <a:latin typeface="Cambria Math" panose="02040503050406030204" pitchFamily="18" charset="0"/>
                                  </a:rPr>
                                  <m:t>𝑥</m:t>
                                </m:r>
                              </m:e>
                            </m:acc>
                            <m:d>
                              <m:dPr>
                                <m:ctrlPr>
                                  <a:rPr lang="de-DE" b="0" i="1" smtClean="0">
                                    <a:latin typeface="Cambria Math" panose="02040503050406030204" pitchFamily="18" charset="0"/>
                                  </a:rPr>
                                </m:ctrlPr>
                              </m:dPr>
                              <m:e>
                                <m:sSub>
                                  <m:sSubPr>
                                    <m:ctrlPr>
                                      <a:rPr lang="de-DE" b="0" i="1" smtClean="0">
                                        <a:latin typeface="Cambria Math" panose="02040503050406030204" pitchFamily="18" charset="0"/>
                                      </a:rPr>
                                    </m:ctrlPr>
                                  </m:sSubPr>
                                  <m:e>
                                    <m:r>
                                      <a:rPr lang="de-DE" b="0" i="1" smtClean="0">
                                        <a:latin typeface="Cambria Math" panose="02040503050406030204" pitchFamily="18" charset="0"/>
                                      </a:rPr>
                                      <m:t>𝑡</m:t>
                                    </m:r>
                                  </m:e>
                                  <m:sub>
                                    <m:r>
                                      <a:rPr lang="de-DE" b="0" i="1" smtClean="0">
                                        <a:latin typeface="Cambria Math" panose="02040503050406030204" pitchFamily="18" charset="0"/>
                                      </a:rPr>
                                      <m:t>𝑖</m:t>
                                    </m:r>
                                  </m:sub>
                                </m:sSub>
                              </m:e>
                            </m:d>
                            <m:r>
                              <a:rPr lang="de-DE" b="0" i="1" smtClean="0">
                                <a:latin typeface="Cambria Math" panose="02040503050406030204" pitchFamily="18" charset="0"/>
                              </a:rPr>
                              <m:t>, </m:t>
                            </m:r>
                            <m:acc>
                              <m:accPr>
                                <m:chr m:val="̃"/>
                                <m:ctrlPr>
                                  <a:rPr lang="de-DE" b="0" i="1" smtClean="0">
                                    <a:latin typeface="Cambria Math" panose="02040503050406030204" pitchFamily="18" charset="0"/>
                                  </a:rPr>
                                </m:ctrlPr>
                              </m:accPr>
                              <m:e>
                                <m:acc>
                                  <m:accPr>
                                    <m:chr m:val="̇"/>
                                    <m:ctrlPr>
                                      <a:rPr lang="de-DE" i="1" smtClean="0">
                                        <a:latin typeface="Cambria Math" panose="02040503050406030204" pitchFamily="18" charset="0"/>
                                      </a:rPr>
                                    </m:ctrlPr>
                                  </m:accPr>
                                  <m:e>
                                    <m:r>
                                      <a:rPr lang="de-DE" b="0" i="1" smtClean="0">
                                        <a:latin typeface="Cambria Math" panose="02040503050406030204" pitchFamily="18" charset="0"/>
                                      </a:rPr>
                                      <m:t>𝑥</m:t>
                                    </m:r>
                                  </m:e>
                                </m:acc>
                              </m:e>
                            </m:acc>
                            <m:d>
                              <m:dPr>
                                <m:ctrlPr>
                                  <a:rPr lang="de-DE" b="0" i="1" smtClean="0">
                                    <a:latin typeface="Cambria Math" panose="02040503050406030204" pitchFamily="18" charset="0"/>
                                  </a:rPr>
                                </m:ctrlPr>
                              </m:dPr>
                              <m:e>
                                <m:sSub>
                                  <m:sSubPr>
                                    <m:ctrlPr>
                                      <a:rPr lang="de-DE" b="0" i="1" smtClean="0">
                                        <a:latin typeface="Cambria Math" panose="02040503050406030204" pitchFamily="18" charset="0"/>
                                      </a:rPr>
                                    </m:ctrlPr>
                                  </m:sSubPr>
                                  <m:e>
                                    <m:r>
                                      <a:rPr lang="de-DE" b="0" i="1" smtClean="0">
                                        <a:latin typeface="Cambria Math" panose="02040503050406030204" pitchFamily="18" charset="0"/>
                                      </a:rPr>
                                      <m:t>𝑡</m:t>
                                    </m:r>
                                  </m:e>
                                  <m:sub>
                                    <m:r>
                                      <a:rPr lang="de-DE" b="0" i="1" smtClean="0">
                                        <a:latin typeface="Cambria Math" panose="02040503050406030204" pitchFamily="18" charset="0"/>
                                      </a:rPr>
                                      <m:t>𝑖</m:t>
                                    </m:r>
                                  </m:sub>
                                </m:sSub>
                              </m:e>
                            </m:d>
                            <m:r>
                              <a:rPr lang="de-DE" b="0" i="1" smtClean="0">
                                <a:latin typeface="Cambria Math" panose="02040503050406030204" pitchFamily="18" charset="0"/>
                              </a:rPr>
                              <m:t>, </m:t>
                            </m:r>
                            <m:acc>
                              <m:accPr>
                                <m:chr m:val="̃"/>
                                <m:ctrlPr>
                                  <a:rPr lang="de-DE" b="0" i="1" smtClean="0">
                                    <a:latin typeface="Cambria Math" panose="02040503050406030204" pitchFamily="18" charset="0"/>
                                  </a:rPr>
                                </m:ctrlPr>
                              </m:accPr>
                              <m:e>
                                <m:acc>
                                  <m:accPr>
                                    <m:chr m:val="̈"/>
                                    <m:ctrlPr>
                                      <a:rPr lang="de-DE" i="1" smtClean="0">
                                        <a:latin typeface="Cambria Math" panose="02040503050406030204" pitchFamily="18" charset="0"/>
                                      </a:rPr>
                                    </m:ctrlPr>
                                  </m:accPr>
                                  <m:e>
                                    <m:r>
                                      <a:rPr lang="de-DE" b="0" i="1" smtClean="0">
                                        <a:latin typeface="Cambria Math" panose="02040503050406030204" pitchFamily="18" charset="0"/>
                                      </a:rPr>
                                      <m:t>𝑥</m:t>
                                    </m:r>
                                  </m:e>
                                </m:acc>
                              </m:e>
                            </m:acc>
                            <m:d>
                              <m:dPr>
                                <m:ctrlPr>
                                  <a:rPr lang="de-DE" b="0" i="1" smtClean="0">
                                    <a:latin typeface="Cambria Math" panose="02040503050406030204" pitchFamily="18" charset="0"/>
                                  </a:rPr>
                                </m:ctrlPr>
                              </m:dPr>
                              <m:e>
                                <m:sSub>
                                  <m:sSubPr>
                                    <m:ctrlPr>
                                      <a:rPr lang="de-DE" b="0" i="1" smtClean="0">
                                        <a:latin typeface="Cambria Math" panose="02040503050406030204" pitchFamily="18" charset="0"/>
                                      </a:rPr>
                                    </m:ctrlPr>
                                  </m:sSubPr>
                                  <m:e>
                                    <m:r>
                                      <a:rPr lang="de-DE" b="0" i="1" smtClean="0">
                                        <a:latin typeface="Cambria Math" panose="02040503050406030204" pitchFamily="18" charset="0"/>
                                      </a:rPr>
                                      <m:t>𝑡</m:t>
                                    </m:r>
                                  </m:e>
                                  <m:sub>
                                    <m:r>
                                      <a:rPr lang="de-DE" b="0" i="1" smtClean="0">
                                        <a:latin typeface="Cambria Math" panose="02040503050406030204" pitchFamily="18" charset="0"/>
                                      </a:rPr>
                                      <m:t>𝑖</m:t>
                                    </m:r>
                                  </m:sub>
                                </m:sSub>
                              </m:e>
                            </m:d>
                          </m:e>
                        </m:d>
                      </m:e>
                      <m:sub>
                        <m:r>
                          <a:rPr lang="de-DE" b="0" i="1" smtClean="0">
                            <a:latin typeface="Cambria Math" panose="02040503050406030204" pitchFamily="18" charset="0"/>
                          </a:rPr>
                          <m:t>𝑖</m:t>
                        </m:r>
                        <m:r>
                          <a:rPr lang="de-DE" b="0" i="1" smtClean="0">
                            <a:latin typeface="Cambria Math" panose="02040503050406030204" pitchFamily="18" charset="0"/>
                          </a:rPr>
                          <m:t>=1</m:t>
                        </m:r>
                      </m:sub>
                      <m:sup>
                        <m:r>
                          <a:rPr lang="de-DE" b="0" i="1" smtClean="0">
                            <a:latin typeface="Cambria Math" panose="02040503050406030204" pitchFamily="18" charset="0"/>
                          </a:rPr>
                          <m:t>𝑚</m:t>
                        </m:r>
                      </m:sup>
                    </m:sSubSup>
                  </m:oMath>
                </a14:m>
                <a:r>
                  <a:rPr lang="en-US" dirty="0"/>
                  <a:t> </a:t>
                </a:r>
              </a:p>
              <a:p>
                <a:pPr marL="285750" indent="-285750">
                  <a:buFont typeface="Arial" panose="020B0604020202020204" pitchFamily="34" charset="0"/>
                  <a:buChar char="•"/>
                </a:pPr>
                <a:r>
                  <a:rPr lang="en-US" dirty="0"/>
                  <a:t>Mapping to the</a:t>
                </a:r>
                <a:r>
                  <a:rPr lang="en-US" dirty="0">
                    <a:solidFill>
                      <a:schemeClr val="bg2"/>
                    </a:solidFill>
                  </a:rPr>
                  <a:t> </a:t>
                </a:r>
                <a:r>
                  <a:rPr lang="en-US" dirty="0" err="1">
                    <a:solidFill>
                      <a:schemeClr val="bg2"/>
                    </a:solidFill>
                  </a:rPr>
                  <a:t>Lagrangian</a:t>
                </a:r>
                <a:r>
                  <a:rPr lang="en-US" dirty="0">
                    <a:solidFill>
                      <a:schemeClr val="bg2"/>
                    </a:solidFill>
                  </a:rPr>
                  <a:t> </a:t>
                </a:r>
                <a:r>
                  <a:rPr lang="en-US" dirty="0"/>
                  <a:t>is to be learned </a:t>
                </a:r>
                <a14:m>
                  <m:oMath xmlns:m="http://schemas.openxmlformats.org/officeDocument/2006/math">
                    <m:acc>
                      <m:accPr>
                        <m:chr m:val="̂"/>
                        <m:ctrlPr>
                          <a:rPr lang="de-DE" b="0" i="1" smtClean="0">
                            <a:latin typeface="Cambria Math" panose="02040503050406030204" pitchFamily="18" charset="0"/>
                            <a:ea typeface="Cambria Math" panose="02040503050406030204" pitchFamily="18" charset="0"/>
                          </a:rPr>
                        </m:ctrlPr>
                      </m:accPr>
                      <m:e>
                        <m:r>
                          <a:rPr lang="de-DE" b="0" i="1" smtClean="0">
                            <a:latin typeface="Cambria Math" panose="02040503050406030204" pitchFamily="18" charset="0"/>
                            <a:ea typeface="Cambria Math" panose="02040503050406030204" pitchFamily="18" charset="0"/>
                          </a:rPr>
                          <m:t>𝐿</m:t>
                        </m:r>
                      </m:e>
                    </m:acc>
                    <m:r>
                      <a:rPr lang="de-DE" b="0" i="1" dirty="0" smtClean="0">
                        <a:latin typeface="Cambria Math" panose="02040503050406030204" pitchFamily="18" charset="0"/>
                        <a:ea typeface="Cambria Math" panose="02040503050406030204" pitchFamily="18" charset="0"/>
                      </a:rPr>
                      <m:t>=</m:t>
                    </m:r>
                    <m:r>
                      <a:rPr lang="de-DE" b="0" i="1" dirty="0" smtClean="0">
                        <a:latin typeface="Cambria Math" panose="02040503050406030204" pitchFamily="18" charset="0"/>
                        <a:ea typeface="Cambria Math" panose="02040503050406030204" pitchFamily="18" charset="0"/>
                      </a:rPr>
                      <m:t>𝐿</m:t>
                    </m:r>
                    <m:d>
                      <m:dPr>
                        <m:ctrlPr>
                          <a:rPr lang="de-DE" b="0" i="1" dirty="0" smtClean="0">
                            <a:latin typeface="Cambria Math" panose="02040503050406030204" pitchFamily="18" charset="0"/>
                            <a:ea typeface="Cambria Math" panose="02040503050406030204" pitchFamily="18" charset="0"/>
                          </a:rPr>
                        </m:ctrlPr>
                      </m:dPr>
                      <m:e>
                        <m:r>
                          <a:rPr lang="de-DE" b="0" i="1" dirty="0" smtClean="0">
                            <a:latin typeface="Cambria Math" panose="02040503050406030204" pitchFamily="18" charset="0"/>
                            <a:ea typeface="Cambria Math" panose="02040503050406030204" pitchFamily="18" charset="0"/>
                          </a:rPr>
                          <m:t>𝑥</m:t>
                        </m:r>
                        <m:d>
                          <m:dPr>
                            <m:ctrlPr>
                              <a:rPr lang="de-DE" b="0" i="1" dirty="0" smtClean="0">
                                <a:latin typeface="Cambria Math" panose="02040503050406030204" pitchFamily="18" charset="0"/>
                                <a:ea typeface="Cambria Math" panose="02040503050406030204" pitchFamily="18" charset="0"/>
                              </a:rPr>
                            </m:ctrlPr>
                          </m:dPr>
                          <m:e>
                            <m:r>
                              <a:rPr lang="de-DE" b="0" i="1" dirty="0" smtClean="0">
                                <a:latin typeface="Cambria Math" panose="02040503050406030204" pitchFamily="18" charset="0"/>
                                <a:ea typeface="Cambria Math" panose="02040503050406030204" pitchFamily="18" charset="0"/>
                              </a:rPr>
                              <m:t>𝑡</m:t>
                            </m:r>
                          </m:e>
                        </m:d>
                        <m:r>
                          <a:rPr lang="de-DE" b="0" i="1" dirty="0" smtClean="0">
                            <a:latin typeface="Cambria Math" panose="02040503050406030204" pitchFamily="18" charset="0"/>
                            <a:ea typeface="Cambria Math" panose="02040503050406030204" pitchFamily="18" charset="0"/>
                          </a:rPr>
                          <m:t>, </m:t>
                        </m:r>
                        <m:acc>
                          <m:accPr>
                            <m:chr m:val="̇"/>
                            <m:ctrlPr>
                              <a:rPr lang="de-DE" i="1" dirty="0" smtClean="0">
                                <a:latin typeface="Cambria Math" panose="02040503050406030204" pitchFamily="18" charset="0"/>
                                <a:ea typeface="Cambria Math" panose="02040503050406030204" pitchFamily="18" charset="0"/>
                              </a:rPr>
                            </m:ctrlPr>
                          </m:accPr>
                          <m:e>
                            <m:r>
                              <a:rPr lang="de-DE" b="0" i="1" dirty="0" smtClean="0">
                                <a:latin typeface="Cambria Math" panose="02040503050406030204" pitchFamily="18" charset="0"/>
                                <a:ea typeface="Cambria Math" panose="02040503050406030204" pitchFamily="18" charset="0"/>
                              </a:rPr>
                              <m:t>𝑥</m:t>
                            </m:r>
                          </m:e>
                        </m:acc>
                        <m:d>
                          <m:dPr>
                            <m:ctrlPr>
                              <a:rPr lang="de-DE" b="0" i="1" dirty="0" smtClean="0">
                                <a:latin typeface="Cambria Math" panose="02040503050406030204" pitchFamily="18" charset="0"/>
                                <a:ea typeface="Cambria Math" panose="02040503050406030204" pitchFamily="18" charset="0"/>
                              </a:rPr>
                            </m:ctrlPr>
                          </m:dPr>
                          <m:e>
                            <m:r>
                              <a:rPr lang="de-DE" b="0" i="1" dirty="0" smtClean="0">
                                <a:latin typeface="Cambria Math" panose="02040503050406030204" pitchFamily="18" charset="0"/>
                                <a:ea typeface="Cambria Math" panose="02040503050406030204" pitchFamily="18" charset="0"/>
                              </a:rPr>
                              <m:t>𝑡</m:t>
                            </m:r>
                          </m:e>
                        </m:d>
                        <m:r>
                          <a:rPr lang="de-DE" b="0" i="1" dirty="0" smtClean="0">
                            <a:latin typeface="Cambria Math" panose="02040503050406030204" pitchFamily="18" charset="0"/>
                            <a:ea typeface="Cambria Math" panose="02040503050406030204" pitchFamily="18" charset="0"/>
                          </a:rPr>
                          <m:t>;</m:t>
                        </m:r>
                        <m:r>
                          <a:rPr lang="de-DE" b="1" i="0" dirty="0" smtClean="0">
                            <a:latin typeface="Cambria Math" panose="02040503050406030204" pitchFamily="18" charset="0"/>
                            <a:ea typeface="Cambria Math" panose="02040503050406030204" pitchFamily="18" charset="0"/>
                          </a:rPr>
                          <m:t>𝚯</m:t>
                        </m:r>
                      </m:e>
                    </m:d>
                  </m:oMath>
                </a14:m>
                <a:r>
                  <a:rPr lang="en-US" dirty="0"/>
                  <a:t> </a:t>
                </a:r>
              </a:p>
              <a:p>
                <a:pPr marL="285750" indent="-285750">
                  <a:buFont typeface="Arial" panose="020B0604020202020204" pitchFamily="34" charset="0"/>
                  <a:buChar char="•"/>
                </a:pPr>
                <a:r>
                  <a:rPr lang="en-US" dirty="0"/>
                  <a:t>The</a:t>
                </a:r>
                <a:r>
                  <a:rPr lang="en-US" dirty="0">
                    <a:solidFill>
                      <a:schemeClr val="bg2"/>
                    </a:solidFill>
                  </a:rPr>
                  <a:t> Lagrangian</a:t>
                </a:r>
                <a:r>
                  <a:rPr lang="en-US" dirty="0"/>
                  <a:t> obeys the </a:t>
                </a:r>
                <a:r>
                  <a:rPr lang="en-US" dirty="0">
                    <a:solidFill>
                      <a:schemeClr val="bg2"/>
                    </a:solidFill>
                  </a:rPr>
                  <a:t>Euler Lagrange Equation</a:t>
                </a:r>
                <a:r>
                  <a:rPr lang="en-US" dirty="0"/>
                  <a:t>:</a:t>
                </a:r>
                <a:br>
                  <a:rPr lang="en-US" dirty="0"/>
                </a:br>
                <a:br>
                  <a:rPr lang="en-US" dirty="0"/>
                </a:br>
                <a:br>
                  <a:rPr lang="en-US" dirty="0"/>
                </a:br>
                <a:r>
                  <a:rPr lang="en-US" dirty="0"/>
                  <a:t>and ensures the principle of least action</a:t>
                </a:r>
              </a:p>
              <a:p>
                <a:endParaRPr lang="en-US" dirty="0"/>
              </a:p>
              <a:p>
                <a:r>
                  <a:rPr lang="en-US" dirty="0"/>
                  <a:t>Lagrangian Networks predict the Lagrangian </a:t>
                </a:r>
                <a14:m>
                  <m:oMath xmlns:m="http://schemas.openxmlformats.org/officeDocument/2006/math">
                    <m:r>
                      <a:rPr lang="de-DE" b="0" i="1" smtClean="0">
                        <a:latin typeface="Cambria Math" panose="02040503050406030204" pitchFamily="18" charset="0"/>
                      </a:rPr>
                      <m:t>𝐿</m:t>
                    </m:r>
                  </m:oMath>
                </a14:m>
                <a:r>
                  <a:rPr lang="en-US" dirty="0"/>
                  <a:t> and use the Euler Lagrange Equation as a cost function as follows</a:t>
                </a:r>
              </a:p>
              <a:p>
                <a:pPr marL="285750" indent="-285750">
                  <a:buFont typeface="Arial" panose="020B0604020202020204" pitchFamily="34" charset="0"/>
                  <a:buChar char="•"/>
                </a:pPr>
                <a:r>
                  <a:rPr lang="en-US" dirty="0"/>
                  <a:t>The </a:t>
                </a:r>
                <a:r>
                  <a:rPr lang="en-US" dirty="0">
                    <a:solidFill>
                      <a:schemeClr val="bg2"/>
                    </a:solidFill>
                  </a:rPr>
                  <a:t>acceleration</a:t>
                </a:r>
                <a:r>
                  <a:rPr lang="en-US" dirty="0"/>
                  <a:t> </a:t>
                </a:r>
                <a14:m>
                  <m:oMath xmlns:m="http://schemas.openxmlformats.org/officeDocument/2006/math">
                    <m:acc>
                      <m:accPr>
                        <m:chr m:val="̂"/>
                        <m:ctrlPr>
                          <a:rPr lang="de-DE" b="0" i="1" dirty="0" smtClean="0">
                            <a:latin typeface="Cambria Math" panose="02040503050406030204" pitchFamily="18" charset="0"/>
                          </a:rPr>
                        </m:ctrlPr>
                      </m:accPr>
                      <m:e>
                        <m:acc>
                          <m:accPr>
                            <m:chr m:val="̈"/>
                            <m:ctrlPr>
                              <a:rPr lang="de-DE" b="0" i="1" smtClean="0">
                                <a:latin typeface="Cambria Math" panose="02040503050406030204" pitchFamily="18" charset="0"/>
                              </a:rPr>
                            </m:ctrlPr>
                          </m:accPr>
                          <m:e>
                            <m:r>
                              <a:rPr lang="de-DE" b="0" i="1" smtClean="0">
                                <a:latin typeface="Cambria Math" panose="02040503050406030204" pitchFamily="18" charset="0"/>
                              </a:rPr>
                              <m:t>𝑥</m:t>
                            </m:r>
                          </m:e>
                        </m:acc>
                      </m:e>
                    </m:acc>
                  </m:oMath>
                </a14:m>
                <a:r>
                  <a:rPr lang="en-US" dirty="0"/>
                  <a:t> can be computed from</a:t>
                </a:r>
              </a:p>
              <a:p>
                <a:endParaRPr lang="en-US" dirty="0"/>
              </a:p>
              <a:p>
                <a:r>
                  <a:rPr lang="en-US" dirty="0"/>
                  <a:t>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With the predicted acceleration a </a:t>
                </a:r>
                <a:r>
                  <a:rPr lang="en-US" dirty="0">
                    <a:solidFill>
                      <a:schemeClr val="bg2"/>
                    </a:solidFill>
                  </a:rPr>
                  <a:t>cost function </a:t>
                </a:r>
                <a:r>
                  <a:rPr lang="en-US" dirty="0"/>
                  <a:t>can be formulated as</a:t>
                </a:r>
              </a:p>
              <a:p>
                <a:pPr/>
                <a14:m>
                  <m:oMathPara xmlns:m="http://schemas.openxmlformats.org/officeDocument/2006/math">
                    <m:oMathParaPr>
                      <m:jc m:val="centerGroup"/>
                    </m:oMathParaPr>
                    <m:oMath xmlns:m="http://schemas.openxmlformats.org/officeDocument/2006/math">
                      <m:r>
                        <a:rPr lang="de-DE" b="0" i="1" smtClean="0">
                          <a:latin typeface="Cambria Math" panose="02040503050406030204" pitchFamily="18" charset="0"/>
                        </a:rPr>
                        <m:t>𝐶</m:t>
                      </m:r>
                      <m:r>
                        <a:rPr lang="de-DE" b="0" i="1" smtClean="0">
                          <a:latin typeface="Cambria Math" panose="02040503050406030204" pitchFamily="18" charset="0"/>
                        </a:rPr>
                        <m:t>=</m:t>
                      </m:r>
                      <m:f>
                        <m:fPr>
                          <m:ctrlPr>
                            <a:rPr lang="de-DE" b="0" i="1" smtClean="0">
                              <a:latin typeface="Cambria Math" panose="02040503050406030204" pitchFamily="18" charset="0"/>
                            </a:rPr>
                          </m:ctrlPr>
                        </m:fPr>
                        <m:num>
                          <m:r>
                            <a:rPr lang="de-DE" b="0" i="1" smtClean="0">
                              <a:latin typeface="Cambria Math" panose="02040503050406030204" pitchFamily="18" charset="0"/>
                            </a:rPr>
                            <m:t>1</m:t>
                          </m:r>
                        </m:num>
                        <m:den>
                          <m:r>
                            <a:rPr lang="de-DE" b="0" i="1" smtClean="0">
                              <a:latin typeface="Cambria Math" panose="02040503050406030204" pitchFamily="18" charset="0"/>
                            </a:rPr>
                            <m:t>𝑚</m:t>
                          </m:r>
                        </m:den>
                      </m:f>
                      <m:nary>
                        <m:naryPr>
                          <m:chr m:val="∑"/>
                          <m:ctrlPr>
                            <a:rPr lang="de-DE" b="0" i="1" smtClean="0">
                              <a:latin typeface="Cambria Math" panose="02040503050406030204" pitchFamily="18" charset="0"/>
                            </a:rPr>
                          </m:ctrlPr>
                        </m:naryPr>
                        <m:sub>
                          <m:r>
                            <m:rPr>
                              <m:brk m:alnAt="23"/>
                            </m:rPr>
                            <a:rPr lang="de-DE" b="0" i="1" smtClean="0">
                              <a:latin typeface="Cambria Math" panose="02040503050406030204" pitchFamily="18" charset="0"/>
                            </a:rPr>
                            <m:t>𝑖</m:t>
                          </m:r>
                          <m:r>
                            <a:rPr lang="de-DE" b="0" i="1" smtClean="0">
                              <a:latin typeface="Cambria Math" panose="02040503050406030204" pitchFamily="18" charset="0"/>
                            </a:rPr>
                            <m:t>=1</m:t>
                          </m:r>
                        </m:sub>
                        <m:sup>
                          <m:r>
                            <a:rPr lang="de-DE" b="0" i="1" smtClean="0">
                              <a:latin typeface="Cambria Math" panose="02040503050406030204" pitchFamily="18" charset="0"/>
                            </a:rPr>
                            <m:t>𝑚</m:t>
                          </m:r>
                        </m:sup>
                        <m:e>
                          <m:sSup>
                            <m:sSupPr>
                              <m:ctrlPr>
                                <a:rPr lang="de-DE" b="0" i="1" smtClean="0">
                                  <a:latin typeface="Cambria Math" panose="02040503050406030204" pitchFamily="18" charset="0"/>
                                </a:rPr>
                              </m:ctrlPr>
                            </m:sSupPr>
                            <m:e>
                              <m:d>
                                <m:dPr>
                                  <m:begChr m:val="‖"/>
                                  <m:endChr m:val="‖"/>
                                  <m:ctrlPr>
                                    <a:rPr lang="de-DE" b="0" i="1" smtClean="0">
                                      <a:latin typeface="Cambria Math" panose="02040503050406030204" pitchFamily="18" charset="0"/>
                                    </a:rPr>
                                  </m:ctrlPr>
                                </m:dPr>
                                <m:e>
                                  <m:acc>
                                    <m:accPr>
                                      <m:chr m:val="̃"/>
                                      <m:ctrlPr>
                                        <a:rPr lang="de-DE" b="0" i="1" dirty="0" smtClean="0">
                                          <a:latin typeface="Cambria Math" panose="02040503050406030204" pitchFamily="18" charset="0"/>
                                        </a:rPr>
                                      </m:ctrlPr>
                                    </m:accPr>
                                    <m:e>
                                      <m:acc>
                                        <m:accPr>
                                          <m:chr m:val="̈"/>
                                          <m:ctrlPr>
                                            <a:rPr lang="de-DE" b="0" i="1" smtClean="0">
                                              <a:latin typeface="Cambria Math" panose="02040503050406030204" pitchFamily="18" charset="0"/>
                                            </a:rPr>
                                          </m:ctrlPr>
                                        </m:accPr>
                                        <m:e>
                                          <m:r>
                                            <a:rPr lang="de-DE" b="0" i="1" smtClean="0">
                                              <a:latin typeface="Cambria Math" panose="02040503050406030204" pitchFamily="18" charset="0"/>
                                            </a:rPr>
                                            <m:t>𝑥</m:t>
                                          </m:r>
                                        </m:e>
                                      </m:acc>
                                    </m:e>
                                  </m:acc>
                                  <m:d>
                                    <m:dPr>
                                      <m:ctrlPr>
                                        <a:rPr lang="de-DE" b="0" i="1" dirty="0" smtClean="0">
                                          <a:latin typeface="Cambria Math" panose="02040503050406030204" pitchFamily="18" charset="0"/>
                                        </a:rPr>
                                      </m:ctrlPr>
                                    </m:dPr>
                                    <m:e>
                                      <m:sSub>
                                        <m:sSubPr>
                                          <m:ctrlPr>
                                            <a:rPr lang="de-DE" b="0" i="1" dirty="0" smtClean="0">
                                              <a:latin typeface="Cambria Math" panose="02040503050406030204" pitchFamily="18" charset="0"/>
                                            </a:rPr>
                                          </m:ctrlPr>
                                        </m:sSubPr>
                                        <m:e>
                                          <m:r>
                                            <a:rPr lang="de-DE" b="0" i="1" dirty="0" smtClean="0">
                                              <a:latin typeface="Cambria Math" panose="02040503050406030204" pitchFamily="18" charset="0"/>
                                            </a:rPr>
                                            <m:t>𝑡</m:t>
                                          </m:r>
                                        </m:e>
                                        <m:sub>
                                          <m:r>
                                            <a:rPr lang="de-DE" b="0" i="1" dirty="0" smtClean="0">
                                              <a:latin typeface="Cambria Math" panose="02040503050406030204" pitchFamily="18" charset="0"/>
                                            </a:rPr>
                                            <m:t>𝑖</m:t>
                                          </m:r>
                                        </m:sub>
                                      </m:sSub>
                                    </m:e>
                                  </m:d>
                                  <m:r>
                                    <a:rPr lang="de-DE" b="0" i="1" dirty="0" smtClean="0">
                                      <a:latin typeface="Cambria Math" panose="02040503050406030204" pitchFamily="18" charset="0"/>
                                    </a:rPr>
                                    <m:t>−</m:t>
                                  </m:r>
                                  <m:acc>
                                    <m:accPr>
                                      <m:chr m:val="̂"/>
                                      <m:ctrlPr>
                                        <a:rPr lang="de-DE" b="0" i="1" dirty="0" smtClean="0">
                                          <a:latin typeface="Cambria Math" panose="02040503050406030204" pitchFamily="18" charset="0"/>
                                        </a:rPr>
                                      </m:ctrlPr>
                                    </m:accPr>
                                    <m:e>
                                      <m:acc>
                                        <m:accPr>
                                          <m:chr m:val="̈"/>
                                          <m:ctrlPr>
                                            <a:rPr lang="de-DE" b="0" i="1" dirty="0" smtClean="0">
                                              <a:latin typeface="Cambria Math" panose="02040503050406030204" pitchFamily="18" charset="0"/>
                                            </a:rPr>
                                          </m:ctrlPr>
                                        </m:accPr>
                                        <m:e>
                                          <m:r>
                                            <a:rPr lang="de-DE" b="0" i="1" dirty="0" smtClean="0">
                                              <a:latin typeface="Cambria Math" panose="02040503050406030204" pitchFamily="18" charset="0"/>
                                            </a:rPr>
                                            <m:t>𝑥</m:t>
                                          </m:r>
                                        </m:e>
                                      </m:acc>
                                    </m:e>
                                  </m:acc>
                                  <m:d>
                                    <m:dPr>
                                      <m:ctrlPr>
                                        <a:rPr lang="de-DE" b="0" i="1" dirty="0" smtClean="0">
                                          <a:latin typeface="Cambria Math" panose="02040503050406030204" pitchFamily="18" charset="0"/>
                                        </a:rPr>
                                      </m:ctrlPr>
                                    </m:dPr>
                                    <m:e>
                                      <m:acc>
                                        <m:accPr>
                                          <m:chr m:val="̂"/>
                                          <m:ctrlPr>
                                            <a:rPr lang="de-DE" b="0" i="1" dirty="0" smtClean="0">
                                              <a:latin typeface="Cambria Math" panose="02040503050406030204" pitchFamily="18" charset="0"/>
                                            </a:rPr>
                                          </m:ctrlPr>
                                        </m:accPr>
                                        <m:e>
                                          <m:r>
                                            <a:rPr lang="de-DE" b="0" i="1" dirty="0" smtClean="0">
                                              <a:latin typeface="Cambria Math" panose="02040503050406030204" pitchFamily="18" charset="0"/>
                                            </a:rPr>
                                            <m:t>𝐿</m:t>
                                          </m:r>
                                        </m:e>
                                      </m:acc>
                                      <m:r>
                                        <a:rPr lang="de-DE" b="0" i="1" dirty="0" smtClean="0">
                                          <a:latin typeface="Cambria Math" panose="02040503050406030204" pitchFamily="18" charset="0"/>
                                        </a:rPr>
                                        <m:t>;</m:t>
                                      </m:r>
                                      <m:acc>
                                        <m:accPr>
                                          <m:chr m:val="̃"/>
                                          <m:ctrlPr>
                                            <a:rPr lang="de-DE" b="0" i="1" dirty="0" smtClean="0">
                                              <a:latin typeface="Cambria Math" panose="02040503050406030204" pitchFamily="18" charset="0"/>
                                            </a:rPr>
                                          </m:ctrlPr>
                                        </m:accPr>
                                        <m:e>
                                          <m:r>
                                            <a:rPr lang="de-DE" b="0" i="1" dirty="0" smtClean="0">
                                              <a:latin typeface="Cambria Math" panose="02040503050406030204" pitchFamily="18" charset="0"/>
                                            </a:rPr>
                                            <m:t>𝑥</m:t>
                                          </m:r>
                                        </m:e>
                                      </m:acc>
                                      <m:d>
                                        <m:dPr>
                                          <m:ctrlPr>
                                            <a:rPr lang="de-DE" b="0" i="1" dirty="0" smtClean="0">
                                              <a:latin typeface="Cambria Math" panose="02040503050406030204" pitchFamily="18" charset="0"/>
                                            </a:rPr>
                                          </m:ctrlPr>
                                        </m:dPr>
                                        <m:e>
                                          <m:sSub>
                                            <m:sSubPr>
                                              <m:ctrlPr>
                                                <a:rPr lang="de-DE" b="0" i="1" dirty="0" smtClean="0">
                                                  <a:latin typeface="Cambria Math" panose="02040503050406030204" pitchFamily="18" charset="0"/>
                                                </a:rPr>
                                              </m:ctrlPr>
                                            </m:sSubPr>
                                            <m:e>
                                              <m:r>
                                                <a:rPr lang="de-DE" b="0" i="1" dirty="0" smtClean="0">
                                                  <a:latin typeface="Cambria Math" panose="02040503050406030204" pitchFamily="18" charset="0"/>
                                                </a:rPr>
                                                <m:t>𝑡</m:t>
                                              </m:r>
                                            </m:e>
                                            <m:sub>
                                              <m:r>
                                                <a:rPr lang="de-DE" b="0" i="1" dirty="0" smtClean="0">
                                                  <a:latin typeface="Cambria Math" panose="02040503050406030204" pitchFamily="18" charset="0"/>
                                                </a:rPr>
                                                <m:t>𝑖</m:t>
                                              </m:r>
                                            </m:sub>
                                          </m:sSub>
                                        </m:e>
                                      </m:d>
                                      <m:r>
                                        <a:rPr lang="de-DE" b="0" i="1" dirty="0" smtClean="0">
                                          <a:latin typeface="Cambria Math" panose="02040503050406030204" pitchFamily="18" charset="0"/>
                                        </a:rPr>
                                        <m:t>,</m:t>
                                      </m:r>
                                      <m:acc>
                                        <m:accPr>
                                          <m:chr m:val="̃"/>
                                          <m:ctrlPr>
                                            <a:rPr lang="de-DE" b="0" i="1" dirty="0" smtClean="0">
                                              <a:latin typeface="Cambria Math" panose="02040503050406030204" pitchFamily="18" charset="0"/>
                                            </a:rPr>
                                          </m:ctrlPr>
                                        </m:accPr>
                                        <m:e>
                                          <m:acc>
                                            <m:accPr>
                                              <m:chr m:val="̇"/>
                                              <m:ctrlPr>
                                                <a:rPr lang="de-DE" b="0" i="1" dirty="0" smtClean="0">
                                                  <a:latin typeface="Cambria Math" panose="02040503050406030204" pitchFamily="18" charset="0"/>
                                                </a:rPr>
                                              </m:ctrlPr>
                                            </m:accPr>
                                            <m:e>
                                              <m:r>
                                                <a:rPr lang="de-DE" b="0" i="1" dirty="0" smtClean="0">
                                                  <a:latin typeface="Cambria Math" panose="02040503050406030204" pitchFamily="18" charset="0"/>
                                                </a:rPr>
                                                <m:t>𝑥</m:t>
                                              </m:r>
                                            </m:e>
                                          </m:acc>
                                        </m:e>
                                      </m:acc>
                                      <m:d>
                                        <m:dPr>
                                          <m:ctrlPr>
                                            <a:rPr lang="de-DE" b="0" i="1" dirty="0" smtClean="0">
                                              <a:latin typeface="Cambria Math" panose="02040503050406030204" pitchFamily="18" charset="0"/>
                                            </a:rPr>
                                          </m:ctrlPr>
                                        </m:dPr>
                                        <m:e>
                                          <m:sSub>
                                            <m:sSubPr>
                                              <m:ctrlPr>
                                                <a:rPr lang="de-DE" b="0" i="1" dirty="0" smtClean="0">
                                                  <a:latin typeface="Cambria Math" panose="02040503050406030204" pitchFamily="18" charset="0"/>
                                                </a:rPr>
                                              </m:ctrlPr>
                                            </m:sSubPr>
                                            <m:e>
                                              <m:r>
                                                <a:rPr lang="de-DE" b="0" i="1" dirty="0" smtClean="0">
                                                  <a:latin typeface="Cambria Math" panose="02040503050406030204" pitchFamily="18" charset="0"/>
                                                </a:rPr>
                                                <m:t>𝑡</m:t>
                                              </m:r>
                                            </m:e>
                                            <m:sub>
                                              <m:r>
                                                <a:rPr lang="de-DE" b="0" i="1" dirty="0" smtClean="0">
                                                  <a:latin typeface="Cambria Math" panose="02040503050406030204" pitchFamily="18" charset="0"/>
                                                </a:rPr>
                                                <m:t>𝑖</m:t>
                                              </m:r>
                                            </m:sub>
                                          </m:sSub>
                                        </m:e>
                                      </m:d>
                                    </m:e>
                                  </m:d>
                                </m:e>
                              </m:d>
                            </m:e>
                            <m:sup>
                              <m:r>
                                <a:rPr lang="de-DE" b="0" i="1" smtClean="0">
                                  <a:latin typeface="Cambria Math" panose="02040503050406030204" pitchFamily="18" charset="0"/>
                                </a:rPr>
                                <m:t>2</m:t>
                              </m:r>
                            </m:sup>
                          </m:sSup>
                        </m:e>
                      </m:nary>
                    </m:oMath>
                  </m:oMathPara>
                </a14:m>
                <a:endParaRPr lang="en-US" dirty="0"/>
              </a:p>
            </p:txBody>
          </p:sp>
        </mc:Choice>
        <mc:Fallback xmlns="">
          <p:sp>
            <p:nvSpPr>
              <p:cNvPr id="2" name="Content Placeholder 1">
                <a:extLst>
                  <a:ext uri="{FF2B5EF4-FFF2-40B4-BE49-F238E27FC236}">
                    <a16:creationId xmlns:a16="http://schemas.microsoft.com/office/drawing/2014/main" id="{286EC8F5-1745-42E2-961E-41B7AFCCAD9C}"/>
                  </a:ext>
                </a:extLst>
              </p:cNvPr>
              <p:cNvSpPr>
                <a:spLocks noGrp="1" noRot="1" noChangeAspect="1" noMove="1" noResize="1" noEditPoints="1" noAdjustHandles="1" noChangeArrowheads="1" noChangeShapeType="1" noTextEdit="1"/>
              </p:cNvSpPr>
              <p:nvPr>
                <p:ph idx="1"/>
              </p:nvPr>
            </p:nvSpPr>
            <p:spPr>
              <a:blipFill>
                <a:blip r:embed="rId3"/>
                <a:stretch>
                  <a:fillRect l="-1289"/>
                </a:stretch>
              </a:blipFill>
            </p:spPr>
            <p:txBody>
              <a:bodyPr/>
              <a:lstStyle/>
              <a:p>
                <a:r>
                  <a:rPr lang="en-US">
                    <a:noFill/>
                  </a:rPr>
                  <a:t> </a:t>
                </a:r>
              </a:p>
            </p:txBody>
          </p:sp>
        </mc:Fallback>
      </mc:AlternateContent>
      <p:sp>
        <p:nvSpPr>
          <p:cNvPr id="3" name="Title 2">
            <a:extLst>
              <a:ext uri="{FF2B5EF4-FFF2-40B4-BE49-F238E27FC236}">
                <a16:creationId xmlns:a16="http://schemas.microsoft.com/office/drawing/2014/main" id="{51C2B7C2-4FF2-948E-26B6-1F5883CB5493}"/>
              </a:ext>
            </a:extLst>
          </p:cNvPr>
          <p:cNvSpPr>
            <a:spLocks noGrp="1"/>
          </p:cNvSpPr>
          <p:nvPr>
            <p:ph type="title"/>
          </p:nvPr>
        </p:nvSpPr>
        <p:spPr/>
        <p:txBody>
          <a:bodyPr/>
          <a:lstStyle/>
          <a:p>
            <a:r>
              <a:rPr lang="de-DE" dirty="0"/>
              <a:t>3.9.8.5 </a:t>
            </a:r>
            <a:r>
              <a:rPr lang="de-DE" dirty="0" err="1"/>
              <a:t>Lagrangian</a:t>
            </a:r>
            <a:r>
              <a:rPr lang="de-DE" dirty="0"/>
              <a:t> </a:t>
            </a:r>
            <a:r>
              <a:rPr lang="de-DE" dirty="0" err="1"/>
              <a:t>Neural</a:t>
            </a:r>
            <a:r>
              <a:rPr lang="de-DE" dirty="0"/>
              <a:t> Networks</a:t>
            </a:r>
            <a:endParaRPr lang="en-US" dirty="0"/>
          </a:p>
        </p:txBody>
      </p:sp>
      <p:sp>
        <p:nvSpPr>
          <p:cNvPr id="4" name="Slide Number Placeholder 3">
            <a:extLst>
              <a:ext uri="{FF2B5EF4-FFF2-40B4-BE49-F238E27FC236}">
                <a16:creationId xmlns:a16="http://schemas.microsoft.com/office/drawing/2014/main" id="{45F1E1B4-F573-23E4-C932-82AE041EE7B2}"/>
              </a:ext>
            </a:extLst>
          </p:cNvPr>
          <p:cNvSpPr>
            <a:spLocks noGrp="1"/>
          </p:cNvSpPr>
          <p:nvPr>
            <p:ph type="sldNum" sz="quarter" idx="11"/>
          </p:nvPr>
        </p:nvSpPr>
        <p:spPr/>
        <p:txBody>
          <a:bodyPr/>
          <a:lstStyle/>
          <a:p>
            <a:fld id="{CE58CB1E-F828-4F11-99E0-327109AF9DA4}" type="slidenum">
              <a:rPr lang="de-DE" smtClean="0"/>
              <a:pPr/>
              <a:t>43</a:t>
            </a:fld>
            <a:endParaRPr lang="de-DE"/>
          </a:p>
        </p:txBody>
      </p:sp>
      <p:sp>
        <p:nvSpPr>
          <p:cNvPr id="5" name="Footer Placeholder 4">
            <a:extLst>
              <a:ext uri="{FF2B5EF4-FFF2-40B4-BE49-F238E27FC236}">
                <a16:creationId xmlns:a16="http://schemas.microsoft.com/office/drawing/2014/main" id="{7021DD14-A88B-369E-B94C-5D997C70B226}"/>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pic>
        <p:nvPicPr>
          <p:cNvPr id="6" name="Picture 5">
            <a:extLst>
              <a:ext uri="{FF2B5EF4-FFF2-40B4-BE49-F238E27FC236}">
                <a16:creationId xmlns:a16="http://schemas.microsoft.com/office/drawing/2014/main" id="{5BCD17FF-1A8B-0287-8837-A617257DF223}"/>
              </a:ext>
            </a:extLst>
          </p:cNvPr>
          <p:cNvPicPr>
            <a:picLocks noChangeAspect="1"/>
          </p:cNvPicPr>
          <p:nvPr/>
        </p:nvPicPr>
        <p:blipFill>
          <a:blip r:embed="rId4"/>
          <a:stretch>
            <a:fillRect/>
          </a:stretch>
        </p:blipFill>
        <p:spPr>
          <a:xfrm>
            <a:off x="6945057" y="491898"/>
            <a:ext cx="2198943" cy="1450821"/>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4BA578F-9AF2-C19F-7692-876D26EFFB95}"/>
                  </a:ext>
                </a:extLst>
              </p:cNvPr>
              <p:cNvSpPr txBox="1"/>
              <p:nvPr/>
            </p:nvSpPr>
            <p:spPr>
              <a:xfrm>
                <a:off x="618493" y="3198528"/>
                <a:ext cx="2468007" cy="530402"/>
              </a:xfrm>
              <a:prstGeom prst="rect">
                <a:avLst/>
              </a:prstGeom>
              <a:solidFill>
                <a:schemeClr val="accent6"/>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de-DE" sz="1400" i="1">
                              <a:latin typeface="Cambria Math" panose="02040503050406030204" pitchFamily="18" charset="0"/>
                            </a:rPr>
                          </m:ctrlPr>
                        </m:accPr>
                        <m:e>
                          <m:r>
                            <a:rPr lang="de-DE" sz="1400" i="1">
                              <a:latin typeface="Cambria Math" panose="02040503050406030204" pitchFamily="18" charset="0"/>
                            </a:rPr>
                            <m:t>𝑥</m:t>
                          </m:r>
                        </m:e>
                      </m:acc>
                      <m:r>
                        <a:rPr lang="de-DE" sz="1400" i="1" dirty="0">
                          <a:latin typeface="Cambria Math" panose="02040503050406030204" pitchFamily="18" charset="0"/>
                        </a:rPr>
                        <m:t>=</m:t>
                      </m:r>
                      <m:sSup>
                        <m:sSupPr>
                          <m:ctrlPr>
                            <a:rPr lang="de-DE" sz="1400" i="1" dirty="0">
                              <a:latin typeface="Cambria Math" panose="02040503050406030204" pitchFamily="18" charset="0"/>
                            </a:rPr>
                          </m:ctrlPr>
                        </m:sSupPr>
                        <m:e>
                          <m:d>
                            <m:dPr>
                              <m:ctrlPr>
                                <a:rPr lang="de-DE" sz="1400" i="1" dirty="0">
                                  <a:latin typeface="Cambria Math" panose="02040503050406030204" pitchFamily="18" charset="0"/>
                                </a:rPr>
                              </m:ctrlPr>
                            </m:dPr>
                            <m:e>
                              <m:f>
                                <m:fPr>
                                  <m:ctrlPr>
                                    <a:rPr lang="de-DE" sz="1400" i="1" dirty="0">
                                      <a:latin typeface="Cambria Math" panose="02040503050406030204" pitchFamily="18" charset="0"/>
                                    </a:rPr>
                                  </m:ctrlPr>
                                </m:fPr>
                                <m:num>
                                  <m:sSup>
                                    <m:sSupPr>
                                      <m:ctrlPr>
                                        <a:rPr lang="de-DE" sz="1400" i="1" dirty="0">
                                          <a:latin typeface="Cambria Math" panose="02040503050406030204" pitchFamily="18" charset="0"/>
                                        </a:rPr>
                                      </m:ctrlPr>
                                    </m:sSupPr>
                                    <m:e>
                                      <m:r>
                                        <a:rPr lang="de-DE" sz="1400" i="1" dirty="0">
                                          <a:latin typeface="Cambria Math" panose="02040503050406030204" pitchFamily="18" charset="0"/>
                                        </a:rPr>
                                        <m:t>𝜕</m:t>
                                      </m:r>
                                    </m:e>
                                    <m:sup>
                                      <m:r>
                                        <a:rPr lang="de-DE" sz="1400" i="1" dirty="0">
                                          <a:latin typeface="Cambria Math" panose="02040503050406030204" pitchFamily="18" charset="0"/>
                                        </a:rPr>
                                        <m:t>2</m:t>
                                      </m:r>
                                    </m:sup>
                                  </m:sSup>
                                  <m:r>
                                    <a:rPr lang="de-DE" sz="1400" i="1" dirty="0">
                                      <a:latin typeface="Cambria Math" panose="02040503050406030204" pitchFamily="18" charset="0"/>
                                    </a:rPr>
                                    <m:t>𝐿</m:t>
                                  </m:r>
                                </m:num>
                                <m:den>
                                  <m:r>
                                    <a:rPr lang="de-DE" sz="1400" i="1" dirty="0">
                                      <a:latin typeface="Cambria Math" panose="02040503050406030204" pitchFamily="18" charset="0"/>
                                    </a:rPr>
                                    <m:t>𝜕</m:t>
                                  </m:r>
                                  <m:sSup>
                                    <m:sSupPr>
                                      <m:ctrlPr>
                                        <a:rPr lang="de-DE" sz="1400" i="1" dirty="0">
                                          <a:latin typeface="Cambria Math" panose="02040503050406030204" pitchFamily="18" charset="0"/>
                                        </a:rPr>
                                      </m:ctrlPr>
                                    </m:sSupPr>
                                    <m:e>
                                      <m:acc>
                                        <m:accPr>
                                          <m:chr m:val="̇"/>
                                          <m:ctrlPr>
                                            <a:rPr lang="de-DE" sz="1400" i="1" dirty="0">
                                              <a:latin typeface="Cambria Math" panose="02040503050406030204" pitchFamily="18" charset="0"/>
                                            </a:rPr>
                                          </m:ctrlPr>
                                        </m:accPr>
                                        <m:e>
                                          <m:r>
                                            <a:rPr lang="de-DE" sz="1400" i="1" dirty="0">
                                              <a:latin typeface="Cambria Math" panose="02040503050406030204" pitchFamily="18" charset="0"/>
                                            </a:rPr>
                                            <m:t>𝑥</m:t>
                                          </m:r>
                                        </m:e>
                                      </m:acc>
                                    </m:e>
                                    <m:sup>
                                      <m:r>
                                        <a:rPr lang="de-DE" sz="1400" i="1" dirty="0">
                                          <a:latin typeface="Cambria Math" panose="02040503050406030204" pitchFamily="18" charset="0"/>
                                        </a:rPr>
                                        <m:t>2</m:t>
                                      </m:r>
                                    </m:sup>
                                  </m:sSup>
                                </m:den>
                              </m:f>
                            </m:e>
                          </m:d>
                        </m:e>
                        <m:sup>
                          <m:r>
                            <a:rPr lang="de-DE" sz="1400" i="1" dirty="0">
                              <a:latin typeface="Cambria Math" panose="02040503050406030204" pitchFamily="18" charset="0"/>
                            </a:rPr>
                            <m:t>−1</m:t>
                          </m:r>
                        </m:sup>
                      </m:sSup>
                      <m:d>
                        <m:dPr>
                          <m:ctrlPr>
                            <a:rPr lang="de-DE" sz="1400" i="1" dirty="0">
                              <a:latin typeface="Cambria Math" panose="02040503050406030204" pitchFamily="18" charset="0"/>
                            </a:rPr>
                          </m:ctrlPr>
                        </m:dPr>
                        <m:e>
                          <m:f>
                            <m:fPr>
                              <m:ctrlPr>
                                <a:rPr lang="de-DE" sz="1400" i="1" dirty="0">
                                  <a:latin typeface="Cambria Math" panose="02040503050406030204" pitchFamily="18" charset="0"/>
                                </a:rPr>
                              </m:ctrlPr>
                            </m:fPr>
                            <m:num>
                              <m:r>
                                <a:rPr lang="de-DE" sz="1400" i="1" dirty="0">
                                  <a:latin typeface="Cambria Math" panose="02040503050406030204" pitchFamily="18" charset="0"/>
                                </a:rPr>
                                <m:t>𝜕</m:t>
                              </m:r>
                              <m:r>
                                <a:rPr lang="de-DE" sz="1400" i="1" dirty="0">
                                  <a:latin typeface="Cambria Math" panose="02040503050406030204" pitchFamily="18" charset="0"/>
                                </a:rPr>
                                <m:t>𝐿</m:t>
                              </m:r>
                            </m:num>
                            <m:den>
                              <m:r>
                                <a:rPr lang="de-DE" sz="1400" i="1" dirty="0">
                                  <a:latin typeface="Cambria Math" panose="02040503050406030204" pitchFamily="18" charset="0"/>
                                </a:rPr>
                                <m:t>𝜕</m:t>
                              </m:r>
                              <m:r>
                                <a:rPr lang="de-DE" sz="1400" i="1" dirty="0">
                                  <a:latin typeface="Cambria Math" panose="02040503050406030204" pitchFamily="18" charset="0"/>
                                </a:rPr>
                                <m:t>𝑥</m:t>
                              </m:r>
                            </m:den>
                          </m:f>
                          <m:r>
                            <a:rPr lang="de-DE" sz="1400" i="1" dirty="0">
                              <a:latin typeface="Cambria Math" panose="02040503050406030204" pitchFamily="18" charset="0"/>
                            </a:rPr>
                            <m:t>−</m:t>
                          </m:r>
                          <m:f>
                            <m:fPr>
                              <m:ctrlPr>
                                <a:rPr lang="de-DE" sz="1400" i="1" dirty="0">
                                  <a:latin typeface="Cambria Math" panose="02040503050406030204" pitchFamily="18" charset="0"/>
                                </a:rPr>
                              </m:ctrlPr>
                            </m:fPr>
                            <m:num>
                              <m:sSup>
                                <m:sSupPr>
                                  <m:ctrlPr>
                                    <a:rPr lang="de-DE" sz="1400" i="1" dirty="0">
                                      <a:latin typeface="Cambria Math" panose="02040503050406030204" pitchFamily="18" charset="0"/>
                                    </a:rPr>
                                  </m:ctrlPr>
                                </m:sSupPr>
                                <m:e>
                                  <m:r>
                                    <a:rPr lang="de-DE" sz="1400" i="1" dirty="0">
                                      <a:latin typeface="Cambria Math" panose="02040503050406030204" pitchFamily="18" charset="0"/>
                                    </a:rPr>
                                    <m:t>𝜕</m:t>
                                  </m:r>
                                </m:e>
                                <m:sup>
                                  <m:r>
                                    <a:rPr lang="de-DE" sz="1400" i="1" dirty="0">
                                      <a:latin typeface="Cambria Math" panose="02040503050406030204" pitchFamily="18" charset="0"/>
                                    </a:rPr>
                                    <m:t>2</m:t>
                                  </m:r>
                                </m:sup>
                              </m:sSup>
                              <m:r>
                                <a:rPr lang="de-DE" sz="1400" i="1" dirty="0">
                                  <a:latin typeface="Cambria Math" panose="02040503050406030204" pitchFamily="18" charset="0"/>
                                </a:rPr>
                                <m:t>𝐿</m:t>
                              </m:r>
                            </m:num>
                            <m:den>
                              <m:r>
                                <a:rPr lang="de-DE" sz="1400" i="1" dirty="0">
                                  <a:latin typeface="Cambria Math" panose="02040503050406030204" pitchFamily="18" charset="0"/>
                                </a:rPr>
                                <m:t>𝜕</m:t>
                              </m:r>
                              <m:r>
                                <a:rPr lang="de-DE" sz="1400" i="1" dirty="0">
                                  <a:latin typeface="Cambria Math" panose="02040503050406030204" pitchFamily="18" charset="0"/>
                                </a:rPr>
                                <m:t>𝑥</m:t>
                              </m:r>
                              <m:r>
                                <a:rPr lang="de-DE" sz="1400" i="1" dirty="0">
                                  <a:latin typeface="Cambria Math" panose="02040503050406030204" pitchFamily="18" charset="0"/>
                                </a:rPr>
                                <m:t>𝜕</m:t>
                              </m:r>
                              <m:acc>
                                <m:accPr>
                                  <m:chr m:val="̇"/>
                                  <m:ctrlPr>
                                    <a:rPr lang="de-DE" sz="1400" i="1" dirty="0">
                                      <a:latin typeface="Cambria Math" panose="02040503050406030204" pitchFamily="18" charset="0"/>
                                    </a:rPr>
                                  </m:ctrlPr>
                                </m:accPr>
                                <m:e>
                                  <m:r>
                                    <a:rPr lang="de-DE" sz="1400" i="1" dirty="0">
                                      <a:latin typeface="Cambria Math" panose="02040503050406030204" pitchFamily="18" charset="0"/>
                                    </a:rPr>
                                    <m:t>𝑥</m:t>
                                  </m:r>
                                </m:e>
                              </m:acc>
                            </m:den>
                          </m:f>
                          <m:acc>
                            <m:accPr>
                              <m:chr m:val="̇"/>
                              <m:ctrlPr>
                                <a:rPr lang="de-DE" sz="1400" i="1" dirty="0">
                                  <a:latin typeface="Cambria Math" panose="02040503050406030204" pitchFamily="18" charset="0"/>
                                </a:rPr>
                              </m:ctrlPr>
                            </m:accPr>
                            <m:e>
                              <m:r>
                                <a:rPr lang="de-DE" sz="1400" i="1" dirty="0">
                                  <a:latin typeface="Cambria Math" panose="02040503050406030204" pitchFamily="18" charset="0"/>
                                </a:rPr>
                                <m:t>𝑥</m:t>
                              </m:r>
                            </m:e>
                          </m:acc>
                        </m:e>
                      </m:d>
                    </m:oMath>
                  </m:oMathPara>
                </a14:m>
                <a:endParaRPr lang="en-US" sz="1400" dirty="0"/>
              </a:p>
            </p:txBody>
          </p:sp>
        </mc:Choice>
        <mc:Fallback xmlns="">
          <p:sp>
            <p:nvSpPr>
              <p:cNvPr id="7" name="TextBox 6">
                <a:extLst>
                  <a:ext uri="{FF2B5EF4-FFF2-40B4-BE49-F238E27FC236}">
                    <a16:creationId xmlns:a16="http://schemas.microsoft.com/office/drawing/2014/main" id="{E4BA578F-9AF2-C19F-7692-876D26EFFB95}"/>
                  </a:ext>
                </a:extLst>
              </p:cNvPr>
              <p:cNvSpPr txBox="1">
                <a:spLocks noRot="1" noChangeAspect="1" noMove="1" noResize="1" noEditPoints="1" noAdjustHandles="1" noChangeArrowheads="1" noChangeShapeType="1" noTextEdit="1"/>
              </p:cNvSpPr>
              <p:nvPr/>
            </p:nvSpPr>
            <p:spPr>
              <a:xfrm>
                <a:off x="618493" y="3198528"/>
                <a:ext cx="2468007" cy="53040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6">
                <a:extLst>
                  <a:ext uri="{FF2B5EF4-FFF2-40B4-BE49-F238E27FC236}">
                    <a16:creationId xmlns:a16="http://schemas.microsoft.com/office/drawing/2014/main" id="{6F4986EE-CB5C-482B-905A-057B53F74A92}"/>
                  </a:ext>
                </a:extLst>
              </p:cNvPr>
              <p:cNvSpPr txBox="1"/>
              <p:nvPr/>
            </p:nvSpPr>
            <p:spPr>
              <a:xfrm>
                <a:off x="618493" y="1725078"/>
                <a:ext cx="989327" cy="409664"/>
              </a:xfrm>
              <a:prstGeom prst="rect">
                <a:avLst/>
              </a:prstGeom>
              <a:solidFill>
                <a:schemeClr val="accent6"/>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ctrlPr>
                            <a:rPr lang="de-DE" sz="1400" b="0" i="1" smtClean="0">
                              <a:latin typeface="Cambria Math" panose="02040503050406030204" pitchFamily="18" charset="0"/>
                            </a:rPr>
                          </m:ctrlPr>
                        </m:fPr>
                        <m:num>
                          <m:r>
                            <a:rPr lang="de-DE" sz="1400" b="0" i="1" smtClean="0">
                              <a:latin typeface="Cambria Math" panose="02040503050406030204" pitchFamily="18" charset="0"/>
                            </a:rPr>
                            <m:t>𝑑</m:t>
                          </m:r>
                        </m:num>
                        <m:den>
                          <m:r>
                            <a:rPr lang="de-DE" sz="1400" b="0" i="1" smtClean="0">
                              <a:latin typeface="Cambria Math" panose="02040503050406030204" pitchFamily="18" charset="0"/>
                            </a:rPr>
                            <m:t>𝑑𝑡</m:t>
                          </m:r>
                        </m:den>
                      </m:f>
                      <m:f>
                        <m:fPr>
                          <m:ctrlPr>
                            <a:rPr lang="de-DE" sz="1400" b="0" i="1" smtClean="0">
                              <a:latin typeface="Cambria Math" panose="02040503050406030204" pitchFamily="18" charset="0"/>
                            </a:rPr>
                          </m:ctrlPr>
                        </m:fPr>
                        <m:num>
                          <m:r>
                            <a:rPr lang="de-DE" sz="1400" b="0" i="1" smtClean="0">
                              <a:latin typeface="Cambria Math" panose="02040503050406030204" pitchFamily="18" charset="0"/>
                            </a:rPr>
                            <m:t>𝜕</m:t>
                          </m:r>
                          <m:r>
                            <a:rPr lang="de-DE" sz="1400" b="0" i="1" smtClean="0">
                              <a:latin typeface="Cambria Math" panose="02040503050406030204" pitchFamily="18" charset="0"/>
                            </a:rPr>
                            <m:t>𝐿</m:t>
                          </m:r>
                        </m:num>
                        <m:den>
                          <m:r>
                            <a:rPr lang="de-DE" sz="1400" i="1">
                              <a:latin typeface="Cambria Math" panose="02040503050406030204" pitchFamily="18" charset="0"/>
                            </a:rPr>
                            <m:t>𝜕</m:t>
                          </m:r>
                          <m:acc>
                            <m:accPr>
                              <m:chr m:val="̇"/>
                              <m:ctrlPr>
                                <a:rPr lang="de-DE" sz="1400" b="0" i="1" smtClean="0">
                                  <a:latin typeface="Cambria Math" panose="02040503050406030204" pitchFamily="18" charset="0"/>
                                </a:rPr>
                              </m:ctrlPr>
                            </m:accPr>
                            <m:e>
                              <m:r>
                                <a:rPr lang="de-DE" sz="1400" b="0" i="1" smtClean="0">
                                  <a:latin typeface="Cambria Math" panose="02040503050406030204" pitchFamily="18" charset="0"/>
                                </a:rPr>
                                <m:t>𝑥</m:t>
                              </m:r>
                            </m:e>
                          </m:acc>
                        </m:den>
                      </m:f>
                      <m:r>
                        <a:rPr lang="de-DE" sz="1400" b="0" i="1" smtClean="0">
                          <a:latin typeface="Cambria Math" panose="02040503050406030204" pitchFamily="18" charset="0"/>
                        </a:rPr>
                        <m:t>=</m:t>
                      </m:r>
                      <m:f>
                        <m:fPr>
                          <m:ctrlPr>
                            <a:rPr lang="de-DE" sz="1400" b="0" i="1" smtClean="0">
                              <a:latin typeface="Cambria Math" panose="02040503050406030204" pitchFamily="18" charset="0"/>
                            </a:rPr>
                          </m:ctrlPr>
                        </m:fPr>
                        <m:num>
                          <m:r>
                            <a:rPr lang="de-DE" sz="1400" b="0" i="1" smtClean="0">
                              <a:latin typeface="Cambria Math" panose="02040503050406030204" pitchFamily="18" charset="0"/>
                            </a:rPr>
                            <m:t>𝜕</m:t>
                          </m:r>
                          <m:r>
                            <a:rPr lang="de-DE" sz="1400" b="0" i="1" smtClean="0">
                              <a:latin typeface="Cambria Math" panose="02040503050406030204" pitchFamily="18" charset="0"/>
                            </a:rPr>
                            <m:t>𝐿</m:t>
                          </m:r>
                        </m:num>
                        <m:den>
                          <m:r>
                            <a:rPr lang="de-DE" sz="1400" b="0" i="1" smtClean="0">
                              <a:latin typeface="Cambria Math" panose="02040503050406030204" pitchFamily="18" charset="0"/>
                            </a:rPr>
                            <m:t>𝜕</m:t>
                          </m:r>
                          <m:r>
                            <a:rPr lang="de-DE" sz="1400" b="0" i="1" smtClean="0">
                              <a:latin typeface="Cambria Math" panose="02040503050406030204" pitchFamily="18" charset="0"/>
                            </a:rPr>
                            <m:t>𝑥</m:t>
                          </m:r>
                        </m:den>
                      </m:f>
                    </m:oMath>
                  </m:oMathPara>
                </a14:m>
                <a:endParaRPr lang="en-US" sz="1400" dirty="0"/>
              </a:p>
            </p:txBody>
          </p:sp>
        </mc:Choice>
        <mc:Fallback xmlns="">
          <p:sp>
            <p:nvSpPr>
              <p:cNvPr id="8" name="TextBox 6">
                <a:extLst>
                  <a:ext uri="{FF2B5EF4-FFF2-40B4-BE49-F238E27FC236}">
                    <a16:creationId xmlns:a16="http://schemas.microsoft.com/office/drawing/2014/main" id="{6F4986EE-CB5C-482B-905A-057B53F74A92}"/>
                  </a:ext>
                </a:extLst>
              </p:cNvPr>
              <p:cNvSpPr txBox="1">
                <a:spLocks noRot="1" noChangeAspect="1" noMove="1" noResize="1" noEditPoints="1" noAdjustHandles="1" noChangeArrowheads="1" noChangeShapeType="1" noTextEdit="1"/>
              </p:cNvSpPr>
              <p:nvPr/>
            </p:nvSpPr>
            <p:spPr>
              <a:xfrm>
                <a:off x="618493" y="1725078"/>
                <a:ext cx="989327" cy="409664"/>
              </a:xfrm>
              <a:prstGeom prst="rect">
                <a:avLst/>
              </a:prstGeom>
              <a:blipFill>
                <a:blip r:embed="rId6"/>
                <a:stretch>
                  <a:fillRect t="-1493" b="-13433"/>
                </a:stretch>
              </a:blipFill>
            </p:spPr>
            <p:txBody>
              <a:bodyPr/>
              <a:lstStyle/>
              <a:p>
                <a:r>
                  <a:rPr lang="en-US">
                    <a:noFill/>
                  </a:rPr>
                  <a:t> </a:t>
                </a:r>
              </a:p>
            </p:txBody>
          </p:sp>
        </mc:Fallback>
      </mc:AlternateContent>
    </p:spTree>
    <p:extLst>
      <p:ext uri="{BB962C8B-B14F-4D97-AF65-F5344CB8AC3E}">
        <p14:creationId xmlns:p14="http://schemas.microsoft.com/office/powerpoint/2010/main" val="1294699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DA9525-429E-AF90-74D4-228E3A20577E}"/>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962A237C-164A-6EAE-2CD3-1A0AD6D50534}"/>
              </a:ext>
            </a:extLst>
          </p:cNvPr>
          <p:cNvPicPr>
            <a:picLocks noChangeAspect="1"/>
          </p:cNvPicPr>
          <p:nvPr/>
        </p:nvPicPr>
        <p:blipFill>
          <a:blip r:embed="rId2"/>
          <a:stretch>
            <a:fillRect/>
          </a:stretch>
        </p:blipFill>
        <p:spPr>
          <a:xfrm>
            <a:off x="2609767" y="764560"/>
            <a:ext cx="6220671" cy="2059416"/>
          </a:xfrm>
          <a:prstGeom prst="rect">
            <a:avLst/>
          </a:prstGeom>
        </p:spPr>
      </p:pic>
      <p:sp>
        <p:nvSpPr>
          <p:cNvPr id="2" name="Content Placeholder 1">
            <a:extLst>
              <a:ext uri="{FF2B5EF4-FFF2-40B4-BE49-F238E27FC236}">
                <a16:creationId xmlns:a16="http://schemas.microsoft.com/office/drawing/2014/main" id="{C83C0F7F-3530-A26E-80DE-BA4A5596A1B7}"/>
              </a:ext>
            </a:extLst>
          </p:cNvPr>
          <p:cNvSpPr>
            <a:spLocks noGrp="1"/>
          </p:cNvSpPr>
          <p:nvPr>
            <p:ph idx="1"/>
          </p:nvPr>
        </p:nvSpPr>
        <p:spPr/>
        <p:txBody>
          <a:bodyPr/>
          <a:lstStyle/>
          <a:p>
            <a:r>
              <a:rPr lang="de-DE" dirty="0"/>
              <a:t> </a:t>
            </a:r>
            <a:endParaRPr lang="en-US" dirty="0"/>
          </a:p>
        </p:txBody>
      </p:sp>
      <p:sp>
        <p:nvSpPr>
          <p:cNvPr id="3" name="Title 2">
            <a:extLst>
              <a:ext uri="{FF2B5EF4-FFF2-40B4-BE49-F238E27FC236}">
                <a16:creationId xmlns:a16="http://schemas.microsoft.com/office/drawing/2014/main" id="{F8AF23F9-3B2F-EAC0-7CE5-B397C20D380D}"/>
              </a:ext>
            </a:extLst>
          </p:cNvPr>
          <p:cNvSpPr>
            <a:spLocks noGrp="1"/>
          </p:cNvSpPr>
          <p:nvPr>
            <p:ph type="title"/>
          </p:nvPr>
        </p:nvSpPr>
        <p:spPr/>
        <p:txBody>
          <a:bodyPr/>
          <a:lstStyle/>
          <a:p>
            <a:r>
              <a:rPr lang="de-DE" dirty="0"/>
              <a:t>3.9.8.5 </a:t>
            </a:r>
            <a:r>
              <a:rPr lang="de-DE" dirty="0" err="1"/>
              <a:t>Lagrangian</a:t>
            </a:r>
            <a:r>
              <a:rPr lang="de-DE" dirty="0"/>
              <a:t> </a:t>
            </a:r>
            <a:r>
              <a:rPr lang="de-DE" dirty="0" err="1"/>
              <a:t>Neural</a:t>
            </a:r>
            <a:r>
              <a:rPr lang="de-DE" dirty="0"/>
              <a:t> Networks - </a:t>
            </a:r>
            <a:r>
              <a:rPr lang="de-DE" dirty="0" err="1"/>
              <a:t>Results</a:t>
            </a:r>
            <a:endParaRPr lang="en-US" dirty="0"/>
          </a:p>
        </p:txBody>
      </p:sp>
      <p:sp>
        <p:nvSpPr>
          <p:cNvPr id="4" name="Slide Number Placeholder 3">
            <a:extLst>
              <a:ext uri="{FF2B5EF4-FFF2-40B4-BE49-F238E27FC236}">
                <a16:creationId xmlns:a16="http://schemas.microsoft.com/office/drawing/2014/main" id="{6743F6B6-B8B3-E170-44EE-02AF8695E597}"/>
              </a:ext>
            </a:extLst>
          </p:cNvPr>
          <p:cNvSpPr>
            <a:spLocks noGrp="1"/>
          </p:cNvSpPr>
          <p:nvPr>
            <p:ph type="sldNum" sz="quarter" idx="11"/>
          </p:nvPr>
        </p:nvSpPr>
        <p:spPr/>
        <p:txBody>
          <a:bodyPr/>
          <a:lstStyle/>
          <a:p>
            <a:fld id="{CE58CB1E-F828-4F11-99E0-327109AF9DA4}" type="slidenum">
              <a:rPr lang="de-DE" smtClean="0"/>
              <a:pPr/>
              <a:t>44</a:t>
            </a:fld>
            <a:endParaRPr lang="de-DE"/>
          </a:p>
        </p:txBody>
      </p:sp>
      <p:sp>
        <p:nvSpPr>
          <p:cNvPr id="5" name="Footer Placeholder 4">
            <a:extLst>
              <a:ext uri="{FF2B5EF4-FFF2-40B4-BE49-F238E27FC236}">
                <a16:creationId xmlns:a16="http://schemas.microsoft.com/office/drawing/2014/main" id="{9CC67CA4-2920-21EE-DF88-2F5232CE2E61}"/>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pic>
        <p:nvPicPr>
          <p:cNvPr id="7" name="Picture 6">
            <a:extLst>
              <a:ext uri="{FF2B5EF4-FFF2-40B4-BE49-F238E27FC236}">
                <a16:creationId xmlns:a16="http://schemas.microsoft.com/office/drawing/2014/main" id="{971D82C2-F236-B91E-7A61-29DDEA384DA7}"/>
              </a:ext>
            </a:extLst>
          </p:cNvPr>
          <p:cNvPicPr>
            <a:picLocks noChangeAspect="1"/>
          </p:cNvPicPr>
          <p:nvPr/>
        </p:nvPicPr>
        <p:blipFill>
          <a:blip r:embed="rId3"/>
          <a:srcRect t="53356"/>
          <a:stretch/>
        </p:blipFill>
        <p:spPr>
          <a:xfrm>
            <a:off x="2467227" y="2845169"/>
            <a:ext cx="6355334" cy="1988622"/>
          </a:xfrm>
          <a:prstGeom prst="rect">
            <a:avLst/>
          </a:prstGeom>
        </p:spPr>
      </p:pic>
      <p:sp>
        <p:nvSpPr>
          <p:cNvPr id="8" name="Rectangle 7">
            <a:extLst>
              <a:ext uri="{FF2B5EF4-FFF2-40B4-BE49-F238E27FC236}">
                <a16:creationId xmlns:a16="http://schemas.microsoft.com/office/drawing/2014/main" id="{8D2EE556-9080-1577-00D3-F9412FACF65D}"/>
              </a:ext>
            </a:extLst>
          </p:cNvPr>
          <p:cNvSpPr/>
          <p:nvPr/>
        </p:nvSpPr>
        <p:spPr>
          <a:xfrm>
            <a:off x="2478888" y="2636044"/>
            <a:ext cx="5836444" cy="2786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en-US" dirty="0"/>
          </a:p>
        </p:txBody>
      </p:sp>
      <p:sp>
        <p:nvSpPr>
          <p:cNvPr id="9" name="TextBox 8">
            <a:extLst>
              <a:ext uri="{FF2B5EF4-FFF2-40B4-BE49-F238E27FC236}">
                <a16:creationId xmlns:a16="http://schemas.microsoft.com/office/drawing/2014/main" id="{7DE0475C-3A1A-0037-78A4-7358DE699487}"/>
              </a:ext>
            </a:extLst>
          </p:cNvPr>
          <p:cNvSpPr txBox="1"/>
          <p:nvPr/>
        </p:nvSpPr>
        <p:spPr>
          <a:xfrm>
            <a:off x="251975" y="824947"/>
            <a:ext cx="1988301" cy="231602"/>
          </a:xfrm>
          <a:prstGeom prst="rect">
            <a:avLst/>
          </a:prstGeom>
          <a:noFill/>
        </p:spPr>
        <p:txBody>
          <a:bodyPr wrap="none" lIns="0" tIns="0" rIns="0" bIns="0" rtlCol="0">
            <a:spAutoFit/>
          </a:bodyPr>
          <a:lstStyle/>
          <a:p>
            <a:pPr>
              <a:lnSpc>
                <a:spcPct val="114000"/>
              </a:lnSpc>
            </a:pPr>
            <a:r>
              <a:rPr lang="de-DE" sz="1400" b="1" dirty="0" err="1">
                <a:latin typeface="+mn-lt"/>
              </a:rPr>
              <a:t>Lagrangian</a:t>
            </a:r>
            <a:r>
              <a:rPr lang="de-DE" sz="1400" b="1" dirty="0">
                <a:latin typeface="+mn-lt"/>
              </a:rPr>
              <a:t> </a:t>
            </a:r>
            <a:r>
              <a:rPr lang="de-DE" sz="1400" b="1" dirty="0" err="1">
                <a:latin typeface="+mn-lt"/>
              </a:rPr>
              <a:t>neural</a:t>
            </a:r>
            <a:r>
              <a:rPr lang="de-DE" sz="1400" b="1" dirty="0">
                <a:latin typeface="+mn-lt"/>
              </a:rPr>
              <a:t> network</a:t>
            </a:r>
            <a:endParaRPr lang="en-DE" sz="1400" b="1" dirty="0">
              <a:latin typeface="+mn-lt"/>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5292092-F68A-9BFC-97CD-7069D269C0A6}"/>
                  </a:ext>
                </a:extLst>
              </p:cNvPr>
              <p:cNvSpPr txBox="1"/>
              <p:nvPr/>
            </p:nvSpPr>
            <p:spPr>
              <a:xfrm>
                <a:off x="242621" y="3098495"/>
                <a:ext cx="2458430" cy="1482906"/>
              </a:xfrm>
              <a:prstGeom prst="rect">
                <a:avLst/>
              </a:prstGeom>
              <a:noFill/>
            </p:spPr>
            <p:txBody>
              <a:bodyPr wrap="none" lIns="0" tIns="0" rIns="0" bIns="0" rtlCol="0">
                <a:spAutoFit/>
              </a:bodyPr>
              <a:lstStyle/>
              <a:p>
                <a:pPr>
                  <a:lnSpc>
                    <a:spcPct val="114000"/>
                  </a:lnSpc>
                </a:pPr>
                <a:r>
                  <a:rPr lang="de-DE" sz="1400" b="1" dirty="0">
                    <a:latin typeface="+mn-lt"/>
                  </a:rPr>
                  <a:t>Standard </a:t>
                </a:r>
                <a:r>
                  <a:rPr lang="de-DE" sz="1400" b="1" dirty="0" err="1">
                    <a:latin typeface="+mn-lt"/>
                  </a:rPr>
                  <a:t>neural</a:t>
                </a:r>
                <a:r>
                  <a:rPr lang="de-DE" sz="1400" b="1" dirty="0">
                    <a:latin typeface="+mn-lt"/>
                  </a:rPr>
                  <a:t> network</a:t>
                </a:r>
              </a:p>
              <a:p>
                <a:pPr>
                  <a:lnSpc>
                    <a:spcPct val="114000"/>
                  </a:lnSpc>
                </a:pPr>
                <a14:m>
                  <m:oMathPara xmlns:m="http://schemas.openxmlformats.org/officeDocument/2006/math">
                    <m:oMathParaPr>
                      <m:jc m:val="centerGroup"/>
                    </m:oMathParaPr>
                    <m:oMath xmlns:m="http://schemas.openxmlformats.org/officeDocument/2006/math">
                      <m:d>
                        <m:dPr>
                          <m:ctrlPr>
                            <a:rPr lang="en-DE" sz="1400" i="1" smtClean="0">
                              <a:latin typeface="Cambria Math" panose="02040503050406030204" pitchFamily="18" charset="0"/>
                            </a:rPr>
                          </m:ctrlPr>
                        </m:dPr>
                        <m:e>
                          <m:f>
                            <m:fPr>
                              <m:type m:val="noBar"/>
                              <m:ctrlPr>
                                <a:rPr lang="en-DE" sz="1400" i="1" smtClean="0">
                                  <a:latin typeface="Cambria Math" panose="02040503050406030204" pitchFamily="18" charset="0"/>
                                </a:rPr>
                              </m:ctrlPr>
                            </m:fPr>
                            <m:num>
                              <m:acc>
                                <m:accPr>
                                  <m:chr m:val="̂"/>
                                  <m:ctrlPr>
                                    <a:rPr lang="de-DE" sz="1400" b="0" i="1" dirty="0" smtClean="0">
                                      <a:latin typeface="Cambria Math" panose="02040503050406030204" pitchFamily="18" charset="0"/>
                                    </a:rPr>
                                  </m:ctrlPr>
                                </m:accPr>
                                <m:e>
                                  <m:acc>
                                    <m:accPr>
                                      <m:chr m:val="̇"/>
                                      <m:ctrlPr>
                                        <a:rPr lang="de-DE" sz="1400" b="0" i="1" smtClean="0">
                                          <a:latin typeface="Cambria Math" panose="02040503050406030204" pitchFamily="18" charset="0"/>
                                        </a:rPr>
                                      </m:ctrlPr>
                                    </m:accPr>
                                    <m:e>
                                      <m:r>
                                        <a:rPr lang="de-DE" sz="1400" b="0" i="1" smtClean="0">
                                          <a:latin typeface="Cambria Math" panose="02040503050406030204" pitchFamily="18" charset="0"/>
                                        </a:rPr>
                                        <m:t>𝑥</m:t>
                                      </m:r>
                                    </m:e>
                                  </m:acc>
                                </m:e>
                              </m:acc>
                            </m:num>
                            <m:den>
                              <m:acc>
                                <m:accPr>
                                  <m:chr m:val="̂"/>
                                  <m:ctrlPr>
                                    <a:rPr lang="de-DE" sz="1400" b="0" i="1" dirty="0" smtClean="0">
                                      <a:latin typeface="Cambria Math" panose="02040503050406030204" pitchFamily="18" charset="0"/>
                                    </a:rPr>
                                  </m:ctrlPr>
                                </m:accPr>
                                <m:e>
                                  <m:acc>
                                    <m:accPr>
                                      <m:chr m:val="̇"/>
                                      <m:ctrlPr>
                                        <a:rPr lang="de-DE" sz="1400" b="0" i="1" smtClean="0">
                                          <a:latin typeface="Cambria Math" panose="02040503050406030204" pitchFamily="18" charset="0"/>
                                        </a:rPr>
                                      </m:ctrlPr>
                                    </m:accPr>
                                    <m:e>
                                      <m:r>
                                        <a:rPr lang="de-DE" sz="1400" b="0" i="1" smtClean="0">
                                          <a:latin typeface="Cambria Math" panose="02040503050406030204" pitchFamily="18" charset="0"/>
                                        </a:rPr>
                                        <m:t>𝑝</m:t>
                                      </m:r>
                                    </m:e>
                                  </m:acc>
                                </m:e>
                              </m:acc>
                            </m:den>
                          </m:f>
                        </m:e>
                      </m:d>
                      <m:r>
                        <a:rPr lang="de-DE" sz="1400" b="0" i="1" smtClean="0">
                          <a:latin typeface="Cambria Math" panose="02040503050406030204" pitchFamily="18" charset="0"/>
                        </a:rPr>
                        <m:t>=</m:t>
                      </m:r>
                      <m:r>
                        <a:rPr lang="de-DE" sz="1400" b="0" i="1" smtClean="0">
                          <a:latin typeface="Cambria Math" panose="02040503050406030204" pitchFamily="18" charset="0"/>
                        </a:rPr>
                        <m:t>𝑓</m:t>
                      </m:r>
                      <m:d>
                        <m:dPr>
                          <m:ctrlPr>
                            <a:rPr lang="de-DE" sz="1400" b="0" i="1" smtClean="0">
                              <a:latin typeface="Cambria Math" panose="02040503050406030204" pitchFamily="18" charset="0"/>
                            </a:rPr>
                          </m:ctrlPr>
                        </m:dPr>
                        <m:e>
                          <m:r>
                            <a:rPr lang="de-DE" sz="1400" b="0" i="1" smtClean="0">
                              <a:latin typeface="Cambria Math" panose="02040503050406030204" pitchFamily="18" charset="0"/>
                            </a:rPr>
                            <m:t>𝑥</m:t>
                          </m:r>
                          <m:r>
                            <a:rPr lang="de-DE" sz="1400" b="0" i="1" smtClean="0">
                              <a:latin typeface="Cambria Math" panose="02040503050406030204" pitchFamily="18" charset="0"/>
                            </a:rPr>
                            <m:t>,</m:t>
                          </m:r>
                          <m:r>
                            <a:rPr lang="de-DE" sz="1400" b="0" i="1" smtClean="0">
                              <a:latin typeface="Cambria Math" panose="02040503050406030204" pitchFamily="18" charset="0"/>
                            </a:rPr>
                            <m:t>𝑝</m:t>
                          </m:r>
                          <m:r>
                            <a:rPr lang="de-DE" sz="1400" b="0" i="1" smtClean="0">
                              <a:latin typeface="Cambria Math" panose="02040503050406030204" pitchFamily="18" charset="0"/>
                            </a:rPr>
                            <m:t>;</m:t>
                          </m:r>
                          <m:r>
                            <a:rPr lang="de-DE" sz="1400" b="1" i="0" smtClean="0">
                              <a:latin typeface="Cambria Math" panose="02040503050406030204" pitchFamily="18" charset="0"/>
                            </a:rPr>
                            <m:t>𝚯</m:t>
                          </m:r>
                        </m:e>
                      </m:d>
                    </m:oMath>
                    <m:oMath xmlns:m="http://schemas.openxmlformats.org/officeDocument/2006/math">
                      <m:r>
                        <a:rPr lang="de-DE" sz="1400" b="0" i="1" smtClean="0">
                          <a:latin typeface="Cambria Math" panose="02040503050406030204" pitchFamily="18" charset="0"/>
                        </a:rPr>
                        <m:t>𝐶</m:t>
                      </m:r>
                      <m:r>
                        <a:rPr lang="de-DE" sz="1400" b="0" i="1" smtClean="0">
                          <a:latin typeface="Cambria Math" panose="02040503050406030204" pitchFamily="18" charset="0"/>
                        </a:rPr>
                        <m:t>=</m:t>
                      </m:r>
                      <m:f>
                        <m:fPr>
                          <m:ctrlPr>
                            <a:rPr lang="de-DE" sz="1400" b="0" i="1" smtClean="0">
                              <a:latin typeface="Cambria Math" panose="02040503050406030204" pitchFamily="18" charset="0"/>
                            </a:rPr>
                          </m:ctrlPr>
                        </m:fPr>
                        <m:num>
                          <m:r>
                            <a:rPr lang="de-DE" sz="1400" b="0" i="1" smtClean="0">
                              <a:latin typeface="Cambria Math" panose="02040503050406030204" pitchFamily="18" charset="0"/>
                            </a:rPr>
                            <m:t>1</m:t>
                          </m:r>
                        </m:num>
                        <m:den>
                          <m:r>
                            <a:rPr lang="de-DE" sz="1400" b="0" i="1" smtClean="0">
                              <a:latin typeface="Cambria Math" panose="02040503050406030204" pitchFamily="18" charset="0"/>
                            </a:rPr>
                            <m:t>𝑚</m:t>
                          </m:r>
                        </m:den>
                      </m:f>
                      <m:nary>
                        <m:naryPr>
                          <m:chr m:val="∑"/>
                          <m:ctrlPr>
                            <a:rPr lang="de-DE" sz="1400" b="0" i="1" smtClean="0">
                              <a:latin typeface="Cambria Math" panose="02040503050406030204" pitchFamily="18" charset="0"/>
                            </a:rPr>
                          </m:ctrlPr>
                        </m:naryPr>
                        <m:sub>
                          <m:r>
                            <m:rPr>
                              <m:brk m:alnAt="23"/>
                            </m:rPr>
                            <a:rPr lang="de-DE" sz="1400" b="0" i="1" smtClean="0">
                              <a:latin typeface="Cambria Math" panose="02040503050406030204" pitchFamily="18" charset="0"/>
                            </a:rPr>
                            <m:t>𝑖</m:t>
                          </m:r>
                          <m:r>
                            <a:rPr lang="de-DE" sz="1400" b="0" i="1" smtClean="0">
                              <a:latin typeface="Cambria Math" panose="02040503050406030204" pitchFamily="18" charset="0"/>
                            </a:rPr>
                            <m:t>=1</m:t>
                          </m:r>
                        </m:sub>
                        <m:sup>
                          <m:r>
                            <a:rPr lang="de-DE" sz="1400" b="0" i="1" smtClean="0">
                              <a:latin typeface="Cambria Math" panose="02040503050406030204" pitchFamily="18" charset="0"/>
                            </a:rPr>
                            <m:t>𝑚</m:t>
                          </m:r>
                        </m:sup>
                        <m:e>
                          <m:sSup>
                            <m:sSupPr>
                              <m:ctrlPr>
                                <a:rPr lang="de-DE" sz="1400" b="0" i="1" smtClean="0">
                                  <a:latin typeface="Cambria Math" panose="02040503050406030204" pitchFamily="18" charset="0"/>
                                </a:rPr>
                              </m:ctrlPr>
                            </m:sSupPr>
                            <m:e>
                              <m:d>
                                <m:dPr>
                                  <m:ctrlPr>
                                    <a:rPr lang="de-DE" sz="1400" b="0" i="1" smtClean="0">
                                      <a:latin typeface="Cambria Math" panose="02040503050406030204" pitchFamily="18" charset="0"/>
                                    </a:rPr>
                                  </m:ctrlPr>
                                </m:dPr>
                                <m:e>
                                  <m:acc>
                                    <m:accPr>
                                      <m:chr m:val="̃"/>
                                      <m:ctrlPr>
                                        <a:rPr lang="de-DE" sz="1400" b="0" i="1" smtClean="0">
                                          <a:latin typeface="Cambria Math" panose="02040503050406030204" pitchFamily="18" charset="0"/>
                                        </a:rPr>
                                      </m:ctrlPr>
                                    </m:accPr>
                                    <m:e>
                                      <m:acc>
                                        <m:accPr>
                                          <m:chr m:val="̇"/>
                                          <m:ctrlPr>
                                            <a:rPr lang="de-DE" sz="1400" b="0" i="1" smtClean="0">
                                              <a:latin typeface="Cambria Math" panose="02040503050406030204" pitchFamily="18" charset="0"/>
                                            </a:rPr>
                                          </m:ctrlPr>
                                        </m:accPr>
                                        <m:e>
                                          <m:r>
                                            <a:rPr lang="de-DE" sz="1400" b="0" i="1" smtClean="0">
                                              <a:latin typeface="Cambria Math" panose="02040503050406030204" pitchFamily="18" charset="0"/>
                                            </a:rPr>
                                            <m:t>𝑥</m:t>
                                          </m:r>
                                        </m:e>
                                      </m:acc>
                                    </m:e>
                                  </m:acc>
                                  <m:r>
                                    <a:rPr lang="de-DE" sz="1400" b="0" i="1" smtClean="0">
                                      <a:latin typeface="Cambria Math" panose="02040503050406030204" pitchFamily="18" charset="0"/>
                                    </a:rPr>
                                    <m:t>−</m:t>
                                  </m:r>
                                  <m:acc>
                                    <m:accPr>
                                      <m:chr m:val="̂"/>
                                      <m:ctrlPr>
                                        <a:rPr lang="de-DE" sz="1400" b="0" i="1" smtClean="0">
                                          <a:latin typeface="Cambria Math" panose="02040503050406030204" pitchFamily="18" charset="0"/>
                                        </a:rPr>
                                      </m:ctrlPr>
                                    </m:accPr>
                                    <m:e>
                                      <m:acc>
                                        <m:accPr>
                                          <m:chr m:val="̇"/>
                                          <m:ctrlPr>
                                            <a:rPr lang="de-DE" sz="1400" b="0" i="1" smtClean="0">
                                              <a:latin typeface="Cambria Math" panose="02040503050406030204" pitchFamily="18" charset="0"/>
                                            </a:rPr>
                                          </m:ctrlPr>
                                        </m:accPr>
                                        <m:e>
                                          <m:r>
                                            <a:rPr lang="de-DE" sz="1400" b="0" i="1" smtClean="0">
                                              <a:latin typeface="Cambria Math" panose="02040503050406030204" pitchFamily="18" charset="0"/>
                                            </a:rPr>
                                            <m:t>𝑥</m:t>
                                          </m:r>
                                        </m:e>
                                      </m:acc>
                                    </m:e>
                                  </m:acc>
                                </m:e>
                              </m:d>
                            </m:e>
                            <m:sup>
                              <m:r>
                                <a:rPr lang="de-DE" sz="1400" b="0" i="1" smtClean="0">
                                  <a:latin typeface="Cambria Math" panose="02040503050406030204" pitchFamily="18" charset="0"/>
                                </a:rPr>
                                <m:t>2</m:t>
                              </m:r>
                            </m:sup>
                          </m:sSup>
                          <m:r>
                            <a:rPr lang="de-DE" sz="1400" b="0" i="1" smtClean="0">
                              <a:latin typeface="Cambria Math" panose="02040503050406030204" pitchFamily="18" charset="0"/>
                            </a:rPr>
                            <m:t>+</m:t>
                          </m:r>
                          <m:sSup>
                            <m:sSupPr>
                              <m:ctrlPr>
                                <a:rPr lang="de-DE" sz="1400" b="0" i="1" smtClean="0">
                                  <a:latin typeface="Cambria Math" panose="02040503050406030204" pitchFamily="18" charset="0"/>
                                </a:rPr>
                              </m:ctrlPr>
                            </m:sSupPr>
                            <m:e>
                              <m:d>
                                <m:dPr>
                                  <m:ctrlPr>
                                    <a:rPr lang="de-DE" sz="1400" b="0" i="1" smtClean="0">
                                      <a:latin typeface="Cambria Math" panose="02040503050406030204" pitchFamily="18" charset="0"/>
                                    </a:rPr>
                                  </m:ctrlPr>
                                </m:dPr>
                                <m:e>
                                  <m:acc>
                                    <m:accPr>
                                      <m:chr m:val="̃"/>
                                      <m:ctrlPr>
                                        <a:rPr lang="de-DE" sz="1400" b="0" i="1" smtClean="0">
                                          <a:latin typeface="Cambria Math" panose="02040503050406030204" pitchFamily="18" charset="0"/>
                                        </a:rPr>
                                      </m:ctrlPr>
                                    </m:accPr>
                                    <m:e>
                                      <m:acc>
                                        <m:accPr>
                                          <m:chr m:val="̇"/>
                                          <m:ctrlPr>
                                            <a:rPr lang="de-DE" sz="1400" b="0" i="1" smtClean="0">
                                              <a:latin typeface="Cambria Math" panose="02040503050406030204" pitchFamily="18" charset="0"/>
                                            </a:rPr>
                                          </m:ctrlPr>
                                        </m:accPr>
                                        <m:e>
                                          <m:r>
                                            <a:rPr lang="de-DE" sz="1400" b="0" i="1" smtClean="0">
                                              <a:latin typeface="Cambria Math" panose="02040503050406030204" pitchFamily="18" charset="0"/>
                                            </a:rPr>
                                            <m:t>𝑝</m:t>
                                          </m:r>
                                        </m:e>
                                      </m:acc>
                                    </m:e>
                                  </m:acc>
                                  <m:r>
                                    <a:rPr lang="de-DE" sz="1400" b="0" i="1" smtClean="0">
                                      <a:latin typeface="Cambria Math" panose="02040503050406030204" pitchFamily="18" charset="0"/>
                                    </a:rPr>
                                    <m:t>−</m:t>
                                  </m:r>
                                  <m:acc>
                                    <m:accPr>
                                      <m:chr m:val="̂"/>
                                      <m:ctrlPr>
                                        <a:rPr lang="de-DE" sz="1400" b="0" i="1" smtClean="0">
                                          <a:latin typeface="Cambria Math" panose="02040503050406030204" pitchFamily="18" charset="0"/>
                                        </a:rPr>
                                      </m:ctrlPr>
                                    </m:accPr>
                                    <m:e>
                                      <m:acc>
                                        <m:accPr>
                                          <m:chr m:val="̇"/>
                                          <m:ctrlPr>
                                            <a:rPr lang="de-DE" sz="1400" b="0" i="1" smtClean="0">
                                              <a:latin typeface="Cambria Math" panose="02040503050406030204" pitchFamily="18" charset="0"/>
                                            </a:rPr>
                                          </m:ctrlPr>
                                        </m:accPr>
                                        <m:e>
                                          <m:r>
                                            <a:rPr lang="de-DE" sz="1400" b="0" i="1" smtClean="0">
                                              <a:latin typeface="Cambria Math" panose="02040503050406030204" pitchFamily="18" charset="0"/>
                                            </a:rPr>
                                            <m:t>𝑝</m:t>
                                          </m:r>
                                        </m:e>
                                      </m:acc>
                                    </m:e>
                                  </m:acc>
                                </m:e>
                              </m:d>
                            </m:e>
                            <m:sup>
                              <m:r>
                                <a:rPr lang="de-DE" sz="1400" b="0" i="1" smtClean="0">
                                  <a:latin typeface="Cambria Math" panose="02040503050406030204" pitchFamily="18" charset="0"/>
                                </a:rPr>
                                <m:t>2</m:t>
                              </m:r>
                            </m:sup>
                          </m:sSup>
                        </m:e>
                      </m:nary>
                    </m:oMath>
                  </m:oMathPara>
                </a14:m>
                <a:endParaRPr lang="en-DE" sz="1400" dirty="0">
                  <a:latin typeface="+mn-lt"/>
                </a:endParaRPr>
              </a:p>
            </p:txBody>
          </p:sp>
        </mc:Choice>
        <mc:Fallback xmlns="">
          <p:sp>
            <p:nvSpPr>
              <p:cNvPr id="10" name="TextBox 9">
                <a:extLst>
                  <a:ext uri="{FF2B5EF4-FFF2-40B4-BE49-F238E27FC236}">
                    <a16:creationId xmlns:a16="http://schemas.microsoft.com/office/drawing/2014/main" id="{65292092-F68A-9BFC-97CD-7069D269C0A6}"/>
                  </a:ext>
                </a:extLst>
              </p:cNvPr>
              <p:cNvSpPr txBox="1">
                <a:spLocks noRot="1" noChangeAspect="1" noMove="1" noResize="1" noEditPoints="1" noAdjustHandles="1" noChangeArrowheads="1" noChangeShapeType="1" noTextEdit="1"/>
              </p:cNvSpPr>
              <p:nvPr/>
            </p:nvSpPr>
            <p:spPr>
              <a:xfrm>
                <a:off x="242621" y="3098495"/>
                <a:ext cx="2458430" cy="1482906"/>
              </a:xfrm>
              <a:prstGeom prst="rect">
                <a:avLst/>
              </a:prstGeom>
              <a:blipFill>
                <a:blip r:embed="rId4"/>
                <a:stretch>
                  <a:fillRect l="-4467" t="-2459"/>
                </a:stretch>
              </a:blipFill>
            </p:spPr>
            <p:txBody>
              <a:bodyPr/>
              <a:lstStyle/>
              <a:p>
                <a:r>
                  <a:rPr lang="en-US">
                    <a:noFill/>
                  </a:rPr>
                  <a:t> </a:t>
                </a:r>
              </a:p>
            </p:txBody>
          </p:sp>
        </mc:Fallback>
      </mc:AlternateContent>
      <p:pic>
        <p:nvPicPr>
          <p:cNvPr id="13" name="Picture 12">
            <a:extLst>
              <a:ext uri="{FF2B5EF4-FFF2-40B4-BE49-F238E27FC236}">
                <a16:creationId xmlns:a16="http://schemas.microsoft.com/office/drawing/2014/main" id="{2AFC12E5-9641-85AA-B1C5-92AB48B1686D}"/>
              </a:ext>
            </a:extLst>
          </p:cNvPr>
          <p:cNvPicPr>
            <a:picLocks noChangeAspect="1"/>
          </p:cNvPicPr>
          <p:nvPr/>
        </p:nvPicPr>
        <p:blipFill>
          <a:blip r:embed="rId5"/>
          <a:stretch>
            <a:fillRect/>
          </a:stretch>
        </p:blipFill>
        <p:spPr>
          <a:xfrm>
            <a:off x="242621" y="1044387"/>
            <a:ext cx="2061919" cy="1591657"/>
          </a:xfrm>
          <a:prstGeom prst="rect">
            <a:avLst/>
          </a:prstGeom>
        </p:spPr>
      </p:pic>
      <p:sp>
        <p:nvSpPr>
          <p:cNvPr id="14" name="TextBox 13">
            <a:extLst>
              <a:ext uri="{FF2B5EF4-FFF2-40B4-BE49-F238E27FC236}">
                <a16:creationId xmlns:a16="http://schemas.microsoft.com/office/drawing/2014/main" id="{82D331FA-5EB7-3B46-8D2B-11E42B67459E}"/>
              </a:ext>
            </a:extLst>
          </p:cNvPr>
          <p:cNvSpPr txBox="1"/>
          <p:nvPr/>
        </p:nvSpPr>
        <p:spPr>
          <a:xfrm>
            <a:off x="531318" y="2655035"/>
            <a:ext cx="1741570" cy="161583"/>
          </a:xfrm>
          <a:prstGeom prst="rect">
            <a:avLst/>
          </a:prstGeom>
          <a:solidFill>
            <a:schemeClr val="accent6"/>
          </a:solidFill>
        </p:spPr>
        <p:txBody>
          <a:bodyPr wrap="square" lIns="0" tIns="0" rIns="0" bIns="0" rtlCol="0">
            <a:spAutoFit/>
          </a:bodyPr>
          <a:lstStyle/>
          <a:p>
            <a:r>
              <a:rPr lang="de-DE" sz="1050" dirty="0"/>
              <a:t>The </a:t>
            </a:r>
            <a:r>
              <a:rPr lang="de-DE" sz="1050" dirty="0" err="1"/>
              <a:t>Lagrangian</a:t>
            </a:r>
            <a:r>
              <a:rPr lang="de-DE" sz="1050" dirty="0"/>
              <a:t> </a:t>
            </a:r>
            <a:r>
              <a:rPr lang="de-DE" sz="1050" dirty="0" err="1"/>
              <a:t>is</a:t>
            </a:r>
            <a:r>
              <a:rPr lang="de-DE" sz="1050" dirty="0"/>
              <a:t> not </a:t>
            </a:r>
            <a:r>
              <a:rPr lang="de-DE" sz="1050" dirty="0" err="1"/>
              <a:t>unique</a:t>
            </a:r>
            <a:endParaRPr lang="en-US" sz="1050" dirty="0"/>
          </a:p>
        </p:txBody>
      </p:sp>
    </p:spTree>
    <p:extLst>
      <p:ext uri="{BB962C8B-B14F-4D97-AF65-F5344CB8AC3E}">
        <p14:creationId xmlns:p14="http://schemas.microsoft.com/office/powerpoint/2010/main" val="17729508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a:extLst>
              <a:ext uri="{FF2B5EF4-FFF2-40B4-BE49-F238E27FC236}">
                <a16:creationId xmlns:a16="http://schemas.microsoft.com/office/drawing/2014/main" id="{5FAA40B2-8473-4FA0-8BD3-F51B90B71A02}"/>
              </a:ext>
            </a:extLst>
          </p:cNvPr>
          <p:cNvSpPr>
            <a:spLocks noGrp="1"/>
          </p:cNvSpPr>
          <p:nvPr>
            <p:ph idx="1"/>
          </p:nvPr>
        </p:nvSpPr>
        <p:spPr/>
        <p:txBody>
          <a:bodyPr/>
          <a:lstStyle/>
          <a:p>
            <a:endParaRPr lang="en-US"/>
          </a:p>
        </p:txBody>
      </p:sp>
      <p:sp>
        <p:nvSpPr>
          <p:cNvPr id="3" name="Titel 2">
            <a:extLst>
              <a:ext uri="{FF2B5EF4-FFF2-40B4-BE49-F238E27FC236}">
                <a16:creationId xmlns:a16="http://schemas.microsoft.com/office/drawing/2014/main" id="{52527DCB-B09F-498E-BF6F-3D08354DA6B2}"/>
              </a:ext>
            </a:extLst>
          </p:cNvPr>
          <p:cNvSpPr>
            <a:spLocks noGrp="1"/>
          </p:cNvSpPr>
          <p:nvPr>
            <p:ph type="title"/>
          </p:nvPr>
        </p:nvSpPr>
        <p:spPr/>
        <p:txBody>
          <a:bodyPr/>
          <a:lstStyle/>
          <a:p>
            <a:r>
              <a:rPr lang="en-US" dirty="0"/>
              <a:t>Comparison of Hamiltonian and Lagrangian NNs </a:t>
            </a:r>
          </a:p>
        </p:txBody>
      </p:sp>
      <p:sp>
        <p:nvSpPr>
          <p:cNvPr id="4" name="Foliennummernplatzhalter 3">
            <a:extLst>
              <a:ext uri="{FF2B5EF4-FFF2-40B4-BE49-F238E27FC236}">
                <a16:creationId xmlns:a16="http://schemas.microsoft.com/office/drawing/2014/main" id="{E7F6614A-4522-4094-9E61-F73A79650024}"/>
              </a:ext>
            </a:extLst>
          </p:cNvPr>
          <p:cNvSpPr>
            <a:spLocks noGrp="1"/>
          </p:cNvSpPr>
          <p:nvPr>
            <p:ph type="sldNum" sz="quarter" idx="11"/>
          </p:nvPr>
        </p:nvSpPr>
        <p:spPr/>
        <p:txBody>
          <a:bodyPr/>
          <a:lstStyle/>
          <a:p>
            <a:fld id="{CE58CB1E-F828-4F11-99E0-327109AF9DA4}" type="slidenum">
              <a:rPr lang="de-DE" smtClean="0"/>
              <a:pPr/>
              <a:t>45</a:t>
            </a:fld>
            <a:endParaRPr lang="de-DE"/>
          </a:p>
        </p:txBody>
      </p:sp>
      <p:sp>
        <p:nvSpPr>
          <p:cNvPr id="5" name="Fußzeilenplatzhalter 4">
            <a:extLst>
              <a:ext uri="{FF2B5EF4-FFF2-40B4-BE49-F238E27FC236}">
                <a16:creationId xmlns:a16="http://schemas.microsoft.com/office/drawing/2014/main" id="{5F18E7AA-646E-40CA-9721-6B42AD85DB4D}"/>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pic>
        <p:nvPicPr>
          <p:cNvPr id="9" name="Grafik 8">
            <a:extLst>
              <a:ext uri="{FF2B5EF4-FFF2-40B4-BE49-F238E27FC236}">
                <a16:creationId xmlns:a16="http://schemas.microsoft.com/office/drawing/2014/main" id="{ABF2F82F-2F68-4C8C-AD84-A6D3194B2C03}"/>
              </a:ext>
            </a:extLst>
          </p:cNvPr>
          <p:cNvPicPr>
            <a:picLocks noChangeAspect="1"/>
          </p:cNvPicPr>
          <p:nvPr/>
        </p:nvPicPr>
        <p:blipFill>
          <a:blip r:embed="rId3"/>
          <a:stretch>
            <a:fillRect/>
          </a:stretch>
        </p:blipFill>
        <p:spPr>
          <a:xfrm>
            <a:off x="0" y="763422"/>
            <a:ext cx="9144000" cy="3917928"/>
          </a:xfrm>
          <a:prstGeom prst="rect">
            <a:avLst/>
          </a:prstGeom>
        </p:spPr>
      </p:pic>
    </p:spTree>
    <p:extLst>
      <p:ext uri="{BB962C8B-B14F-4D97-AF65-F5344CB8AC3E}">
        <p14:creationId xmlns:p14="http://schemas.microsoft.com/office/powerpoint/2010/main" val="6102009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A0C9317-FFA2-A08B-E221-937E08781696}"/>
              </a:ext>
            </a:extLst>
          </p:cNvPr>
          <p:cNvSpPr>
            <a:spLocks noGrp="1"/>
          </p:cNvSpPr>
          <p:nvPr>
            <p:ph idx="1"/>
          </p:nvPr>
        </p:nvSpPr>
        <p:spPr/>
        <p:txBody>
          <a:bodyPr/>
          <a:lstStyle/>
          <a:p>
            <a:r>
              <a:rPr lang="de-DE" dirty="0"/>
              <a:t>E.13 </a:t>
            </a:r>
            <a:r>
              <a:rPr lang="de-DE" dirty="0" err="1"/>
              <a:t>Hamiltonian</a:t>
            </a:r>
            <a:r>
              <a:rPr lang="de-DE" dirty="0"/>
              <a:t> &amp; </a:t>
            </a:r>
            <a:r>
              <a:rPr lang="de-DE" dirty="0" err="1"/>
              <a:t>Lagrangian</a:t>
            </a:r>
            <a:r>
              <a:rPr lang="de-DE" dirty="0"/>
              <a:t> </a:t>
            </a:r>
            <a:r>
              <a:rPr lang="de-DE" dirty="0" err="1"/>
              <a:t>Neural</a:t>
            </a:r>
            <a:r>
              <a:rPr lang="de-DE" dirty="0"/>
              <a:t> Networks (C)</a:t>
            </a:r>
          </a:p>
          <a:p>
            <a:pPr marL="285750" indent="-285750">
              <a:buFont typeface="Arial" panose="020B0604020202020204" pitchFamily="34" charset="0"/>
              <a:buChar char="•"/>
            </a:pPr>
            <a:r>
              <a:rPr lang="de-DE" dirty="0"/>
              <a:t>Implement a </a:t>
            </a:r>
            <a:r>
              <a:rPr lang="de-DE" dirty="0" err="1"/>
              <a:t>Hamiltonian</a:t>
            </a:r>
            <a:r>
              <a:rPr lang="de-DE" dirty="0"/>
              <a:t> and a </a:t>
            </a:r>
            <a:r>
              <a:rPr lang="de-DE" dirty="0" err="1"/>
              <a:t>Lagrangian</a:t>
            </a:r>
            <a:r>
              <a:rPr lang="de-DE" dirty="0"/>
              <a:t> </a:t>
            </a:r>
            <a:r>
              <a:rPr lang="de-DE" dirty="0" err="1"/>
              <a:t>neural</a:t>
            </a:r>
            <a:r>
              <a:rPr lang="de-DE" dirty="0"/>
              <a:t> network and </a:t>
            </a:r>
            <a:r>
              <a:rPr lang="de-DE" dirty="0" err="1"/>
              <a:t>apply</a:t>
            </a:r>
            <a:r>
              <a:rPr lang="de-DE" dirty="0"/>
              <a:t> </a:t>
            </a:r>
            <a:r>
              <a:rPr lang="de-DE" dirty="0" err="1"/>
              <a:t>it</a:t>
            </a:r>
            <a:r>
              <a:rPr lang="de-DE" dirty="0"/>
              <a:t> </a:t>
            </a:r>
            <a:r>
              <a:rPr lang="de-DE" dirty="0" err="1"/>
              <a:t>to</a:t>
            </a:r>
            <a:r>
              <a:rPr lang="de-DE" dirty="0"/>
              <a:t> </a:t>
            </a:r>
            <a:r>
              <a:rPr lang="de-DE" dirty="0" err="1"/>
              <a:t>the</a:t>
            </a:r>
            <a:r>
              <a:rPr lang="de-DE" dirty="0"/>
              <a:t> </a:t>
            </a:r>
            <a:r>
              <a:rPr lang="de-DE" dirty="0" err="1"/>
              <a:t>mass</a:t>
            </a:r>
            <a:r>
              <a:rPr lang="de-DE" dirty="0"/>
              <a:t>-spring </a:t>
            </a:r>
            <a:r>
              <a:rPr lang="de-DE" dirty="0" err="1"/>
              <a:t>model</a:t>
            </a:r>
            <a:r>
              <a:rPr lang="de-DE" dirty="0"/>
              <a:t>. </a:t>
            </a:r>
            <a:r>
              <a:rPr lang="de-DE" dirty="0" err="1"/>
              <a:t>Compare</a:t>
            </a:r>
            <a:r>
              <a:rPr lang="de-DE" dirty="0"/>
              <a:t> </a:t>
            </a:r>
            <a:r>
              <a:rPr lang="de-DE" dirty="0" err="1"/>
              <a:t>the</a:t>
            </a:r>
            <a:r>
              <a:rPr lang="de-DE" dirty="0"/>
              <a:t> </a:t>
            </a:r>
            <a:r>
              <a:rPr lang="de-DE" dirty="0" err="1"/>
              <a:t>generalization</a:t>
            </a:r>
            <a:r>
              <a:rPr lang="de-DE" dirty="0"/>
              <a:t> </a:t>
            </a:r>
            <a:r>
              <a:rPr lang="de-DE" dirty="0" err="1"/>
              <a:t>capabilities</a:t>
            </a:r>
            <a:r>
              <a:rPr lang="de-DE" dirty="0"/>
              <a:t> </a:t>
            </a:r>
            <a:r>
              <a:rPr lang="de-DE" dirty="0" err="1"/>
              <a:t>to</a:t>
            </a:r>
            <a:r>
              <a:rPr lang="de-DE" dirty="0"/>
              <a:t> a </a:t>
            </a:r>
            <a:r>
              <a:rPr lang="de-DE" dirty="0" err="1"/>
              <a:t>standard</a:t>
            </a:r>
            <a:r>
              <a:rPr lang="de-DE" dirty="0"/>
              <a:t> </a:t>
            </a:r>
            <a:r>
              <a:rPr lang="de-DE" dirty="0" err="1"/>
              <a:t>neural</a:t>
            </a:r>
            <a:r>
              <a:rPr lang="de-DE" dirty="0"/>
              <a:t> network.</a:t>
            </a:r>
          </a:p>
          <a:p>
            <a:pPr marL="285750" indent="-285750">
              <a:buFont typeface="Arial" panose="020B0604020202020204" pitchFamily="34" charset="0"/>
              <a:buChar char="•"/>
            </a:pPr>
            <a:endParaRPr lang="de-DE" dirty="0"/>
          </a:p>
          <a:p>
            <a:pPr marL="285750" indent="-285750">
              <a:buFont typeface="Arial" panose="020B0604020202020204" pitchFamily="34" charset="0"/>
              <a:buChar char="•"/>
            </a:pPr>
            <a:endParaRPr lang="de-DE" dirty="0"/>
          </a:p>
          <a:p>
            <a:r>
              <a:rPr lang="de-DE" dirty="0"/>
              <a:t>Further Material:</a:t>
            </a:r>
          </a:p>
          <a:p>
            <a:r>
              <a:rPr lang="de-DE" dirty="0"/>
              <a:t>Steve </a:t>
            </a:r>
            <a:r>
              <a:rPr lang="de-DE" dirty="0" err="1"/>
              <a:t>Brunton</a:t>
            </a:r>
            <a:r>
              <a:rPr lang="de-DE" dirty="0"/>
              <a:t>: </a:t>
            </a:r>
            <a:r>
              <a:rPr lang="en-US" dirty="0"/>
              <a:t>https://www.youtube.com/watch?v=HLUIx6FqAvg </a:t>
            </a:r>
          </a:p>
          <a:p>
            <a:endParaRPr lang="de-DE" dirty="0"/>
          </a:p>
        </p:txBody>
      </p:sp>
      <p:sp>
        <p:nvSpPr>
          <p:cNvPr id="3" name="Title 2">
            <a:extLst>
              <a:ext uri="{FF2B5EF4-FFF2-40B4-BE49-F238E27FC236}">
                <a16:creationId xmlns:a16="http://schemas.microsoft.com/office/drawing/2014/main" id="{DE2B5B8E-F9D9-2C8A-E217-E12F936CE326}"/>
              </a:ext>
            </a:extLst>
          </p:cNvPr>
          <p:cNvSpPr>
            <a:spLocks noGrp="1"/>
          </p:cNvSpPr>
          <p:nvPr>
            <p:ph type="title"/>
          </p:nvPr>
        </p:nvSpPr>
        <p:spPr/>
        <p:txBody>
          <a:bodyPr/>
          <a:lstStyle/>
          <a:p>
            <a:r>
              <a:rPr lang="de-DE" dirty="0" err="1">
                <a:solidFill>
                  <a:schemeClr val="bg2"/>
                </a:solidFill>
              </a:rPr>
              <a:t>Exercises</a:t>
            </a:r>
            <a:endParaRPr lang="en-US" dirty="0">
              <a:solidFill>
                <a:schemeClr val="bg2"/>
              </a:solidFill>
            </a:endParaRPr>
          </a:p>
        </p:txBody>
      </p:sp>
      <p:sp>
        <p:nvSpPr>
          <p:cNvPr id="4" name="Slide Number Placeholder 3">
            <a:extLst>
              <a:ext uri="{FF2B5EF4-FFF2-40B4-BE49-F238E27FC236}">
                <a16:creationId xmlns:a16="http://schemas.microsoft.com/office/drawing/2014/main" id="{3BD8B150-74AF-5D13-901F-4162AE3662C8}"/>
              </a:ext>
            </a:extLst>
          </p:cNvPr>
          <p:cNvSpPr>
            <a:spLocks noGrp="1"/>
          </p:cNvSpPr>
          <p:nvPr>
            <p:ph type="sldNum" sz="quarter" idx="11"/>
          </p:nvPr>
        </p:nvSpPr>
        <p:spPr/>
        <p:txBody>
          <a:bodyPr/>
          <a:lstStyle/>
          <a:p>
            <a:fld id="{CE58CB1E-F828-4F11-99E0-327109AF9DA4}" type="slidenum">
              <a:rPr lang="de-DE" smtClean="0"/>
              <a:pPr/>
              <a:t>46</a:t>
            </a:fld>
            <a:endParaRPr lang="de-DE"/>
          </a:p>
        </p:txBody>
      </p:sp>
      <p:sp>
        <p:nvSpPr>
          <p:cNvPr id="5" name="Footer Placeholder 4">
            <a:extLst>
              <a:ext uri="{FF2B5EF4-FFF2-40B4-BE49-F238E27FC236}">
                <a16:creationId xmlns:a16="http://schemas.microsoft.com/office/drawing/2014/main" id="{4F2F2E84-B80F-610C-EE4A-D953EE674777}"/>
              </a:ext>
            </a:extLst>
          </p:cNvPr>
          <p:cNvSpPr>
            <a:spLocks noGrp="1"/>
          </p:cNvSpPr>
          <p:nvPr>
            <p:ph type="ftr" sz="quarter" idx="12"/>
          </p:nvPr>
        </p:nvSpPr>
        <p:spPr/>
        <p:txBody>
          <a:bodyPr/>
          <a:lstStyle/>
          <a:p>
            <a:r>
              <a:rPr lang="de-DE"/>
              <a:t>Leon Herrmann &amp; Stefan Kollmannsberger || Deep Learning in Computational Mechanics || Bauhaus-Universität Weimar</a:t>
            </a:r>
            <a:endParaRPr lang="en-US"/>
          </a:p>
        </p:txBody>
      </p:sp>
    </p:spTree>
    <p:extLst>
      <p:ext uri="{BB962C8B-B14F-4D97-AF65-F5344CB8AC3E}">
        <p14:creationId xmlns:p14="http://schemas.microsoft.com/office/powerpoint/2010/main" val="416703799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B0CE5-A1C6-136A-50E6-59EE0ACE84A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D7F9D3-93C3-00EE-B3D2-B0EFBF3A8E72}"/>
              </a:ext>
            </a:extLst>
          </p:cNvPr>
          <p:cNvSpPr>
            <a:spLocks noGrp="1"/>
          </p:cNvSpPr>
          <p:nvPr>
            <p:ph idx="1"/>
          </p:nvPr>
        </p:nvSpPr>
        <p:spPr/>
        <p:txBody>
          <a:bodyPr/>
          <a:lstStyle/>
          <a:p>
            <a:pPr marL="285750" indent="-285750">
              <a:buFont typeface="Arial" panose="020B0604020202020204" pitchFamily="34" charset="0"/>
              <a:buChar char="•"/>
            </a:pPr>
            <a:r>
              <a:rPr lang="da-DK" dirty="0">
                <a:solidFill>
                  <a:schemeClr val="bg2"/>
                </a:solidFill>
              </a:rPr>
              <a:t>3.1 </a:t>
            </a:r>
            <a:r>
              <a:rPr lang="da-DK" dirty="0" err="1">
                <a:solidFill>
                  <a:schemeClr val="bg2"/>
                </a:solidFill>
              </a:rPr>
              <a:t>Fully</a:t>
            </a:r>
            <a:r>
              <a:rPr lang="da-DK" dirty="0">
                <a:solidFill>
                  <a:schemeClr val="bg2"/>
                </a:solidFill>
              </a:rPr>
              <a:t> </a:t>
            </a:r>
            <a:r>
              <a:rPr lang="da-DK" dirty="0" err="1">
                <a:solidFill>
                  <a:schemeClr val="bg2"/>
                </a:solidFill>
              </a:rPr>
              <a:t>Connected</a:t>
            </a:r>
            <a:r>
              <a:rPr lang="da-DK" dirty="0">
                <a:solidFill>
                  <a:schemeClr val="bg2"/>
                </a:solidFill>
              </a:rPr>
              <a:t> Neural Network</a:t>
            </a:r>
          </a:p>
          <a:p>
            <a:pPr marL="285750" indent="-285750">
              <a:buFont typeface="Arial" panose="020B0604020202020204" pitchFamily="34" charset="0"/>
              <a:buChar char="•"/>
            </a:pPr>
            <a:r>
              <a:rPr lang="da-DK" dirty="0">
                <a:solidFill>
                  <a:schemeClr val="bg2"/>
                </a:solidFill>
              </a:rPr>
              <a:t>3.2 Forward </a:t>
            </a:r>
            <a:r>
              <a:rPr lang="da-DK" dirty="0" err="1">
                <a:solidFill>
                  <a:schemeClr val="bg2"/>
                </a:solidFill>
              </a:rPr>
              <a:t>Propagation</a:t>
            </a:r>
            <a:endParaRPr lang="da-DK" dirty="0">
              <a:solidFill>
                <a:schemeClr val="bg2"/>
              </a:solidFill>
            </a:endParaRPr>
          </a:p>
          <a:p>
            <a:pPr marL="285750" indent="-285750">
              <a:buFont typeface="Arial" panose="020B0604020202020204" pitchFamily="34" charset="0"/>
              <a:buChar char="•"/>
            </a:pPr>
            <a:r>
              <a:rPr lang="da-DK" dirty="0">
                <a:solidFill>
                  <a:schemeClr val="bg2"/>
                </a:solidFill>
              </a:rPr>
              <a:t>3.3 Differentiation</a:t>
            </a:r>
          </a:p>
          <a:p>
            <a:pPr marL="285750" indent="-285750">
              <a:buFont typeface="Arial" panose="020B0604020202020204" pitchFamily="34" charset="0"/>
              <a:buChar char="•"/>
            </a:pPr>
            <a:r>
              <a:rPr lang="da-DK" dirty="0">
                <a:solidFill>
                  <a:schemeClr val="bg2"/>
                </a:solidFill>
              </a:rPr>
              <a:t>3.4 </a:t>
            </a:r>
            <a:r>
              <a:rPr lang="da-DK" dirty="0" err="1">
                <a:solidFill>
                  <a:schemeClr val="bg2"/>
                </a:solidFill>
              </a:rPr>
              <a:t>Backpropagation</a:t>
            </a:r>
            <a:endParaRPr lang="da-DK" dirty="0">
              <a:solidFill>
                <a:schemeClr val="bg2"/>
              </a:solidFill>
            </a:endParaRPr>
          </a:p>
          <a:p>
            <a:pPr marL="285750" indent="-285750">
              <a:buFont typeface="Arial" panose="020B0604020202020204" pitchFamily="34" charset="0"/>
              <a:buChar char="•"/>
            </a:pPr>
            <a:r>
              <a:rPr lang="da-DK" dirty="0">
                <a:solidFill>
                  <a:schemeClr val="bg2"/>
                </a:solidFill>
              </a:rPr>
              <a:t>3.5 </a:t>
            </a:r>
            <a:r>
              <a:rPr lang="da-DK" dirty="0" err="1">
                <a:solidFill>
                  <a:schemeClr val="bg2"/>
                </a:solidFill>
              </a:rPr>
              <a:t>Activation</a:t>
            </a:r>
            <a:r>
              <a:rPr lang="da-DK" dirty="0">
                <a:solidFill>
                  <a:schemeClr val="bg2"/>
                </a:solidFill>
              </a:rPr>
              <a:t> </a:t>
            </a:r>
            <a:r>
              <a:rPr lang="da-DK" dirty="0" err="1">
                <a:solidFill>
                  <a:schemeClr val="bg2"/>
                </a:solidFill>
              </a:rPr>
              <a:t>Function</a:t>
            </a:r>
            <a:endParaRPr lang="da-DK" dirty="0">
              <a:solidFill>
                <a:schemeClr val="bg2"/>
              </a:solidFill>
            </a:endParaRPr>
          </a:p>
          <a:p>
            <a:pPr marL="285750" indent="-285750">
              <a:buFont typeface="Arial" panose="020B0604020202020204" pitchFamily="34" charset="0"/>
              <a:buChar char="•"/>
            </a:pPr>
            <a:r>
              <a:rPr lang="da-DK" dirty="0">
                <a:solidFill>
                  <a:schemeClr val="bg2"/>
                </a:solidFill>
              </a:rPr>
              <a:t>3.6 Learning </a:t>
            </a:r>
            <a:r>
              <a:rPr lang="da-DK" dirty="0" err="1">
                <a:solidFill>
                  <a:schemeClr val="bg2"/>
                </a:solidFill>
              </a:rPr>
              <a:t>Algorithm</a:t>
            </a:r>
            <a:endParaRPr lang="da-DK" dirty="0">
              <a:solidFill>
                <a:schemeClr val="bg2"/>
              </a:solidFill>
            </a:endParaRPr>
          </a:p>
          <a:p>
            <a:pPr marL="285750" indent="-285750">
              <a:buFont typeface="Arial" panose="020B0604020202020204" pitchFamily="34" charset="0"/>
              <a:buChar char="•"/>
            </a:pPr>
            <a:r>
              <a:rPr lang="da-DK" dirty="0">
                <a:solidFill>
                  <a:schemeClr val="bg2"/>
                </a:solidFill>
              </a:rPr>
              <a:t>3.7 </a:t>
            </a:r>
            <a:r>
              <a:rPr lang="da-DK" dirty="0" err="1">
                <a:solidFill>
                  <a:schemeClr val="bg2"/>
                </a:solidFill>
              </a:rPr>
              <a:t>Regularization</a:t>
            </a:r>
            <a:r>
              <a:rPr lang="da-DK" dirty="0">
                <a:solidFill>
                  <a:schemeClr val="bg2"/>
                </a:solidFill>
              </a:rPr>
              <a:t> of Neural Networks</a:t>
            </a:r>
          </a:p>
          <a:p>
            <a:pPr marL="285750" indent="-285750">
              <a:buFont typeface="Arial" panose="020B0604020202020204" pitchFamily="34" charset="0"/>
              <a:buChar char="•"/>
            </a:pPr>
            <a:r>
              <a:rPr lang="da-DK" dirty="0"/>
              <a:t>3.8 </a:t>
            </a:r>
            <a:r>
              <a:rPr lang="da-DK" dirty="0" err="1"/>
              <a:t>Approximating</a:t>
            </a:r>
            <a:r>
              <a:rPr lang="da-DK" dirty="0"/>
              <a:t> the Sine </a:t>
            </a:r>
            <a:r>
              <a:rPr lang="da-DK" dirty="0" err="1"/>
              <a:t>Function</a:t>
            </a:r>
            <a:endParaRPr lang="da-DK" dirty="0"/>
          </a:p>
          <a:p>
            <a:pPr marL="285750" indent="-285750">
              <a:buFont typeface="Arial" panose="020B0604020202020204" pitchFamily="34" charset="0"/>
              <a:buChar char="•"/>
            </a:pPr>
            <a:r>
              <a:rPr lang="da-DK" dirty="0"/>
              <a:t>3.9.1 </a:t>
            </a:r>
            <a:r>
              <a:rPr lang="da-DK" dirty="0" err="1"/>
              <a:t>Convolutional</a:t>
            </a:r>
            <a:r>
              <a:rPr lang="da-DK" dirty="0"/>
              <a:t> Neural Networks</a:t>
            </a:r>
          </a:p>
          <a:p>
            <a:pPr marL="285750" indent="-285750">
              <a:buFont typeface="Arial" panose="020B0604020202020204" pitchFamily="34" charset="0"/>
              <a:buChar char="•"/>
            </a:pPr>
            <a:r>
              <a:rPr lang="da-DK" dirty="0"/>
              <a:t>3.9.2 Graph Neural Networks</a:t>
            </a:r>
          </a:p>
          <a:p>
            <a:pPr marL="285750" indent="-285750">
              <a:buFont typeface="Arial" panose="020B0604020202020204" pitchFamily="34" charset="0"/>
              <a:buChar char="•"/>
            </a:pPr>
            <a:r>
              <a:rPr lang="da-DK" dirty="0"/>
              <a:t>3.9.6 </a:t>
            </a:r>
            <a:r>
              <a:rPr lang="da-DK" dirty="0" err="1"/>
              <a:t>Recurrent</a:t>
            </a:r>
            <a:r>
              <a:rPr lang="da-DK" dirty="0"/>
              <a:t> Neural Networks</a:t>
            </a:r>
          </a:p>
          <a:p>
            <a:pPr marL="285750" indent="-285750">
              <a:buFont typeface="Arial" panose="020B0604020202020204" pitchFamily="34" charset="0"/>
              <a:buChar char="•"/>
            </a:pPr>
            <a:r>
              <a:rPr lang="da-DK" dirty="0"/>
              <a:t>3.9.8 </a:t>
            </a:r>
            <a:r>
              <a:rPr lang="da-DK" dirty="0" err="1"/>
              <a:t>Physics-Inspired</a:t>
            </a:r>
            <a:r>
              <a:rPr lang="da-DK" dirty="0"/>
              <a:t> Architectures for Dynamics (</a:t>
            </a:r>
            <a:r>
              <a:rPr lang="da-DK" dirty="0" err="1"/>
              <a:t>Hamiltonian</a:t>
            </a:r>
            <a:r>
              <a:rPr lang="da-DK" dirty="0"/>
              <a:t> &amp; </a:t>
            </a:r>
            <a:r>
              <a:rPr lang="da-DK" dirty="0" err="1"/>
              <a:t>Lagrangian</a:t>
            </a:r>
            <a:r>
              <a:rPr lang="da-DK" dirty="0"/>
              <a:t> Neural Networks)</a:t>
            </a:r>
          </a:p>
          <a:p>
            <a:pPr marL="285750" indent="-285750">
              <a:buFont typeface="Arial" panose="020B0604020202020204" pitchFamily="34" charset="0"/>
              <a:buChar char="•"/>
            </a:pPr>
            <a:r>
              <a:rPr lang="da-DK" dirty="0">
                <a:solidFill>
                  <a:schemeClr val="bg2"/>
                </a:solidFill>
              </a:rPr>
              <a:t>4 </a:t>
            </a:r>
            <a:r>
              <a:rPr lang="da-DK" dirty="0" err="1">
                <a:solidFill>
                  <a:schemeClr val="bg2"/>
                </a:solidFill>
              </a:rPr>
              <a:t>Introduction</a:t>
            </a:r>
            <a:r>
              <a:rPr lang="da-DK" dirty="0">
                <a:solidFill>
                  <a:schemeClr val="bg2"/>
                </a:solidFill>
              </a:rPr>
              <a:t> to </a:t>
            </a:r>
            <a:r>
              <a:rPr lang="da-DK" dirty="0" err="1">
                <a:solidFill>
                  <a:schemeClr val="bg2"/>
                </a:solidFill>
              </a:rPr>
              <a:t>Physics-Informed</a:t>
            </a:r>
            <a:r>
              <a:rPr lang="da-DK" dirty="0">
                <a:solidFill>
                  <a:schemeClr val="bg2"/>
                </a:solidFill>
              </a:rPr>
              <a:t> Neural Networks</a:t>
            </a:r>
          </a:p>
        </p:txBody>
      </p:sp>
      <p:sp>
        <p:nvSpPr>
          <p:cNvPr id="3" name="Title 2">
            <a:extLst>
              <a:ext uri="{FF2B5EF4-FFF2-40B4-BE49-F238E27FC236}">
                <a16:creationId xmlns:a16="http://schemas.microsoft.com/office/drawing/2014/main" id="{FA2812C1-2BDB-9856-E7A8-47B17F4FBF05}"/>
              </a:ext>
            </a:extLst>
          </p:cNvPr>
          <p:cNvSpPr>
            <a:spLocks noGrp="1"/>
          </p:cNvSpPr>
          <p:nvPr>
            <p:ph type="title"/>
          </p:nvPr>
        </p:nvSpPr>
        <p:spPr/>
        <p:txBody>
          <a:bodyPr/>
          <a:lstStyle/>
          <a:p>
            <a:r>
              <a:rPr lang="da-DK"/>
              <a:t>Contents</a:t>
            </a:r>
            <a:endParaRPr lang="en-DE"/>
          </a:p>
        </p:txBody>
      </p:sp>
      <p:sp>
        <p:nvSpPr>
          <p:cNvPr id="4" name="Slide Number Placeholder 3">
            <a:extLst>
              <a:ext uri="{FF2B5EF4-FFF2-40B4-BE49-F238E27FC236}">
                <a16:creationId xmlns:a16="http://schemas.microsoft.com/office/drawing/2014/main" id="{BFD49010-0BF6-8618-8273-FF414BF00079}"/>
              </a:ext>
            </a:extLst>
          </p:cNvPr>
          <p:cNvSpPr>
            <a:spLocks noGrp="1"/>
          </p:cNvSpPr>
          <p:nvPr>
            <p:ph type="sldNum" sz="quarter" idx="11"/>
          </p:nvPr>
        </p:nvSpPr>
        <p:spPr/>
        <p:txBody>
          <a:bodyPr/>
          <a:lstStyle/>
          <a:p>
            <a:fld id="{CE58CB1E-F828-4F11-99E0-327109AF9DA4}" type="slidenum">
              <a:rPr lang="de-DE" smtClean="0"/>
              <a:pPr/>
              <a:t>47</a:t>
            </a:fld>
            <a:endParaRPr lang="de-DE"/>
          </a:p>
        </p:txBody>
      </p:sp>
      <p:sp>
        <p:nvSpPr>
          <p:cNvPr id="5" name="Footer Placeholder 4">
            <a:extLst>
              <a:ext uri="{FF2B5EF4-FFF2-40B4-BE49-F238E27FC236}">
                <a16:creationId xmlns:a16="http://schemas.microsoft.com/office/drawing/2014/main" id="{ECDFBCFC-55EA-6778-F8B3-A3D18D6F306F}"/>
              </a:ext>
            </a:extLst>
          </p:cNvPr>
          <p:cNvSpPr>
            <a:spLocks noGrp="1"/>
          </p:cNvSpPr>
          <p:nvPr>
            <p:ph type="ftr" sz="quarter" idx="12"/>
          </p:nvPr>
        </p:nvSpPr>
        <p:spPr/>
        <p:txBody>
          <a:bodyPr/>
          <a:lstStyle/>
          <a:p>
            <a:r>
              <a:rPr lang="de-DE"/>
              <a:t>Leon Herrmann &amp; Stefan Kollmannsberger || Deep Learning in Computational </a:t>
            </a:r>
            <a:r>
              <a:rPr lang="de-DE" err="1"/>
              <a:t>Mechanics</a:t>
            </a:r>
            <a:r>
              <a:rPr lang="de-DE"/>
              <a:t> || Bauhaus-Universität Weimar</a:t>
            </a:r>
            <a:endParaRPr lang="en-US"/>
          </a:p>
        </p:txBody>
      </p:sp>
    </p:spTree>
    <p:extLst>
      <p:ext uri="{BB962C8B-B14F-4D97-AF65-F5344CB8AC3E}">
        <p14:creationId xmlns:p14="http://schemas.microsoft.com/office/powerpoint/2010/main" val="10822236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39E5D-0F05-EA13-087C-141414CE83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B467C6-DAB6-7EB3-046F-2E81767A7D6C}"/>
              </a:ext>
            </a:extLst>
          </p:cNvPr>
          <p:cNvSpPr>
            <a:spLocks noGrp="1"/>
          </p:cNvSpPr>
          <p:nvPr>
            <p:ph type="title"/>
          </p:nvPr>
        </p:nvSpPr>
        <p:spPr/>
        <p:txBody>
          <a:bodyPr/>
          <a:lstStyle/>
          <a:p>
            <a:r>
              <a:rPr lang="de-DE" dirty="0"/>
              <a:t>3 </a:t>
            </a:r>
            <a:r>
              <a:rPr lang="de-DE" dirty="0" err="1"/>
              <a:t>Neural</a:t>
            </a:r>
            <a:r>
              <a:rPr lang="de-DE" dirty="0"/>
              <a:t> Networks: </a:t>
            </a:r>
            <a:r>
              <a:rPr lang="de-DE" dirty="0" err="1"/>
              <a:t>Advanced</a:t>
            </a:r>
            <a:r>
              <a:rPr lang="de-DE" dirty="0"/>
              <a:t> </a:t>
            </a:r>
            <a:r>
              <a:rPr lang="de-DE" dirty="0" err="1"/>
              <a:t>Architectures</a:t>
            </a:r>
            <a:endParaRPr lang="en-DE" dirty="0"/>
          </a:p>
        </p:txBody>
      </p:sp>
      <p:sp>
        <p:nvSpPr>
          <p:cNvPr id="3" name="Content Placeholder 2">
            <a:extLst>
              <a:ext uri="{FF2B5EF4-FFF2-40B4-BE49-F238E27FC236}">
                <a16:creationId xmlns:a16="http://schemas.microsoft.com/office/drawing/2014/main" id="{4375978A-EA22-9A8A-E8E0-8A450E4BFBE0}"/>
              </a:ext>
            </a:extLst>
          </p:cNvPr>
          <p:cNvSpPr>
            <a:spLocks noGrp="1"/>
          </p:cNvSpPr>
          <p:nvPr>
            <p:ph idx="10"/>
          </p:nvPr>
        </p:nvSpPr>
        <p:spPr>
          <a:xfrm>
            <a:off x="319088" y="1409896"/>
            <a:ext cx="8508999" cy="1611909"/>
          </a:xfrm>
        </p:spPr>
        <p:txBody>
          <a:bodyPr/>
          <a:lstStyle/>
          <a:p>
            <a:r>
              <a:rPr lang="de-DE" dirty="0"/>
              <a:t>Leon Herrmann</a:t>
            </a:r>
          </a:p>
          <a:p>
            <a:r>
              <a:rPr lang="de-DE" dirty="0"/>
              <a:t>Stefan Kollmannsberger </a:t>
            </a:r>
          </a:p>
          <a:p>
            <a:r>
              <a:rPr lang="de-DE" dirty="0"/>
              <a:t>Chair </a:t>
            </a:r>
            <a:r>
              <a:rPr lang="de-DE" dirty="0" err="1"/>
              <a:t>of</a:t>
            </a:r>
            <a:r>
              <a:rPr lang="de-DE" dirty="0"/>
              <a:t> Data Engineering in Construction</a:t>
            </a:r>
          </a:p>
          <a:p>
            <a:r>
              <a:rPr lang="de-DE"/>
              <a:t>Bauhaus-Universität Weimar</a:t>
            </a:r>
            <a:endParaRPr lang="de-DE" dirty="0"/>
          </a:p>
        </p:txBody>
      </p:sp>
      <p:sp>
        <p:nvSpPr>
          <p:cNvPr id="4" name="Footer Placeholder 3">
            <a:extLst>
              <a:ext uri="{FF2B5EF4-FFF2-40B4-BE49-F238E27FC236}">
                <a16:creationId xmlns:a16="http://schemas.microsoft.com/office/drawing/2014/main" id="{1BF4857C-E2E7-A828-7B17-54B85CCCC42D}"/>
              </a:ext>
            </a:extLst>
          </p:cNvPr>
          <p:cNvSpPr>
            <a:spLocks noGrp="1"/>
          </p:cNvSpPr>
          <p:nvPr>
            <p:ph type="ftr" sz="quarter" idx="3"/>
          </p:nvPr>
        </p:nvSpPr>
        <p:spPr/>
        <p:txBody>
          <a:bodyPr/>
          <a:lstStyle/>
          <a:p>
            <a:r>
              <a:rPr lang="de-DE"/>
              <a:t>Leon Herrmann &amp; Stefan Kollmannsberger || Deep Learning in Computational Mechanics || Bauhaus-Universität Weimar</a:t>
            </a:r>
            <a:endParaRPr lang="en-US"/>
          </a:p>
        </p:txBody>
      </p:sp>
      <p:sp>
        <p:nvSpPr>
          <p:cNvPr id="5" name="Slide Number Placeholder 4">
            <a:extLst>
              <a:ext uri="{FF2B5EF4-FFF2-40B4-BE49-F238E27FC236}">
                <a16:creationId xmlns:a16="http://schemas.microsoft.com/office/drawing/2014/main" id="{32FB53C8-7651-14B2-790D-05BCBFF282B8}"/>
              </a:ext>
            </a:extLst>
          </p:cNvPr>
          <p:cNvSpPr>
            <a:spLocks noGrp="1"/>
          </p:cNvSpPr>
          <p:nvPr>
            <p:ph type="sldNum" sz="quarter" idx="12"/>
          </p:nvPr>
        </p:nvSpPr>
        <p:spPr/>
        <p:txBody>
          <a:bodyPr/>
          <a:lstStyle/>
          <a:p>
            <a:fld id="{CE58CB1E-F828-4F11-99E0-327109AF9DA4}" type="slidenum">
              <a:rPr lang="de-DE" smtClean="0"/>
              <a:pPr/>
              <a:t>48</a:t>
            </a:fld>
            <a:endParaRPr lang="de-DE"/>
          </a:p>
        </p:txBody>
      </p:sp>
      <p:sp>
        <p:nvSpPr>
          <p:cNvPr id="6" name="TextBox 5">
            <a:extLst>
              <a:ext uri="{FF2B5EF4-FFF2-40B4-BE49-F238E27FC236}">
                <a16:creationId xmlns:a16="http://schemas.microsoft.com/office/drawing/2014/main" id="{247179CA-354A-2303-0F5B-52FC5358F6EE}"/>
              </a:ext>
            </a:extLst>
          </p:cNvPr>
          <p:cNvSpPr txBox="1"/>
          <p:nvPr/>
        </p:nvSpPr>
        <p:spPr>
          <a:xfrm>
            <a:off x="317066" y="3260414"/>
            <a:ext cx="4323812" cy="409086"/>
          </a:xfrm>
          <a:prstGeom prst="rect">
            <a:avLst/>
          </a:prstGeom>
          <a:noFill/>
        </p:spPr>
        <p:txBody>
          <a:bodyPr wrap="none" lIns="0" tIns="0" rIns="0" bIns="0" rtlCol="0">
            <a:spAutoFit/>
          </a:bodyPr>
          <a:lstStyle/>
          <a:p>
            <a:pPr>
              <a:lnSpc>
                <a:spcPct val="114000"/>
              </a:lnSpc>
            </a:pPr>
            <a:r>
              <a:rPr lang="da-DK" sz="1200" i="1" dirty="0">
                <a:solidFill>
                  <a:schemeClr val="accent3"/>
                </a:solidFill>
                <a:latin typeface="+mn-lt"/>
              </a:rPr>
              <a:t>Deep Learning in </a:t>
            </a:r>
            <a:r>
              <a:rPr lang="da-DK" sz="1200" i="1" dirty="0" err="1">
                <a:solidFill>
                  <a:schemeClr val="accent3"/>
                </a:solidFill>
                <a:latin typeface="+mn-lt"/>
              </a:rPr>
              <a:t>Computational</a:t>
            </a:r>
            <a:r>
              <a:rPr lang="da-DK" sz="1200" i="1" dirty="0">
                <a:solidFill>
                  <a:schemeClr val="accent3"/>
                </a:solidFill>
                <a:latin typeface="+mn-lt"/>
              </a:rPr>
              <a:t> </a:t>
            </a:r>
            <a:r>
              <a:rPr lang="da-DK" sz="1200" i="1" dirty="0" err="1">
                <a:solidFill>
                  <a:schemeClr val="accent3"/>
                </a:solidFill>
                <a:latin typeface="+mn-lt"/>
              </a:rPr>
              <a:t>Mechanics</a:t>
            </a:r>
            <a:r>
              <a:rPr lang="da-DK" sz="1200" i="1" dirty="0">
                <a:solidFill>
                  <a:schemeClr val="accent3"/>
                </a:solidFill>
                <a:latin typeface="+mn-lt"/>
              </a:rPr>
              <a:t> – an </a:t>
            </a:r>
            <a:r>
              <a:rPr lang="da-DK" sz="1200" i="1" dirty="0" err="1">
                <a:solidFill>
                  <a:schemeClr val="accent3"/>
                </a:solidFill>
                <a:latin typeface="+mn-lt"/>
              </a:rPr>
              <a:t>introductory</a:t>
            </a:r>
            <a:r>
              <a:rPr lang="da-DK" sz="1200" i="1" dirty="0">
                <a:solidFill>
                  <a:schemeClr val="accent3"/>
                </a:solidFill>
                <a:latin typeface="+mn-lt"/>
              </a:rPr>
              <a:t> </a:t>
            </a:r>
            <a:r>
              <a:rPr lang="da-DK" sz="1200" i="1" dirty="0" err="1">
                <a:solidFill>
                  <a:schemeClr val="accent3"/>
                </a:solidFill>
                <a:latin typeface="+mn-lt"/>
              </a:rPr>
              <a:t>course</a:t>
            </a:r>
            <a:r>
              <a:rPr lang="da-DK" sz="1200" i="1" dirty="0">
                <a:solidFill>
                  <a:schemeClr val="accent3"/>
                </a:solidFill>
                <a:latin typeface="+mn-lt"/>
              </a:rPr>
              <a:t>, </a:t>
            </a:r>
            <a:br>
              <a:rPr lang="da-DK" sz="1200" i="1" dirty="0">
                <a:solidFill>
                  <a:schemeClr val="accent3"/>
                </a:solidFill>
                <a:latin typeface="+mn-lt"/>
              </a:rPr>
            </a:br>
            <a:r>
              <a:rPr lang="da-DK" sz="1200" i="1" dirty="0">
                <a:solidFill>
                  <a:schemeClr val="accent3"/>
                </a:solidFill>
                <a:latin typeface="+mn-lt"/>
              </a:rPr>
              <a:t>Herrmann et al. 2025</a:t>
            </a:r>
            <a:endParaRPr lang="en-DE" sz="1200" i="1" dirty="0">
              <a:solidFill>
                <a:schemeClr val="accent3"/>
              </a:solidFill>
              <a:latin typeface="+mn-lt"/>
            </a:endParaRPr>
          </a:p>
        </p:txBody>
      </p:sp>
      <p:sp>
        <p:nvSpPr>
          <p:cNvPr id="9" name="TextBox 8">
            <a:extLst>
              <a:ext uri="{FF2B5EF4-FFF2-40B4-BE49-F238E27FC236}">
                <a16:creationId xmlns:a16="http://schemas.microsoft.com/office/drawing/2014/main" id="{C2B58117-916D-C74C-08ED-A8623FDD257D}"/>
              </a:ext>
            </a:extLst>
          </p:cNvPr>
          <p:cNvSpPr txBox="1"/>
          <p:nvPr/>
        </p:nvSpPr>
        <p:spPr>
          <a:xfrm>
            <a:off x="2083540" y="4677893"/>
            <a:ext cx="571054" cy="231602"/>
          </a:xfrm>
          <a:prstGeom prst="rect">
            <a:avLst/>
          </a:prstGeom>
          <a:noFill/>
        </p:spPr>
        <p:txBody>
          <a:bodyPr wrap="none" lIns="0" tIns="0" rIns="0" bIns="0" rtlCol="0">
            <a:spAutoFit/>
          </a:bodyPr>
          <a:lstStyle/>
          <a:p>
            <a:pPr>
              <a:lnSpc>
                <a:spcPct val="114000"/>
              </a:lnSpc>
            </a:pPr>
            <a:r>
              <a:rPr lang="de-DE" sz="1400" dirty="0" err="1">
                <a:latin typeface="+mn-lt"/>
              </a:rPr>
              <a:t>website</a:t>
            </a:r>
            <a:endParaRPr lang="en-US" sz="1400" dirty="0" err="1">
              <a:latin typeface="+mn-lt"/>
            </a:endParaRPr>
          </a:p>
        </p:txBody>
      </p:sp>
      <p:sp>
        <p:nvSpPr>
          <p:cNvPr id="11" name="TextBox 10">
            <a:extLst>
              <a:ext uri="{FF2B5EF4-FFF2-40B4-BE49-F238E27FC236}">
                <a16:creationId xmlns:a16="http://schemas.microsoft.com/office/drawing/2014/main" id="{A9BA93C7-BCB3-E801-C820-C873F9CCDFE6}"/>
              </a:ext>
            </a:extLst>
          </p:cNvPr>
          <p:cNvSpPr txBox="1"/>
          <p:nvPr/>
        </p:nvSpPr>
        <p:spPr>
          <a:xfrm>
            <a:off x="3721316" y="4677893"/>
            <a:ext cx="365485" cy="231602"/>
          </a:xfrm>
          <a:prstGeom prst="rect">
            <a:avLst/>
          </a:prstGeom>
          <a:noFill/>
        </p:spPr>
        <p:txBody>
          <a:bodyPr wrap="none" lIns="0" tIns="0" rIns="0" bIns="0" rtlCol="0">
            <a:spAutoFit/>
          </a:bodyPr>
          <a:lstStyle/>
          <a:p>
            <a:pPr>
              <a:lnSpc>
                <a:spcPct val="114000"/>
              </a:lnSpc>
            </a:pPr>
            <a:r>
              <a:rPr lang="de-DE" sz="1400" dirty="0" err="1">
                <a:latin typeface="+mn-lt"/>
              </a:rPr>
              <a:t>book</a:t>
            </a:r>
            <a:endParaRPr lang="en-US" sz="1400" dirty="0" err="1">
              <a:latin typeface="+mn-lt"/>
            </a:endParaRPr>
          </a:p>
        </p:txBody>
      </p:sp>
      <p:pic>
        <p:nvPicPr>
          <p:cNvPr id="7" name="Picture 6">
            <a:extLst>
              <a:ext uri="{FF2B5EF4-FFF2-40B4-BE49-F238E27FC236}">
                <a16:creationId xmlns:a16="http://schemas.microsoft.com/office/drawing/2014/main" id="{D88D84C5-5DE6-D240-15E7-9C05AA117616}"/>
              </a:ext>
            </a:extLst>
          </p:cNvPr>
          <p:cNvPicPr>
            <a:picLocks noChangeAspect="1"/>
          </p:cNvPicPr>
          <p:nvPr/>
        </p:nvPicPr>
        <p:blipFill>
          <a:blip r:embed="rId3"/>
          <a:srcRect/>
          <a:stretch/>
        </p:blipFill>
        <p:spPr>
          <a:xfrm>
            <a:off x="1739067" y="3472101"/>
            <a:ext cx="1260000" cy="1260000"/>
          </a:xfrm>
          <a:prstGeom prst="rect">
            <a:avLst/>
          </a:prstGeom>
        </p:spPr>
      </p:pic>
      <p:pic>
        <p:nvPicPr>
          <p:cNvPr id="12" name="Picture 11">
            <a:extLst>
              <a:ext uri="{FF2B5EF4-FFF2-40B4-BE49-F238E27FC236}">
                <a16:creationId xmlns:a16="http://schemas.microsoft.com/office/drawing/2014/main" id="{652D4136-A62A-13BA-3294-6F2DDE6FB3DD}"/>
              </a:ext>
            </a:extLst>
          </p:cNvPr>
          <p:cNvPicPr>
            <a:picLocks noChangeAspect="1"/>
          </p:cNvPicPr>
          <p:nvPr/>
        </p:nvPicPr>
        <p:blipFill>
          <a:blip r:embed="rId4"/>
          <a:srcRect/>
          <a:stretch/>
        </p:blipFill>
        <p:spPr>
          <a:xfrm>
            <a:off x="3274058" y="3472101"/>
            <a:ext cx="1260000" cy="1260000"/>
          </a:xfrm>
          <a:prstGeom prst="rect">
            <a:avLst/>
          </a:prstGeom>
        </p:spPr>
      </p:pic>
    </p:spTree>
    <p:extLst>
      <p:ext uri="{BB962C8B-B14F-4D97-AF65-F5344CB8AC3E}">
        <p14:creationId xmlns:p14="http://schemas.microsoft.com/office/powerpoint/2010/main" val="2542930860"/>
      </p:ext>
    </p:extLst>
  </p:cSld>
  <p:clrMapOvr>
    <a:masterClrMapping/>
  </p:clrMapOvr>
</p:sld>
</file>

<file path=ppt/theme/theme1.xml><?xml version="1.0" encoding="utf-8"?>
<a:theme xmlns:a="http://schemas.openxmlformats.org/drawingml/2006/main" name="Titel 1">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Custom 4">
      <a:majorFont>
        <a:latin typeface="Calibri"/>
        <a:ea typeface=""/>
        <a:cs typeface=""/>
      </a:majorFont>
      <a:minorFont>
        <a:latin typeface="Calibr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theme>
</file>

<file path=ppt/theme/theme2.xml><?xml version="1.0" encoding="utf-8"?>
<a:theme xmlns:a="http://schemas.openxmlformats.org/drawingml/2006/main" name="Inhalt">
  <a:themeElements>
    <a:clrScheme name="TUM">
      <a:dk1>
        <a:sysClr val="windowText" lastClr="000000"/>
      </a:dk1>
      <a:lt1>
        <a:sysClr val="window" lastClr="FFFFFF"/>
      </a:lt1>
      <a:dk2>
        <a:srgbClr val="003359"/>
      </a:dk2>
      <a:lt2>
        <a:srgbClr val="0065BD"/>
      </a:lt2>
      <a:accent1>
        <a:srgbClr val="005293"/>
      </a:accent1>
      <a:accent2>
        <a:srgbClr val="64A0C8"/>
      </a:accent2>
      <a:accent3>
        <a:srgbClr val="98C6EA"/>
      </a:accent3>
      <a:accent4>
        <a:srgbClr val="A2AD00"/>
      </a:accent4>
      <a:accent5>
        <a:srgbClr val="E37222"/>
      </a:accent5>
      <a:accent6>
        <a:srgbClr val="DAD7CB"/>
      </a:accent6>
      <a:hlink>
        <a:srgbClr val="0000FF"/>
      </a:hlink>
      <a:folHlink>
        <a:srgbClr val="800080"/>
      </a:folHlink>
    </a:clrScheme>
    <a:fontScheme name="Custom 5">
      <a:majorFont>
        <a:latin typeface="Calibri"/>
        <a:ea typeface=""/>
        <a:cs typeface=""/>
      </a:majorFont>
      <a:minorFont>
        <a:latin typeface="Calibr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theme>
</file>

<file path=ppt/theme/theme3.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TUM_Praesentation_16_9_PARTNER_p_v1</Template>
  <TotalTime>0</TotalTime>
  <Words>5331</Words>
  <Application>Microsoft Office PowerPoint</Application>
  <PresentationFormat>Bildschirmpräsentation (16:9)</PresentationFormat>
  <Paragraphs>691</Paragraphs>
  <Slides>48</Slides>
  <Notes>22</Notes>
  <HiddenSlides>3</HiddenSlides>
  <MMClips>0</MMClips>
  <ScaleCrop>false</ScaleCrop>
  <HeadingPairs>
    <vt:vector size="6" baseType="variant">
      <vt:variant>
        <vt:lpstr>Verwendete Schriftarten</vt:lpstr>
      </vt:variant>
      <vt:variant>
        <vt:i4>9</vt:i4>
      </vt:variant>
      <vt:variant>
        <vt:lpstr>Design</vt:lpstr>
      </vt:variant>
      <vt:variant>
        <vt:i4>2</vt:i4>
      </vt:variant>
      <vt:variant>
        <vt:lpstr>Folientitel</vt:lpstr>
      </vt:variant>
      <vt:variant>
        <vt:i4>48</vt:i4>
      </vt:variant>
    </vt:vector>
  </HeadingPairs>
  <TitlesOfParts>
    <vt:vector size="59" baseType="lpstr">
      <vt:lpstr>Arial</vt:lpstr>
      <vt:lpstr>Calibri</vt:lpstr>
      <vt:lpstr>Cambria Math</vt:lpstr>
      <vt:lpstr>Consolas</vt:lpstr>
      <vt:lpstr>Courier New</vt:lpstr>
      <vt:lpstr>DejaVu Sans Mono</vt:lpstr>
      <vt:lpstr>Symbol</vt:lpstr>
      <vt:lpstr>Times</vt:lpstr>
      <vt:lpstr>Wingdings</vt:lpstr>
      <vt:lpstr>Titel 1</vt:lpstr>
      <vt:lpstr>Inhalt</vt:lpstr>
      <vt:lpstr>3 Neural Networks: Advanced Architectures</vt:lpstr>
      <vt:lpstr>Contents</vt:lpstr>
      <vt:lpstr>3.8 Approximating the Sine Function</vt:lpstr>
      <vt:lpstr>3.8 Approximating the Sine Function</vt:lpstr>
      <vt:lpstr>3.8 Approximating the Sine Function – PyTorch </vt:lpstr>
      <vt:lpstr>3.8 Approximating the Sine Function – PyTorch </vt:lpstr>
      <vt:lpstr>3.8 Approximating the Sine Function – Results </vt:lpstr>
      <vt:lpstr>3.8 Approximating the Sine Function – Results </vt:lpstr>
      <vt:lpstr>3.8 Approximating the Sine Function – Results </vt:lpstr>
      <vt:lpstr>3.8 Approximating the Sine Function – Sobolev </vt:lpstr>
      <vt:lpstr>Exercises</vt:lpstr>
      <vt:lpstr>3.9.1 Convolutional Neural Networks </vt:lpstr>
      <vt:lpstr>3.9.1 Convolutional Neural Networks </vt:lpstr>
      <vt:lpstr>3.9.1 Convolutional Neural Networks – Filters </vt:lpstr>
      <vt:lpstr>3.9.1 Convolutional Neural Networks – Pooling </vt:lpstr>
      <vt:lpstr>3.9.1 Convolutional Neural Networks – Example </vt:lpstr>
      <vt:lpstr>3.9.1 Convolutional Neural Networks – Example </vt:lpstr>
      <vt:lpstr>3.9.1 Convolutional Neural Networks – Depth </vt:lpstr>
      <vt:lpstr>3.9.1 Convolutional Neural Networks – Padding </vt:lpstr>
      <vt:lpstr>3.9.1 Convolutional Neural Networks – PyTorch </vt:lpstr>
      <vt:lpstr>Exercises</vt:lpstr>
      <vt:lpstr>3.9.1 Convolutional Neural Networks – Example </vt:lpstr>
      <vt:lpstr>3.9.1 Convolutional Neural Networks – Example </vt:lpstr>
      <vt:lpstr>3.9.1 Convolutional Neural Networks – Example </vt:lpstr>
      <vt:lpstr>3.9.1 Convolutional Neural Networks – Example </vt:lpstr>
      <vt:lpstr>3.9.1 Convolutional Neural Networks – Example </vt:lpstr>
      <vt:lpstr>3.9.1 Convolutional Neural Networks – TensorBoard</vt:lpstr>
      <vt:lpstr>3.9.1 Convolutional Neural Networks – TensorBoard</vt:lpstr>
      <vt:lpstr>3.9.1 Convolutional Neural Networks – TensorBoard</vt:lpstr>
      <vt:lpstr>Exercises</vt:lpstr>
      <vt:lpstr>Normalization</vt:lpstr>
      <vt:lpstr>Batch Normalization</vt:lpstr>
      <vt:lpstr>3.9.2 Graph Neural Networks</vt:lpstr>
      <vt:lpstr>3.9.2 Graph Neural Networks</vt:lpstr>
      <vt:lpstr>3.9.6 Recurrent Neural Networks</vt:lpstr>
      <vt:lpstr>3.9.6 Recurrent Neural Networks - PyTorch</vt:lpstr>
      <vt:lpstr>3.9.8 Physics-Inspired Architectures for Dynamics</vt:lpstr>
      <vt:lpstr>3.9.8 Physics-Inspired Architectures for Dynamics</vt:lpstr>
      <vt:lpstr>3.9.8.2 Hamiltonian Mechanics</vt:lpstr>
      <vt:lpstr>3.9.8.3 Hamiltonian Neural Networks </vt:lpstr>
      <vt:lpstr>3.9.8.3 Hamiltonian Neural Networks - Results</vt:lpstr>
      <vt:lpstr>3.9.8.4 Euler-Lagrange Equation</vt:lpstr>
      <vt:lpstr>3.9.8.5 Lagrangian Neural Networks</vt:lpstr>
      <vt:lpstr>3.9.8.5 Lagrangian Neural Networks - Results</vt:lpstr>
      <vt:lpstr>Comparison of Hamiltonian and Lagrangian NNs </vt:lpstr>
      <vt:lpstr>Exercises</vt:lpstr>
      <vt:lpstr>Contents</vt:lpstr>
      <vt:lpstr>3 Neural Networks: Advanced Architectures</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Stefan Kollmannsberger</dc:creator>
  <cp:lastModifiedBy>Stefan Kollmannsberger</cp:lastModifiedBy>
  <cp:revision>526</cp:revision>
  <cp:lastPrinted>2015-07-30T14:04:45Z</cp:lastPrinted>
  <dcterms:created xsi:type="dcterms:W3CDTF">2021-07-15T11:14:40Z</dcterms:created>
  <dcterms:modified xsi:type="dcterms:W3CDTF">2026-04-27T16:09:13Z</dcterms:modified>
</cp:coreProperties>
</file>